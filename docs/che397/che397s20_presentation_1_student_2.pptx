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30"/>
  </p:notesMasterIdLst>
  <p:sldIdLst>
    <p:sldId id="256" r:id="rId5"/>
    <p:sldId id="263" r:id="rId6"/>
    <p:sldId id="257" r:id="rId7"/>
    <p:sldId id="273" r:id="rId8"/>
    <p:sldId id="274" r:id="rId9"/>
    <p:sldId id="258" r:id="rId10"/>
    <p:sldId id="267" r:id="rId11"/>
    <p:sldId id="275" r:id="rId12"/>
    <p:sldId id="268" r:id="rId13"/>
    <p:sldId id="269" r:id="rId14"/>
    <p:sldId id="259" r:id="rId15"/>
    <p:sldId id="264" r:id="rId16"/>
    <p:sldId id="272" r:id="rId17"/>
    <p:sldId id="260" r:id="rId18"/>
    <p:sldId id="261" r:id="rId19"/>
    <p:sldId id="262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6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700A1-EAD5-4E87-9139-D38D4332E242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8AE7C-C54A-40AE-876C-28AD2ED9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9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8AE7C-C54A-40AE-876C-28AD2ED9E8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1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AFB5B-77F8-4843-A489-A10D92F52227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64847-AF51-458E-9F44-1541408C2A04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3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AFE5-B182-416E-A6DD-2A196F5A0D07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4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4E63-7D54-42B9-B342-9EC23F9B56BB}" type="datetime1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2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63C6-A6BA-446D-8844-4C66434DD63F}" type="datetime1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3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E118-241E-4816-8C51-CD62E988ED37}" type="datetime1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4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AA1C-2BAC-4595-A8EC-FEB72D4E43E6}" type="datetime1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5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0AF5-FC3D-41E6-8140-8E1BDC5549D6}" type="datetime1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2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AEB2-DDC5-4466-B239-3C9D0F712C2F}" type="datetime1">
              <a:rPr lang="en-US" smtClean="0"/>
              <a:t>2/4/2020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3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55CD-F74F-4FBB-B9F9-5597C765EDA3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1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1857A-269F-4D9F-9CB0-6816352E940E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9475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73AC-4C84-42A0-8A43-2F786DFF47B5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31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9A2B-F876-4946-8448-3D0CB872ED04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8234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6BE0-52DA-43CB-B917-5927E9633B2E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28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803-019A-422D-B388-EA0D9AA9BC72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18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CEB7-D760-4689-9F17-55E4861287A0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1E530-7BCC-47DB-81C4-F6C1660E8F35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rdorintelligence.com/industry-reports/bio-polylactic-acid-pla-market" TargetMode="External"/><Relationship Id="rId2" Type="http://schemas.openxmlformats.org/officeDocument/2006/relationships/hyperlink" Target="http://www.qualityprintpackaging.com/bioplastic-packaging-suppli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55/2013/31591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79B8-FCE5-49DA-BBEE-C5045CC7C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657" y="1046250"/>
            <a:ext cx="7766936" cy="1646302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Polylactic Acids for Our Bioplastic Assets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5C6AB-A96A-47D6-8FA7-B23625812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4200" y="4050833"/>
            <a:ext cx="7919336" cy="1096899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By: Diana Awimrin, Leena Daniel, Thomas Mazur, Yohannes Teweldeberhan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BBCD8-0A2D-4AB3-BA73-7D1B99E5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315" y="6201783"/>
            <a:ext cx="683339" cy="365125"/>
          </a:xfrm>
        </p:spPr>
        <p:txBody>
          <a:bodyPr/>
          <a:lstStyle/>
          <a:p>
            <a:fld id="{B28AFB31-2C7A-4C64-B057-1D1E90D898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4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2D94F95D-89EF-455B-9F54-0F4231363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612B9F8D-6DD1-481E-8CCE-81A7EEB15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6">
              <a:extLst>
                <a:ext uri="{FF2B5EF4-FFF2-40B4-BE49-F238E27FC236}">
                  <a16:creationId xmlns:a16="http://schemas.microsoft.com/office/drawing/2014/main" id="{BD531F65-BE00-4220-96DD-64DD545E0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7">
              <a:extLst>
                <a:ext uri="{FF2B5EF4-FFF2-40B4-BE49-F238E27FC236}">
                  <a16:creationId xmlns:a16="http://schemas.microsoft.com/office/drawing/2014/main" id="{95BD48B8-B8E0-4EC6-889B-B9D503585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4CB88335-CEFC-4E93-A849-B293A59F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68404B5-9CA3-4B1B-A75D-54F36B1B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0">
              <a:extLst>
                <a:ext uri="{FF2B5EF4-FFF2-40B4-BE49-F238E27FC236}">
                  <a16:creationId xmlns:a16="http://schemas.microsoft.com/office/drawing/2014/main" id="{7260DE41-7357-49EC-A4FF-41B666696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1D9D87BA-A306-430B-8BCF-468FF820D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9F522E6-2DF0-48FC-873D-74BF21019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015C585-0283-4901-9837-57DD565CE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4">
              <a:extLst>
                <a:ext uri="{FF2B5EF4-FFF2-40B4-BE49-F238E27FC236}">
                  <a16:creationId xmlns:a16="http://schemas.microsoft.com/office/drawing/2014/main" id="{CB6D253E-04B9-4649-B17B-DE58968B2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3BBAA-2136-4252-BE36-2588B736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65972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Design Basis</a:t>
            </a:r>
          </a:p>
        </p:txBody>
      </p:sp>
      <p:sp useBgFill="1">
        <p:nvSpPr>
          <p:cNvPr id="27" name="Rectangle 22">
            <a:extLst>
              <a:ext uri="{FF2B5EF4-FFF2-40B4-BE49-F238E27FC236}">
                <a16:creationId xmlns:a16="http://schemas.microsoft.com/office/drawing/2014/main" id="{A1AE21A0-AA96-4557-AB48-66255CF0A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B7663-0AE9-4A39-B348-BDA5A241C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1445" y="6096003"/>
            <a:ext cx="328860" cy="3505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8AFB31-2C7A-4C64-B057-1D1E90D898B9}" type="slidenum">
              <a:rPr lang="en-US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pPr>
                <a:spcAft>
                  <a:spcPts val="600"/>
                </a:spcAft>
              </a:pPr>
              <a:t>2</a:t>
            </a:fld>
            <a:endParaRPr lang="en-US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0751F8-71D1-4ACE-8B48-079C6607E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847686"/>
              </p:ext>
            </p:extLst>
          </p:nvPr>
        </p:nvGraphicFramePr>
        <p:xfrm>
          <a:off x="878950" y="1315887"/>
          <a:ext cx="5534194" cy="1940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3394">
                  <a:extLst>
                    <a:ext uri="{9D8B030D-6E8A-4147-A177-3AD203B41FA5}">
                      <a16:colId xmlns:a16="http://schemas.microsoft.com/office/drawing/2014/main" val="408350014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48400072"/>
                    </a:ext>
                  </a:extLst>
                </a:gridCol>
              </a:tblGrid>
              <a:tr h="3686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Plant Location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São Paulo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, Brazil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extLst>
                  <a:ext uri="{0D108BD9-81ED-4DB2-BD59-A6C34878D82A}">
                    <a16:rowId xmlns:a16="http://schemas.microsoft.com/office/drawing/2014/main" val="399984552"/>
                  </a:ext>
                </a:extLst>
              </a:tr>
              <a:tr h="386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Raw Material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Sugarcane Bagasse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extLst>
                  <a:ext uri="{0D108BD9-81ED-4DB2-BD59-A6C34878D82A}">
                    <a16:rowId xmlns:a16="http://schemas.microsoft.com/office/drawing/2014/main" val="261582983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Product Purity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98%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extLst>
                  <a:ext uri="{0D108BD9-81ED-4DB2-BD59-A6C34878D82A}">
                    <a16:rowId xmlns:a16="http://schemas.microsoft.com/office/drawing/2014/main" val="406799757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Hours of Operation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8000 hrs.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extLst>
                  <a:ext uri="{0D108BD9-81ED-4DB2-BD59-A6C34878D82A}">
                    <a16:rowId xmlns:a16="http://schemas.microsoft.com/office/drawing/2014/main" val="2916338444"/>
                  </a:ext>
                </a:extLst>
              </a:tr>
              <a:tr h="4045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Plant Production Rate 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30 KT/year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68795" marR="168795" marT="0" marB="0"/>
                </a:tc>
                <a:extLst>
                  <a:ext uri="{0D108BD9-81ED-4DB2-BD59-A6C34878D82A}">
                    <a16:rowId xmlns:a16="http://schemas.microsoft.com/office/drawing/2014/main" val="141082141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0B43490-7D84-4436-A1E7-B950A96603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027" y="360042"/>
            <a:ext cx="4002549" cy="40025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045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E9F3-CEBB-48E6-80DA-7B7FD09A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Polylactic Acid (PLA)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DDCE-57C5-47A7-8B1D-CC8485FA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9299" y="6298814"/>
            <a:ext cx="329430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B28AFB31-2C7A-4C64-B057-1D1E90D898B9}" type="slidenum">
              <a:rPr lang="en-US" sz="110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fld>
            <a:endParaRPr lang="en-US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B279A-F746-4BF0-8721-63F300F49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50" y="1584325"/>
            <a:ext cx="4519968" cy="2290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/>
              <a:t>Produced from fermentation of sugars into lactic acid</a:t>
            </a:r>
          </a:p>
          <a:p>
            <a:r>
              <a:rPr lang="en-US"/>
              <a:t>Considered a bioplastic </a:t>
            </a:r>
          </a:p>
          <a:p>
            <a:r>
              <a:rPr lang="en-US"/>
              <a:t>Biodegradable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6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5A9D9306-233C-44BC-804E-99CCB5C7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88" y="896287"/>
            <a:ext cx="6771927" cy="50708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16FAA7-D7ED-4C1C-A559-A16EBB3C6558}"/>
              </a:ext>
            </a:extLst>
          </p:cNvPr>
          <p:cNvSpPr txBox="1"/>
          <p:nvPr/>
        </p:nvSpPr>
        <p:spPr>
          <a:xfrm>
            <a:off x="7196331" y="6063734"/>
            <a:ext cx="28980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44546A"/>
                </a:solidFill>
                <a:latin typeface="Calibri"/>
              </a:rPr>
              <a:t>Figure 1: </a:t>
            </a:r>
            <a:r>
              <a:rPr lang="en-US" i="1">
                <a:solidFill>
                  <a:srgbClr val="44546A"/>
                </a:solidFill>
                <a:latin typeface="Calibri"/>
                <a:ea typeface="+mn-lt"/>
                <a:cs typeface="Calibri"/>
              </a:rPr>
              <a:t>Types</a:t>
            </a:r>
            <a:r>
              <a:rPr lang="en-US" i="1">
                <a:solidFill>
                  <a:srgbClr val="44546A"/>
                </a:solidFill>
                <a:latin typeface="Calibri"/>
              </a:rPr>
              <a:t> of plastics </a:t>
            </a:r>
            <a:r>
              <a:rPr lang="en-US" i="1" baseline="30000">
                <a:solidFill>
                  <a:srgbClr val="44546A"/>
                </a:solidFill>
                <a:latin typeface="Calibri"/>
              </a:rPr>
              <a:t>[1]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3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0138E07-76D9-4A5C-A8BC-E5098616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97" y="4056406"/>
            <a:ext cx="2743200" cy="280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0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1029-B7E6-42AA-BA66-2E2EC4B68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84" y="2160589"/>
            <a:ext cx="3605568" cy="273777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Food production will increase</a:t>
            </a:r>
          </a:p>
          <a:p>
            <a:pPr marL="0" indent="0">
              <a:buNone/>
            </a:pPr>
            <a:r>
              <a:rPr lang="en-US"/>
              <a:t>due to population growth.</a:t>
            </a:r>
          </a:p>
          <a:p>
            <a:endParaRPr lang="en-US"/>
          </a:p>
          <a:p>
            <a:r>
              <a:rPr lang="en-US"/>
              <a:t>Packaging and container </a:t>
            </a:r>
          </a:p>
          <a:p>
            <a:pPr marL="0" indent="0">
              <a:buNone/>
            </a:pPr>
            <a:r>
              <a:rPr lang="en-US"/>
              <a:t>production likely to increase </a:t>
            </a:r>
          </a:p>
          <a:p>
            <a:pPr marL="0" indent="0">
              <a:buNone/>
            </a:pPr>
            <a:r>
              <a:rPr lang="en-US"/>
              <a:t>to compensate food production. 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EC1FE-AA3A-44C2-B661-6D6A5146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8" y="6388270"/>
            <a:ext cx="311766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7" descr="A close up of a map&#10;&#10;Description generated with high confidence">
            <a:extLst>
              <a:ext uri="{FF2B5EF4-FFF2-40B4-BE49-F238E27FC236}">
                <a16:creationId xmlns:a16="http://schemas.microsoft.com/office/drawing/2014/main" id="{CF8ADA25-C476-4B96-A6B4-F2C2958B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709" y="287167"/>
            <a:ext cx="7711044" cy="57939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45320DD-ADF0-499B-A40F-0DD3D5350762}"/>
              </a:ext>
            </a:extLst>
          </p:cNvPr>
          <p:cNvSpPr/>
          <p:nvPr/>
        </p:nvSpPr>
        <p:spPr>
          <a:xfrm>
            <a:off x="7762671" y="3289693"/>
            <a:ext cx="389107" cy="3810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A3BBB-4311-4C20-B05B-62AAE9989E93}"/>
              </a:ext>
            </a:extLst>
          </p:cNvPr>
          <p:cNvSpPr txBox="1"/>
          <p:nvPr/>
        </p:nvSpPr>
        <p:spPr>
          <a:xfrm>
            <a:off x="6150029" y="6197293"/>
            <a:ext cx="40034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44546A"/>
                </a:solidFill>
                <a:latin typeface="Calibri"/>
              </a:rPr>
              <a:t>Figure 2: World population projection </a:t>
            </a:r>
            <a:r>
              <a:rPr lang="en-US" i="1" baseline="30000">
                <a:solidFill>
                  <a:srgbClr val="44546A"/>
                </a:solidFill>
                <a:latin typeface="Calibri"/>
              </a:rPr>
              <a:t>[2]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040099-F0BC-4704-A3C6-144124A0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884" y="609600"/>
            <a:ext cx="3462693" cy="13208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Reasons for PLA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86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660EE-C03F-41D2-A524-894739724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84" y="1455739"/>
            <a:ext cx="3167418" cy="442005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Bio-plastics make up less than 1% of the total plastics market. </a:t>
            </a:r>
            <a:r>
              <a:rPr lang="en-US" baseline="30000">
                <a:ea typeface="+mn-lt"/>
                <a:cs typeface="+mn-lt"/>
              </a:rPr>
              <a:t>[3]</a:t>
            </a:r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Global plastic production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740 billion pounds.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Growth rate of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4% per year (2016). </a:t>
            </a:r>
            <a:r>
              <a:rPr lang="en-US" baseline="30000">
                <a:ea typeface="+mn-lt"/>
                <a:cs typeface="+mn-lt"/>
              </a:rPr>
              <a:t>[3]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U.S. plastic production  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117 billion pounds (2017). </a:t>
            </a:r>
            <a:r>
              <a:rPr lang="en-US" baseline="30000">
                <a:ea typeface="+mn-lt"/>
                <a:cs typeface="+mn-lt"/>
              </a:rPr>
              <a:t>[3]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DD4F3-015B-44CA-902E-6490661C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21" y="6353664"/>
            <a:ext cx="313962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75416F19-F734-4E61-A895-EC16224C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886" y="504336"/>
            <a:ext cx="8116808" cy="52225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90FF8-91DC-42FE-BBBB-9878E9C241F7}"/>
              </a:ext>
            </a:extLst>
          </p:cNvPr>
          <p:cNvSpPr txBox="1"/>
          <p:nvPr/>
        </p:nvSpPr>
        <p:spPr>
          <a:xfrm>
            <a:off x="4337613" y="5916231"/>
            <a:ext cx="56561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44546A"/>
                </a:solidFill>
                <a:latin typeface="Calibri"/>
              </a:rPr>
              <a:t>Figure 3: Plastic waste generation/disposal </a:t>
            </a:r>
            <a:r>
              <a:rPr lang="en-US" i="1" baseline="30000">
                <a:solidFill>
                  <a:srgbClr val="44546A"/>
                </a:solidFill>
                <a:latin typeface="Calibri"/>
              </a:rPr>
              <a:t>[4]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6FE1D8-CBF2-45B9-BCC2-C037DEA9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34" y="447675"/>
            <a:ext cx="3434118" cy="13208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Reasons for PLA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C1F941-EE12-4566-897D-3682998B6F07}"/>
              </a:ext>
            </a:extLst>
          </p:cNvPr>
          <p:cNvSpPr/>
          <p:nvPr/>
        </p:nvSpPr>
        <p:spPr>
          <a:xfrm>
            <a:off x="8962821" y="5070868"/>
            <a:ext cx="389107" cy="3810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2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C485-1939-4F68-AB98-14C61B28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Market Analysis</a:t>
            </a:r>
            <a:endParaRPr lang="en-US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5C0EB-FB48-43D9-A605-A45BD23E4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413" y="3095538"/>
            <a:ext cx="4104965" cy="1654706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Bioplastics used in many industries</a:t>
            </a:r>
          </a:p>
          <a:p>
            <a:pPr lvl="1"/>
            <a:r>
              <a:rPr lang="en-US"/>
              <a:t>Water and Beverage Bottles</a:t>
            </a:r>
          </a:p>
          <a:p>
            <a:pPr lvl="1"/>
            <a:r>
              <a:rPr lang="en-US"/>
              <a:t>Food Service Accessories </a:t>
            </a:r>
          </a:p>
          <a:p>
            <a:pPr lvl="1"/>
            <a:r>
              <a:rPr lang="en-US"/>
              <a:t>Processed Food Packaging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C68B6-FA37-45B0-AD1A-6971FEE1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140" y="6360958"/>
            <a:ext cx="324487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B28AFB31-2C7A-4C64-B057-1D1E90D898B9}" type="slidenum">
              <a:rPr lang="en-US" sz="110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fld>
            <a:endParaRPr lang="en-US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BEB33-040B-41D8-B411-CED85CCA0E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070" y="1848436"/>
            <a:ext cx="7121248" cy="41283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BBD5A1-80EB-466F-BD58-268B8BEBED79}"/>
              </a:ext>
            </a:extLst>
          </p:cNvPr>
          <p:cNvSpPr/>
          <p:nvPr/>
        </p:nvSpPr>
        <p:spPr>
          <a:xfrm>
            <a:off x="6240199" y="6063734"/>
            <a:ext cx="4268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1: Bio-plastics Market Applications </a:t>
            </a:r>
            <a:r>
              <a:rPr lang="en-US" i="1" baseline="3000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[5]</a:t>
            </a:r>
            <a:endParaRPr lang="en-US" i="1">
              <a:solidFill>
                <a:srgbClr val="44546A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36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9E2B-F0C7-4D2A-B6ED-781BC625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Market Projections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0E705-590C-4E06-BC61-92B7EC9F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396" y="6331510"/>
            <a:ext cx="28518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2B1C2-BD9E-4FA1-93F8-32C3D8F3C8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821" y="1470945"/>
            <a:ext cx="5441923" cy="44777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A8929A-1369-4026-AD7C-8B8CC56EEC96}"/>
              </a:ext>
            </a:extLst>
          </p:cNvPr>
          <p:cNvSpPr/>
          <p:nvPr/>
        </p:nvSpPr>
        <p:spPr>
          <a:xfrm>
            <a:off x="4051005" y="6146844"/>
            <a:ext cx="3664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3: Bio-plastic Global Metrics </a:t>
            </a:r>
            <a:r>
              <a:rPr lang="en-US" i="1" baseline="3000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[5]</a:t>
            </a:r>
            <a:endParaRPr lang="en-US" i="1">
              <a:solidFill>
                <a:srgbClr val="44546A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96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24BF-6B80-4975-BF26-73DD0BE9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Market 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E39F-5C74-4D13-87D9-F28E002CF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84809"/>
            <a:ext cx="3065748" cy="199717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/>
              <a:t>PLA makes up ~ 25% of all bioplastics produced</a:t>
            </a:r>
          </a:p>
          <a:p>
            <a:endParaRPr lang="en-US"/>
          </a:p>
          <a:p>
            <a:r>
              <a:rPr lang="en-US"/>
              <a:t>By 2023, PLA expected to make up ~34% of all bioplastics produced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4B8C1-F5F5-492D-AF72-0E6FAD90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128" y="6298815"/>
            <a:ext cx="307550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9DDB442-4817-46F3-BAB9-65CC84F06CA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115" y="1730786"/>
            <a:ext cx="7728563" cy="4259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D39BF7-DD31-44C0-A54D-9735A8E0F657}"/>
              </a:ext>
            </a:extLst>
          </p:cNvPr>
          <p:cNvSpPr/>
          <p:nvPr/>
        </p:nvSpPr>
        <p:spPr>
          <a:xfrm>
            <a:off x="4600596" y="6063734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2: Bio-plastic Market Projections for Individual Resin Types </a:t>
            </a:r>
            <a:r>
              <a:rPr lang="en-US" i="1" baseline="3000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[5]</a:t>
            </a:r>
            <a:endParaRPr lang="en-US" i="1">
              <a:solidFill>
                <a:srgbClr val="44546A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52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495-84EA-435F-9566-80803F78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Market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F5C6-A318-4A0B-A6BC-6807406BA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46829"/>
            <a:ext cx="3812473" cy="36587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Interest in creating sustainable and green materials for everyday products </a:t>
            </a:r>
          </a:p>
          <a:p>
            <a:endParaRPr lang="en-US"/>
          </a:p>
          <a:p>
            <a:r>
              <a:rPr lang="en-US"/>
              <a:t>Government incentives encourage manufacturers to produce bioplastics</a:t>
            </a:r>
          </a:p>
          <a:p>
            <a:endParaRPr lang="en-US"/>
          </a:p>
          <a:p>
            <a:r>
              <a:rPr lang="en-US"/>
              <a:t>PLA can be produced from the waste of already cultivated crops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38FA0-D412-4748-8737-F7F30E68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4664" y="6325447"/>
            <a:ext cx="34166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B51DE-3EEC-4C24-B0CB-3574A9C7AF8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827" y="1679265"/>
            <a:ext cx="6179837" cy="41938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AF373CA-46E8-4FC0-B21D-3F5FEBD8B11E}"/>
              </a:ext>
            </a:extLst>
          </p:cNvPr>
          <p:cNvSpPr/>
          <p:nvPr/>
        </p:nvSpPr>
        <p:spPr>
          <a:xfrm>
            <a:off x="6520030" y="6063734"/>
            <a:ext cx="359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5: PLA Market Growth Rate </a:t>
            </a:r>
            <a:r>
              <a:rPr lang="en-US" i="1" baseline="3000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[6]</a:t>
            </a:r>
            <a:endParaRPr lang="en-US" i="1">
              <a:solidFill>
                <a:srgbClr val="44546A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9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E58B-1856-4734-AF84-5FF31022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Feedstock : Sugarcane Bagasse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35293-5D92-475C-BF71-D465709EE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432" y="1767477"/>
            <a:ext cx="4583035" cy="25388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/>
              <a:t>Location: São Paulo, Brazil</a:t>
            </a:r>
          </a:p>
          <a:p>
            <a:pPr lvl="1"/>
            <a:r>
              <a:rPr lang="en-US"/>
              <a:t>Produces 60% of Brazil’s production (670 tons sugarcane/year)</a:t>
            </a:r>
          </a:p>
          <a:p>
            <a:r>
              <a:rPr lang="en-US"/>
              <a:t>1-ton sugarcane = 250 - 270 kg bagasse [7]</a:t>
            </a:r>
          </a:p>
          <a:p>
            <a:r>
              <a:rPr lang="en-US"/>
              <a:t>1-ton dry bagasse = $18 [8]</a:t>
            </a:r>
          </a:p>
          <a:p>
            <a:r>
              <a:rPr lang="en-US"/>
              <a:t>Sugarcane used to produce sugars and ethanol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BAB89-CDED-46DF-8CF3-4EDF4434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701" y="6339312"/>
            <a:ext cx="378848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F33EFD-1BA1-4EE4-93DE-3F88CDC165C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689" y="1767477"/>
            <a:ext cx="5223873" cy="42129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E6C9B4-A4FE-4027-89DF-D251FDC32741}"/>
              </a:ext>
            </a:extLst>
          </p:cNvPr>
          <p:cNvSpPr/>
          <p:nvPr/>
        </p:nvSpPr>
        <p:spPr>
          <a:xfrm>
            <a:off x="6327514" y="6063734"/>
            <a:ext cx="4790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7: Brazil Sugarcane Production and Use </a:t>
            </a:r>
            <a:r>
              <a:rPr lang="en-US" i="1" baseline="30000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[9]</a:t>
            </a:r>
            <a:endParaRPr lang="en-US" i="1">
              <a:solidFill>
                <a:srgbClr val="44546A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BBAB76-7791-4621-81F4-A29283869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38" y="4469258"/>
            <a:ext cx="3833021" cy="22351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974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B668-0FAB-4B57-95D9-E51910FD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07" y="87566"/>
            <a:ext cx="5412970" cy="774571"/>
          </a:xfrm>
        </p:spPr>
        <p:txBody>
          <a:bodyPr anchor="ctr">
            <a:normAutofit/>
          </a:bodyPr>
          <a:lstStyle/>
          <a:p>
            <a:r>
              <a:rPr lang="en-US" b="1" u="sng">
                <a:solidFill>
                  <a:schemeClr val="tx1"/>
                </a:solidFill>
              </a:rPr>
              <a:t>Competing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8100-2DFE-4F55-B458-09CA7C3A7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86" y="1592281"/>
            <a:ext cx="3492580" cy="407322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/>
              <a:t>To produce polylactic acids, lactic acids must be produced</a:t>
            </a:r>
          </a:p>
          <a:p>
            <a:r>
              <a:rPr lang="en-US"/>
              <a:t>Types of Raw Materials: Apple Pomace, Sugarcane Bagasse, Corncobs, or Potato Peels</a:t>
            </a:r>
          </a:p>
          <a:p>
            <a:pPr lvl="1"/>
            <a:r>
              <a:rPr lang="en-US"/>
              <a:t>Each of these biomass waste products contain amounts of sugars that can be converted into lactic acid</a:t>
            </a:r>
          </a:p>
          <a:p>
            <a:r>
              <a:rPr lang="en-US"/>
              <a:t>Table 1, shows the comparison of the lactic acid from the raw materials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CB40E-2A49-4D4A-959D-0C94DBAC3DA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735" y="1415482"/>
            <a:ext cx="8369380" cy="4419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ADEDE-2D8C-45C3-A6C1-4B6513CA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7579" y="6281059"/>
            <a:ext cx="363293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8AFB31-2C7A-4C64-B057-1D1E90D898B9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pPr>
                <a:spcAft>
                  <a:spcPts val="600"/>
                </a:spcAft>
              </a:pPr>
              <a:t>11</a:t>
            </a:fld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F24FF-7927-4376-91B6-EDF43046CBE8}"/>
              </a:ext>
            </a:extLst>
          </p:cNvPr>
          <p:cNvSpPr/>
          <p:nvPr/>
        </p:nvSpPr>
        <p:spPr>
          <a:xfrm>
            <a:off x="6096000" y="687275"/>
            <a:ext cx="42125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 1: </a:t>
            </a: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Comparison of Lactic Acid Production Using Various Raw Materials </a:t>
            </a:r>
            <a:r>
              <a:rPr lang="en-US" i="1" baseline="30000">
                <a:latin typeface="Calibri" panose="020F0502020204030204" pitchFamily="34" charset="0"/>
                <a:cs typeface="Calibri" panose="020F0502020204030204" pitchFamily="34" charset="0"/>
              </a:rPr>
              <a:t>[10]</a:t>
            </a:r>
            <a:endParaRPr 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652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A74E-50B1-4AC9-AF1F-7AEF1293D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99" y="0"/>
            <a:ext cx="8596668" cy="1320800"/>
          </a:xfrm>
        </p:spPr>
        <p:txBody>
          <a:bodyPr/>
          <a:lstStyle/>
          <a:p>
            <a:r>
              <a:rPr lang="en-US" b="1" u="sng">
                <a:solidFill>
                  <a:schemeClr val="tx1"/>
                </a:solidFill>
              </a:rPr>
              <a:t>Competing Process 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3C250-FE14-4636-B620-C25AF042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91" y="725968"/>
            <a:ext cx="10314320" cy="600597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/>
              <a:t>Synthesis of Lactic Acids: Chemical Synthesis or Fermentation</a:t>
            </a:r>
          </a:p>
          <a:p>
            <a:r>
              <a:rPr lang="en-US"/>
              <a:t>Chemical Synthesis uses petroleum as the raw material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[11]</a:t>
            </a:r>
            <a:endParaRPr lang="en-US"/>
          </a:p>
          <a:p>
            <a:pPr lvl="1"/>
            <a:r>
              <a:rPr lang="en-US"/>
              <a:t>This process takes the raw material that goes through a reaction to make lactonitrile</a:t>
            </a:r>
          </a:p>
          <a:p>
            <a:pPr lvl="1"/>
            <a:r>
              <a:rPr lang="en-US"/>
              <a:t>The lactonitrile goes through an acid hydrolysis to produce the lactic acid</a:t>
            </a:r>
          </a:p>
          <a:p>
            <a:r>
              <a:rPr lang="en-US"/>
              <a:t>Fermentation uses a bacteria to start the process and can occur through either through batch, fed-batch, and continuous fermenter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[12]</a:t>
            </a:r>
            <a:endParaRPr lang="en-US"/>
          </a:p>
          <a:p>
            <a:pPr lvl="1"/>
            <a:r>
              <a:rPr lang="en-US"/>
              <a:t>Batch Fermentation Process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[11]</a:t>
            </a:r>
            <a:endParaRPr lang="en-US"/>
          </a:p>
          <a:p>
            <a:pPr lvl="2"/>
            <a:r>
              <a:rPr lang="en-US"/>
              <a:t>All the components are added into the fermenter before the process begins</a:t>
            </a:r>
          </a:p>
          <a:p>
            <a:pPr lvl="2"/>
            <a:r>
              <a:rPr lang="en-US"/>
              <a:t>Prevents contaminants from coming in due to it being a closed system</a:t>
            </a:r>
          </a:p>
          <a:p>
            <a:pPr lvl="1"/>
            <a:r>
              <a:rPr lang="en-US"/>
              <a:t>Fed-batch Fermentation Process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[13]</a:t>
            </a:r>
            <a:endParaRPr lang="en-US"/>
          </a:p>
          <a:p>
            <a:pPr lvl="2"/>
            <a:r>
              <a:rPr lang="en-US"/>
              <a:t>The components are added in together at constant rates</a:t>
            </a:r>
          </a:p>
          <a:p>
            <a:pPr lvl="2"/>
            <a:r>
              <a:rPr lang="en-US"/>
              <a:t>High concentrations of lactic acids are produced</a:t>
            </a:r>
          </a:p>
          <a:p>
            <a:pPr lvl="2"/>
            <a:r>
              <a:rPr lang="en-US"/>
              <a:t>After multiple cycles, there can be a build up of inhibiting substances</a:t>
            </a:r>
          </a:p>
          <a:p>
            <a:pPr lvl="1"/>
            <a:r>
              <a:rPr lang="en-US"/>
              <a:t>Continuous Fermentation Process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[11]</a:t>
            </a:r>
            <a:endParaRPr lang="en-US"/>
          </a:p>
          <a:p>
            <a:pPr lvl="2"/>
            <a:r>
              <a:rPr lang="en-US"/>
              <a:t>A fresh feed is constantly being added while the previously fermented batch is coming out</a:t>
            </a:r>
          </a:p>
          <a:p>
            <a:pPr lvl="2"/>
            <a:r>
              <a:rPr lang="en-US"/>
              <a:t>The productivity is twice as better than the batch and fed-batch fermenters</a:t>
            </a:r>
          </a:p>
          <a:p>
            <a:pPr lvl="2"/>
            <a:r>
              <a:rPr lang="en-US"/>
              <a:t>There’s high concentrations of lactic acids produced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68A8A-9914-4238-8CAA-D65CB2BA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2994" y="6343202"/>
            <a:ext cx="35889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6190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1C29-B67A-44B4-ACD4-AF839292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06" y="44647"/>
            <a:ext cx="8596668" cy="1320800"/>
          </a:xfrm>
        </p:spPr>
        <p:txBody>
          <a:bodyPr/>
          <a:lstStyle/>
          <a:p>
            <a:r>
              <a:rPr lang="en-US" b="1" u="sng">
                <a:solidFill>
                  <a:schemeClr val="tx1"/>
                </a:solidFill>
              </a:rPr>
              <a:t>Competing Process Continued…</a:t>
            </a:r>
            <a:endParaRPr lang="en-US" b="1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FE7A8-A889-4FA6-B2D1-57C11AC46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952" y="857017"/>
            <a:ext cx="9133863" cy="52232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Polymerization can occur through lactic condensation and coupling, azeotropic dehydration and condensation, or Ring Opening Polymerization (ROP) of Lactide</a:t>
            </a:r>
          </a:p>
          <a:p>
            <a:r>
              <a:rPr lang="en-US"/>
              <a:t>Lactic Condensation and Coupling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[14]</a:t>
            </a:r>
            <a:endParaRPr lang="en-US"/>
          </a:p>
          <a:p>
            <a:pPr lvl="1"/>
            <a:r>
              <a:rPr lang="en-US"/>
              <a:t>Coupling agents used to increase molecular weight, but can cause impurities to cause the polymer to be less biodegradable</a:t>
            </a:r>
          </a:p>
          <a:p>
            <a:r>
              <a:rPr lang="en-US"/>
              <a:t>Azeotropic Dehydration and Condensation </a:t>
            </a:r>
            <a:r>
              <a:rPr lang="en-US" baseline="30000">
                <a:solidFill>
                  <a:srgbClr val="44546A"/>
                </a:solidFill>
                <a:ea typeface="Calibri" panose="020F0502020204030204" pitchFamily="34" charset="0"/>
                <a:cs typeface="Arial" panose="020B0604020202020204" pitchFamily="34" charset="0"/>
              </a:rPr>
              <a:t>[14]</a:t>
            </a:r>
            <a:endParaRPr lang="en-US"/>
          </a:p>
          <a:p>
            <a:pPr lvl="1"/>
            <a:r>
              <a:rPr lang="en-US"/>
              <a:t>Lactic acid and catalysts must be azeotropically dehydrated to increase molecular weight, but process can cause there to be degradation and high toxicity </a:t>
            </a:r>
          </a:p>
          <a:p>
            <a:r>
              <a:rPr lang="en-US"/>
              <a:t>ROP of Lactide</a:t>
            </a:r>
            <a:r>
              <a:rPr lang="en-US" baseline="30000"/>
              <a:t>[14]</a:t>
            </a:r>
            <a:endParaRPr lang="en-US"/>
          </a:p>
          <a:p>
            <a:pPr lvl="1"/>
            <a:r>
              <a:rPr lang="en-US"/>
              <a:t>Only method that creates pure polylactic acids with high molecular weights</a:t>
            </a:r>
          </a:p>
          <a:p>
            <a:pPr lvl="1"/>
            <a:r>
              <a:rPr lang="en-US"/>
              <a:t>Tin compounded catalysts used due to the high catalytic efficiency and low toxicity levels, which are FDA approved</a:t>
            </a:r>
          </a:p>
          <a:p>
            <a:pPr lvl="1"/>
            <a:r>
              <a:rPr lang="en-US"/>
              <a:t>Control and quality in production</a:t>
            </a:r>
            <a:r>
              <a:rPr lang="en-US" baseline="30000"/>
              <a:t>[15]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36FB-6385-49C6-8DBA-B5D25361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1274" y="6210038"/>
            <a:ext cx="339497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7572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2" name="Straight Connector 6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7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2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2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6E918B1-FA59-42EF-8A8E-B0F3D1E5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1CF73ED-3D04-473F-B150-99585BC394E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4256" y="628132"/>
            <a:ext cx="8471919" cy="58428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66036-0276-452E-86DC-610E024C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2994" y="6223924"/>
            <a:ext cx="335768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8AFB31-2C7A-4C64-B057-1D1E90D898B9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pPr>
                <a:spcAft>
                  <a:spcPts val="600"/>
                </a:spcAft>
              </a:pPr>
              <a:t>14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6407F-25A9-4E0A-9D9F-C0DC0EDA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3509"/>
            <a:ext cx="4147031" cy="72451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u="sng">
                <a:solidFill>
                  <a:schemeClr val="tx1"/>
                </a:solidFill>
              </a:rPr>
              <a:t>Chosen Process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FBEAD6-5938-41DF-B364-3F5B37814073}"/>
              </a:ext>
            </a:extLst>
          </p:cNvPr>
          <p:cNvSpPr/>
          <p:nvPr/>
        </p:nvSpPr>
        <p:spPr>
          <a:xfrm>
            <a:off x="2073515" y="6491097"/>
            <a:ext cx="7984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i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Figure 8: BFD of the Polylactic Acid Production from Sugarcane Bagasse</a:t>
            </a:r>
          </a:p>
        </p:txBody>
      </p:sp>
    </p:spTree>
    <p:extLst>
      <p:ext uri="{BB962C8B-B14F-4D97-AF65-F5344CB8AC3E}">
        <p14:creationId xmlns:p14="http://schemas.microsoft.com/office/powerpoint/2010/main" val="1532061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E1E9-448B-455D-A146-111BB543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PFD</a:t>
            </a:r>
          </a:p>
        </p:txBody>
      </p:sp>
      <p:pic>
        <p:nvPicPr>
          <p:cNvPr id="5" name="Picture 5" descr="A close up of text on a black background&#10;&#10;Description generated with high confidence">
            <a:extLst>
              <a:ext uri="{FF2B5EF4-FFF2-40B4-BE49-F238E27FC236}">
                <a16:creationId xmlns:a16="http://schemas.microsoft.com/office/drawing/2014/main" id="{5C002DAB-1427-41DA-BD0F-6315AFAA5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782" y="184556"/>
            <a:ext cx="8383535" cy="64896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D8D8B-A7D2-4920-8ED5-CF2F91F1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765" y="6307692"/>
            <a:ext cx="41363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B28AFB31-2C7A-4C64-B057-1D1E90D898B9}" type="slidenum">
              <a:rPr lang="en-US" sz="110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fld>
            <a:endParaRPr lang="en-US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6859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9423" y="0"/>
            <a:ext cx="2492577" cy="20079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54A27D-8F24-41C5-B14E-6A81DD0A1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31" y="266007"/>
            <a:ext cx="8596668" cy="1638749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accent2"/>
                </a:solidFill>
              </a:rPr>
              <a:t>								Material Balances</a:t>
            </a:r>
            <a:br>
              <a:rPr lang="en-US">
                <a:solidFill>
                  <a:schemeClr val="accent2"/>
                </a:solidFill>
              </a:rPr>
            </a:br>
            <a:r>
              <a:rPr lang="en-US" sz="3100">
                <a:solidFill>
                  <a:schemeClr val="tx1"/>
                </a:solidFill>
              </a:rPr>
              <a:t>Acid Hydrolysis </a:t>
            </a:r>
            <a:br>
              <a:rPr lang="en-US" sz="3100">
                <a:solidFill>
                  <a:schemeClr val="tx1"/>
                </a:solidFill>
              </a:rPr>
            </a:br>
            <a:br>
              <a:rPr lang="en-US">
                <a:solidFill>
                  <a:schemeClr val="accent2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Pretreatment of Bagasse material with diluted  Sulfuric acid for 34% yield of glucose </a:t>
            </a:r>
            <a:br>
              <a:rPr lang="en-US">
                <a:solidFill>
                  <a:schemeClr val="accent2"/>
                </a:solidFill>
              </a:rPr>
            </a:br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67552-CAC1-40F8-8B28-584D34E2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3567" y="6325447"/>
            <a:ext cx="341693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B28AFB31-2C7A-4C64-B057-1D1E90D898B9}" type="slidenum">
              <a:rPr lang="en-US" sz="110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fld>
            <a:endParaRPr lang="en-US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255679"/>
              </p:ext>
            </p:extLst>
          </p:nvPr>
        </p:nvGraphicFramePr>
        <p:xfrm>
          <a:off x="263951" y="2375555"/>
          <a:ext cx="10953946" cy="41477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0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27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27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27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4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88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10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7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Glucose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208523.92</a:t>
                      </a: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70898.13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37566.84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12772.72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21014.18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28159.00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7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Sulfuric Acid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14596.67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145.97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1431.63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14.32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3156.19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31.56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Residues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26211.42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57786.23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705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37566.84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1431.63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38998.46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087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024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988" y="1"/>
            <a:ext cx="2982012" cy="17938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5" y="304800"/>
            <a:ext cx="8596668" cy="1320800"/>
          </a:xfrm>
        </p:spPr>
        <p:txBody>
          <a:bodyPr>
            <a:normAutofit fontScale="9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>
                <a:solidFill>
                  <a:schemeClr val="tx1"/>
                </a:solidFill>
              </a:rPr>
              <a:t>Continuous Fermentation Reactor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 sz="2400" i="1">
                <a:solidFill>
                  <a:srgbClr val="44546A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>
                <a:solidFill>
                  <a:schemeClr val="tx1"/>
                </a:solidFill>
                <a:latin typeface="Trebuchet MS (Headings)"/>
                <a:ea typeface="Calibri" panose="020F0502020204030204" pitchFamily="34" charset="0"/>
                <a:cs typeface="Arial" panose="020B0604020202020204" pitchFamily="34" charset="0"/>
              </a:rPr>
              <a:t>Fermentation based on conversion by Bacteria of 85% </a:t>
            </a:r>
            <a:r>
              <a:rPr lang="en-US" sz="2000" baseline="30000">
                <a:solidFill>
                  <a:schemeClr val="tx1"/>
                </a:solidFill>
                <a:latin typeface="Trebuchet MS (Headings)"/>
                <a:ea typeface="Calibri" panose="020F0502020204030204" pitchFamily="34" charset="0"/>
                <a:cs typeface="Arial" panose="020B0604020202020204" pitchFamily="34" charset="0"/>
              </a:rPr>
              <a:t>[12]</a:t>
            </a:r>
            <a:br>
              <a:rPr lang="en-US" sz="2000">
                <a:solidFill>
                  <a:schemeClr val="tx1"/>
                </a:solidFill>
                <a:latin typeface="Trebuchet MS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>
              <a:solidFill>
                <a:schemeClr val="tx1"/>
              </a:solidFill>
              <a:latin typeface="Trebuchet MS (Headings)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791891"/>
              </p:ext>
            </p:extLst>
          </p:nvPr>
        </p:nvGraphicFramePr>
        <p:xfrm>
          <a:off x="223115" y="1930400"/>
          <a:ext cx="11305867" cy="4828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4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9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09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98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12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4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64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64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S4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S4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S4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9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Glucose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70898.13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1417.96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12772.72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255.45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28159.00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563.18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Calcium Hydroxide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70898.13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5252.98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11580.83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Calcium Lactate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120526.83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15565.56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34316.14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9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120526.83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2171.32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4786.95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Residues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33.37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5948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12772.72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5252.98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18025.71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646"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28981" y="6394223"/>
            <a:ext cx="31853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4827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045" y="0"/>
            <a:ext cx="3187955" cy="22812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19894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chemeClr val="tx1"/>
                </a:solidFill>
              </a:rPr>
              <a:t>Filtration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 sz="28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Based on the assumption of having filtration </a:t>
            </a:r>
            <a:br>
              <a:rPr lang="en-US" sz="22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with yield of 97%</a:t>
            </a:r>
            <a:br>
              <a:rPr lang="en-US" sz="2800"/>
            </a:br>
            <a:endParaRPr lang="en-US" sz="28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022397"/>
              </p:ext>
            </p:extLst>
          </p:nvPr>
        </p:nvGraphicFramePr>
        <p:xfrm>
          <a:off x="373771" y="2038032"/>
          <a:ext cx="9972406" cy="44895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4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48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48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58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046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46"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046"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S7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S8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S7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S8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S6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S7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S8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0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Glucose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1417.96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1417.96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255.45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255.45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563.18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563.18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3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Calcium Hydroxide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3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Calcium Lactate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120526.83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3615.80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116911.02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15565.56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466.97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15098.59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34316.14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1027.33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33286.66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3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120526.83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120526.83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2171.32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2171.32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4786.95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4786.95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371"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17992.34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2893.75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15098.59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046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28981" y="6420031"/>
            <a:ext cx="365672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1462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870" y="0"/>
            <a:ext cx="1902130" cy="2620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4276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chemeClr val="tx1"/>
                </a:solidFill>
              </a:rPr>
              <a:t>Acid Hydrolysis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 sz="28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Based on 92% yield of Calcium Lactate to LA </a:t>
            </a:r>
            <a:r>
              <a:rPr lang="en-US" sz="2200" baseline="30000">
                <a:solidFill>
                  <a:schemeClr val="tx1"/>
                </a:solidFill>
              </a:rPr>
              <a:t>[16]</a:t>
            </a:r>
            <a:br>
              <a:rPr lang="en-US" sz="2200">
                <a:solidFill>
                  <a:schemeClr val="tx1"/>
                </a:solidFill>
              </a:rPr>
            </a:br>
            <a:endParaRPr lang="en-US" sz="2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57262" y="6380727"/>
            <a:ext cx="337392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039006"/>
              </p:ext>
            </p:extLst>
          </p:nvPr>
        </p:nvGraphicFramePr>
        <p:xfrm>
          <a:off x="164040" y="1848129"/>
          <a:ext cx="10837040" cy="47811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666">
                  <a:extLst>
                    <a:ext uri="{9D8B030D-6E8A-4147-A177-3AD203B41FA5}">
                      <a16:colId xmlns:a16="http://schemas.microsoft.com/office/drawing/2014/main" val="918669071"/>
                    </a:ext>
                  </a:extLst>
                </a:gridCol>
                <a:gridCol w="795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38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4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1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70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92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79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79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687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12"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37">
                <a:tc>
                  <a:txBody>
                    <a:bodyPr/>
                    <a:lstStyle/>
                    <a:p>
                      <a:pPr algn="l"/>
                      <a:endParaRPr lang="en-US" sz="16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(mol/hr)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(kg/hr)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(lb/hr)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637">
                <a:tc>
                  <a:txBody>
                    <a:bodyPr/>
                    <a:lstStyle/>
                    <a:p>
                      <a:pPr algn="l"/>
                      <a:endParaRPr lang="en-US" sz="16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35"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S9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S10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S8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S9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S10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S11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S8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S9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S10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S11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7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Calcium Lactate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116911.02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9352.88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15098.59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1207.89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33286.66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2657.36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Lactic Acid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107558.14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9688.84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21360.20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0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Sulfuric Acid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40918.86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9104.45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4013.28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892.95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8847.76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1964.49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7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Calcium Sulphate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53779.07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7321.48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16141.09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0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Residues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0.71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114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15098.59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4013.28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9422.32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9689.55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94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816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93" t="6672" r="-1593" b="1335"/>
          <a:stretch/>
        </p:blipFill>
        <p:spPr>
          <a:xfrm>
            <a:off x="9778702" y="0"/>
            <a:ext cx="2567050" cy="22919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60712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chemeClr val="tx1"/>
                </a:solidFill>
              </a:rPr>
              <a:t>Esterification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en-US" sz="2200" i="1">
                <a:solidFill>
                  <a:schemeClr val="tx1"/>
                </a:solidFill>
              </a:rPr>
              <a:t>Based on 85% conversion to Methyl lactate </a:t>
            </a:r>
            <a:endParaRPr lang="en-US" sz="22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705323"/>
              </p:ext>
            </p:extLst>
          </p:nvPr>
        </p:nvGraphicFramePr>
        <p:xfrm>
          <a:off x="122548" y="1944008"/>
          <a:ext cx="10331779" cy="46736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7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7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27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27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66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28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128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128"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S11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S12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S13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S11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S12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S13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S11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S12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S13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46250.00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833.21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1836.90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Lactic Acid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53779.07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7529.07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4844.42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678.22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10680.10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1492.08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5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Methanol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53779.07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6184.59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1723.08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198.15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3798.74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435.93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08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Methyl Lactate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46250.00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4861.34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10717.40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Residues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-3.42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066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4844.42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1723.08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6567.50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128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1847" y="6390153"/>
            <a:ext cx="34681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9380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1609"/>
          <a:stretch/>
        </p:blipFill>
        <p:spPr>
          <a:xfrm>
            <a:off x="9274002" y="55326"/>
            <a:ext cx="2917998" cy="31035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96" y="1270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3100">
                <a:solidFill>
                  <a:schemeClr val="tx1"/>
                </a:solidFill>
              </a:rPr>
              <a:t>Reactive Distillation</a:t>
            </a:r>
            <a:br>
              <a:rPr lang="en-US" sz="3100">
                <a:solidFill>
                  <a:schemeClr val="tx1"/>
                </a:solidFill>
              </a:rPr>
            </a:br>
            <a:br>
              <a:rPr lang="en-US" sz="3100">
                <a:solidFill>
                  <a:schemeClr val="tx1"/>
                </a:solidFill>
              </a:rPr>
            </a:br>
            <a:r>
              <a:rPr lang="en-US" sz="2200" b="1" i="1">
                <a:solidFill>
                  <a:schemeClr val="tx1"/>
                </a:solidFill>
              </a:rPr>
              <a:t>B</a:t>
            </a:r>
            <a:r>
              <a:rPr lang="en-US" sz="2200" i="1">
                <a:solidFill>
                  <a:schemeClr val="tx1"/>
                </a:solidFill>
              </a:rPr>
              <a:t>ased on 90% of Methyl lactate and water removal </a:t>
            </a:r>
            <a:r>
              <a:rPr lang="en-US" sz="2200" i="1" baseline="30000">
                <a:solidFill>
                  <a:schemeClr val="tx1"/>
                </a:solidFill>
              </a:rPr>
              <a:t>[17]</a:t>
            </a:r>
            <a:endParaRPr lang="en-US" sz="22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415873"/>
              </p:ext>
            </p:extLst>
          </p:nvPr>
        </p:nvGraphicFramePr>
        <p:xfrm>
          <a:off x="292231" y="2111448"/>
          <a:ext cx="9549354" cy="4377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5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2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28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28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6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994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9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9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S13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S14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S13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S14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S15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S13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S14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46250.00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46250.00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833.21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833.21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1836.90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1836.90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Methyl Lactate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46250.00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4625.00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41625.00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4861.34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486.13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4375.20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10717.40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1069.49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9645.66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102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5694.54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4375.20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1319.34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896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62994" y="6305313"/>
            <a:ext cx="356245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9575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4410"/>
          <a:stretch/>
        </p:blipFill>
        <p:spPr>
          <a:xfrm>
            <a:off x="9298230" y="-17986"/>
            <a:ext cx="2893769" cy="25160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949" y="24384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chemeClr val="tx1"/>
                </a:solidFill>
              </a:rPr>
              <a:t>Water Hydrolysis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r>
              <a:rPr lang="en-US" sz="2000" i="1">
                <a:solidFill>
                  <a:schemeClr val="tx1"/>
                </a:solidFill>
              </a:rPr>
              <a:t>Based on conversion of 97% Methanol </a:t>
            </a:r>
            <a:endParaRPr lang="en-US" sz="200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629331"/>
              </p:ext>
            </p:extLst>
          </p:nvPr>
        </p:nvGraphicFramePr>
        <p:xfrm>
          <a:off x="141403" y="1818988"/>
          <a:ext cx="10416618" cy="4795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0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26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24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3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62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2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4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694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597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1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16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57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57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S16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S17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S18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S15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S16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S17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S18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S15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S16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S17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S18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41625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749.89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1653.21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7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Lactic Acid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41625.00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3749.58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8266.40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7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Methanol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42692.31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1367.86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3015.61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6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Methyl Lactate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41625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4375.20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9645.66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97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Residues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7.65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009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4375.20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749.89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1367.86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3757.23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915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2676" y="6371300"/>
            <a:ext cx="309112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22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1914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745" y="-1"/>
            <a:ext cx="3578255" cy="27598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46" y="279839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Dehydration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 sz="2800">
                <a:solidFill>
                  <a:schemeClr val="tx1"/>
                </a:solidFill>
              </a:rPr>
            </a:br>
            <a:r>
              <a:rPr lang="en-US" sz="2200">
                <a:solidFill>
                  <a:schemeClr val="tx1"/>
                </a:solidFill>
              </a:rPr>
              <a:t>Assumption  greater than 90% of  Methanol is removed</a:t>
            </a:r>
            <a:endParaRPr lang="en-US" sz="280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137771"/>
              </p:ext>
            </p:extLst>
          </p:nvPr>
        </p:nvGraphicFramePr>
        <p:xfrm>
          <a:off x="688157" y="2119050"/>
          <a:ext cx="9209988" cy="4099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3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7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9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9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1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(mol/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58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587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S18</a:t>
                      </a:r>
                      <a:endParaRPr lang="en-US" sz="1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S19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S20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S18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S19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S20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S18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S19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S20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9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Lactic Acid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41625.00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41625.00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3749.58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3749.58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156076.27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156076.27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5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Methanol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1367.86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1231.08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587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3793.41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3749.58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587"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1847" y="6352446"/>
            <a:ext cx="365672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4625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64" y="227214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chemeClr val="tx1"/>
                </a:solidFill>
              </a:rPr>
              <a:t>Ring-Opening Polymerization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>Assumption </a:t>
            </a:r>
            <a:r>
              <a:rPr lang="en-US" sz="2400" i="1">
                <a:solidFill>
                  <a:schemeClr val="tx1"/>
                </a:solidFill>
              </a:rPr>
              <a:t>of the end-product to have Polymer grade of</a:t>
            </a:r>
            <a:br>
              <a:rPr lang="en-US" sz="2400" i="1">
                <a:solidFill>
                  <a:schemeClr val="tx1"/>
                </a:solidFill>
              </a:rPr>
            </a:br>
            <a:r>
              <a:rPr lang="en-US" sz="2400" i="1">
                <a:solidFill>
                  <a:schemeClr val="tx1"/>
                </a:solidFill>
              </a:rPr>
              <a:t> 20,000 (g/</a:t>
            </a:r>
            <a:r>
              <a:rPr lang="en-US" sz="2400" i="1" err="1">
                <a:solidFill>
                  <a:schemeClr val="tx1"/>
                </a:solidFill>
              </a:rPr>
              <a:t>mol</a:t>
            </a:r>
            <a:r>
              <a:rPr lang="en-US" sz="2400" i="1">
                <a:solidFill>
                  <a:schemeClr val="tx1"/>
                </a:solidFill>
              </a:rPr>
              <a:t>) and 30 Kilo Ton per year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44140" y="6352447"/>
            <a:ext cx="375099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571" y="0"/>
            <a:ext cx="2284429" cy="3369294"/>
          </a:xfrm>
          <a:prstGeom prst="rect">
            <a:avLst/>
          </a:prstGeom>
        </p:spPr>
      </p:pic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811776"/>
              </p:ext>
            </p:extLst>
          </p:nvPr>
        </p:nvGraphicFramePr>
        <p:xfrm>
          <a:off x="527900" y="1837974"/>
          <a:ext cx="9502220" cy="45144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4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8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86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9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mol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(kg/</a:t>
                      </a:r>
                      <a:r>
                        <a:rPr lang="en-US" sz="140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40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Lactic Acid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42468.75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849.38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3825.59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76.51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8433.96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168.32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Polylactic Acid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187.50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3750.00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8267.33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Residues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3825.59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3825.58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507">
                <a:tc>
                  <a:txBody>
                    <a:bodyPr/>
                    <a:lstStyle/>
                    <a:p>
                      <a:pPr algn="l"/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1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Balance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335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E3C0-BB46-495D-AFB2-6564D6DC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13" y="91634"/>
            <a:ext cx="2634018" cy="757847"/>
          </a:xfrm>
        </p:spPr>
        <p:txBody>
          <a:bodyPr>
            <a:normAutofit/>
          </a:bodyPr>
          <a:lstStyle/>
          <a:p>
            <a:r>
              <a:rPr lang="en-US" b="1" u="sng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D51A-7F75-4E95-A63A-8BA598474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82" y="842440"/>
            <a:ext cx="5189066" cy="57280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050">
                <a:ea typeface="+mn-lt"/>
                <a:cs typeface="+mn-lt"/>
              </a:rPr>
              <a:t>[1]Bioplastic (PLA) Packaging Supplier. 2019, </a:t>
            </a:r>
            <a:r>
              <a:rPr lang="en-US" sz="1050">
                <a:ea typeface="+mn-lt"/>
                <a:cs typeface="+mn-lt"/>
                <a:hlinkClick r:id="rId2"/>
              </a:rPr>
              <a:t>http://www.qualityprintpackaging.com/bioplastic-packaging-supplier</a:t>
            </a:r>
            <a:r>
              <a:rPr lang="en-US" sz="1050">
                <a:ea typeface="+mn-lt"/>
                <a:cs typeface="+mn-lt"/>
              </a:rPr>
              <a:t>.</a:t>
            </a:r>
          </a:p>
          <a:p>
            <a:r>
              <a:rPr lang="en-US" sz="1050">
                <a:ea typeface="+mn-lt"/>
                <a:cs typeface="+mn-lt"/>
              </a:rPr>
              <a:t>[2]</a:t>
            </a:r>
            <a:r>
              <a:rPr lang="en-US" sz="1050" err="1">
                <a:ea typeface="+mn-lt"/>
                <a:cs typeface="+mn-lt"/>
              </a:rPr>
              <a:t>Kiersz</a:t>
            </a:r>
            <a:r>
              <a:rPr lang="en-US" sz="1050">
                <a:ea typeface="+mn-lt"/>
                <a:cs typeface="+mn-lt"/>
              </a:rPr>
              <a:t>, Andy. “The World Could Have Another Billion People in Thirteen Years.” Insider Inc., 2015, https://www.businessinsider.com/un-world-population-projections-2015-7?op=1.</a:t>
            </a:r>
          </a:p>
          <a:p>
            <a:r>
              <a:rPr lang="en-US" sz="1050"/>
              <a:t>[3] </a:t>
            </a:r>
            <a:r>
              <a:rPr lang="en-US" sz="1050" err="1"/>
              <a:t>Shogren</a:t>
            </a:r>
            <a:r>
              <a:rPr lang="en-US" sz="1050"/>
              <a:t>, Randal, et al. “Plant-Based Materials and Transitioning to a Circular </a:t>
            </a:r>
            <a:r>
              <a:rPr lang="en-US" sz="1050" err="1"/>
              <a:t>Economy.”</a:t>
            </a:r>
            <a:r>
              <a:rPr lang="en-US" sz="1050" i="1" err="1"/>
              <a:t>Sustainable</a:t>
            </a:r>
            <a:r>
              <a:rPr lang="en-US" sz="1050" i="1"/>
              <a:t> Production and Consumption</a:t>
            </a:r>
            <a:r>
              <a:rPr lang="en-US" sz="1050"/>
              <a:t>, vol. 19, Elsevier B.V., 2019, pp. 194–215, doi:10.1016/j.spc.2019.04.007.</a:t>
            </a:r>
          </a:p>
          <a:p>
            <a:r>
              <a:rPr lang="en-US" sz="1050">
                <a:ea typeface="+mn-lt"/>
                <a:cs typeface="+mn-lt"/>
              </a:rPr>
              <a:t>[4]Geyer, Roland, et al. “Production, Use, and Fate of All Plastics Ever Made.” Science Advances, vol. 3, no. 7, 2017, pp. 25–29, doi:10.1126/sciadv.1700782.</a:t>
            </a:r>
            <a:endParaRPr lang="en-US" sz="1050"/>
          </a:p>
          <a:p>
            <a:r>
              <a:rPr lang="en-US" sz="1050"/>
              <a:t>[5] Global Bio-Plastic and Bio-Plastic Additives Market, Forecast to 2023, Frost &amp; Sullivan </a:t>
            </a:r>
          </a:p>
          <a:p>
            <a:r>
              <a:rPr lang="en-US" sz="1050"/>
              <a:t>[6] “Bio-Polylactic Acid (PLA) Market: Growth, Trends, and Forecast (2020 - 2025).” </a:t>
            </a:r>
            <a:r>
              <a:rPr lang="en-US" sz="1050" i="1"/>
              <a:t>Market Research - Consulting, Reports, Advisory, Sizing</a:t>
            </a:r>
            <a:r>
              <a:rPr lang="en-US" sz="1050"/>
              <a:t>, </a:t>
            </a:r>
            <a:r>
              <a:rPr lang="en-US" sz="1050">
                <a:hlinkClick r:id="rId3"/>
              </a:rPr>
              <a:t>www.mordorintelligence.com/industry-reports/bio-polylactic-acid-pla-market</a:t>
            </a:r>
            <a:r>
              <a:rPr lang="en-US" sz="1050"/>
              <a:t>.</a:t>
            </a:r>
          </a:p>
          <a:p>
            <a:r>
              <a:rPr lang="en-US" sz="1000">
                <a:solidFill>
                  <a:schemeClr val="tx1"/>
                </a:solidFill>
              </a:rPr>
              <a:t>[7] Wischral, Daiana, et al. “Lactic Acid Production from Sugarcane Bagasse Hydrolysates by Lactobacillus Pentosus: Integrating Xylose and Glucose Fermentation.” </a:t>
            </a:r>
            <a:r>
              <a:rPr lang="en-US" sz="1000" i="1">
                <a:solidFill>
                  <a:schemeClr val="tx1"/>
                </a:solidFill>
              </a:rPr>
              <a:t>Biotechnology Progress</a:t>
            </a:r>
            <a:r>
              <a:rPr lang="en-US" sz="1000">
                <a:solidFill>
                  <a:schemeClr val="tx1"/>
                </a:solidFill>
              </a:rPr>
              <a:t>, vol. 35, no. 1, 2019, doi:10.1002/btpr.2718.</a:t>
            </a:r>
          </a:p>
          <a:p>
            <a:r>
              <a:rPr lang="en-US" sz="1000">
                <a:solidFill>
                  <a:schemeClr val="tx1"/>
                </a:solidFill>
              </a:rPr>
              <a:t>[8] Marques, Fabrício. “Bagasse Is the Target.” </a:t>
            </a:r>
            <a:r>
              <a:rPr lang="en-US" sz="1000" i="1">
                <a:solidFill>
                  <a:schemeClr val="tx1"/>
                </a:solidFill>
              </a:rPr>
              <a:t>Revista Pesquisa Fapesp</a:t>
            </a:r>
            <a:r>
              <a:rPr lang="en-US" sz="1000">
                <a:solidFill>
                  <a:schemeClr val="tx1"/>
                </a:solidFill>
              </a:rPr>
              <a:t>, revistapesquisa.fapesp.br/</a:t>
            </a:r>
            <a:r>
              <a:rPr lang="en-US" sz="1000" err="1">
                <a:solidFill>
                  <a:schemeClr val="tx1"/>
                </a:solidFill>
              </a:rPr>
              <a:t>en</a:t>
            </a:r>
            <a:r>
              <a:rPr lang="en-US" sz="1000">
                <a:solidFill>
                  <a:schemeClr val="tx1"/>
                </a:solidFill>
              </a:rPr>
              <a:t>/2011/04/20/bagasse-is-the-target-2/.</a:t>
            </a:r>
            <a:r>
              <a:rPr lang="en-US" sz="1000" u="sng">
                <a:solidFill>
                  <a:schemeClr val="tx1"/>
                </a:solidFill>
              </a:rPr>
              <a:t> </a:t>
            </a:r>
            <a:endParaRPr lang="en-US" sz="1000">
              <a:solidFill>
                <a:schemeClr val="tx1"/>
              </a:solidFill>
            </a:endParaRPr>
          </a:p>
          <a:p>
            <a:r>
              <a:rPr lang="en-US" sz="1050"/>
              <a:t>[9] “Low Sugar Prices on the World Market Help Spur Brazil's Ethanol Production.” </a:t>
            </a:r>
            <a:r>
              <a:rPr lang="en-US" sz="1050" i="1"/>
              <a:t>USDA ERS - Chart Detail</a:t>
            </a:r>
            <a:r>
              <a:rPr lang="en-US" sz="1050"/>
              <a:t>, www.ers.usda.gov/data-products/chart-gallery/gallery/chart-detail/?chartId=93427.</a:t>
            </a:r>
          </a:p>
          <a:p>
            <a:r>
              <a:rPr lang="en-US" sz="1050"/>
              <a:t>[10] Wang, Limin, et al. “Efficient Production of L-Lactic Acid from Corncob Molasses, a Waste By-Product in Xylitol Production, by a Newly Isolated Xylose Utilizing Bacillus Sp. Strain.” </a:t>
            </a:r>
            <a:r>
              <a:rPr lang="en-US" sz="1050" i="1"/>
              <a:t>Bioresource Technology</a:t>
            </a:r>
            <a:r>
              <a:rPr lang="en-US" sz="1050"/>
              <a:t>, vol. 101, no. 20, 2010, pp. 7908–15, doi:10.1016/j.biortech.2010.05.031.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0B71B-6B33-44C5-9CCD-C7D4A054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421" y="6316570"/>
            <a:ext cx="367228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fld id="{519954A3-9DFD-4C44-94BA-B95130A3BA1C}" type="slidenum"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fld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43A2C2-76A2-4B0D-B724-F071DA7C5CE0}"/>
              </a:ext>
            </a:extLst>
          </p:cNvPr>
          <p:cNvSpPr txBox="1">
            <a:spLocks/>
          </p:cNvSpPr>
          <p:nvPr/>
        </p:nvSpPr>
        <p:spPr>
          <a:xfrm>
            <a:off x="5608948" y="1261671"/>
            <a:ext cx="5721612" cy="45263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50"/>
          </a:p>
          <a:p>
            <a:r>
              <a:rPr lang="en-US" sz="1050"/>
              <a:t>[11] Krishna, B. S., et al. “Industrial Production of Lactic Acid and Its Applications.” </a:t>
            </a:r>
            <a:r>
              <a:rPr lang="en-US" sz="1050" i="1"/>
              <a:t>International Journal of Biotech Research</a:t>
            </a:r>
            <a:r>
              <a:rPr lang="en-US" sz="1050"/>
              <a:t>, vol. 1, no. 1, 2018, pp. 42–54.</a:t>
            </a:r>
          </a:p>
          <a:p>
            <a:r>
              <a:rPr lang="en-US" sz="1050"/>
              <a:t>[12] Thongchul, Nuttha. “Production of Lactic Acid and Polylactic Acid for Industrial Applications.” </a:t>
            </a:r>
            <a:r>
              <a:rPr lang="en-US" sz="1050" i="1"/>
              <a:t>Bioprocessing Technologies in Biorefinery for Sustainable Production of Fuels, Chemicals, and Polymers</a:t>
            </a:r>
            <a:r>
              <a:rPr lang="en-US" sz="1050"/>
              <a:t>, 2013, pp. 293–316, doi:10.1002/9781118642047.ch16.</a:t>
            </a:r>
          </a:p>
          <a:p>
            <a:r>
              <a:rPr lang="en-US" sz="1050"/>
              <a:t>[13] Djukić-Vuković, A., et al. “Towards Sustainability of Lactic Acid and Poly-Lactic Acid Polymers Production.” </a:t>
            </a:r>
            <a:r>
              <a:rPr lang="en-US" sz="1050" i="1"/>
              <a:t>Renewable and Sustainable Energy Reviews</a:t>
            </a:r>
            <a:r>
              <a:rPr lang="en-US" sz="1050"/>
              <a:t>, vol. 108, no. December 2018, Elsevier Ltd, 2019, pp. 238–52, doi:10.1016/j.rser.2019.03.050.</a:t>
            </a:r>
          </a:p>
          <a:p>
            <a:r>
              <a:rPr lang="en-US" sz="1050">
                <a:ea typeface="+mn-lt"/>
                <a:cs typeface="+mn-lt"/>
              </a:rPr>
              <a:t>[14] Properties, Thermal. </a:t>
            </a:r>
            <a:r>
              <a:rPr lang="en-US" sz="1050" i="1">
                <a:ea typeface="+mn-lt"/>
                <a:cs typeface="+mn-lt"/>
              </a:rPr>
              <a:t>9 Synthesis, Properties, Environmental and Biomedical Applications of Polylactic Acid</a:t>
            </a:r>
            <a:r>
              <a:rPr lang="en-US" sz="1050">
                <a:ea typeface="+mn-lt"/>
                <a:cs typeface="+mn-lt"/>
              </a:rPr>
              <a:t>. no. 2008, 2020.</a:t>
            </a:r>
            <a:endParaRPr lang="en-US" sz="1050"/>
          </a:p>
          <a:p>
            <a:r>
              <a:rPr lang="en-US" sz="1050"/>
              <a:t>[15] Sin, Lee Tin, et al. </a:t>
            </a:r>
            <a:r>
              <a:rPr lang="en-US" sz="1050" i="1"/>
              <a:t>2 Overview of Poly (Lactic Acid)</a:t>
            </a:r>
            <a:r>
              <a:rPr lang="en-US" sz="1050"/>
              <a:t>. no. 2012, 2020.</a:t>
            </a:r>
          </a:p>
          <a:p>
            <a:r>
              <a:rPr lang="en-US" sz="1050"/>
              <a:t>[16]Liu, </a:t>
            </a:r>
            <a:r>
              <a:rPr lang="en-US" sz="1050" err="1"/>
              <a:t>Chenguang</a:t>
            </a:r>
            <a:r>
              <a:rPr lang="en-US" sz="1050"/>
              <a:t>, </a:t>
            </a:r>
            <a:r>
              <a:rPr lang="en-US" sz="1050" err="1"/>
              <a:t>Yuliang</a:t>
            </a:r>
            <a:r>
              <a:rPr lang="en-US" sz="1050"/>
              <a:t> Jia, and </a:t>
            </a:r>
            <a:r>
              <a:rPr lang="en-US" sz="1050" err="1"/>
              <a:t>Aihua</a:t>
            </a:r>
            <a:r>
              <a:rPr lang="en-US" sz="1050"/>
              <a:t> He. 2013. “Preparation of Higher Molecular Weight Poly (L -Lactic Acid) by Chain Extension.” </a:t>
            </a:r>
            <a:r>
              <a:rPr lang="en-US" sz="1050" i="1"/>
              <a:t>International Journal of Polymer Science</a:t>
            </a:r>
            <a:r>
              <a:rPr lang="en-US" sz="1050"/>
              <a:t> 2013: 1–7. </a:t>
            </a:r>
            <a:r>
              <a:rPr lang="en-US" sz="1050">
                <a:hlinkClick r:id="rId4"/>
              </a:rPr>
              <a:t>https://doi.org/10.1155/2013/315917</a:t>
            </a:r>
            <a:r>
              <a:rPr lang="en-US" sz="1050"/>
              <a:t>.</a:t>
            </a:r>
          </a:p>
          <a:p>
            <a:r>
              <a:rPr lang="en-US" sz="1050"/>
              <a:t>[17] “Biodegradable Polylactic Acid.” </a:t>
            </a:r>
            <a:r>
              <a:rPr lang="en-US" sz="1050" i="1"/>
              <a:t>High Performance Textiles</a:t>
            </a:r>
            <a:r>
              <a:rPr lang="en-US" sz="1050"/>
              <a:t>, no. MAR. 1999.</a:t>
            </a:r>
          </a:p>
        </p:txBody>
      </p:sp>
    </p:spTree>
    <p:extLst>
      <p:ext uri="{BB962C8B-B14F-4D97-AF65-F5344CB8AC3E}">
        <p14:creationId xmlns:p14="http://schemas.microsoft.com/office/powerpoint/2010/main" val="17398330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99D23D89F5244C8B373DC69148AB2F" ma:contentTypeVersion="4" ma:contentTypeDescription="Create a new document." ma:contentTypeScope="" ma:versionID="ce7869d4af4d30fcb4270e6533a3cbd2">
  <xsd:schema xmlns:xsd="http://www.w3.org/2001/XMLSchema" xmlns:xs="http://www.w3.org/2001/XMLSchema" xmlns:p="http://schemas.microsoft.com/office/2006/metadata/properties" xmlns:ns2="6b97bd33-86f7-4986-a8bb-f899960fb91c" targetNamespace="http://schemas.microsoft.com/office/2006/metadata/properties" ma:root="true" ma:fieldsID="adbae3284094fa8435b19dbc2b08e30b" ns2:_="">
    <xsd:import namespace="6b97bd33-86f7-4986-a8bb-f899960fb9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7bd33-86f7-4986-a8bb-f899960fb9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F9A3D0-3DAF-4464-9307-673EE71978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824776-78B0-48A5-8C44-847DDC784184}">
  <ds:schemaRefs>
    <ds:schemaRef ds:uri="6b97bd33-86f7-4986-a8bb-f899960fb9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0B46B2-0DC9-482C-8803-5A9979538883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6b97bd33-86f7-4986-a8bb-f899960fb91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2338</Words>
  <Application>Microsoft Office PowerPoint</Application>
  <PresentationFormat>Widescreen</PresentationFormat>
  <Paragraphs>758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Trebuchet MS</vt:lpstr>
      <vt:lpstr>Trebuchet MS (Headings)</vt:lpstr>
      <vt:lpstr>Wingdings 3</vt:lpstr>
      <vt:lpstr>Facet</vt:lpstr>
      <vt:lpstr>Polylactic Acids for Our Bioplastic Assets</vt:lpstr>
      <vt:lpstr>Design Basis</vt:lpstr>
      <vt:lpstr>Polylactic Acid (PLA) </vt:lpstr>
      <vt:lpstr>Reasons for PLA</vt:lpstr>
      <vt:lpstr>Reasons for PLA</vt:lpstr>
      <vt:lpstr>Market Analysis</vt:lpstr>
      <vt:lpstr>Market Projections </vt:lpstr>
      <vt:lpstr>Market Projections</vt:lpstr>
      <vt:lpstr>Market Drivers</vt:lpstr>
      <vt:lpstr>Feedstock : Sugarcane Bagasse</vt:lpstr>
      <vt:lpstr>Competing Processes</vt:lpstr>
      <vt:lpstr>Competing Process Continued…</vt:lpstr>
      <vt:lpstr>Competing Process Continued…</vt:lpstr>
      <vt:lpstr>Chosen Process</vt:lpstr>
      <vt:lpstr>PFD</vt:lpstr>
      <vt:lpstr>        Material Balances Acid Hydrolysis   Pretreatment of Bagasse material with diluted  Sulfuric acid for 34% yield of glucose  </vt:lpstr>
      <vt:lpstr>Continuous Fermentation Reactor  Fermentation based on conversion by Bacteria of 85% [12] </vt:lpstr>
      <vt:lpstr>Filtration  Based on the assumption of having filtration  with yield of 97% </vt:lpstr>
      <vt:lpstr>Acid Hydrolysis  Based on 92% yield of Calcium Lactate to LA [16] </vt:lpstr>
      <vt:lpstr>Esterification   Based on 85% conversion to Methyl lactate </vt:lpstr>
      <vt:lpstr>Reactive Distillation  Based on 90% of Methyl lactate and water removal [17]</vt:lpstr>
      <vt:lpstr>Water Hydrolysis  Based on conversion of 97% Methanol </vt:lpstr>
      <vt:lpstr>Dehydration  Assumption  greater than 90% of  Methanol is removed</vt:lpstr>
      <vt:lpstr>Ring-Opening Polymerization  Assumption of the end-product to have Polymer grade of  20,000 (g/mol) and 30 Kilo Ton per year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Polylactic Acids for Our Bioplastic Assets</dc:title>
  <dc:creator>Daniel, Leena M</dc:creator>
  <cp:lastModifiedBy> </cp:lastModifiedBy>
  <cp:revision>1</cp:revision>
  <dcterms:created xsi:type="dcterms:W3CDTF">2020-01-31T19:34:29Z</dcterms:created>
  <dcterms:modified xsi:type="dcterms:W3CDTF">2020-02-04T17:44:45Z</dcterms:modified>
</cp:coreProperties>
</file>