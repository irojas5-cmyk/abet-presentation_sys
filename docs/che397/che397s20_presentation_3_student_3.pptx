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50"/>
  </p:notesMasterIdLst>
  <p:sldIdLst>
    <p:sldId id="256" r:id="rId5"/>
    <p:sldId id="288" r:id="rId6"/>
    <p:sldId id="287" r:id="rId7"/>
    <p:sldId id="289" r:id="rId8"/>
    <p:sldId id="257" r:id="rId9"/>
    <p:sldId id="286" r:id="rId10"/>
    <p:sldId id="290" r:id="rId11"/>
    <p:sldId id="291" r:id="rId12"/>
    <p:sldId id="293" r:id="rId13"/>
    <p:sldId id="308" r:id="rId14"/>
    <p:sldId id="309" r:id="rId15"/>
    <p:sldId id="317" r:id="rId16"/>
    <p:sldId id="318" r:id="rId17"/>
    <p:sldId id="323" r:id="rId18"/>
    <p:sldId id="292" r:id="rId19"/>
    <p:sldId id="277" r:id="rId20"/>
    <p:sldId id="295" r:id="rId21"/>
    <p:sldId id="296" r:id="rId22"/>
    <p:sldId id="297" r:id="rId23"/>
    <p:sldId id="283" r:id="rId24"/>
    <p:sldId id="315" r:id="rId25"/>
    <p:sldId id="284" r:id="rId26"/>
    <p:sldId id="285" r:id="rId27"/>
    <p:sldId id="319" r:id="rId28"/>
    <p:sldId id="298" r:id="rId29"/>
    <p:sldId id="299" r:id="rId30"/>
    <p:sldId id="300" r:id="rId31"/>
    <p:sldId id="311" r:id="rId32"/>
    <p:sldId id="301" r:id="rId33"/>
    <p:sldId id="312" r:id="rId34"/>
    <p:sldId id="302" r:id="rId35"/>
    <p:sldId id="303" r:id="rId36"/>
    <p:sldId id="314" r:id="rId37"/>
    <p:sldId id="320" r:id="rId38"/>
    <p:sldId id="313" r:id="rId39"/>
    <p:sldId id="304" r:id="rId40"/>
    <p:sldId id="324" r:id="rId41"/>
    <p:sldId id="305" r:id="rId42"/>
    <p:sldId id="325" r:id="rId43"/>
    <p:sldId id="306" r:id="rId44"/>
    <p:sldId id="321" r:id="rId45"/>
    <p:sldId id="307" r:id="rId46"/>
    <p:sldId id="316" r:id="rId47"/>
    <p:sldId id="322" r:id="rId48"/>
    <p:sldId id="282" r:id="rId49"/>
  </p:sldIdLst>
  <p:sldSz cx="9144000" cy="5143500" type="screen16x9"/>
  <p:notesSz cx="6858000" cy="9144000"/>
  <p:embeddedFontLst>
    <p:embeddedFont>
      <p:font typeface="Lato" panose="020B0604020202020204" charset="0"/>
      <p:regular r:id="rId51"/>
      <p:bold r:id="rId52"/>
      <p:italic r:id="rId53"/>
      <p:boldItalic r:id="rId54"/>
    </p:embeddedFont>
    <p:embeddedFont>
      <p:font typeface="Montserrat" panose="020B060402020202020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C7A5"/>
    <a:srgbClr val="014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4FC2E-9F87-4BDC-B5D8-89F750FF3F9C}" v="247" dt="2020-03-31T16:58:09.834"/>
    <p1510:client id="{0BFCAFBD-C539-4317-BA87-AFA0EB6EC25C}" v="1297" dt="2020-03-31T13:40:05.543"/>
    <p1510:client id="{2DFC7EBB-DEA5-8199-BE73-E6F6A4DA6FE4}" v="44" dt="2020-03-31T14:03:58.355"/>
    <p1510:client id="{5108127E-A20B-4E1C-A58D-9EB284C1C045}" v="48" dt="2020-03-31T14:18:28.197"/>
    <p1510:client id="{A42C880E-BCE7-CE68-1DE7-75B6E63DD245}" v="335" dt="2020-03-30T21:22:29.895"/>
    <p1510:client id="{AD0920FF-4624-6D96-C476-9C1DA1B25D50}" v="7" dt="2020-03-31T14:39:22.887"/>
    <p1510:client id="{C2EF93B0-4136-55FC-A973-704D0C53F56C}" v="12" dt="2020-03-31T00:27:49.236"/>
    <p1510:client id="{CF9B516B-478C-4FA6-847A-5DADDFF5A4DC}" v="802" dt="2020-03-31T14:07:17.350"/>
    <p1510:client id="{E8F97AE4-59FE-7AA8-3CCD-563978BEFF11}" v="1" dt="2020-03-30T22:02:39"/>
    <p1510:client id="{E96E0C8B-70D4-A202-3357-BA846DDD3468}" v="522" dt="2020-03-31T14:27:12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88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ISBL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1C9-4C60-B4C6-73918F9A7F0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1C9-4C60-B4C6-73918F9A7F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1C9-4C60-B4C6-73918F9A7F0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1C9-4C60-B4C6-73918F9A7F02}"/>
              </c:ext>
            </c:extLst>
          </c:dPt>
          <c:dLbls>
            <c:dLbl>
              <c:idx val="2"/>
              <c:layout>
                <c:manualLayout>
                  <c:x val="-1.8087634878973503E-2"/>
                  <c:y val="0.13731064866891637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C9-4C60-B4C6-73918F9A7F02}"/>
                </c:ext>
              </c:extLst>
            </c:dLbl>
            <c:dLbl>
              <c:idx val="3"/>
              <c:layout>
                <c:manualLayout>
                  <c:x val="5.0067986293379996E-2"/>
                  <c:y val="0.11891482314710658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1C9-4C60-B4C6-73918F9A7F02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Equipment</c:v>
                </c:pt>
                <c:pt idx="1">
                  <c:v>Infrastructure</c:v>
                </c:pt>
                <c:pt idx="2">
                  <c:v>Initial Fill Costs</c:v>
                </c:pt>
                <c:pt idx="3">
                  <c:v>Land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28.17</c:v>
                </c:pt>
                <c:pt idx="1">
                  <c:v>9.363999999999999</c:v>
                </c:pt>
                <c:pt idx="2">
                  <c:v>0.78800000000000003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1C9-4C60-B4C6-73918F9A7F0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VCOP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Raw Materials</c:v>
                </c:pt>
                <c:pt idx="1">
                  <c:v>Utilities</c:v>
                </c:pt>
                <c:pt idx="2">
                  <c:v>Consumables</c:v>
                </c:pt>
                <c:pt idx="3">
                  <c:v>Effluent Disposal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1056</c:v>
                </c:pt>
                <c:pt idx="1">
                  <c:v>767</c:v>
                </c:pt>
                <c:pt idx="2">
                  <c:v>778</c:v>
                </c:pt>
                <c:pt idx="3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17-4707-B71F-B39276C1C1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10363167"/>
        <c:axId val="2010125983"/>
        <c:axId val="0"/>
      </c:bar3DChart>
      <c:catAx>
        <c:axId val="201036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125983"/>
        <c:crosses val="autoZero"/>
        <c:auto val="1"/>
        <c:lblAlgn val="ctr"/>
        <c:lblOffset val="100"/>
        <c:noMultiLvlLbl val="0"/>
      </c:catAx>
      <c:valAx>
        <c:axId val="2010125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$M (thousand</a:t>
                </a:r>
                <a:r>
                  <a:rPr lang="en-US" baseline="0"/>
                  <a:t> USD)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363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Raw Materials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5A6-408D-B7F7-1E09472D0C7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5A6-408D-B7F7-1E09472D0C7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5A6-408D-B7F7-1E09472D0C7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5A6-408D-B7F7-1E09472D0C7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Untreated Water</c:v>
                </c:pt>
                <c:pt idx="1">
                  <c:v>Natural Gas</c:v>
                </c:pt>
                <c:pt idx="2">
                  <c:v>MEA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680</c:v>
                </c:pt>
                <c:pt idx="2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A6-408D-B7F7-1E09472D0C79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682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8799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84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d54a2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d54a2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6791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801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0659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d54a2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d54a2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3412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1090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75339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d54a2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d54a2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1093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d54a2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d54a2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5454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d54a20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d54a20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3573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313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</a:t>
            </a:r>
          </a:p>
        </p:txBody>
      </p:sp>
    </p:spTree>
    <p:extLst>
      <p:ext uri="{BB962C8B-B14F-4D97-AF65-F5344CB8AC3E}">
        <p14:creationId xmlns:p14="http://schemas.microsoft.com/office/powerpoint/2010/main" val="2917950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415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251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84762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7301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8247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7837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Anne (this is our reformer tube catalyst, Nickel Ceramic Pellets)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9994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0d54a209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0d54a209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3125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6818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9532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8537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415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97715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Courteney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4285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7548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07047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63242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Erica – This is not fixed cost of production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594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29812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07264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808184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77388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83040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98750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Maurice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09462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2097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0d54a209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0d54a209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359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3.xls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nergy/intelligent/projects/sites/iee-projects/files/projects/documents/redubar_a_register_of_all_gas_regulations.pdf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rechargenews.com/transition/minister-germany-should-start-world-s-first-green-hydrogen-tender-next-year/2-1-758073" TargetMode="External"/><Relationship Id="rId5" Type="http://schemas.openxmlformats.org/officeDocument/2006/relationships/hyperlink" Target="https://www.reuters.com/article/us-energy-eworld/germanys-ewe-to-test-supplying-hydrogen-for-transport-industry-idUSKBN2041X8" TargetMode="External"/><Relationship Id="rId4" Type="http://schemas.openxmlformats.org/officeDocument/2006/relationships/hyperlink" Target="https://eur-lex.europa.eu/legal-content/EN/TXT/?uri=CELEX:32010L0075" TargetMode="Externa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irgas.com/msds/001041.pdf" TargetMode="External"/><Relationship Id="rId3" Type="http://schemas.openxmlformats.org/officeDocument/2006/relationships/hyperlink" Target="https://www.airgas.com/msds/001013.pdf" TargetMode="External"/><Relationship Id="rId7" Type="http://schemas.openxmlformats.org/officeDocument/2006/relationships/hyperlink" Target="https://www.rechargenews.com/transition/minister-germany-should-start-world-s-first-green-hydrogen-tender-next-year/2-1-758073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airgas.com/msds/001039.pdf" TargetMode="External"/><Relationship Id="rId5" Type="http://schemas.openxmlformats.org/officeDocument/2006/relationships/hyperlink" Target="https://www.airgas.com/msds/001014.pdf" TargetMode="External"/><Relationship Id="rId10" Type="http://schemas.openxmlformats.org/officeDocument/2006/relationships/hyperlink" Target="http://msdssearch.dow.com/PublishedLiteratureDOWCOM/dh_0044/0901b80380044789.pdf?filepath=amines/pdfs/noreg/111-01388.pdf&amp;fromPage=GetDoc" TargetMode="External"/><Relationship Id="rId4" Type="http://schemas.openxmlformats.org/officeDocument/2006/relationships/hyperlink" Target="https://eur-lex.europa.eu/legal-content/EN/TXT/?uri=CELEX:32010L0075" TargetMode="External"/><Relationship Id="rId9" Type="http://schemas.openxmlformats.org/officeDocument/2006/relationships/hyperlink" Target="https://www.airgas.com/msds/001029.pdf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emicalproductsokc.com/sulfurtrap-h2s-removal-gas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tenaris.com/en/products-and-services/industrial-and-mechanical/gas-cylinders-and-large-vessels" TargetMode="External"/><Relationship Id="rId4" Type="http://schemas.openxmlformats.org/officeDocument/2006/relationships/hyperlink" Target="https://en.wikipedia.org/wiki/European_Commission#/media/File:European_Commission.svg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927100"/>
            <a:ext cx="5017500" cy="2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Hydrogen Production from Methane</a:t>
            </a:r>
            <a:endParaRPr sz="500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537150" y="3588062"/>
            <a:ext cx="3470700" cy="1256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Erica Caruso</a:t>
            </a: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Courteney Fabbri</a:t>
            </a: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Maurice Smith</a:t>
            </a: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Anne Serban</a:t>
            </a:r>
            <a:endParaRPr sz="1700" dirty="0"/>
          </a:p>
        </p:txBody>
      </p:sp>
      <p:sp>
        <p:nvSpPr>
          <p:cNvPr id="136" name="Google Shape;13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688975" y="1841650"/>
            <a:ext cx="7766050" cy="22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/>
              <a:t>Topics Covered</a:t>
            </a:r>
            <a:endParaRPr sz="7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2779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 Covered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body" idx="1"/>
          </p:nvPr>
        </p:nvSpPr>
        <p:spPr>
          <a:xfrm>
            <a:off x="1141450" y="1128850"/>
            <a:ext cx="7038900" cy="3138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Brief Overview of Process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Previous Issues and Concerns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Safety and Environmental Analysis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Process Controls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Revised Economic Analysis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Pinch Analysis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500"/>
              <a:t>Transportation Logistics</a:t>
            </a:r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4222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688975" y="2000325"/>
            <a:ext cx="7766050" cy="1142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/>
              <a:t>Brief Overview</a:t>
            </a:r>
            <a:endParaRPr sz="7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1406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Overall Process Outline: BFD</a:t>
            </a:r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" name="image26.png">
            <a:extLst>
              <a:ext uri="{FF2B5EF4-FFF2-40B4-BE49-F238E27FC236}">
                <a16:creationId xmlns:a16="http://schemas.microsoft.com/office/drawing/2014/main" id="{44D5575E-C10E-4BCB-B4CB-531209B0EB3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45515"/>
            <a:ext cx="5943600" cy="386207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Feed and Product Streams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64;p17">
            <a:extLst>
              <a:ext uri="{FF2B5EF4-FFF2-40B4-BE49-F238E27FC236}">
                <a16:creationId xmlns:a16="http://schemas.microsoft.com/office/drawing/2014/main" id="{2C190F10-0FC6-46B7-865B-3CE22D92F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400"/>
              <a:t>Feed/raw material consumption:</a:t>
            </a:r>
          </a:p>
          <a:p>
            <a:pPr marL="628650" lvl="1" indent="-171450">
              <a:lnSpc>
                <a:spcPct val="0"/>
              </a:lnSpc>
              <a:spcAft>
                <a:spcPts val="1600"/>
              </a:spcAft>
            </a:pPr>
            <a:r>
              <a:rPr lang="en-US" sz="2400"/>
              <a:t>High pressure steam: 2,500 </a:t>
            </a:r>
            <a:r>
              <a:rPr lang="en-US" sz="2400" err="1"/>
              <a:t>lb</a:t>
            </a:r>
            <a:r>
              <a:rPr lang="en-US" sz="2400"/>
              <a:t>/</a:t>
            </a:r>
            <a:r>
              <a:rPr lang="en-US" sz="2400" err="1"/>
              <a:t>hr</a:t>
            </a:r>
            <a:endParaRPr lang="en-US" sz="2400"/>
          </a:p>
          <a:p>
            <a:pPr marL="628650" lvl="1" indent="-171450">
              <a:lnSpc>
                <a:spcPct val="0"/>
              </a:lnSpc>
              <a:spcAft>
                <a:spcPts val="1600"/>
              </a:spcAft>
            </a:pPr>
            <a:r>
              <a:rPr lang="en-US" sz="2400"/>
              <a:t>Pipeline natural gas: 28,000 SCFH</a:t>
            </a:r>
            <a:endParaRPr lang="en-US" sz="200"/>
          </a:p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400"/>
              <a:t>Hydrogen production: 33 barrels/</a:t>
            </a:r>
            <a:r>
              <a:rPr lang="en-US" sz="2400" err="1"/>
              <a:t>hr</a:t>
            </a:r>
            <a:endParaRPr lang="en-US" sz="24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400"/>
              <a:t>High pressure steam production: 2,300 </a:t>
            </a:r>
            <a:r>
              <a:rPr lang="en-US" sz="2400" err="1"/>
              <a:t>lb</a:t>
            </a:r>
            <a:r>
              <a:rPr lang="en-US" sz="2400"/>
              <a:t>/</a:t>
            </a:r>
            <a:r>
              <a:rPr lang="en-US" sz="2400" err="1"/>
              <a:t>hr</a:t>
            </a:r>
            <a:endParaRPr lang="en-US" sz="24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23812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688975" y="2016200"/>
            <a:ext cx="7766050" cy="11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Previous Concerns</a:t>
            </a:r>
            <a:endParaRPr sz="6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1114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Previous Concerns: General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64;p17">
            <a:extLst>
              <a:ext uri="{FF2B5EF4-FFF2-40B4-BE49-F238E27FC236}">
                <a16:creationId xmlns:a16="http://schemas.microsoft.com/office/drawing/2014/main" id="{C4D8CE5D-5BCB-4A06-9816-71E2FBCBA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1400"/>
          </a:p>
        </p:txBody>
      </p:sp>
      <p:sp>
        <p:nvSpPr>
          <p:cNvPr id="8" name="Google Shape;164;p17">
            <a:extLst>
              <a:ext uri="{FF2B5EF4-FFF2-40B4-BE49-F238E27FC236}">
                <a16:creationId xmlns:a16="http://schemas.microsoft.com/office/drawing/2014/main" id="{BD347332-26BA-4911-B6BF-A68696D7D20F}"/>
              </a:ext>
            </a:extLst>
          </p:cNvPr>
          <p:cNvSpPr txBox="1">
            <a:spLocks/>
          </p:cNvSpPr>
          <p:nvPr/>
        </p:nvSpPr>
        <p:spPr>
          <a:xfrm>
            <a:off x="1297500" y="1365067"/>
            <a:ext cx="6769100" cy="3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Centrifugal compressor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Changed from air compressor to natural gas compressor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On-site desulfurization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German pipeline gas cannot exceed 3.6 ppm H</a:t>
            </a:r>
            <a:r>
              <a:rPr lang="en-US" sz="1800" baseline="-25000" dirty="0"/>
              <a:t>2</a:t>
            </a:r>
            <a:r>
              <a:rPr lang="en-US" sz="1800" dirty="0"/>
              <a:t>S</a:t>
            </a:r>
            <a:r>
              <a:rPr lang="en-US" sz="1800" baseline="30000" dirty="0"/>
              <a:t> [1]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3.6 ppm SO</a:t>
            </a:r>
            <a:r>
              <a:rPr lang="en-US" sz="1800" baseline="-25000" dirty="0"/>
              <a:t>2</a:t>
            </a:r>
            <a:r>
              <a:rPr lang="en-US" sz="1800" dirty="0"/>
              <a:t> produced and removed via </a:t>
            </a:r>
            <a:r>
              <a:rPr lang="en-US" sz="1800" dirty="0" err="1"/>
              <a:t>FeO</a:t>
            </a:r>
            <a:r>
              <a:rPr lang="en-US" sz="1800" dirty="0"/>
              <a:t> pellets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H</a:t>
            </a:r>
            <a:r>
              <a:rPr lang="en-US" sz="2000" baseline="-25000" dirty="0"/>
              <a:t>2</a:t>
            </a:r>
            <a:r>
              <a:rPr lang="en-US" sz="2000" dirty="0"/>
              <a:t>O recovery in water gas shift section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32% untreated feed water recovered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 dirty="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 dirty="0"/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endParaRPr lang="en-US" sz="1800" dirty="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 dirty="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 dirty="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019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Added Equipment</a:t>
            </a:r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47A2E-7E41-47D6-BB73-12FF59EDB064}"/>
              </a:ext>
            </a:extLst>
          </p:cNvPr>
          <p:cNvSpPr/>
          <p:nvPr/>
        </p:nvSpPr>
        <p:spPr>
          <a:xfrm>
            <a:off x="122842" y="1238708"/>
            <a:ext cx="662095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9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New process equipment</a:t>
            </a:r>
          </a:p>
          <a:p>
            <a:pPr marL="171450" lvl="0" indent="-171450"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1900" dirty="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Clr>
                <a:schemeClr val="bg1"/>
              </a:buClr>
              <a:buFont typeface="Lato" panose="020B0604020202020204" charset="0"/>
              <a:buChar char="○"/>
              <a:tabLst>
                <a:tab pos="914400" algn="l"/>
              </a:tabLst>
            </a:pPr>
            <a:r>
              <a:rPr lang="en-US" sz="18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SMR section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C-101: Natural gas compressor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VLV-101: Pressure reducing valve</a:t>
            </a:r>
          </a:p>
          <a:p>
            <a:pPr marL="1143000" lvl="3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E-101: Waste heat steam generator </a:t>
            </a:r>
          </a:p>
          <a:p>
            <a:pPr marL="742950" lvl="1" indent="-285750">
              <a:buClr>
                <a:schemeClr val="bg1"/>
              </a:buClr>
              <a:buFont typeface="Lato" panose="020B0604020202020204" charset="0"/>
              <a:buChar char="○"/>
              <a:tabLst>
                <a:tab pos="914400" algn="l"/>
              </a:tabLst>
            </a:pPr>
            <a:r>
              <a:rPr lang="en-US" sz="1800" b="1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On-site desulfurization section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R-101: Oxidizer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V-101: Packed column absorber</a:t>
            </a:r>
          </a:p>
          <a:p>
            <a:pPr marL="742950" lvl="1" indent="-285750">
              <a:buClr>
                <a:schemeClr val="bg1"/>
              </a:buClr>
              <a:buFont typeface="Lato" panose="020B0604020202020204" charset="0"/>
              <a:buChar char="○"/>
              <a:tabLst>
                <a:tab pos="914400" algn="l"/>
              </a:tabLst>
            </a:pPr>
            <a:r>
              <a:rPr lang="en-US" sz="1800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Water gas shift section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V-102: Knock-out drum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V-103: Condensate tank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18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P-102: Dirty water pump</a:t>
            </a:r>
          </a:p>
          <a:p>
            <a:pPr marL="1143000" lvl="2" indent="-228600">
              <a:buFont typeface="Lato" panose="020B0604020202020204" charset="0"/>
              <a:buChar char="■"/>
              <a:tabLst>
                <a:tab pos="1371600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Font typeface="Lato" panose="020B0604020202020204" charset="0"/>
              <a:buChar char="■"/>
              <a:tabLst>
                <a:tab pos="1371600" algn="l"/>
              </a:tabLst>
            </a:pPr>
            <a:endParaRPr lang="en-US" sz="1200" dirty="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Font typeface="Lato" panose="020B0604020202020204" charset="0"/>
              <a:buChar char="■"/>
              <a:tabLst>
                <a:tab pos="1371600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buFont typeface="Lato" panose="020B0604020202020204" charset="0"/>
              <a:buChar char="■"/>
              <a:tabLst>
                <a:tab pos="1371600" algn="l"/>
              </a:tabLst>
            </a:pPr>
            <a:endParaRPr lang="en-US" sz="1200" dirty="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2">
              <a:tabLst>
                <a:tab pos="1371600" algn="l"/>
              </a:tabLst>
            </a:pPr>
            <a:endParaRPr lang="en-US" sz="1200" dirty="0">
              <a:solidFill>
                <a:schemeClr val="bg1"/>
              </a:solidFill>
              <a:effectLst/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2">
              <a:tabLst>
                <a:tab pos="1371600" algn="l"/>
              </a:tabLst>
            </a:pPr>
            <a:endParaRPr lang="en-US" sz="1100" dirty="0">
              <a:solidFill>
                <a:schemeClr val="bg1"/>
              </a:solidFill>
              <a:effectLst/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7DCDA-A55E-483A-B78C-22127A68B7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1" r="8082" b="2054"/>
          <a:stretch/>
        </p:blipFill>
        <p:spPr>
          <a:xfrm>
            <a:off x="5384159" y="654446"/>
            <a:ext cx="3272622" cy="34347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83AE8F-4F47-408A-B135-97D87C7925AA}"/>
              </a:ext>
            </a:extLst>
          </p:cNvPr>
          <p:cNvSpPr txBox="1"/>
          <p:nvPr/>
        </p:nvSpPr>
        <p:spPr>
          <a:xfrm>
            <a:off x="5384159" y="2248716"/>
            <a:ext cx="962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>
                <a:latin typeface="+mn-lt"/>
              </a:rPr>
              <a:t>FeO</a:t>
            </a:r>
            <a:r>
              <a:rPr lang="en-US" sz="1000" b="1">
                <a:latin typeface="+mn-lt"/>
              </a:rPr>
              <a:t> catalyst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456C1-9F7B-4A0A-9091-D09D53CE80BE}"/>
              </a:ext>
            </a:extLst>
          </p:cNvPr>
          <p:cNvSpPr/>
          <p:nvPr/>
        </p:nvSpPr>
        <p:spPr>
          <a:xfrm>
            <a:off x="4437313" y="3902864"/>
            <a:ext cx="4035145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2">
              <a:tabLst>
                <a:tab pos="1371600" algn="l"/>
              </a:tabLst>
            </a:pPr>
            <a:endParaRPr lang="en-US" sz="120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2">
              <a:tabLst>
                <a:tab pos="1371600" algn="l"/>
              </a:tabLst>
            </a:pPr>
            <a:r>
              <a:rPr lang="en-US" sz="1100">
                <a:solidFill>
                  <a:schemeClr val="bg1"/>
                </a:solidFill>
                <a:effectLst/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“SULFATRAP” Gas Sweetening </a:t>
            </a:r>
            <a:r>
              <a:rPr lang="en-US" sz="1100" baseline="30000">
                <a:solidFill>
                  <a:schemeClr val="bg1"/>
                </a:solidFill>
                <a:effectLst/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[11]</a:t>
            </a:r>
          </a:p>
        </p:txBody>
      </p:sp>
    </p:spTree>
    <p:extLst>
      <p:ext uri="{BB962C8B-B14F-4D97-AF65-F5344CB8AC3E}">
        <p14:creationId xmlns:p14="http://schemas.microsoft.com/office/powerpoint/2010/main" val="169883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487C2F-4B99-4A17-9F6B-B1E8124B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Updated Equipment:</a:t>
            </a:r>
            <a:br>
              <a:rPr lang="en-US"/>
            </a:br>
            <a:r>
              <a:rPr lang="en-US"/>
              <a:t>SMR and WGS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20425-5C27-4B89-9CAD-CB55087FCF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94" t="29506" r="3195" b="20987"/>
          <a:stretch/>
        </p:blipFill>
        <p:spPr>
          <a:xfrm>
            <a:off x="277829" y="1441450"/>
            <a:ext cx="8588342" cy="2699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58C54C-9781-4C0A-AEAE-FBE3A4727C26}"/>
              </a:ext>
            </a:extLst>
          </p:cNvPr>
          <p:cNvSpPr/>
          <p:nvPr/>
        </p:nvSpPr>
        <p:spPr>
          <a:xfrm>
            <a:off x="3767666" y="2878667"/>
            <a:ext cx="880534" cy="476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D1C2E6-DB78-488B-A4FB-F8A6F23A20C8}"/>
              </a:ext>
            </a:extLst>
          </p:cNvPr>
          <p:cNvSpPr/>
          <p:nvPr/>
        </p:nvSpPr>
        <p:spPr>
          <a:xfrm>
            <a:off x="1866899" y="3289300"/>
            <a:ext cx="596901" cy="476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33CC4-4782-44AD-B788-70C3A29E81C7}"/>
              </a:ext>
            </a:extLst>
          </p:cNvPr>
          <p:cNvSpPr/>
          <p:nvPr/>
        </p:nvSpPr>
        <p:spPr>
          <a:xfrm>
            <a:off x="6736791" y="1545167"/>
            <a:ext cx="2098176" cy="222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182;p19">
            <a:extLst>
              <a:ext uri="{FF2B5EF4-FFF2-40B4-BE49-F238E27FC236}">
                <a16:creationId xmlns:a16="http://schemas.microsoft.com/office/drawing/2014/main" id="{3549ED5A-692F-4606-B794-B1B6632F6E22}"/>
              </a:ext>
            </a:extLst>
          </p:cNvPr>
          <p:cNvSpPr/>
          <p:nvPr/>
        </p:nvSpPr>
        <p:spPr>
          <a:xfrm>
            <a:off x="3672943" y="1629524"/>
            <a:ext cx="1488017" cy="7135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Lato" panose="020B0604020202020204" charset="0"/>
              </a:rPr>
              <a:t>VLV-101: </a:t>
            </a:r>
            <a:r>
              <a:rPr lang="en-US">
                <a:latin typeface="Lato" panose="020B0604020202020204" charset="0"/>
              </a:rPr>
              <a:t>Pressure reducing valve</a:t>
            </a:r>
            <a:endParaRPr>
              <a:latin typeface="Lato" panose="020B0604020202020204" charset="0"/>
            </a:endParaRPr>
          </a:p>
        </p:txBody>
      </p:sp>
      <p:sp>
        <p:nvSpPr>
          <p:cNvPr id="11" name="Google Shape;182;p19">
            <a:extLst>
              <a:ext uri="{FF2B5EF4-FFF2-40B4-BE49-F238E27FC236}">
                <a16:creationId xmlns:a16="http://schemas.microsoft.com/office/drawing/2014/main" id="{6D575DD8-C7D4-4FEC-85D8-A89708627BD7}"/>
              </a:ext>
            </a:extLst>
          </p:cNvPr>
          <p:cNvSpPr/>
          <p:nvPr/>
        </p:nvSpPr>
        <p:spPr>
          <a:xfrm>
            <a:off x="3001431" y="3562520"/>
            <a:ext cx="1488018" cy="872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 panose="020B0604020202020204" charset="0"/>
              </a:rPr>
              <a:t>On-site Desulfurization </a:t>
            </a:r>
            <a:r>
              <a:rPr lang="en-US" b="1" dirty="0">
                <a:latin typeface="Lato" panose="020B0604020202020204" charset="0"/>
              </a:rPr>
              <a:t>DESULF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ato" panose="020B0604020202020204" charset="0"/>
              </a:rPr>
              <a:t>Hierarchy</a:t>
            </a:r>
            <a:endParaRPr dirty="0">
              <a:latin typeface="Lato" panose="020B0604020202020204" charset="0"/>
            </a:endParaRPr>
          </a:p>
        </p:txBody>
      </p:sp>
      <p:sp>
        <p:nvSpPr>
          <p:cNvPr id="12" name="Google Shape;182;p19">
            <a:extLst>
              <a:ext uri="{FF2B5EF4-FFF2-40B4-BE49-F238E27FC236}">
                <a16:creationId xmlns:a16="http://schemas.microsoft.com/office/drawing/2014/main" id="{872579F7-83A6-4163-921A-89BD812C3E0A}"/>
              </a:ext>
            </a:extLst>
          </p:cNvPr>
          <p:cNvSpPr/>
          <p:nvPr/>
        </p:nvSpPr>
        <p:spPr>
          <a:xfrm>
            <a:off x="5860250" y="570745"/>
            <a:ext cx="1020247" cy="6902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ato" panose="020B0604020202020204" charset="0"/>
              </a:rPr>
              <a:t>V-102: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 panose="020B0604020202020204" charset="0"/>
              </a:rPr>
              <a:t>Knock-out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 panose="020B0604020202020204" charset="0"/>
              </a:rPr>
              <a:t>drum</a:t>
            </a:r>
            <a:endParaRPr dirty="0">
              <a:latin typeface="Lato" panose="020B0604020202020204" charset="0"/>
            </a:endParaRPr>
          </a:p>
        </p:txBody>
      </p:sp>
      <p:sp>
        <p:nvSpPr>
          <p:cNvPr id="13" name="Google Shape;182;p19">
            <a:extLst>
              <a:ext uri="{FF2B5EF4-FFF2-40B4-BE49-F238E27FC236}">
                <a16:creationId xmlns:a16="http://schemas.microsoft.com/office/drawing/2014/main" id="{4684D2BD-C839-48F1-8F98-AF7093C00CD6}"/>
              </a:ext>
            </a:extLst>
          </p:cNvPr>
          <p:cNvSpPr/>
          <p:nvPr/>
        </p:nvSpPr>
        <p:spPr>
          <a:xfrm>
            <a:off x="7493951" y="693491"/>
            <a:ext cx="1177609" cy="6811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Lato" panose="020B0604020202020204" charset="0"/>
              </a:rPr>
              <a:t>V-103: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 panose="020B0604020202020204" charset="0"/>
              </a:rPr>
              <a:t>Condensate tank</a:t>
            </a:r>
            <a:endParaRPr>
              <a:latin typeface="Lato" panose="020B060402020202020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F7D33F-4FCB-401D-930E-4A793BE9D891}"/>
              </a:ext>
            </a:extLst>
          </p:cNvPr>
          <p:cNvSpPr/>
          <p:nvPr/>
        </p:nvSpPr>
        <p:spPr>
          <a:xfrm>
            <a:off x="958850" y="2813051"/>
            <a:ext cx="392113" cy="476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182;p19">
            <a:extLst>
              <a:ext uri="{FF2B5EF4-FFF2-40B4-BE49-F238E27FC236}">
                <a16:creationId xmlns:a16="http://schemas.microsoft.com/office/drawing/2014/main" id="{CF863768-2B63-4E20-9C09-E68258CF816D}"/>
              </a:ext>
            </a:extLst>
          </p:cNvPr>
          <p:cNvSpPr/>
          <p:nvPr/>
        </p:nvSpPr>
        <p:spPr>
          <a:xfrm>
            <a:off x="5591639" y="3841747"/>
            <a:ext cx="1670608" cy="7310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Lato" panose="020B0604020202020204" charset="0"/>
              </a:rPr>
              <a:t>P-102: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 panose="020B0604020202020204" charset="0"/>
              </a:rPr>
              <a:t>Centrifugal single-stage pump</a:t>
            </a:r>
            <a:endParaRPr>
              <a:latin typeface="Lato" panose="020B0604020202020204" charset="0"/>
            </a:endParaRPr>
          </a:p>
        </p:txBody>
      </p:sp>
      <p:sp>
        <p:nvSpPr>
          <p:cNvPr id="16" name="Google Shape;182;p19">
            <a:extLst>
              <a:ext uri="{FF2B5EF4-FFF2-40B4-BE49-F238E27FC236}">
                <a16:creationId xmlns:a16="http://schemas.microsoft.com/office/drawing/2014/main" id="{311528EC-615C-4B8A-A51F-43C07F28ABD2}"/>
              </a:ext>
            </a:extLst>
          </p:cNvPr>
          <p:cNvSpPr/>
          <p:nvPr/>
        </p:nvSpPr>
        <p:spPr>
          <a:xfrm>
            <a:off x="34940" y="1469506"/>
            <a:ext cx="1647394" cy="7310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ato" panose="020B0604020202020204" charset="0"/>
              </a:rPr>
              <a:t>P-101: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 panose="020B0604020202020204" charset="0"/>
              </a:rPr>
              <a:t>Centrifugal single-stage pump</a:t>
            </a:r>
            <a:endParaRPr dirty="0">
              <a:latin typeface="Lato" panose="020B0604020202020204" charset="0"/>
            </a:endParaRPr>
          </a:p>
        </p:txBody>
      </p:sp>
      <p:cxnSp>
        <p:nvCxnSpPr>
          <p:cNvPr id="17" name="Google Shape;183;p19">
            <a:extLst>
              <a:ext uri="{FF2B5EF4-FFF2-40B4-BE49-F238E27FC236}">
                <a16:creationId xmlns:a16="http://schemas.microsoft.com/office/drawing/2014/main" id="{748BC373-A944-4531-9296-D8B2029AFED1}"/>
              </a:ext>
            </a:extLst>
          </p:cNvPr>
          <p:cNvCxnSpPr>
            <a:cxnSpLocks/>
          </p:cNvCxnSpPr>
          <p:nvPr/>
        </p:nvCxnSpPr>
        <p:spPr>
          <a:xfrm>
            <a:off x="858637" y="2200514"/>
            <a:ext cx="296269" cy="557345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183;p19">
            <a:extLst>
              <a:ext uri="{FF2B5EF4-FFF2-40B4-BE49-F238E27FC236}">
                <a16:creationId xmlns:a16="http://schemas.microsoft.com/office/drawing/2014/main" id="{9BFBA6F4-64D9-44E6-A689-B38D11259AD5}"/>
              </a:ext>
            </a:extLst>
          </p:cNvPr>
          <p:cNvCxnSpPr>
            <a:cxnSpLocks/>
          </p:cNvCxnSpPr>
          <p:nvPr/>
        </p:nvCxnSpPr>
        <p:spPr>
          <a:xfrm flipH="1" flipV="1">
            <a:off x="2463800" y="3703320"/>
            <a:ext cx="537631" cy="188342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183;p19">
            <a:extLst>
              <a:ext uri="{FF2B5EF4-FFF2-40B4-BE49-F238E27FC236}">
                <a16:creationId xmlns:a16="http://schemas.microsoft.com/office/drawing/2014/main" id="{38FCD890-173E-4741-9A95-774F56066F21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148388" y="2343106"/>
            <a:ext cx="268564" cy="469945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183;p19">
            <a:extLst>
              <a:ext uri="{FF2B5EF4-FFF2-40B4-BE49-F238E27FC236}">
                <a16:creationId xmlns:a16="http://schemas.microsoft.com/office/drawing/2014/main" id="{8157B232-E0F6-45CC-8A4A-F171FC81D7E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370374" y="1260951"/>
            <a:ext cx="587329" cy="832181"/>
          </a:xfrm>
          <a:prstGeom prst="straightConnector1">
            <a:avLst/>
          </a:prstGeom>
          <a:noFill/>
          <a:ln w="1905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183;p19">
            <a:extLst>
              <a:ext uri="{FF2B5EF4-FFF2-40B4-BE49-F238E27FC236}">
                <a16:creationId xmlns:a16="http://schemas.microsoft.com/office/drawing/2014/main" id="{6B0AB788-D11F-4AB8-9369-EF3C7FA58C48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7733092" y="1374650"/>
            <a:ext cx="349664" cy="1104536"/>
          </a:xfrm>
          <a:prstGeom prst="straightConnector1">
            <a:avLst/>
          </a:prstGeom>
          <a:noFill/>
          <a:ln w="1905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183;p19">
            <a:extLst>
              <a:ext uri="{FF2B5EF4-FFF2-40B4-BE49-F238E27FC236}">
                <a16:creationId xmlns:a16="http://schemas.microsoft.com/office/drawing/2014/main" id="{3B6F3940-32DD-4942-B656-5925F890ED17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6426943" y="2878669"/>
            <a:ext cx="1737560" cy="963078"/>
          </a:xfrm>
          <a:prstGeom prst="straightConnector1">
            <a:avLst/>
          </a:prstGeom>
          <a:noFill/>
          <a:ln w="1905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2C57A7E-78DC-481B-BFEA-6D14302869C4}"/>
              </a:ext>
            </a:extLst>
          </p:cNvPr>
          <p:cNvSpPr/>
          <p:nvPr/>
        </p:nvSpPr>
        <p:spPr>
          <a:xfrm>
            <a:off x="1539657" y="2704780"/>
            <a:ext cx="392113" cy="450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182;p19">
            <a:extLst>
              <a:ext uri="{FF2B5EF4-FFF2-40B4-BE49-F238E27FC236}">
                <a16:creationId xmlns:a16="http://schemas.microsoft.com/office/drawing/2014/main" id="{4743DC76-37DF-473B-B97C-8786932BCC0A}"/>
              </a:ext>
            </a:extLst>
          </p:cNvPr>
          <p:cNvSpPr/>
          <p:nvPr/>
        </p:nvSpPr>
        <p:spPr>
          <a:xfrm>
            <a:off x="1798064" y="1268862"/>
            <a:ext cx="1753435" cy="931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ato" panose="020B0604020202020204" charset="0"/>
              </a:rPr>
              <a:t>E-101: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 panose="020B0604020202020204" charset="0"/>
              </a:rPr>
              <a:t>Waste heat boiler/steam generator</a:t>
            </a:r>
            <a:endParaRPr dirty="0">
              <a:latin typeface="Lato" panose="020B0604020202020204" charset="0"/>
            </a:endParaRPr>
          </a:p>
        </p:txBody>
      </p:sp>
      <p:cxnSp>
        <p:nvCxnSpPr>
          <p:cNvPr id="26" name="Google Shape;183;p19">
            <a:extLst>
              <a:ext uri="{FF2B5EF4-FFF2-40B4-BE49-F238E27FC236}">
                <a16:creationId xmlns:a16="http://schemas.microsoft.com/office/drawing/2014/main" id="{8109230A-3831-490B-9B4B-285D82613CB4}"/>
              </a:ext>
            </a:extLst>
          </p:cNvPr>
          <p:cNvCxnSpPr>
            <a:cxnSpLocks/>
          </p:cNvCxnSpPr>
          <p:nvPr/>
        </p:nvCxnSpPr>
        <p:spPr>
          <a:xfrm flipH="1">
            <a:off x="1920056" y="2194265"/>
            <a:ext cx="715568" cy="563594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08839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11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487C2F-4B99-4A17-9F6B-B1E8124B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Updated Process Features:</a:t>
            </a:r>
            <a:br>
              <a:rPr lang="en-US"/>
            </a:br>
            <a:r>
              <a:rPr lang="en-US"/>
              <a:t>Natural Gas Sweetening/DESULF Hierarchy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D5B40-5739-4C51-BED3-6D16DDEA21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041" t="28271" r="13473" b="20370"/>
          <a:stretch/>
        </p:blipFill>
        <p:spPr>
          <a:xfrm>
            <a:off x="1590674" y="1307850"/>
            <a:ext cx="5962650" cy="2847833"/>
          </a:xfrm>
          <a:prstGeom prst="rect">
            <a:avLst/>
          </a:prstGeom>
        </p:spPr>
      </p:pic>
      <p:sp>
        <p:nvSpPr>
          <p:cNvPr id="5" name="Google Shape;182;p19">
            <a:extLst>
              <a:ext uri="{FF2B5EF4-FFF2-40B4-BE49-F238E27FC236}">
                <a16:creationId xmlns:a16="http://schemas.microsoft.com/office/drawing/2014/main" id="{BB51714B-FF86-48C7-97B6-66C392565DA5}"/>
              </a:ext>
            </a:extLst>
          </p:cNvPr>
          <p:cNvSpPr/>
          <p:nvPr/>
        </p:nvSpPr>
        <p:spPr>
          <a:xfrm>
            <a:off x="461416" y="2374975"/>
            <a:ext cx="1672168" cy="914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C-101: </a:t>
            </a:r>
            <a:r>
              <a:rPr lang="en-US" dirty="0"/>
              <a:t>Natural gas centrifugal compressor</a:t>
            </a:r>
            <a:endParaRPr dirty="0"/>
          </a:p>
        </p:txBody>
      </p:sp>
      <p:sp>
        <p:nvSpPr>
          <p:cNvPr id="6" name="Google Shape;182;p19">
            <a:extLst>
              <a:ext uri="{FF2B5EF4-FFF2-40B4-BE49-F238E27FC236}">
                <a16:creationId xmlns:a16="http://schemas.microsoft.com/office/drawing/2014/main" id="{C0D63E0B-CEDD-4557-963D-192500EC11F1}"/>
              </a:ext>
            </a:extLst>
          </p:cNvPr>
          <p:cNvSpPr/>
          <p:nvPr/>
        </p:nvSpPr>
        <p:spPr>
          <a:xfrm>
            <a:off x="3096680" y="3937000"/>
            <a:ext cx="1529108" cy="7262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R-101: </a:t>
            </a:r>
            <a:r>
              <a:rPr lang="en-US" dirty="0"/>
              <a:t>Catalytic oxidizer</a:t>
            </a:r>
            <a:endParaRPr dirty="0"/>
          </a:p>
        </p:txBody>
      </p:sp>
      <p:sp>
        <p:nvSpPr>
          <p:cNvPr id="7" name="Google Shape;182;p19">
            <a:extLst>
              <a:ext uri="{FF2B5EF4-FFF2-40B4-BE49-F238E27FC236}">
                <a16:creationId xmlns:a16="http://schemas.microsoft.com/office/drawing/2014/main" id="{89C95C76-3BB3-4102-8A54-FC6F94C8ECF3}"/>
              </a:ext>
            </a:extLst>
          </p:cNvPr>
          <p:cNvSpPr/>
          <p:nvPr/>
        </p:nvSpPr>
        <p:spPr>
          <a:xfrm>
            <a:off x="6897898" y="2731766"/>
            <a:ext cx="1493067" cy="7861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R-102: </a:t>
            </a:r>
            <a:r>
              <a:rPr lang="en-US"/>
              <a:t>Packed sulfur absorber</a:t>
            </a:r>
            <a:endParaRPr/>
          </a:p>
        </p:txBody>
      </p:sp>
      <p:cxnSp>
        <p:nvCxnSpPr>
          <p:cNvPr id="8" name="Google Shape;183;p19">
            <a:extLst>
              <a:ext uri="{FF2B5EF4-FFF2-40B4-BE49-F238E27FC236}">
                <a16:creationId xmlns:a16="http://schemas.microsoft.com/office/drawing/2014/main" id="{AB795CD0-BD89-4E14-9E98-2FCD68C9C0E2}"/>
              </a:ext>
            </a:extLst>
          </p:cNvPr>
          <p:cNvCxnSpPr>
            <a:cxnSpLocks/>
          </p:cNvCxnSpPr>
          <p:nvPr/>
        </p:nvCxnSpPr>
        <p:spPr>
          <a:xfrm flipV="1">
            <a:off x="2133584" y="2221950"/>
            <a:ext cx="876316" cy="509816"/>
          </a:xfrm>
          <a:prstGeom prst="straightConnector1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183;p19">
            <a:extLst>
              <a:ext uri="{FF2B5EF4-FFF2-40B4-BE49-F238E27FC236}">
                <a16:creationId xmlns:a16="http://schemas.microsoft.com/office/drawing/2014/main" id="{9BD95EBF-D236-483C-9B33-240A71C00905}"/>
              </a:ext>
            </a:extLst>
          </p:cNvPr>
          <p:cNvCxnSpPr>
            <a:cxnSpLocks/>
          </p:cNvCxnSpPr>
          <p:nvPr/>
        </p:nvCxnSpPr>
        <p:spPr>
          <a:xfrm flipV="1">
            <a:off x="3834339" y="3359150"/>
            <a:ext cx="982611" cy="577850"/>
          </a:xfrm>
          <a:prstGeom prst="straightConnector1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183;p19">
            <a:extLst>
              <a:ext uri="{FF2B5EF4-FFF2-40B4-BE49-F238E27FC236}">
                <a16:creationId xmlns:a16="http://schemas.microsoft.com/office/drawing/2014/main" id="{4C5B46CB-A647-418A-9034-800F86BC04F9}"/>
              </a:ext>
            </a:extLst>
          </p:cNvPr>
          <p:cNvCxnSpPr>
            <a:cxnSpLocks/>
          </p:cNvCxnSpPr>
          <p:nvPr/>
        </p:nvCxnSpPr>
        <p:spPr>
          <a:xfrm flipH="1" flipV="1">
            <a:off x="6356350" y="2660652"/>
            <a:ext cx="541548" cy="536571"/>
          </a:xfrm>
          <a:prstGeom prst="straightConnector1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8772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Added Equipment</a:t>
            </a:r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12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A6ACA9-788D-41B6-A8FF-95874B908330}"/>
              </a:ext>
            </a:extLst>
          </p:cNvPr>
          <p:cNvSpPr/>
          <p:nvPr/>
        </p:nvSpPr>
        <p:spPr>
          <a:xfrm>
            <a:off x="1297499" y="1050072"/>
            <a:ext cx="70389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New process equipment</a:t>
            </a:r>
          </a:p>
          <a:p>
            <a:pPr marL="171450" lvl="0" indent="-171450"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000" dirty="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Clr>
                <a:schemeClr val="bg1"/>
              </a:buClr>
              <a:buFont typeface="Lato" panose="020B0604020202020204" charset="0"/>
              <a:buChar char="○"/>
              <a:tabLst>
                <a:tab pos="914400" algn="l"/>
              </a:tabLst>
            </a:pPr>
            <a:r>
              <a:rPr lang="en-US" sz="2000" b="1" u="sng" dirty="0">
                <a:solidFill>
                  <a:schemeClr val="accent6">
                    <a:lumMod val="40000"/>
                    <a:lumOff val="60000"/>
                  </a:schemeClr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PSA section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20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K-101: Feed to PSA Compressor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20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K-102: Mid-Stage PSA Compressor</a:t>
            </a:r>
          </a:p>
          <a:p>
            <a:pPr marL="742950" lvl="1" indent="-285750">
              <a:buClr>
                <a:schemeClr val="bg1"/>
              </a:buClr>
              <a:buFont typeface="Lato" panose="020B0604020202020204" charset="0"/>
              <a:buChar char="○"/>
              <a:tabLst>
                <a:tab pos="914400" algn="l"/>
              </a:tabLst>
            </a:pPr>
            <a:r>
              <a:rPr lang="en-US" sz="2000" b="1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Pressurization before Storage 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20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K-103: Compressed Hydrogen Compressor</a:t>
            </a:r>
          </a:p>
          <a:p>
            <a:pPr marL="742950" lvl="1" indent="-285750">
              <a:buClr>
                <a:schemeClr val="bg1"/>
              </a:buClr>
              <a:buFont typeface="Lato" panose="020B0604020202020204" charset="0"/>
              <a:buChar char="○"/>
              <a:tabLst>
                <a:tab pos="914400" algn="l"/>
              </a:tabLst>
            </a:pPr>
            <a:r>
              <a:rPr lang="en-US" sz="2000" b="1" u="sng" dirty="0">
                <a:solidFill>
                  <a:schemeClr val="accent5">
                    <a:lumMod val="60000"/>
                    <a:lumOff val="40000"/>
                  </a:schemeClr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Carbon Capture Section 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20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E-104: Heat Exchanger for Heat Integration </a:t>
            </a:r>
          </a:p>
          <a:p>
            <a:pPr marL="1143000" lvl="2" indent="-228600">
              <a:buClr>
                <a:schemeClr val="bg1"/>
              </a:buClr>
              <a:buFont typeface="Lato" panose="020B0604020202020204" charset="0"/>
              <a:buChar char="■"/>
              <a:tabLst>
                <a:tab pos="1371600" algn="l"/>
              </a:tabLst>
            </a:pPr>
            <a:r>
              <a:rPr lang="en-US" sz="2000" dirty="0">
                <a:solidFill>
                  <a:schemeClr val="bg1"/>
                </a:solidFill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E-105: Heat Exchanger for Cooling Recycle</a:t>
            </a:r>
          </a:p>
        </p:txBody>
      </p:sp>
    </p:spTree>
    <p:extLst>
      <p:ext uri="{BB962C8B-B14F-4D97-AF65-F5344CB8AC3E}">
        <p14:creationId xmlns:p14="http://schemas.microsoft.com/office/powerpoint/2010/main" val="206504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13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9840DA1-63D4-461A-8C58-65C54C4C2CC2}"/>
              </a:ext>
            </a:extLst>
          </p:cNvPr>
          <p:cNvSpPr txBox="1">
            <a:spLocks/>
          </p:cNvSpPr>
          <p:nvPr/>
        </p:nvSpPr>
        <p:spPr>
          <a:xfrm>
            <a:off x="1449900" y="5461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Updated Equipment:</a:t>
            </a:r>
            <a:br>
              <a:rPr lang="en-US"/>
            </a:br>
            <a:r>
              <a:rPr lang="en-US"/>
              <a:t>PSA and Carbon Capture</a:t>
            </a:r>
          </a:p>
          <a:p>
            <a:endParaRPr lang="en-US"/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A2EC5302-B790-42E7-9783-DF1864DD1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00" y="1469513"/>
            <a:ext cx="7833600" cy="33905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5FE09F-DD98-4BC4-A619-CF3A2AC0BAE5}"/>
              </a:ext>
            </a:extLst>
          </p:cNvPr>
          <p:cNvSpPr/>
          <p:nvPr/>
        </p:nvSpPr>
        <p:spPr>
          <a:xfrm>
            <a:off x="3221764" y="2914116"/>
            <a:ext cx="1187866" cy="1273323"/>
          </a:xfrm>
          <a:prstGeom prst="rect">
            <a:avLst/>
          </a:prstGeom>
          <a:noFill/>
          <a:ln w="571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6132B8-CFB7-458A-8E2D-2F5A46746290}"/>
              </a:ext>
            </a:extLst>
          </p:cNvPr>
          <p:cNvSpPr/>
          <p:nvPr/>
        </p:nvSpPr>
        <p:spPr>
          <a:xfrm>
            <a:off x="3038030" y="1469513"/>
            <a:ext cx="777667" cy="799055"/>
          </a:xfrm>
          <a:prstGeom prst="rect">
            <a:avLst/>
          </a:prstGeom>
          <a:noFill/>
          <a:ln w="5715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6F1C49-9467-4DF0-8568-6CA803CCD7A4}"/>
              </a:ext>
            </a:extLst>
          </p:cNvPr>
          <p:cNvSpPr/>
          <p:nvPr/>
        </p:nvSpPr>
        <p:spPr>
          <a:xfrm>
            <a:off x="4409630" y="1469513"/>
            <a:ext cx="692209" cy="530203"/>
          </a:xfrm>
          <a:prstGeom prst="rect">
            <a:avLst/>
          </a:prstGeom>
          <a:noFill/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Previous Concerns: Storage</a:t>
            </a:r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14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6B39F78E-C9D7-41EC-AAFC-A3E694A6221A}"/>
              </a:ext>
            </a:extLst>
          </p:cNvPr>
          <p:cNvSpPr txBox="1">
            <a:spLocks/>
          </p:cNvSpPr>
          <p:nvPr/>
        </p:nvSpPr>
        <p:spPr>
          <a:xfrm>
            <a:off x="392015" y="1426450"/>
            <a:ext cx="6769100" cy="3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/>
              <a:t>Pressure requirements for storage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45 Bar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/>
              <a:t>Hydrogen pickup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Every 2-3 Days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Additional 20% storage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/>
              <a:t>MEA Storage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Delivered every 30 days</a:t>
            </a:r>
            <a:endParaRPr lang="en-US" sz="24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endParaRPr lang="en-US" sz="18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1400"/>
          </a:p>
        </p:txBody>
      </p:sp>
      <p:pic>
        <p:nvPicPr>
          <p:cNvPr id="3" name="Picture 2" descr="A picture containing green, outdoor, light, sitting&#10;&#10;Description automatically generated">
            <a:extLst>
              <a:ext uri="{FF2B5EF4-FFF2-40B4-BE49-F238E27FC236}">
                <a16:creationId xmlns:a16="http://schemas.microsoft.com/office/drawing/2014/main" id="{3C8B9D42-E931-4430-834F-BA0EA49A1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57" y="1426450"/>
            <a:ext cx="3720083" cy="2658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A73B88-0FC6-4240-BFEE-B6D394F5CA92}"/>
              </a:ext>
            </a:extLst>
          </p:cNvPr>
          <p:cNvSpPr txBox="1"/>
          <p:nvPr/>
        </p:nvSpPr>
        <p:spPr>
          <a:xfrm>
            <a:off x="5130157" y="4178893"/>
            <a:ext cx="3720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Pressure Vessels for Hydrogen</a:t>
            </a:r>
            <a:r>
              <a:rPr lang="en-US" baseline="30000">
                <a:solidFill>
                  <a:schemeClr val="bg1"/>
                </a:solidFill>
              </a:rPr>
              <a:t> [13]</a:t>
            </a:r>
          </a:p>
        </p:txBody>
      </p:sp>
    </p:spTree>
    <p:extLst>
      <p:ext uri="{BB962C8B-B14F-4D97-AF65-F5344CB8AC3E}">
        <p14:creationId xmlns:p14="http://schemas.microsoft.com/office/powerpoint/2010/main" val="3384272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688975" y="1984450"/>
            <a:ext cx="7766050" cy="11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/>
              <a:t>Process Controls</a:t>
            </a:r>
            <a:endParaRPr sz="6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15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94158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Controls (General)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763388" y="1530162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2000" b="1" u="sng" dirty="0"/>
              <a:t>Controlled Variables </a:t>
            </a:r>
            <a:endParaRPr lang="en-US" b="1" u="sng" dirty="0"/>
          </a:p>
          <a:p>
            <a:pPr marL="342900" indent="-342900">
              <a:lnSpc>
                <a:spcPct val="100000"/>
              </a:lnSpc>
              <a:spcAft>
                <a:spcPts val="1600"/>
              </a:spcAft>
            </a:pPr>
            <a:r>
              <a:rPr lang="en-US" sz="2000" dirty="0"/>
              <a:t>Reactors: Temperature, Pressure, Conversions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</a:pPr>
            <a:r>
              <a:rPr lang="en-US" sz="2000" dirty="0"/>
              <a:t>Vessels: Level, Pressure, Purities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2000" b="1" u="sng" dirty="0"/>
              <a:t>Manipulated Variables</a:t>
            </a:r>
          </a:p>
          <a:p>
            <a:pPr marL="342900" indent="-342900">
              <a:lnSpc>
                <a:spcPct val="100000"/>
              </a:lnSpc>
              <a:spcAft>
                <a:spcPts val="1600"/>
              </a:spcAft>
            </a:pPr>
            <a:r>
              <a:rPr lang="en-US" sz="2000" dirty="0"/>
              <a:t>Outlet flow, Fuel flow rate, Inlet flow</a:t>
            </a:r>
          </a:p>
          <a:p>
            <a:pPr marL="457200" lvl="1" indent="0">
              <a:lnSpc>
                <a:spcPct val="10000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342900" indent="-342900">
              <a:lnSpc>
                <a:spcPct val="100000"/>
              </a:lnSpc>
              <a:spcAft>
                <a:spcPts val="1600"/>
              </a:spcAft>
            </a:pPr>
            <a:endParaRPr lang="en-US" sz="2000" dirty="0"/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endParaRPr lang="en-US" sz="2000" dirty="0"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16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075797" y="402038"/>
            <a:ext cx="7388977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Detailed Process Control: Primary Reformer</a:t>
            </a:r>
            <a:endParaRPr dirty="0"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464285" y="1674372"/>
            <a:ext cx="4063896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u="sng" dirty="0"/>
              <a:t>Controlled Variables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Temperature and Pressure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u="sng" dirty="0"/>
              <a:t>Manipulated Variables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Flow and Level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u="sng" dirty="0"/>
              <a:t>Temp Range</a:t>
            </a:r>
            <a:r>
              <a:rPr lang="en-US" sz="2000" dirty="0"/>
              <a:t>: 1400°F-1600°F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u="sng" dirty="0"/>
              <a:t>Optimum</a:t>
            </a:r>
            <a:r>
              <a:rPr lang="en-US" sz="2000" dirty="0"/>
              <a:t>: 1470°F</a:t>
            </a:r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17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" name="Picture 2" descr="A close up of a map&#10;&#10;Description generated with high confidence">
            <a:extLst>
              <a:ext uri="{FF2B5EF4-FFF2-40B4-BE49-F238E27FC236}">
                <a16:creationId xmlns:a16="http://schemas.microsoft.com/office/drawing/2014/main" id="{6B0A3D09-D497-4C9C-897E-710433C57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794" y="1126252"/>
            <a:ext cx="5178750" cy="361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07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HAZOP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18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A82E62E-6318-4BE3-9CE0-FEE12B8F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35" y="928347"/>
            <a:ext cx="7176329" cy="398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91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688975" y="1539950"/>
            <a:ext cx="7766050" cy="20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Environmental and Safety Concerns</a:t>
            </a:r>
            <a:endParaRPr sz="6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19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4302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Environmental 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64;p17">
            <a:extLst>
              <a:ext uri="{FF2B5EF4-FFF2-40B4-BE49-F238E27FC236}">
                <a16:creationId xmlns:a16="http://schemas.microsoft.com/office/drawing/2014/main" id="{BE150AA9-3204-473E-B65D-DE7A5C92AF41}"/>
              </a:ext>
            </a:extLst>
          </p:cNvPr>
          <p:cNvSpPr txBox="1">
            <a:spLocks/>
          </p:cNvSpPr>
          <p:nvPr/>
        </p:nvSpPr>
        <p:spPr>
          <a:xfrm>
            <a:off x="122842" y="1282412"/>
            <a:ext cx="7414701" cy="393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u="sng" dirty="0"/>
              <a:t>Hazardous gases:</a:t>
            </a:r>
          </a:p>
          <a:p>
            <a:pPr marL="742950" lvl="1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dirty="0"/>
              <a:t>CO</a:t>
            </a:r>
            <a:r>
              <a:rPr lang="en-US" sz="1800" baseline="-25000" dirty="0"/>
              <a:t>2</a:t>
            </a:r>
            <a:r>
              <a:rPr lang="en-US" sz="1800" dirty="0"/>
              <a:t>, CO, H</a:t>
            </a:r>
            <a:r>
              <a:rPr lang="en-US" sz="1800" baseline="-25000" dirty="0"/>
              <a:t>2</a:t>
            </a:r>
            <a:r>
              <a:rPr lang="en-US" sz="1800" dirty="0"/>
              <a:t>S, SO</a:t>
            </a:r>
            <a:r>
              <a:rPr lang="en-US" sz="1800" baseline="-25000" dirty="0"/>
              <a:t>2</a:t>
            </a:r>
          </a:p>
          <a:p>
            <a:pPr marL="1200150" lvl="2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/>
              <a:t>CO</a:t>
            </a:r>
            <a:r>
              <a:rPr lang="en-US" sz="1800" b="1" baseline="-25000" dirty="0"/>
              <a:t>2</a:t>
            </a:r>
            <a:r>
              <a:rPr lang="en-US" sz="1800" dirty="0"/>
              <a:t>:  Regulated through EU Emissions Trading System Cap</a:t>
            </a:r>
            <a:endParaRPr lang="en-US" sz="1800" dirty="0">
              <a:highlight>
                <a:srgbClr val="0000FF"/>
              </a:highlight>
            </a:endParaRPr>
          </a:p>
          <a:p>
            <a:pPr marL="914400" lvl="2" indent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200" dirty="0"/>
          </a:p>
          <a:p>
            <a:pPr marL="285750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dirty="0"/>
              <a:t>Directive of the European Parliament and Council on</a:t>
            </a:r>
          </a:p>
          <a:p>
            <a:pPr marL="0" indent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dirty="0"/>
              <a:t>      Industrial Emissions Standards</a:t>
            </a:r>
            <a:r>
              <a:rPr lang="en-US" sz="1800" baseline="30000" dirty="0"/>
              <a:t>[2]</a:t>
            </a:r>
          </a:p>
          <a:p>
            <a:pPr marL="742950" lvl="1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/>
              <a:t>CO</a:t>
            </a:r>
            <a:r>
              <a:rPr lang="en-US" sz="1800" b="1" baseline="-25000" dirty="0"/>
              <a:t>2</a:t>
            </a:r>
            <a:r>
              <a:rPr lang="en-US" sz="1800" dirty="0"/>
              <a:t>: 1.82 Billion allowance cap/year (Germany)</a:t>
            </a:r>
          </a:p>
          <a:p>
            <a:pPr marL="742950" lvl="1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/>
              <a:t>CO</a:t>
            </a:r>
            <a:r>
              <a:rPr lang="en-US" sz="1800" dirty="0"/>
              <a:t>: 44 ppm</a:t>
            </a:r>
          </a:p>
          <a:p>
            <a:pPr marL="742950" lvl="1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/>
              <a:t>H</a:t>
            </a:r>
            <a:r>
              <a:rPr lang="en-US" sz="1800" b="1" baseline="-25000" dirty="0"/>
              <a:t>2</a:t>
            </a:r>
            <a:r>
              <a:rPr lang="en-US" sz="1800" b="1" dirty="0"/>
              <a:t>S</a:t>
            </a:r>
            <a:r>
              <a:rPr lang="en-US" sz="1800" dirty="0"/>
              <a:t>: Minimum rate of desulfurization is 93%</a:t>
            </a:r>
          </a:p>
          <a:p>
            <a:pPr marL="742950" lvl="1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/>
              <a:t>SO</a:t>
            </a:r>
            <a:r>
              <a:rPr lang="en-US" sz="1800" b="1" baseline="-25000" dirty="0"/>
              <a:t>2</a:t>
            </a:r>
            <a:r>
              <a:rPr lang="en-US" sz="1800" dirty="0"/>
              <a:t>: 19 ppm</a:t>
            </a:r>
          </a:p>
          <a:p>
            <a:pPr marL="742950" lvl="1" indent="-28575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/>
              <a:t>NO</a:t>
            </a:r>
            <a:r>
              <a:rPr lang="en-US" sz="1800" b="1" baseline="-25000" dirty="0"/>
              <a:t>X</a:t>
            </a:r>
            <a:r>
              <a:rPr lang="en-US" sz="1800" dirty="0"/>
              <a:t>: 280 ppm</a:t>
            </a:r>
          </a:p>
        </p:txBody>
      </p:sp>
      <p:pic>
        <p:nvPicPr>
          <p:cNvPr id="1026" name="Picture 2" descr="European Commission - Wikipedia">
            <a:extLst>
              <a:ext uri="{FF2B5EF4-FFF2-40B4-BE49-F238E27FC236}">
                <a16:creationId xmlns:a16="http://schemas.microsoft.com/office/drawing/2014/main" id="{88719DD7-46C7-40DF-BE90-15EACF52F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716" y="2731188"/>
            <a:ext cx="3070376" cy="212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DDA879-6DB8-43C7-94B3-63BA422E8D62}"/>
              </a:ext>
            </a:extLst>
          </p:cNvPr>
          <p:cNvSpPr/>
          <p:nvPr/>
        </p:nvSpPr>
        <p:spPr>
          <a:xfrm>
            <a:off x="4816950" y="4636879"/>
            <a:ext cx="4035145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2">
              <a:tabLst>
                <a:tab pos="1371600" algn="l"/>
              </a:tabLst>
            </a:pPr>
            <a:endParaRPr lang="en-US" sz="120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2">
              <a:tabLst>
                <a:tab pos="1371600" algn="l"/>
              </a:tabLst>
            </a:pPr>
            <a:r>
              <a:rPr lang="en-US" sz="1100">
                <a:solidFill>
                  <a:schemeClr val="bg1"/>
                </a:solidFill>
                <a:effectLst/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European Commission Logo </a:t>
            </a:r>
            <a:r>
              <a:rPr lang="en-US" sz="1100" baseline="30000">
                <a:solidFill>
                  <a:schemeClr val="bg1"/>
                </a:solidFill>
                <a:effectLst/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</a:p>
        </p:txBody>
      </p:sp>
    </p:spTree>
    <p:extLst>
      <p:ext uri="{BB962C8B-B14F-4D97-AF65-F5344CB8AC3E}">
        <p14:creationId xmlns:p14="http://schemas.microsoft.com/office/powerpoint/2010/main" val="3881151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Environmental 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21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A2AE3827-6AFE-4704-A9E8-44BBD26ECAE5}"/>
              </a:ext>
            </a:extLst>
          </p:cNvPr>
          <p:cNvSpPr txBox="1">
            <a:spLocks/>
          </p:cNvSpPr>
          <p:nvPr/>
        </p:nvSpPr>
        <p:spPr>
          <a:xfrm>
            <a:off x="431574" y="1438533"/>
            <a:ext cx="7038900" cy="361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/>
              <a:t>Average hazardous gas emittance: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CO</a:t>
            </a:r>
            <a:r>
              <a:rPr lang="en-US" sz="1800" baseline="-25000"/>
              <a:t>2</a:t>
            </a:r>
            <a:r>
              <a:rPr lang="en-US" sz="1800"/>
              <a:t>: 360  ppm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CO: 14 ppm &lt; 44 ppm emission standard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H</a:t>
            </a:r>
            <a:r>
              <a:rPr lang="en-US" sz="1800" baseline="-25000"/>
              <a:t>2</a:t>
            </a:r>
            <a:r>
              <a:rPr lang="en-US" sz="1800"/>
              <a:t>S: 99% rate of desulfurization &gt; 93% minimum rate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SO</a:t>
            </a:r>
            <a:r>
              <a:rPr lang="en-US" sz="1800" baseline="-25000"/>
              <a:t>2</a:t>
            </a:r>
            <a:r>
              <a:rPr lang="en-US" sz="1800"/>
              <a:t>: ~1 ppm &lt; 19 ppm emission standard</a:t>
            </a:r>
          </a:p>
          <a:p>
            <a:pPr marL="742950" lvl="1" indent="-285750">
              <a:lnSpc>
                <a:spcPct val="0"/>
              </a:lnSpc>
              <a:spcAft>
                <a:spcPts val="1600"/>
              </a:spcAft>
            </a:pPr>
            <a:r>
              <a:rPr lang="en-US" sz="1800"/>
              <a:t>NO</a:t>
            </a:r>
            <a:r>
              <a:rPr lang="en-US" sz="1800" baseline="-25000"/>
              <a:t>x</a:t>
            </a:r>
            <a:r>
              <a:rPr lang="en-US" sz="1800"/>
              <a:t> = ~0.04 ppm &lt;&lt; 280 ppm</a:t>
            </a:r>
          </a:p>
        </p:txBody>
      </p:sp>
      <p:pic>
        <p:nvPicPr>
          <p:cNvPr id="7" name="Picture 2" descr="European Commission - Wikipedia">
            <a:extLst>
              <a:ext uri="{FF2B5EF4-FFF2-40B4-BE49-F238E27FC236}">
                <a16:creationId xmlns:a16="http://schemas.microsoft.com/office/drawing/2014/main" id="{5ADAF48D-28E3-482D-83E4-3174AEA4E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716" y="2731188"/>
            <a:ext cx="3070376" cy="212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EAF325-88A9-4C45-B619-C89617687EC1}"/>
              </a:ext>
            </a:extLst>
          </p:cNvPr>
          <p:cNvSpPr/>
          <p:nvPr/>
        </p:nvSpPr>
        <p:spPr>
          <a:xfrm>
            <a:off x="4816950" y="4636879"/>
            <a:ext cx="4035145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2">
              <a:tabLst>
                <a:tab pos="1371600" algn="l"/>
              </a:tabLst>
            </a:pPr>
            <a:endParaRPr lang="en-US" sz="1200">
              <a:solidFill>
                <a:schemeClr val="bg1"/>
              </a:solidFill>
              <a:latin typeface="Lato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2">
              <a:tabLst>
                <a:tab pos="1371600" algn="l"/>
              </a:tabLst>
            </a:pPr>
            <a:r>
              <a:rPr lang="en-US" sz="1100">
                <a:solidFill>
                  <a:schemeClr val="bg1"/>
                </a:solidFill>
                <a:effectLst/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European Commission Logo</a:t>
            </a:r>
            <a:r>
              <a:rPr lang="en-US" sz="1100" baseline="30000">
                <a:solidFill>
                  <a:schemeClr val="bg1"/>
                </a:solidFill>
                <a:effectLst/>
                <a:latin typeface="Lato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[12]</a:t>
            </a:r>
          </a:p>
        </p:txBody>
      </p:sp>
    </p:spTree>
    <p:extLst>
      <p:ext uri="{BB962C8B-B14F-4D97-AF65-F5344CB8AC3E}">
        <p14:creationId xmlns:p14="http://schemas.microsoft.com/office/powerpoint/2010/main" val="37225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82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Safety Analysis </a:t>
            </a:r>
            <a:r>
              <a:rPr lang="en-US" baseline="30000" dirty="0"/>
              <a:t>[5] - [10]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17"/>
          <p:cNvSpPr txBox="1">
            <a:spLocks noGrp="1"/>
          </p:cNvSpPr>
          <p:nvPr>
            <p:ph type="body" idx="1"/>
          </p:nvPr>
        </p:nvSpPr>
        <p:spPr>
          <a:xfrm>
            <a:off x="668866" y="1437244"/>
            <a:ext cx="6492875" cy="34795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Respiratory diseases can be caused by prolonged exposure to H</a:t>
            </a:r>
            <a:r>
              <a:rPr lang="en-US" sz="1800" baseline="-25000" dirty="0"/>
              <a:t>2</a:t>
            </a:r>
            <a:r>
              <a:rPr lang="en-US" sz="1800" dirty="0"/>
              <a:t>S, SO</a:t>
            </a:r>
            <a:r>
              <a:rPr lang="en-US" sz="1800" baseline="-25000" dirty="0"/>
              <a:t>2</a:t>
            </a:r>
            <a:r>
              <a:rPr lang="en-US" sz="1800" dirty="0"/>
              <a:t> and NO</a:t>
            </a:r>
            <a:r>
              <a:rPr lang="en-US" sz="1800" baseline="-25000" dirty="0"/>
              <a:t>x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CO and H</a:t>
            </a:r>
            <a:r>
              <a:rPr lang="en-US" sz="1800" baseline="-25000" dirty="0"/>
              <a:t>2</a:t>
            </a:r>
            <a:r>
              <a:rPr lang="en-US" sz="1800" dirty="0"/>
              <a:t>S are highly flammable and toxic.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NO</a:t>
            </a:r>
            <a:r>
              <a:rPr lang="en-US" sz="1800" baseline="-25000" dirty="0"/>
              <a:t>x</a:t>
            </a:r>
            <a:r>
              <a:rPr lang="en-US" sz="1800" dirty="0"/>
              <a:t> is fatal if inhaled; it corrodes skin and damages eyes.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Repeated expose to CO can cause damage to various organs.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Prolonged exposure to CO</a:t>
            </a:r>
            <a:r>
              <a:rPr lang="en-US" sz="1800" baseline="-25000" dirty="0"/>
              <a:t>2</a:t>
            </a:r>
            <a:r>
              <a:rPr lang="en-US" sz="1800" dirty="0"/>
              <a:t> may cause suffocation.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Repeated exposure to MEA  can cause liver and kidney damage.</a:t>
            </a:r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22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" name="Picture 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BBC7C05-9402-414A-960D-8C43E5974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742" y="2571750"/>
            <a:ext cx="1771650" cy="1762125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53B5969F-0DC5-4FE3-ADCD-FB3E56D1D291}"/>
              </a:ext>
            </a:extLst>
          </p:cNvPr>
          <p:cNvSpPr txBox="1"/>
          <p:nvPr/>
        </p:nvSpPr>
        <p:spPr>
          <a:xfrm>
            <a:off x="7272162" y="4333875"/>
            <a:ext cx="2743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NFPA Diamond [15]</a:t>
            </a:r>
          </a:p>
        </p:txBody>
      </p:sp>
    </p:spTree>
    <p:extLst>
      <p:ext uri="{BB962C8B-B14F-4D97-AF65-F5344CB8AC3E}">
        <p14:creationId xmlns:p14="http://schemas.microsoft.com/office/powerpoint/2010/main" val="3696739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Safety Concerns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23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ED31FBB-6B05-4E06-B1BA-94ED1A8E7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010681"/>
              </p:ext>
            </p:extLst>
          </p:nvPr>
        </p:nvGraphicFramePr>
        <p:xfrm>
          <a:off x="1524000" y="1301250"/>
          <a:ext cx="6096000" cy="302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628992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27682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Main Safety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7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Sulfur Removal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/>
                        <a:t>Formation of metal oxide fumes when </a:t>
                      </a:r>
                      <a:r>
                        <a:rPr lang="en-US" err="1"/>
                        <a:t>FeO</a:t>
                      </a:r>
                      <a:r>
                        <a:rPr lang="en-US"/>
                        <a:t> pellets decompose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31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Steam Reformer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Reformer operates at very high temperature and pressure; Catalyst is harmful if inhaled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46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Water Gas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Reactors operate at high temperatures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93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Carbon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Loss of MEA from system due to leaks in pipes or 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44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Pressure Swing Absorption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Potentially high operating pressure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308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792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Safety Concerns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24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Picture 4" descr="Chemical drums stored in warehouse Katalco UN3077 Chemical ...">
            <a:extLst>
              <a:ext uri="{FF2B5EF4-FFF2-40B4-BE49-F238E27FC236}">
                <a16:creationId xmlns:a16="http://schemas.microsoft.com/office/drawing/2014/main" id="{314D498E-A7B7-4F78-BB48-F9FB0836F293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4" b="12551"/>
          <a:stretch/>
        </p:blipFill>
        <p:spPr bwMode="auto">
          <a:xfrm>
            <a:off x="2548647" y="1307850"/>
            <a:ext cx="4267019" cy="29139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390E9B-F0BC-43F6-BA1D-ABBC8DD9ADCF}"/>
              </a:ext>
            </a:extLst>
          </p:cNvPr>
          <p:cNvSpPr/>
          <p:nvPr/>
        </p:nvSpPr>
        <p:spPr>
          <a:xfrm>
            <a:off x="2548647" y="4221805"/>
            <a:ext cx="42670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Nickel Ceramic catalyst pellets for reformer tubes</a:t>
            </a:r>
            <a:r>
              <a:rPr lang="en-US" baseline="30000" dirty="0">
                <a:solidFill>
                  <a:schemeClr val="bg1"/>
                </a:solidFill>
              </a:rPr>
              <a:t>[14]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07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688975" y="1984450"/>
            <a:ext cx="7766050" cy="11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Economic Analysis</a:t>
            </a:r>
            <a:endParaRPr sz="6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25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69177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Capital Cost Estimates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26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DB78175-DB99-44F5-966B-54C3FC532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09713"/>
              </p:ext>
            </p:extLst>
          </p:nvPr>
        </p:nvGraphicFramePr>
        <p:xfrm>
          <a:off x="1098817" y="1006004"/>
          <a:ext cx="7237583" cy="3754120"/>
        </p:xfrm>
        <a:graphic>
          <a:graphicData uri="http://schemas.openxmlformats.org/drawingml/2006/table">
            <a:tbl>
              <a:tblPr firstRow="1" lastRow="1" bandRow="1">
                <a:tableStyleId>{D113A9D2-9D6B-4929-AA2D-F23B5EE8CBE7}</a:tableStyleId>
              </a:tblPr>
              <a:tblGrid>
                <a:gridCol w="3364542">
                  <a:extLst>
                    <a:ext uri="{9D8B030D-6E8A-4147-A177-3AD203B41FA5}">
                      <a16:colId xmlns:a16="http://schemas.microsoft.com/office/drawing/2014/main" val="3146651707"/>
                    </a:ext>
                  </a:extLst>
                </a:gridCol>
                <a:gridCol w="1692681">
                  <a:extLst>
                    <a:ext uri="{9D8B030D-6E8A-4147-A177-3AD203B41FA5}">
                      <a16:colId xmlns:a16="http://schemas.microsoft.com/office/drawing/2014/main" val="820537779"/>
                    </a:ext>
                  </a:extLst>
                </a:gridCol>
                <a:gridCol w="2180360">
                  <a:extLst>
                    <a:ext uri="{9D8B030D-6E8A-4147-A177-3AD203B41FA5}">
                      <a16:colId xmlns:a16="http://schemas.microsoft.com/office/drawing/2014/main" val="391915492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Montserrat" panose="020B0604020202020204" charset="0"/>
                        </a:rPr>
                        <a:t>CAPITAL COSTS (CC)</a:t>
                      </a:r>
                      <a:endParaRPr lang="en-US" sz="1600" b="1">
                        <a:solidFill>
                          <a:schemeClr val="tx1"/>
                        </a:solidFill>
                        <a:latin typeface="Montserrat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677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>
                        <a:latin typeface="Lato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Cost ($MM)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229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Inside Battery Limits (ISBL)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B0604020202020204" charset="0"/>
                        </a:rPr>
                        <a:t>28.28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73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Off-site Battery Limit (OSBL)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B0604020202020204" charset="0"/>
                        </a:rPr>
                        <a:t>8.48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30% of ISBL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13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Contingency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B0604020202020204" charset="0"/>
                        </a:rPr>
                        <a:t>3.68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10% (ISBL + OSBL)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16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Engineering Procurement &amp; Construction Costs (EPC)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B0604020202020204" charset="0"/>
                        </a:rPr>
                        <a:t>7.35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20% (ISBL + OSBL)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9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Fixed Capital Costs (FCC)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B0604020202020204" charset="0"/>
                        </a:rPr>
                        <a:t>47.8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ISBL + OSBL + Contingency + EPC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17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Working Capital Costs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Lato" panose="020B0604020202020204" charset="0"/>
                        </a:rPr>
                        <a:t>7.17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15% FCC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91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Lato" panose="020B0604020202020204" charset="0"/>
                        </a:rPr>
                        <a:t>Total CC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Lato" panose="020B0604020202020204" charset="0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Lato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90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740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131403" y="334333"/>
            <a:ext cx="8327642" cy="5927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ISBL Cost Analysis</a:t>
            </a:r>
            <a:endParaRPr dirty="0"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131402" y="837560"/>
            <a:ext cx="7341055" cy="3971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-</a:t>
            </a:r>
            <a:r>
              <a:rPr lang="en-US" sz="1700" b="1" u="sng" dirty="0"/>
              <a:t>Purchasing and shipping costs of equipment: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-Desulfurization and Reaction section installed cost: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$7.55MM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-Carbon Capture and Pressure Swing Adsorption cost 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$20.6MM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-</a:t>
            </a:r>
            <a:r>
              <a:rPr lang="en-US" sz="1700" b="1" u="sng" dirty="0"/>
              <a:t>Land costs: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-5 acres of land: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$350M </a:t>
            </a:r>
            <a:r>
              <a:rPr lang="en-US" sz="1700" dirty="0"/>
              <a:t>(Weinheim, Germany)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-</a:t>
            </a:r>
            <a:r>
              <a:rPr lang="en-US" sz="1700" b="1" u="sng" dirty="0"/>
              <a:t>Infrastructure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-Cooling tower: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$176M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-Bullets for storage: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$8.86MM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-MEA Storage 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$328M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-</a:t>
            </a:r>
            <a:r>
              <a:rPr lang="en-US" sz="1700" b="1" u="sng" dirty="0"/>
              <a:t>Piping</a:t>
            </a:r>
            <a:r>
              <a:rPr lang="en-US" sz="1700" dirty="0"/>
              <a:t> (included in equipment)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-</a:t>
            </a:r>
            <a:r>
              <a:rPr lang="en-US" sz="1700" b="1" u="sng" dirty="0"/>
              <a:t>Catalysts, and any other material needed</a:t>
            </a:r>
            <a:r>
              <a:rPr lang="en-US" sz="17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-Initial fill cost: 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$1.14MM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700" dirty="0"/>
              <a:t>	-Two stage ion-exchange water treatment: </a:t>
            </a:r>
            <a:r>
              <a:rPr lang="en-US" sz="17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$17.8M/year</a:t>
            </a:r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27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91697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ISBL Cost Analysis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28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12A0B4F-C779-48F4-9AD8-8E31934BF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2039880"/>
              </p:ext>
            </p:extLst>
          </p:nvPr>
        </p:nvGraphicFramePr>
        <p:xfrm>
          <a:off x="1828800" y="97155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6088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Cost Estimates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29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BBED94F4-C664-42CE-8A72-95A8AB4AF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871" y="1016200"/>
            <a:ext cx="8386158" cy="3843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endParaRPr lang="en-US" sz="1700" dirty="0"/>
          </a:p>
          <a:p>
            <a:pPr marL="285750" indent="-285750">
              <a:lnSpc>
                <a:spcPct val="100000"/>
              </a:lnSpc>
            </a:pPr>
            <a:r>
              <a:rPr lang="en-US" sz="2000" b="1" u="sng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COLD: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-Boiler feed water: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$9M/year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-Cooling water: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$8M/year</a:t>
            </a:r>
          </a:p>
          <a:p>
            <a:pPr marL="285750" indent="-285750">
              <a:lnSpc>
                <a:spcPct val="100000"/>
              </a:lnSpc>
            </a:pPr>
            <a:endParaRPr lang="en-US" sz="2000" dirty="0"/>
          </a:p>
          <a:p>
            <a:pPr marL="285750" indent="-285750">
              <a:lnSpc>
                <a:spcPct val="100000"/>
              </a:lnSpc>
            </a:pPr>
            <a:r>
              <a:rPr lang="en-US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HOT: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-Split methane feed stream used in SMR furnace: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$170M/year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-Rest of fuel gas utilities: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$72M/year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-HP Steam makeup: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$26M/year</a:t>
            </a:r>
          </a:p>
          <a:p>
            <a:pPr marL="285750" indent="-285750">
              <a:lnSpc>
                <a:spcPct val="100000"/>
              </a:lnSpc>
            </a:pPr>
            <a:endParaRPr lang="en-US" sz="2000" dirty="0"/>
          </a:p>
          <a:p>
            <a:pPr marL="285750" indent="-285750">
              <a:lnSpc>
                <a:spcPct val="100000"/>
              </a:lnSpc>
            </a:pPr>
            <a:r>
              <a:rPr lang="en-US" sz="2000" b="1" u="sng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Pressure changers: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-Electricity: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$470M/year</a:t>
            </a:r>
            <a:endParaRPr lang="en-US" sz="2000" b="1" dirty="0">
              <a:solidFill>
                <a:schemeClr val="accent2">
                  <a:lumMod val="20000"/>
                  <a:lumOff val="80000"/>
                </a:schemeClr>
              </a:solidFill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69310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Cost Estimates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30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1E24C269-57F7-4F5B-B93D-4ACE2BB9EE42}"/>
              </a:ext>
            </a:extLst>
          </p:cNvPr>
          <p:cNvSpPr txBox="1">
            <a:spLocks/>
          </p:cNvSpPr>
          <p:nvPr/>
        </p:nvSpPr>
        <p:spPr>
          <a:xfrm>
            <a:off x="1297500" y="1424591"/>
            <a:ext cx="7038900" cy="363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Heating Duties </a:t>
            </a:r>
            <a:r>
              <a:rPr lang="en-US" sz="2000" dirty="0"/>
              <a:t>= $268M/year</a:t>
            </a:r>
            <a:endParaRPr lang="en-US" sz="2000" dirty="0">
              <a:highlight>
                <a:srgbClr val="0000FF"/>
              </a:highlight>
            </a:endParaRP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b="1" u="sng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Cooling Duties </a:t>
            </a:r>
            <a:r>
              <a:rPr lang="en-US" sz="2000" dirty="0"/>
              <a:t>= $17M/year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b="1" u="sng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Electricity</a:t>
            </a:r>
            <a:r>
              <a:rPr lang="en-US" sz="2000" dirty="0"/>
              <a:t> = $470M/year</a:t>
            </a:r>
          </a:p>
          <a:p>
            <a:pPr marL="0" indent="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lang="en-US" sz="2000" dirty="0"/>
          </a:p>
          <a:p>
            <a:pPr marL="0" indent="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000" dirty="0"/>
              <a:t>Total Operating Costs </a:t>
            </a:r>
            <a:r>
              <a:rPr lang="en-US" sz="2000" b="1" dirty="0"/>
              <a:t>=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$755M / year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2000" dirty="0"/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9994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Revenue Estimates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31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64;p17">
            <a:extLst>
              <a:ext uri="{FF2B5EF4-FFF2-40B4-BE49-F238E27FC236}">
                <a16:creationId xmlns:a16="http://schemas.microsoft.com/office/drawing/2014/main" id="{5B1A4EF1-F1EA-4E42-AB4D-9A38BFE15CCA}"/>
              </a:ext>
            </a:extLst>
          </p:cNvPr>
          <p:cNvSpPr txBox="1">
            <a:spLocks/>
          </p:cNvSpPr>
          <p:nvPr/>
        </p:nvSpPr>
        <p:spPr>
          <a:xfrm>
            <a:off x="1297500" y="1106500"/>
            <a:ext cx="8095940" cy="372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Revenue from Hydrogen: </a:t>
            </a:r>
            <a:r>
              <a:rPr lang="en-US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$18MM/year</a:t>
            </a:r>
          </a:p>
          <a:p>
            <a:pPr marL="1200150" lvl="2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Current price of hydrogen in Germany: $11-$13/kg </a:t>
            </a:r>
            <a:r>
              <a:rPr lang="en-US" sz="1800" baseline="30000" dirty="0"/>
              <a:t>[3]</a:t>
            </a:r>
          </a:p>
          <a:p>
            <a:pPr marL="1657350" lvl="3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≈ $65-$75/barrel</a:t>
            </a:r>
          </a:p>
          <a:p>
            <a:pPr marL="1200150" lvl="2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Producing 150,000 kg/year ≈ 260,000 barrels/year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Process Recovery Revenue:</a:t>
            </a:r>
          </a:p>
          <a:p>
            <a:pPr marL="1200150" lvl="2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HP steam from BFW: </a:t>
            </a:r>
            <a:r>
              <a:rPr lang="en-US" sz="18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$211M</a:t>
            </a: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2000" dirty="0"/>
              <a:t>Germany’s 2030 Climate Action Package</a:t>
            </a:r>
            <a:endParaRPr lang="en-US" sz="2000" dirty="0">
              <a:highlight>
                <a:srgbClr val="0000FF"/>
              </a:highlight>
            </a:endParaRPr>
          </a:p>
          <a:p>
            <a:pPr marL="1200150" lvl="2" indent="-285750">
              <a:lnSpc>
                <a:spcPct val="0"/>
              </a:lnSpc>
              <a:spcAft>
                <a:spcPts val="1600"/>
              </a:spcAft>
            </a:pPr>
            <a:r>
              <a:rPr lang="en-US" sz="1800" dirty="0"/>
              <a:t>Germany National Hydrogen Strategy </a:t>
            </a:r>
            <a:r>
              <a:rPr lang="en-US" sz="1800" baseline="30000" dirty="0"/>
              <a:t>[4]</a:t>
            </a:r>
            <a:r>
              <a:rPr lang="en-US" sz="1800" dirty="0"/>
              <a:t> : </a:t>
            </a:r>
            <a:r>
              <a:rPr lang="en-US" sz="18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$335M</a:t>
            </a:r>
            <a:endParaRPr lang="en-US" sz="20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000" dirty="0"/>
              <a:t>Total Revenue =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$18.6MM/year</a:t>
            </a:r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285750" indent="-285750">
              <a:lnSpc>
                <a:spcPct val="0"/>
              </a:lnSpc>
              <a:spcBef>
                <a:spcPts val="1600"/>
              </a:spcBef>
              <a:spcAft>
                <a:spcPts val="1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02484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 Cost of Production (VCOP)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433558" y="1033550"/>
            <a:ext cx="7038900" cy="37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US" sz="1800" b="1" u="sng" dirty="0"/>
              <a:t>Raw materials: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en-US" sz="1800" dirty="0"/>
              <a:t>	-Pipeline gas: $680M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en-US" sz="1800" dirty="0"/>
              <a:t>	-Untreated water: $16M</a:t>
            </a:r>
          </a:p>
          <a:p>
            <a:pPr marL="285750" indent="-285750">
              <a:lnSpc>
                <a:spcPct val="114999"/>
              </a:lnSpc>
            </a:pPr>
            <a:r>
              <a:rPr lang="en-US" sz="1800" b="1" u="sng" dirty="0"/>
              <a:t>Utilities: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en-US" sz="1800" dirty="0"/>
              <a:t>	- $755M / year</a:t>
            </a:r>
          </a:p>
          <a:p>
            <a:pPr marL="285750" indent="-285750">
              <a:lnSpc>
                <a:spcPct val="114999"/>
              </a:lnSpc>
            </a:pPr>
            <a:r>
              <a:rPr lang="en-US" sz="1800" b="1" u="sng" dirty="0"/>
              <a:t>Consumables: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en-US" sz="1800" dirty="0"/>
              <a:t> 	-Initial fill costs (catalyst, packing, MEA): $1.14MM</a:t>
            </a:r>
          </a:p>
          <a:p>
            <a:pPr marL="285750" indent="-285750">
              <a:lnSpc>
                <a:spcPct val="114999"/>
              </a:lnSpc>
            </a:pPr>
            <a:r>
              <a:rPr lang="en-US" sz="1800" b="1" u="sng" dirty="0"/>
              <a:t>Effluent disposal:</a:t>
            </a:r>
          </a:p>
          <a:p>
            <a:pPr marL="0" indent="0">
              <a:lnSpc>
                <a:spcPct val="114999"/>
              </a:lnSpc>
              <a:buNone/>
            </a:pPr>
            <a:r>
              <a:rPr lang="en-US" sz="1800" dirty="0"/>
              <a:t>	-CO2 Credits = $47M/year</a:t>
            </a:r>
          </a:p>
          <a:p>
            <a:pPr marL="0" indent="0">
              <a:lnSpc>
                <a:spcPct val="114999"/>
              </a:lnSpc>
              <a:buNone/>
            </a:pPr>
            <a:endParaRPr lang="en-US" sz="1800" dirty="0">
              <a:highlight>
                <a:srgbClr val="0000FF"/>
              </a:highlight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US" sz="1800" dirty="0"/>
              <a:t>Total VCOP = </a:t>
            </a:r>
            <a:r>
              <a:rPr 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$2.64MM/year</a:t>
            </a:r>
            <a:endParaRPr lang="en-US" sz="18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1800" dirty="0">
              <a:highlight>
                <a:srgbClr val="0000FF"/>
              </a:highlight>
            </a:endParaRP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endParaRPr lang="en-US" sz="1800" dirty="0"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32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21780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 Cost of Production (VCOP)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33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4ED1C5F-A184-4D32-B607-1FD9E05015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881470"/>
              </p:ext>
            </p:extLst>
          </p:nvPr>
        </p:nvGraphicFramePr>
        <p:xfrm>
          <a:off x="1563150" y="1290867"/>
          <a:ext cx="6507600" cy="344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7865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Raw Materials Cost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34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6E9866E-27C9-443A-9C17-09C1940A55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52186"/>
              </p:ext>
            </p:extLst>
          </p:nvPr>
        </p:nvGraphicFramePr>
        <p:xfrm>
          <a:off x="1828800" y="97155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0366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Fixed Cost of Production (FCOP)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35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DAF64-A4A4-477C-B786-39DE7D102199}"/>
              </a:ext>
            </a:extLst>
          </p:cNvPr>
          <p:cNvSpPr txBox="1"/>
          <p:nvPr/>
        </p:nvSpPr>
        <p:spPr>
          <a:xfrm>
            <a:off x="5281099" y="1242282"/>
            <a:ext cx="336915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-</a:t>
            </a:r>
            <a:r>
              <a:rPr lang="en-US" sz="1800" b="1" u="sng" dirty="0">
                <a:solidFill>
                  <a:schemeClr val="bg1"/>
                </a:solidFill>
                <a:latin typeface="Lato" panose="020B0604020202020204" charset="0"/>
              </a:rPr>
              <a:t>Labor</a:t>
            </a:r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 includes salaries of employees and managers.</a:t>
            </a:r>
          </a:p>
          <a:p>
            <a:pPr marL="285750" indent="-285750">
              <a:buChar char="•"/>
            </a:pPr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-</a:t>
            </a:r>
            <a:r>
              <a:rPr lang="en-US" sz="1800" b="1" u="sng" dirty="0">
                <a:solidFill>
                  <a:schemeClr val="bg1"/>
                </a:solidFill>
                <a:latin typeface="Lato" panose="020B0604020202020204" charset="0"/>
              </a:rPr>
              <a:t>Maintenance</a:t>
            </a:r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 is average, expected plant maintenance</a:t>
            </a:r>
          </a:p>
          <a:p>
            <a:pPr marL="285750" indent="-285750">
              <a:buChar char="•"/>
            </a:pPr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-</a:t>
            </a:r>
            <a:r>
              <a:rPr lang="en-US" sz="1800" b="1" u="sng" dirty="0">
                <a:solidFill>
                  <a:schemeClr val="bg1"/>
                </a:solidFill>
                <a:latin typeface="Lato" panose="020B0604020202020204" charset="0"/>
              </a:rPr>
              <a:t>Overhead</a:t>
            </a:r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 are the costs associated with insurance, additional maintenance costs, and maintaining compliance.</a:t>
            </a:r>
          </a:p>
        </p:txBody>
      </p:sp>
      <p:pic>
        <p:nvPicPr>
          <p:cNvPr id="9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42E2B48-0E4B-4140-B1AA-916942007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84" y="1644112"/>
            <a:ext cx="4224660" cy="27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666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 Present Value (NPV) [7-Year MACRS]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36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714B9-A640-48BE-8E07-25B29EDA6792}"/>
              </a:ext>
            </a:extLst>
          </p:cNvPr>
          <p:cNvSpPr txBox="1"/>
          <p:nvPr/>
        </p:nvSpPr>
        <p:spPr>
          <a:xfrm>
            <a:off x="369420" y="1469276"/>
            <a:ext cx="81030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to" panose="020B0604020202020204" charset="0"/>
              </a:rPr>
              <a:t>NPV	10 Years : $-4.07MM</a:t>
            </a:r>
          </a:p>
          <a:p>
            <a:r>
              <a:rPr lang="en-US" sz="2000" dirty="0">
                <a:solidFill>
                  <a:schemeClr val="bg1"/>
                </a:solidFill>
                <a:latin typeface="Lato" panose="020B0604020202020204" charset="0"/>
              </a:rPr>
              <a:t>	20 Years : $6.46MM	</a:t>
            </a:r>
          </a:p>
          <a:p>
            <a:endParaRPr lang="en-US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Lato" panose="020B0604020202020204" charset="0"/>
              </a:rPr>
              <a:t>*Tax rate assumed 35%</a:t>
            </a:r>
            <a:r>
              <a:rPr lang="en-US" dirty="0">
                <a:solidFill>
                  <a:schemeClr val="bg1"/>
                </a:solidFill>
                <a:latin typeface="Lato" panose="020B0604020202020204" charset="0"/>
              </a:rPr>
              <a:t>	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0CAF6B-134F-4A61-A9D9-7CE6BBAEB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24759"/>
            <a:ext cx="86868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83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 Present Value (NPV) [5-Year MACRS]</a:t>
            </a:r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37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714B9-A640-48BE-8E07-25B29EDA6792}"/>
              </a:ext>
            </a:extLst>
          </p:cNvPr>
          <p:cNvSpPr txBox="1"/>
          <p:nvPr/>
        </p:nvSpPr>
        <p:spPr>
          <a:xfrm>
            <a:off x="369420" y="1469276"/>
            <a:ext cx="81030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to" panose="020B0604020202020204" charset="0"/>
              </a:rPr>
              <a:t>NPV	10 Years : $-3.28MM</a:t>
            </a:r>
          </a:p>
          <a:p>
            <a:r>
              <a:rPr lang="en-US" sz="2000" dirty="0">
                <a:solidFill>
                  <a:schemeClr val="bg1"/>
                </a:solidFill>
                <a:latin typeface="Lato" panose="020B0604020202020204" charset="0"/>
              </a:rPr>
              <a:t>	20 Years : $7.25MM	</a:t>
            </a:r>
          </a:p>
          <a:p>
            <a:endParaRPr lang="en-US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Lato" panose="020B0604020202020204" charset="0"/>
              </a:rPr>
              <a:t>*Tax rate assumed 35%</a:t>
            </a:r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37DB321-CAF5-44A3-B6A0-831253013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917256"/>
              </p:ext>
            </p:extLst>
          </p:nvPr>
        </p:nvGraphicFramePr>
        <p:xfrm>
          <a:off x="233362" y="2729822"/>
          <a:ext cx="8677275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4" imgW="8677231" imgH="2019557" progId="Excel.Sheet.12">
                  <p:embed/>
                </p:oleObj>
              </mc:Choice>
              <mc:Fallback>
                <p:oleObj name="Worksheet" r:id="rId4" imgW="8677231" imgH="2019557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37DB321-CAF5-44A3-B6A0-8312530134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362" y="2729822"/>
                        <a:ext cx="8677275" cy="201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2507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Sensitivity Analysis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4BAA0B-54DC-4CFC-A832-56E48306D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00" y="1307850"/>
            <a:ext cx="5963069" cy="3137034"/>
          </a:xfrm>
          <a:prstGeom prst="rect">
            <a:avLst/>
          </a:prstGeom>
        </p:spPr>
      </p:pic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38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75466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4318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Economic Summary</a:t>
            </a:r>
            <a:endParaRPr dirty="0"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297500" y="1345949"/>
            <a:ext cx="7038900" cy="3317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000" dirty="0"/>
              <a:t>Total Capital Cost: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$55MM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/>
              <a:t>Total Operating Cost: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$755M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/>
              <a:t>Total Revenues: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$18.6MM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/>
              <a:t>NPV after 20 years: </a:t>
            </a:r>
            <a:r>
              <a:rPr lang="en-US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$7.25MM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39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49064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4318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Work</a:t>
            </a:r>
            <a:endParaRPr dirty="0"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297500" y="1345949"/>
            <a:ext cx="7038900" cy="3317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u="sng" dirty="0"/>
              <a:t>Improve Economics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 Produce larger quantity of hydrogen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	- Supply other markets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		-Ammonia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 Pay Cash for capital costs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	- Avoids interest on equipment costs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 Consider alternatives to hydrogen storage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	- Underground storage</a:t>
            </a:r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01536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4318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297500" y="1473467"/>
            <a:ext cx="7038900" cy="3386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00000"/>
              </a:lnSpc>
            </a:pPr>
            <a:r>
              <a:rPr lang="en-US" sz="2000" dirty="0"/>
              <a:t>More in-depth market analysis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	-Determine if there is an opportunity to increase 	 	  the amount of hydrogen produced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342900" indent="-342900">
              <a:lnSpc>
                <a:spcPct val="100000"/>
              </a:lnSpc>
            </a:pPr>
            <a:r>
              <a:rPr lang="en-US" sz="2000" dirty="0"/>
              <a:t>Improving the carbon capture process in order to increase credits from government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342900" indent="-342900">
              <a:lnSpc>
                <a:spcPct val="100000"/>
              </a:lnSpc>
            </a:pPr>
            <a:r>
              <a:rPr lang="en-US" sz="2000" dirty="0"/>
              <a:t>Look to sell our carbon dioxide to another process company looking to make methanol from it</a:t>
            </a:r>
            <a:endParaRPr lang="en-US" dirty="0"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41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91294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[1]  </a:t>
            </a:r>
            <a:r>
              <a:rPr lang="en-US">
                <a:hlinkClick r:id="rId3"/>
              </a:rPr>
              <a:t>https://ec.europa.eu/energy/intelligent/projects/sites/iee-projects/files/projects/documents/redubar_a_register_of_all_gas_regulations.pdf</a:t>
            </a:r>
            <a:r>
              <a:rPr lang="en-US"/>
              <a:t>.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[2]</a:t>
            </a:r>
            <a:r>
              <a:rPr lang="en-US">
                <a:hlinkClick r:id="rId4"/>
              </a:rPr>
              <a:t> https://eur-lex.europa.eu/legal-content/EN/TXT/?uri=CELEX:32010L0075</a:t>
            </a: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[3] </a:t>
            </a:r>
            <a:r>
              <a:rPr lang="en-US">
                <a:hlinkClick r:id="rId5"/>
              </a:rPr>
              <a:t>https://www.reuters.com/article/us-energy-eworld/germanys-ewe-to-test-supplying-hydrogen-for-transport-industry-idUSKBN2041X8</a:t>
            </a: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[4]</a:t>
            </a:r>
            <a:r>
              <a:rPr lang="en-US">
                <a:hlinkClick r:id="rId6"/>
              </a:rPr>
              <a:t> https://www.rechargenews.com/transition/minister-germany-should-start-world-s-first-green-hydrogen-tender-next-year/2-1-758073</a:t>
            </a:r>
            <a:endParaRPr lang="en-US"/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42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79937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 for Safety Analysis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[5]  </a:t>
            </a:r>
            <a:r>
              <a:rPr lang="en-US">
                <a:hlinkClick r:id="rId3"/>
              </a:rPr>
              <a:t>https://www.airgas.com/msds/001013.pdf </a:t>
            </a:r>
            <a:r>
              <a:rPr lang="en-US"/>
              <a:t> (CO</a:t>
            </a:r>
            <a:r>
              <a:rPr lang="en-US" baseline="-25000"/>
              <a:t>2</a:t>
            </a:r>
            <a:r>
              <a:rPr lang="en-US"/>
              <a:t>)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[6]</a:t>
            </a:r>
            <a:r>
              <a:rPr lang="en-US">
                <a:hlinkClick r:id="rId4"/>
              </a:rPr>
              <a:t> </a:t>
            </a:r>
            <a:r>
              <a:rPr lang="en-US">
                <a:hlinkClick r:id="rId5"/>
              </a:rPr>
              <a:t>https://www.airgas.com/msds/001014.pdf</a:t>
            </a:r>
            <a:r>
              <a:rPr lang="en-US"/>
              <a:t> (CO)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[7] </a:t>
            </a:r>
            <a:r>
              <a:rPr lang="en-US">
                <a:hlinkClick r:id="rId6"/>
              </a:rPr>
              <a:t>https://www.airgas.com/msds/001039.pdf</a:t>
            </a:r>
            <a:r>
              <a:rPr lang="en-US"/>
              <a:t> (NO)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[8]</a:t>
            </a:r>
            <a:r>
              <a:rPr lang="en-US">
                <a:hlinkClick r:id="rId7"/>
              </a:rPr>
              <a:t> </a:t>
            </a:r>
            <a:r>
              <a:rPr lang="en-US">
                <a:hlinkClick r:id="rId8"/>
              </a:rPr>
              <a:t>https://www.airgas.com/msds/001041.pdf</a:t>
            </a:r>
            <a:r>
              <a:rPr lang="en-US"/>
              <a:t> (NO</a:t>
            </a:r>
            <a:r>
              <a:rPr lang="en-US" baseline="-25000">
                <a:solidFill>
                  <a:srgbClr val="FFFFFF"/>
                </a:solidFill>
              </a:rPr>
              <a:t>2</a:t>
            </a:r>
            <a:r>
              <a:rPr lang="en-US">
                <a:solidFill>
                  <a:srgbClr val="FFFFFF"/>
                </a:solidFill>
              </a:rPr>
              <a:t>)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>
                <a:solidFill>
                  <a:srgbClr val="FFFFFF"/>
                </a:solidFill>
              </a:rPr>
              <a:t>[9] </a:t>
            </a:r>
            <a:r>
              <a:rPr lang="en-US">
                <a:hlinkClick r:id="rId9"/>
              </a:rPr>
              <a:t>https://www.airgas.com/msds/001029.pdf</a:t>
            </a:r>
            <a:r>
              <a:rPr lang="en-US"/>
              <a:t> (H</a:t>
            </a:r>
            <a:r>
              <a:rPr lang="en-US" baseline="-25000">
                <a:solidFill>
                  <a:srgbClr val="FFFFFF"/>
                </a:solidFill>
              </a:rPr>
              <a:t>2</a:t>
            </a:r>
            <a:r>
              <a:rPr lang="en-US">
                <a:solidFill>
                  <a:srgbClr val="FFFFFF"/>
                </a:solidFill>
              </a:rPr>
              <a:t>S)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>
                <a:solidFill>
                  <a:srgbClr val="FFFFFF"/>
                </a:solidFill>
              </a:rPr>
              <a:t>[10]</a:t>
            </a:r>
            <a:r>
              <a:rPr lang="en-US">
                <a:hlinkClick r:id="rId10"/>
              </a:rPr>
              <a:t>http://msdssearch.dow.com/PublishedLiteratureDOWCOM/dh_0044/0901b80380044789.pdf?filepath=amines/pdfs/noreg/111-01388.pdf&amp;fromPage=GetDoc</a:t>
            </a:r>
            <a:r>
              <a:rPr lang="en-US"/>
              <a:t> (MEA)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43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2F7F4E4-E94F-48BE-8051-3183D5FF44E0}"/>
              </a:ext>
            </a:extLst>
          </p:cNvPr>
          <p:cNvSpPr txBox="1"/>
          <p:nvPr/>
        </p:nvSpPr>
        <p:spPr>
          <a:xfrm>
            <a:off x="1249218" y="4374188"/>
            <a:ext cx="5675745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[15] 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https://cleanroom.byu.edu/NFPA</a:t>
            </a:r>
          </a:p>
        </p:txBody>
      </p:sp>
    </p:spTree>
    <p:extLst>
      <p:ext uri="{BB962C8B-B14F-4D97-AF65-F5344CB8AC3E}">
        <p14:creationId xmlns:p14="http://schemas.microsoft.com/office/powerpoint/2010/main" val="1400950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 for Pictures</a:t>
            </a: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1"/>
          </p:nvPr>
        </p:nvSpPr>
        <p:spPr>
          <a:xfrm>
            <a:off x="914400" y="1567550"/>
            <a:ext cx="7558058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/>
              <a:t>[11] </a:t>
            </a:r>
            <a:r>
              <a:rPr lang="en-US">
                <a:hlinkClick r:id="rId3"/>
              </a:rPr>
              <a:t>https://www.chemicalproductsokc.com/sulfurtrap-h2s-removal-gas/</a:t>
            </a: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>
                <a:solidFill>
                  <a:srgbClr val="FFFFFF"/>
                </a:solidFill>
              </a:rPr>
              <a:t>[12] </a:t>
            </a:r>
            <a:r>
              <a:rPr lang="en-US">
                <a:hlinkClick r:id="rId4"/>
              </a:rPr>
              <a:t>https://en.wikipedia.org/wiki/European_Commission#/media/File:European_Commission.svg</a:t>
            </a:r>
            <a:endParaRPr lang="en-US"/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en-US">
                <a:solidFill>
                  <a:srgbClr val="FFFFFF"/>
                </a:solidFill>
              </a:rPr>
              <a:t>[13] </a:t>
            </a:r>
            <a:r>
              <a:rPr lang="en-US">
                <a:solidFill>
                  <a:srgbClr val="FFFFFF"/>
                </a:solidFill>
                <a:hlinkClick r:id="rId5"/>
              </a:rPr>
              <a:t>https://www.tenaris.com/en/products-and-services/industrial-and-mechanical/gas-cylinders-and-large-vessels</a:t>
            </a:r>
            <a:endParaRPr lang="en-US">
              <a:solidFill>
                <a:srgbClr val="FFFFFF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11" name="Google Shape;3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44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009456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334A-073E-47AF-88A9-57A8C4DCE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1892847"/>
            <a:ext cx="7038900" cy="1357806"/>
          </a:xfrm>
        </p:spPr>
        <p:txBody>
          <a:bodyPr/>
          <a:lstStyle/>
          <a:p>
            <a:pPr algn="ctr"/>
            <a:r>
              <a:rPr lang="en-US" sz="700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6EA02-AD49-4FE1-AD1C-D04A80A24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26492796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46CA6BBBE1444BA6B059B16F9EC96A" ma:contentTypeVersion="7" ma:contentTypeDescription="Create a new document." ma:contentTypeScope="" ma:versionID="5babfd30105d5f4f211e544a70950b03">
  <xsd:schema xmlns:xsd="http://www.w3.org/2001/XMLSchema" xmlns:xs="http://www.w3.org/2001/XMLSchema" xmlns:p="http://schemas.microsoft.com/office/2006/metadata/properties" xmlns:ns3="1223466b-e5b9-41a4-bdad-c76b591a64fc" xmlns:ns4="4ecdb1f9-773b-49d4-89a2-3525c902a7c9" targetNamespace="http://schemas.microsoft.com/office/2006/metadata/properties" ma:root="true" ma:fieldsID="a5b52a756172fa8aefd09d26f9e7d08d" ns3:_="" ns4:_="">
    <xsd:import namespace="1223466b-e5b9-41a4-bdad-c76b591a64fc"/>
    <xsd:import namespace="4ecdb1f9-773b-49d4-89a2-3525c902a7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3466b-e5b9-41a4-bdad-c76b591a64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cdb1f9-773b-49d4-89a2-3525c902a7c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7E0D1D-21B9-411D-9904-C68603D2C916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4ecdb1f9-773b-49d4-89a2-3525c902a7c9"/>
    <ds:schemaRef ds:uri="1223466b-e5b9-41a4-bdad-c76b591a64fc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D6BB45D-DA9C-437B-A486-EC2E047A7D2E}">
  <ds:schemaRefs>
    <ds:schemaRef ds:uri="1223466b-e5b9-41a4-bdad-c76b591a64fc"/>
    <ds:schemaRef ds:uri="4ecdb1f9-773b-49d4-89a2-3525c902a7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2196E68-9A71-4925-A9E1-4A3A2820EB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1811</Words>
  <Application>Microsoft Office PowerPoint</Application>
  <PresentationFormat>On-screen Show (16:9)</PresentationFormat>
  <Paragraphs>390</Paragraphs>
  <Slides>45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Lato</vt:lpstr>
      <vt:lpstr>Arial</vt:lpstr>
      <vt:lpstr>Montserrat</vt:lpstr>
      <vt:lpstr>Focus</vt:lpstr>
      <vt:lpstr>Worksheet</vt:lpstr>
      <vt:lpstr>Hydrogen Production from Methane</vt:lpstr>
      <vt:lpstr>Topics Covered </vt:lpstr>
      <vt:lpstr>Topics Covered </vt:lpstr>
      <vt:lpstr>Brief Overview </vt:lpstr>
      <vt:lpstr>Overall Process Outline: BFD</vt:lpstr>
      <vt:lpstr>Final Feed and Product Streams </vt:lpstr>
      <vt:lpstr>Previous Concerns </vt:lpstr>
      <vt:lpstr>Previous Concerns: General </vt:lpstr>
      <vt:lpstr>Added Equipment</vt:lpstr>
      <vt:lpstr>Updated Equipment: SMR and WGS</vt:lpstr>
      <vt:lpstr>Updated Process Features: Natural Gas Sweetening/DESULF Hierarchy</vt:lpstr>
      <vt:lpstr>Added Equipment</vt:lpstr>
      <vt:lpstr>PowerPoint Presentation</vt:lpstr>
      <vt:lpstr>Previous Concerns: Storage</vt:lpstr>
      <vt:lpstr>Process Controls </vt:lpstr>
      <vt:lpstr>Process Controls (General)</vt:lpstr>
      <vt:lpstr>Detailed Process Control: Primary Reformer</vt:lpstr>
      <vt:lpstr>HAZOP</vt:lpstr>
      <vt:lpstr>Environmental and Safety Concerns </vt:lpstr>
      <vt:lpstr>Environmental Analysis </vt:lpstr>
      <vt:lpstr>Environmental Analysis </vt:lpstr>
      <vt:lpstr>Safety Analysis [5] - [10] </vt:lpstr>
      <vt:lpstr>Process Safety Concerns </vt:lpstr>
      <vt:lpstr>Process Safety Concerns </vt:lpstr>
      <vt:lpstr>Economic Analysis </vt:lpstr>
      <vt:lpstr>Capital Cost Estimates</vt:lpstr>
      <vt:lpstr>ISBL Cost Analysis</vt:lpstr>
      <vt:lpstr>ISBL Cost Analysis</vt:lpstr>
      <vt:lpstr>Operating Cost Estimates</vt:lpstr>
      <vt:lpstr>Operating Cost Estimates</vt:lpstr>
      <vt:lpstr>Revenue Estimates</vt:lpstr>
      <vt:lpstr>Variable Cost of Production (VCOP)</vt:lpstr>
      <vt:lpstr>Variable Cost of Production (VCOP)</vt:lpstr>
      <vt:lpstr>Raw Materials Cost</vt:lpstr>
      <vt:lpstr>Fixed Cost of Production (FCOP)</vt:lpstr>
      <vt:lpstr>Net Present Value (NPV) [7-Year MACRS]</vt:lpstr>
      <vt:lpstr>Net Present Value (NPV) [5-Year MACRS]</vt:lpstr>
      <vt:lpstr>Sensitivity Analysis</vt:lpstr>
      <vt:lpstr>Economic Summary</vt:lpstr>
      <vt:lpstr>Future Work</vt:lpstr>
      <vt:lpstr>Future Work</vt:lpstr>
      <vt:lpstr>References</vt:lpstr>
      <vt:lpstr>References for Safety Analysis</vt:lpstr>
      <vt:lpstr>References for Pictures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Hydrogen Production from Methane</dc:title>
  <dc:creator>Admin</dc:creator>
  <cp:lastModifiedBy>Courteney Fabbri</cp:lastModifiedBy>
  <cp:revision>1</cp:revision>
  <dcterms:modified xsi:type="dcterms:W3CDTF">2020-03-31T18:19:10Z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0x010100FD46CA6BBBE1444BA6B059B16F9EC96A</vt:lpwstr>
  </property>
</Properties>
</file>