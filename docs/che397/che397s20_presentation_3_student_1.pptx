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1.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Lst>
  <p:notesMasterIdLst>
    <p:notesMasterId r:id="rId36"/>
  </p:notesMasterIdLst>
  <p:handoutMasterIdLst>
    <p:handoutMasterId r:id="rId37"/>
  </p:handout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7" r:id="rId20"/>
    <p:sldId id="291" r:id="rId21"/>
    <p:sldId id="292" r:id="rId22"/>
    <p:sldId id="293" r:id="rId23"/>
    <p:sldId id="295" r:id="rId24"/>
    <p:sldId id="294" r:id="rId25"/>
    <p:sldId id="296" r:id="rId26"/>
    <p:sldId id="300" r:id="rId27"/>
    <p:sldId id="302" r:id="rId28"/>
    <p:sldId id="298" r:id="rId29"/>
    <p:sldId id="303" r:id="rId30"/>
    <p:sldId id="304" r:id="rId31"/>
    <p:sldId id="301" r:id="rId32"/>
    <p:sldId id="299" r:id="rId33"/>
    <p:sldId id="305" r:id="rId34"/>
    <p:sldId id="25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868D404-CB77-47A4-A551-F9B501DB1C23}">
          <p14:sldIdLst>
            <p14:sldId id="256"/>
            <p14:sldId id="277"/>
            <p14:sldId id="278"/>
            <p14:sldId id="279"/>
            <p14:sldId id="280"/>
            <p14:sldId id="281"/>
            <p14:sldId id="282"/>
            <p14:sldId id="283"/>
            <p14:sldId id="284"/>
            <p14:sldId id="285"/>
            <p14:sldId id="286"/>
            <p14:sldId id="287"/>
            <p14:sldId id="288"/>
            <p14:sldId id="289"/>
            <p14:sldId id="290"/>
            <p14:sldId id="297"/>
            <p14:sldId id="291"/>
            <p14:sldId id="292"/>
            <p14:sldId id="293"/>
            <p14:sldId id="295"/>
            <p14:sldId id="294"/>
            <p14:sldId id="296"/>
            <p14:sldId id="300"/>
            <p14:sldId id="302"/>
            <p14:sldId id="298"/>
            <p14:sldId id="303"/>
            <p14:sldId id="304"/>
            <p14:sldId id="301"/>
            <p14:sldId id="299"/>
            <p14:sldId id="305"/>
            <p14:sldId id="25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9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6F9FCF-8919-400D-BCAD-1B389327B881}" v="317" dt="2020-03-31T02:22:45.293"/>
    <p1510:client id="{3923590E-A4D2-AC8C-7B89-673C66C74E2E}" v="12" dt="2020-03-31T00:28:47.863"/>
    <p1510:client id="{78A98F10-1798-4525-9A0B-2549BF812E67}" v="2142" dt="2020-03-31T16:07:35.806"/>
    <p1510:client id="{7C02DBAE-F28F-41B9-8DDA-C0D0D7176DA3}" v="7" dt="2020-03-31T18:03:48.9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60"/>
  </p:normalViewPr>
  <p:slideViewPr>
    <p:cSldViewPr snapToGrid="0">
      <p:cViewPr varScale="1">
        <p:scale>
          <a:sx n="81" d="100"/>
          <a:sy n="81" d="100"/>
        </p:scale>
        <p:origin x="725" y="6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file:///C:\Users\WLR\Desktop\DesignCost.xlsm" TargetMode="Externa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2086610412827166"/>
          <c:y val="0.24020167371258896"/>
          <c:w val="0.34413549364793544"/>
          <c:h val="0.75926699220512239"/>
        </c:manualLayout>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008-4882-AD80-7F7FE7A3664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008-4882-AD80-7F7FE7A36647}"/>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008-4882-AD80-7F7FE7A3664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9008-4882-AD80-7F7FE7A36647}"/>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1-2B33-479D-87F2-D21BF5216F06}"/>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2-2B33-479D-87F2-D21BF5216F06}"/>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Feed/Reactor</c:v>
                </c:pt>
                <c:pt idx="1">
                  <c:v>Methanol/Water Tower</c:v>
                </c:pt>
                <c:pt idx="2">
                  <c:v>Benzene Tower</c:v>
                </c:pt>
                <c:pt idx="3">
                  <c:v>Toluene Tower</c:v>
                </c:pt>
                <c:pt idx="4">
                  <c:v>Reactive Distillation Tower</c:v>
                </c:pt>
                <c:pt idx="5">
                  <c:v>PX Product Tower</c:v>
                </c:pt>
              </c:strCache>
            </c:strRef>
          </c:cat>
          <c:val>
            <c:numRef>
              <c:f>Sheet1!$B$2:$B$7</c:f>
              <c:numCache>
                <c:formatCode>0.00%</c:formatCode>
                <c:ptCount val="6"/>
                <c:pt idx="0">
                  <c:v>8.4681212679302773E-2</c:v>
                </c:pt>
                <c:pt idx="1">
                  <c:v>0.10176808801502917</c:v>
                </c:pt>
                <c:pt idx="2">
                  <c:v>0.3257789563136459</c:v>
                </c:pt>
                <c:pt idx="3">
                  <c:v>0.19478526299634219</c:v>
                </c:pt>
                <c:pt idx="4">
                  <c:v>0.15962529380501295</c:v>
                </c:pt>
                <c:pt idx="5">
                  <c:v>0.13336118619066703</c:v>
                </c:pt>
              </c:numCache>
            </c:numRef>
          </c:val>
          <c:extLst>
            <c:ext xmlns:c16="http://schemas.microsoft.com/office/drawing/2014/chart" uri="{C3380CC4-5D6E-409C-BE32-E72D297353CC}">
              <c16:uniqueId val="{00000000-2B33-479D-87F2-D21BF5216F06}"/>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4.5289212330640823E-2"/>
          <c:y val="0.16654735348774691"/>
          <c:w val="0.89999998145355531"/>
          <c:h val="5.134606339140907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50" baseline="0">
                <a:solidFill>
                  <a:schemeClr val="tx1">
                    <a:lumMod val="65000"/>
                    <a:lumOff val="35000"/>
                  </a:schemeClr>
                </a:solidFill>
                <a:latin typeface="+mn-lt"/>
                <a:ea typeface="+mn-ea"/>
                <a:cs typeface="+mn-cs"/>
              </a:defRPr>
            </a:pPr>
            <a:r>
              <a:rPr lang="en-US" sz="2800" dirty="0"/>
              <a:t>Distribution of VCOP</a:t>
            </a:r>
          </a:p>
        </c:rich>
      </c:tx>
      <c:overlay val="0"/>
      <c:spPr>
        <a:noFill/>
        <a:ln>
          <a:noFill/>
        </a:ln>
        <a:effectLst/>
      </c:spPr>
      <c:txPr>
        <a:bodyPr rot="0" spcFirstLastPara="1" vertOverflow="ellipsis" vert="horz" wrap="square" anchor="ctr" anchorCtr="1"/>
        <a:lstStyle/>
        <a:p>
          <a:pPr>
            <a:defRPr sz="2200"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9669247856535766E-2"/>
          <c:y val="8.6223073581512003E-2"/>
          <c:w val="0.89832090091326355"/>
          <c:h val="0.80713907637680371"/>
        </c:manualLayout>
      </c:layout>
      <c:barChart>
        <c:barDir val="col"/>
        <c:grouping val="stacked"/>
        <c:varyColors val="0"/>
        <c:ser>
          <c:idx val="0"/>
          <c:order val="0"/>
          <c:tx>
            <c:strRef>
              <c:f>Sheet1!$B$1</c:f>
              <c:strCache>
                <c:ptCount val="1"/>
                <c:pt idx="0">
                  <c:v>$MM/yr</c:v>
                </c:pt>
              </c:strCache>
            </c:strRef>
          </c:tx>
          <c:spPr>
            <a:solidFill>
              <a:schemeClr val="accent1">
                <a:alpha val="70000"/>
              </a:schemeClr>
            </a:solidFill>
            <a:ln>
              <a:noFill/>
            </a:ln>
            <a:effectLst/>
          </c:spPr>
          <c:invertIfNegative val="0"/>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DA3-45E0-84DC-7AC2115DD844}"/>
                </c:ext>
              </c:extLst>
            </c:dLbl>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DA3-45E0-84DC-7AC2115DD844}"/>
                </c:ext>
              </c:extLst>
            </c:dLbl>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DA3-45E0-84DC-7AC2115DD84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By-Products</c:v>
                </c:pt>
                <c:pt idx="1">
                  <c:v>Total Raw Materials</c:v>
                </c:pt>
                <c:pt idx="2">
                  <c:v>Consumables </c:v>
                </c:pt>
                <c:pt idx="3">
                  <c:v>Utilities</c:v>
                </c:pt>
              </c:strCache>
            </c:strRef>
          </c:cat>
          <c:val>
            <c:numRef>
              <c:f>Sheet1!$B$2:$B$5</c:f>
              <c:numCache>
                <c:formatCode>General</c:formatCode>
                <c:ptCount val="4"/>
                <c:pt idx="0">
                  <c:v>42.13</c:v>
                </c:pt>
                <c:pt idx="1">
                  <c:v>2019.68</c:v>
                </c:pt>
                <c:pt idx="2">
                  <c:v>2.58</c:v>
                </c:pt>
                <c:pt idx="3">
                  <c:v>2057.09</c:v>
                </c:pt>
              </c:numCache>
            </c:numRef>
          </c:val>
          <c:extLst>
            <c:ext xmlns:c16="http://schemas.microsoft.com/office/drawing/2014/chart" uri="{C3380CC4-5D6E-409C-BE32-E72D297353CC}">
              <c16:uniqueId val="{00000000-4DA3-45E0-84DC-7AC2115DD844}"/>
            </c:ext>
          </c:extLst>
        </c:ser>
        <c:dLbls>
          <c:showLegendKey val="0"/>
          <c:showVal val="0"/>
          <c:showCatName val="0"/>
          <c:showSerName val="0"/>
          <c:showPercent val="0"/>
          <c:showBubbleSize val="0"/>
        </c:dLbls>
        <c:gapWidth val="50"/>
        <c:overlap val="100"/>
        <c:axId val="658909480"/>
        <c:axId val="658911448"/>
      </c:barChart>
      <c:catAx>
        <c:axId val="658909480"/>
        <c:scaling>
          <c:orientation val="minMax"/>
        </c:scaling>
        <c:delete val="0"/>
        <c:axPos val="b"/>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sz="2000" dirty="0"/>
                  <a:t>Costs</a:t>
                </a:r>
              </a:p>
            </c:rich>
          </c:tx>
          <c:layout>
            <c:manualLayout>
              <c:xMode val="edge"/>
              <c:yMode val="edge"/>
              <c:x val="0.49460003255163526"/>
              <c:y val="0.9466743630323452"/>
            </c:manualLayout>
          </c:layout>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8911448"/>
        <c:crosses val="autoZero"/>
        <c:auto val="1"/>
        <c:lblAlgn val="ctr"/>
        <c:lblOffset val="100"/>
        <c:noMultiLvlLbl val="0"/>
      </c:catAx>
      <c:valAx>
        <c:axId val="658911448"/>
        <c:scaling>
          <c:orientation val="minMax"/>
        </c:scaling>
        <c:delete val="0"/>
        <c:axPos val="l"/>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sz="1800" dirty="0"/>
                  <a:t>$MM/</a:t>
                </a:r>
                <a:r>
                  <a:rPr lang="en-US" sz="1800" dirty="0" err="1"/>
                  <a:t>yr</a:t>
                </a:r>
                <a:endParaRPr lang="en-US" sz="1800" dirty="0"/>
              </a:p>
            </c:rich>
          </c:tx>
          <c:layout>
            <c:manualLayout>
              <c:xMode val="edge"/>
              <c:yMode val="edge"/>
              <c:x val="8.0065674868004585E-3"/>
              <c:y val="0.42564809699918221"/>
            </c:manualLayout>
          </c:layout>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890948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50" baseline="0">
                <a:solidFill>
                  <a:schemeClr val="tx1">
                    <a:lumMod val="65000"/>
                    <a:lumOff val="35000"/>
                  </a:schemeClr>
                </a:solidFill>
                <a:latin typeface="+mn-lt"/>
                <a:ea typeface="+mn-ea"/>
                <a:cs typeface="+mn-cs"/>
              </a:defRPr>
            </a:pPr>
            <a:r>
              <a:rPr lang="en-US" sz="2800" dirty="0"/>
              <a:t>Distribution of FCOP</a:t>
            </a:r>
          </a:p>
        </c:rich>
      </c:tx>
      <c:overlay val="0"/>
      <c:spPr>
        <a:noFill/>
        <a:ln>
          <a:noFill/>
        </a:ln>
        <a:effectLst/>
      </c:spPr>
      <c:txPr>
        <a:bodyPr rot="0" spcFirstLastPara="1" vertOverflow="ellipsis" vert="horz" wrap="square" anchor="ctr" anchorCtr="1"/>
        <a:lstStyle/>
        <a:p>
          <a:pPr>
            <a:defRPr sz="2200" b="1" i="0" u="none" strike="noStrike" kern="1200" cap="all" spc="5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Labor</c:v>
                </c:pt>
                <c:pt idx="1">
                  <c:v>Maintenance</c:v>
                </c:pt>
                <c:pt idx="2">
                  <c:v>Overhead Expense</c:v>
                </c:pt>
              </c:strCache>
            </c:strRef>
          </c:cat>
          <c:val>
            <c:numRef>
              <c:f>Sheet1!$B$2:$B$4</c:f>
              <c:numCache>
                <c:formatCode>General</c:formatCode>
                <c:ptCount val="3"/>
                <c:pt idx="0">
                  <c:v>783</c:v>
                </c:pt>
                <c:pt idx="1">
                  <c:v>2354.2600000000002</c:v>
                </c:pt>
                <c:pt idx="2">
                  <c:v>3608.73</c:v>
                </c:pt>
              </c:numCache>
            </c:numRef>
          </c:val>
          <c:extLst>
            <c:ext xmlns:c16="http://schemas.microsoft.com/office/drawing/2014/chart" uri="{C3380CC4-5D6E-409C-BE32-E72D297353CC}">
              <c16:uniqueId val="{00000000-EB8D-4DBB-BF5A-5EB58E154FEC}"/>
            </c:ext>
          </c:extLst>
        </c:ser>
        <c:dLbls>
          <c:dLblPos val="inEnd"/>
          <c:showLegendKey val="0"/>
          <c:showVal val="1"/>
          <c:showCatName val="0"/>
          <c:showSerName val="0"/>
          <c:showPercent val="0"/>
          <c:showBubbleSize val="0"/>
        </c:dLbls>
        <c:gapWidth val="355"/>
        <c:overlap val="-70"/>
        <c:axId val="629669096"/>
        <c:axId val="629670736"/>
      </c:barChart>
      <c:catAx>
        <c:axId val="629669096"/>
        <c:scaling>
          <c:orientation val="minMax"/>
        </c:scaling>
        <c:delete val="0"/>
        <c:axPos val="b"/>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sz="2000" dirty="0"/>
                  <a:t>Costs</a:t>
                </a:r>
              </a:p>
            </c:rich>
          </c:tx>
          <c:layout>
            <c:manualLayout>
              <c:xMode val="edge"/>
              <c:yMode val="edge"/>
              <c:x val="0.50083102640234045"/>
              <c:y val="0.93750461969378307"/>
            </c:manualLayout>
          </c:layout>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29670736"/>
        <c:crosses val="autoZero"/>
        <c:auto val="1"/>
        <c:lblAlgn val="ctr"/>
        <c:lblOffset val="100"/>
        <c:noMultiLvlLbl val="0"/>
      </c:catAx>
      <c:valAx>
        <c:axId val="629670736"/>
        <c:scaling>
          <c:orientation val="minMax"/>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sz="2000" dirty="0"/>
                  <a:t>$M/</a:t>
                </a:r>
                <a:r>
                  <a:rPr lang="en-US" sz="2000" dirty="0" err="1"/>
                  <a:t>yr</a:t>
                </a:r>
                <a:endParaRPr lang="en-US" sz="2000" dirty="0"/>
              </a:p>
            </c:rich>
          </c:tx>
          <c:layout>
            <c:manualLayout>
              <c:xMode val="edge"/>
              <c:yMode val="edge"/>
              <c:x val="8.0961723273467352E-3"/>
              <c:y val="0.41125743261922226"/>
            </c:manualLayout>
          </c:layout>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2966909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scatterChart>
        <c:scatterStyle val="smooth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'Economical Analysis'!$B$36:$B$55</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'Economical Analysis'!$L$36:$L$55</c:f>
              <c:numCache>
                <c:formatCode>0.0</c:formatCode>
                <c:ptCount val="20"/>
                <c:pt idx="0">
                  <c:v>-25.321863813229587</c:v>
                </c:pt>
                <c:pt idx="1">
                  <c:v>-76.410794982737329</c:v>
                </c:pt>
                <c:pt idx="2">
                  <c:v>270.59894399701756</c:v>
                </c:pt>
                <c:pt idx="3">
                  <c:v>807.02712579184822</c:v>
                </c:pt>
                <c:pt idx="4">
                  <c:v>1205.696832662582</c:v>
                </c:pt>
                <c:pt idx="5">
                  <c:v>1549.7037434838037</c:v>
                </c:pt>
                <c:pt idx="6">
                  <c:v>1846.7179477074433</c:v>
                </c:pt>
                <c:pt idx="7">
                  <c:v>2103.2680838561892</c:v>
                </c:pt>
                <c:pt idx="8">
                  <c:v>2325.1006593442767</c:v>
                </c:pt>
                <c:pt idx="9">
                  <c:v>2516.9149566972114</c:v>
                </c:pt>
                <c:pt idx="10">
                  <c:v>2682.5521653081173</c:v>
                </c:pt>
                <c:pt idx="11">
                  <c:v>2825.5848717280651</c:v>
                </c:pt>
                <c:pt idx="12">
                  <c:v>2949.2620930163898</c:v>
                </c:pt>
                <c:pt idx="13">
                  <c:v>3056.2030539228531</c:v>
                </c:pt>
                <c:pt idx="14">
                  <c:v>3148.6725402232969</c:v>
                </c:pt>
                <c:pt idx="15">
                  <c:v>3228.6288621432655</c:v>
                </c:pt>
                <c:pt idx="16">
                  <c:v>3297.7653272707785</c:v>
                </c:pt>
                <c:pt idx="17">
                  <c:v>3357.5461012677633</c:v>
                </c:pt>
                <c:pt idx="18">
                  <c:v>3409.237215834979</c:v>
                </c:pt>
                <c:pt idx="19">
                  <c:v>3454.246823478732</c:v>
                </c:pt>
              </c:numCache>
            </c:numRef>
          </c:yVal>
          <c:smooth val="1"/>
          <c:extLst>
            <c:ext xmlns:c16="http://schemas.microsoft.com/office/drawing/2014/chart" uri="{C3380CC4-5D6E-409C-BE32-E72D297353CC}">
              <c16:uniqueId val="{00000000-CBA2-4C93-9AE7-26F0E15EAF1C}"/>
            </c:ext>
          </c:extLst>
        </c:ser>
        <c:dLbls>
          <c:showLegendKey val="0"/>
          <c:showVal val="0"/>
          <c:showCatName val="0"/>
          <c:showSerName val="0"/>
          <c:showPercent val="0"/>
          <c:showBubbleSize val="0"/>
        </c:dLbls>
        <c:axId val="876945152"/>
        <c:axId val="876952368"/>
      </c:scatterChart>
      <c:valAx>
        <c:axId val="87694515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Project</a:t>
                </a:r>
                <a:r>
                  <a:rPr lang="en-US" baseline="0"/>
                  <a:t> Years</a:t>
                </a:r>
                <a:endParaRPr lang="en-US"/>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76952368"/>
        <c:crosses val="autoZero"/>
        <c:crossBetween val="midCat"/>
      </c:valAx>
      <c:valAx>
        <c:axId val="8769523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NPV ($MM/yr)</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7694515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smoothMarker"/>
        <c:varyColors val="0"/>
        <c:ser>
          <c:idx val="0"/>
          <c:order val="0"/>
          <c:tx>
            <c:v>Price of PX</c:v>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'Cost of Production'!$B$95:$B$105</c:f>
              <c:numCache>
                <c:formatCode>0%</c:formatCode>
                <c:ptCount val="11"/>
                <c:pt idx="0">
                  <c:v>0.5</c:v>
                </c:pt>
                <c:pt idx="1">
                  <c:v>0.6</c:v>
                </c:pt>
                <c:pt idx="2">
                  <c:v>0.7</c:v>
                </c:pt>
                <c:pt idx="3">
                  <c:v>0.79999999999999993</c:v>
                </c:pt>
                <c:pt idx="4">
                  <c:v>0.89999999999999991</c:v>
                </c:pt>
                <c:pt idx="5">
                  <c:v>0.99999999999999989</c:v>
                </c:pt>
                <c:pt idx="6">
                  <c:v>1.0999999999999999</c:v>
                </c:pt>
                <c:pt idx="7">
                  <c:v>1.2</c:v>
                </c:pt>
                <c:pt idx="8">
                  <c:v>1.3</c:v>
                </c:pt>
                <c:pt idx="9">
                  <c:v>1.4000000000000001</c:v>
                </c:pt>
                <c:pt idx="10">
                  <c:v>1.5000000000000002</c:v>
                </c:pt>
              </c:numCache>
            </c:numRef>
          </c:xVal>
          <c:yVal>
            <c:numRef>
              <c:f>'Cost of Production'!$C$95:$C$105</c:f>
              <c:numCache>
                <c:formatCode>General</c:formatCode>
                <c:ptCount val="11"/>
                <c:pt idx="0">
                  <c:v>-2067</c:v>
                </c:pt>
                <c:pt idx="1">
                  <c:v>-771</c:v>
                </c:pt>
                <c:pt idx="2">
                  <c:v>407</c:v>
                </c:pt>
                <c:pt idx="3">
                  <c:v>1427</c:v>
                </c:pt>
                <c:pt idx="4">
                  <c:v>2447</c:v>
                </c:pt>
                <c:pt idx="5">
                  <c:v>3467</c:v>
                </c:pt>
                <c:pt idx="6">
                  <c:v>4487</c:v>
                </c:pt>
                <c:pt idx="7" formatCode="0">
                  <c:v>5507</c:v>
                </c:pt>
                <c:pt idx="8" formatCode="0">
                  <c:v>6527</c:v>
                </c:pt>
                <c:pt idx="9" formatCode="0.0">
                  <c:v>7547</c:v>
                </c:pt>
                <c:pt idx="10">
                  <c:v>8567</c:v>
                </c:pt>
              </c:numCache>
            </c:numRef>
          </c:yVal>
          <c:smooth val="1"/>
          <c:extLst>
            <c:ext xmlns:c16="http://schemas.microsoft.com/office/drawing/2014/chart" uri="{C3380CC4-5D6E-409C-BE32-E72D297353CC}">
              <c16:uniqueId val="{00000000-68EC-403D-8A28-626E6579BF52}"/>
            </c:ext>
          </c:extLst>
        </c:ser>
        <c:ser>
          <c:idx val="1"/>
          <c:order val="1"/>
          <c:tx>
            <c:v>Price of Raw Materials</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'Cost of Production'!$B$95:$B$105</c:f>
              <c:numCache>
                <c:formatCode>0%</c:formatCode>
                <c:ptCount val="11"/>
                <c:pt idx="0">
                  <c:v>0.5</c:v>
                </c:pt>
                <c:pt idx="1">
                  <c:v>0.6</c:v>
                </c:pt>
                <c:pt idx="2">
                  <c:v>0.7</c:v>
                </c:pt>
                <c:pt idx="3">
                  <c:v>0.79999999999999993</c:v>
                </c:pt>
                <c:pt idx="4">
                  <c:v>0.89999999999999991</c:v>
                </c:pt>
                <c:pt idx="5">
                  <c:v>0.99999999999999989</c:v>
                </c:pt>
                <c:pt idx="6">
                  <c:v>1.0999999999999999</c:v>
                </c:pt>
                <c:pt idx="7">
                  <c:v>1.2</c:v>
                </c:pt>
                <c:pt idx="8">
                  <c:v>1.3</c:v>
                </c:pt>
                <c:pt idx="9">
                  <c:v>1.4000000000000001</c:v>
                </c:pt>
                <c:pt idx="10">
                  <c:v>1.5000000000000002</c:v>
                </c:pt>
              </c:numCache>
            </c:numRef>
          </c:xVal>
          <c:yVal>
            <c:numRef>
              <c:f>'Cost of Production'!$E$95:$E$105</c:f>
              <c:numCache>
                <c:formatCode>0</c:formatCode>
                <c:ptCount val="11"/>
                <c:pt idx="0">
                  <c:v>6728</c:v>
                </c:pt>
                <c:pt idx="1">
                  <c:v>6076</c:v>
                </c:pt>
                <c:pt idx="2">
                  <c:v>5424</c:v>
                </c:pt>
                <c:pt idx="3">
                  <c:v>4771</c:v>
                </c:pt>
                <c:pt idx="4">
                  <c:v>4119</c:v>
                </c:pt>
                <c:pt idx="5">
                  <c:v>3467</c:v>
                </c:pt>
                <c:pt idx="6">
                  <c:v>2815</c:v>
                </c:pt>
                <c:pt idx="7">
                  <c:v>2162</c:v>
                </c:pt>
                <c:pt idx="8">
                  <c:v>1510</c:v>
                </c:pt>
                <c:pt idx="9">
                  <c:v>858</c:v>
                </c:pt>
                <c:pt idx="10" formatCode="General">
                  <c:v>205</c:v>
                </c:pt>
              </c:numCache>
            </c:numRef>
          </c:yVal>
          <c:smooth val="1"/>
          <c:extLst>
            <c:ext xmlns:c16="http://schemas.microsoft.com/office/drawing/2014/chart" uri="{C3380CC4-5D6E-409C-BE32-E72D297353CC}">
              <c16:uniqueId val="{00000001-68EC-403D-8A28-626E6579BF52}"/>
            </c:ext>
          </c:extLst>
        </c:ser>
        <c:dLbls>
          <c:showLegendKey val="0"/>
          <c:showVal val="0"/>
          <c:showCatName val="0"/>
          <c:showSerName val="0"/>
          <c:showPercent val="0"/>
          <c:showBubbleSize val="0"/>
        </c:dLbls>
        <c:axId val="499063208"/>
        <c:axId val="499061240"/>
      </c:scatterChart>
      <c:valAx>
        <c:axId val="499063208"/>
        <c:scaling>
          <c:orientation val="minMax"/>
          <c:max val="1.5"/>
          <c:min val="0.5"/>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600" dirty="0"/>
                  <a:t>Percent</a:t>
                </a:r>
                <a:r>
                  <a:rPr lang="en-US" sz="1600" baseline="0" dirty="0"/>
                  <a:t> Change</a:t>
                </a:r>
                <a:endParaRPr lang="en-US" sz="1600" dirty="0"/>
              </a:p>
            </c:rich>
          </c:tx>
          <c:layout>
            <c:manualLayout>
              <c:xMode val="edge"/>
              <c:yMode val="edge"/>
              <c:x val="0.44947223429336614"/>
              <c:y val="0.89619187144594414"/>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9061240"/>
        <c:crosses val="autoZero"/>
        <c:crossBetween val="midCat"/>
      </c:valAx>
      <c:valAx>
        <c:axId val="4990612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600" dirty="0"/>
                  <a:t>NPV ($MM/</a:t>
                </a:r>
                <a:r>
                  <a:rPr lang="en-US" sz="1600" dirty="0" err="1"/>
                  <a:t>yr</a:t>
                </a:r>
                <a:r>
                  <a:rPr lang="en-US" sz="1600" dirty="0"/>
                  <a: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9063208"/>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smoothMarker"/>
        <c:varyColors val="0"/>
        <c:ser>
          <c:idx val="0"/>
          <c:order val="0"/>
          <c:tx>
            <c:v>Utilities</c:v>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'Economical Analysis'!$S$8:$S$18</c:f>
              <c:numCache>
                <c:formatCode>0.00%</c:formatCode>
                <c:ptCount val="11"/>
                <c:pt idx="0">
                  <c:v>0.5</c:v>
                </c:pt>
                <c:pt idx="1">
                  <c:v>0.6</c:v>
                </c:pt>
                <c:pt idx="2">
                  <c:v>0.7</c:v>
                </c:pt>
                <c:pt idx="3">
                  <c:v>0.79999999999999993</c:v>
                </c:pt>
                <c:pt idx="4">
                  <c:v>0.89999999999999991</c:v>
                </c:pt>
                <c:pt idx="5">
                  <c:v>0.99999999999999989</c:v>
                </c:pt>
                <c:pt idx="6">
                  <c:v>1.0999999999999999</c:v>
                </c:pt>
                <c:pt idx="7">
                  <c:v>1.2</c:v>
                </c:pt>
                <c:pt idx="8">
                  <c:v>1.3</c:v>
                </c:pt>
                <c:pt idx="9">
                  <c:v>1.4000000000000001</c:v>
                </c:pt>
                <c:pt idx="10">
                  <c:v>1.5000000000000002</c:v>
                </c:pt>
              </c:numCache>
            </c:numRef>
          </c:xVal>
          <c:yVal>
            <c:numRef>
              <c:f>'Economical Analysis'!$T$8:$T$18</c:f>
              <c:numCache>
                <c:formatCode>General</c:formatCode>
                <c:ptCount val="11"/>
                <c:pt idx="0">
                  <c:v>3596</c:v>
                </c:pt>
                <c:pt idx="1">
                  <c:v>3570</c:v>
                </c:pt>
                <c:pt idx="2">
                  <c:v>3544</c:v>
                </c:pt>
                <c:pt idx="3">
                  <c:v>3519</c:v>
                </c:pt>
                <c:pt idx="4">
                  <c:v>3493</c:v>
                </c:pt>
                <c:pt idx="5">
                  <c:v>3467</c:v>
                </c:pt>
                <c:pt idx="6">
                  <c:v>3442</c:v>
                </c:pt>
                <c:pt idx="7">
                  <c:v>3416</c:v>
                </c:pt>
                <c:pt idx="8">
                  <c:v>3390</c:v>
                </c:pt>
                <c:pt idx="9">
                  <c:v>3365</c:v>
                </c:pt>
                <c:pt idx="10">
                  <c:v>3339</c:v>
                </c:pt>
              </c:numCache>
            </c:numRef>
          </c:yVal>
          <c:smooth val="1"/>
          <c:extLst>
            <c:ext xmlns:c16="http://schemas.microsoft.com/office/drawing/2014/chart" uri="{C3380CC4-5D6E-409C-BE32-E72D297353CC}">
              <c16:uniqueId val="{00000000-5DA3-4EDD-8FB4-83C1C1A538DB}"/>
            </c:ext>
          </c:extLst>
        </c:ser>
        <c:ser>
          <c:idx val="1"/>
          <c:order val="1"/>
          <c:tx>
            <c:v>Total Fixed Cost</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'Economical Analysis'!$S$8:$S$18</c:f>
              <c:numCache>
                <c:formatCode>0.00%</c:formatCode>
                <c:ptCount val="11"/>
                <c:pt idx="0">
                  <c:v>0.5</c:v>
                </c:pt>
                <c:pt idx="1">
                  <c:v>0.6</c:v>
                </c:pt>
                <c:pt idx="2">
                  <c:v>0.7</c:v>
                </c:pt>
                <c:pt idx="3">
                  <c:v>0.79999999999999993</c:v>
                </c:pt>
                <c:pt idx="4">
                  <c:v>0.89999999999999991</c:v>
                </c:pt>
                <c:pt idx="5">
                  <c:v>0.99999999999999989</c:v>
                </c:pt>
                <c:pt idx="6">
                  <c:v>1.0999999999999999</c:v>
                </c:pt>
                <c:pt idx="7">
                  <c:v>1.2</c:v>
                </c:pt>
                <c:pt idx="8">
                  <c:v>1.3</c:v>
                </c:pt>
                <c:pt idx="9">
                  <c:v>1.4000000000000001</c:v>
                </c:pt>
                <c:pt idx="10">
                  <c:v>1.5000000000000002</c:v>
                </c:pt>
              </c:numCache>
            </c:numRef>
          </c:xVal>
          <c:yVal>
            <c:numRef>
              <c:f>'Economical Analysis'!$U$8:$U$18</c:f>
              <c:numCache>
                <c:formatCode>General</c:formatCode>
                <c:ptCount val="11"/>
                <c:pt idx="0">
                  <c:v>3494</c:v>
                </c:pt>
                <c:pt idx="1">
                  <c:v>3489</c:v>
                </c:pt>
                <c:pt idx="2">
                  <c:v>3483</c:v>
                </c:pt>
                <c:pt idx="3">
                  <c:v>3478</c:v>
                </c:pt>
                <c:pt idx="4">
                  <c:v>3473</c:v>
                </c:pt>
                <c:pt idx="5">
                  <c:v>3467</c:v>
                </c:pt>
                <c:pt idx="6">
                  <c:v>3462</c:v>
                </c:pt>
                <c:pt idx="7">
                  <c:v>3457</c:v>
                </c:pt>
                <c:pt idx="8">
                  <c:v>3451</c:v>
                </c:pt>
                <c:pt idx="9">
                  <c:v>3446</c:v>
                </c:pt>
                <c:pt idx="10">
                  <c:v>3441</c:v>
                </c:pt>
              </c:numCache>
            </c:numRef>
          </c:yVal>
          <c:smooth val="1"/>
          <c:extLst>
            <c:ext xmlns:c16="http://schemas.microsoft.com/office/drawing/2014/chart" uri="{C3380CC4-5D6E-409C-BE32-E72D297353CC}">
              <c16:uniqueId val="{00000001-5DA3-4EDD-8FB4-83C1C1A538DB}"/>
            </c:ext>
          </c:extLst>
        </c:ser>
        <c:dLbls>
          <c:showLegendKey val="0"/>
          <c:showVal val="0"/>
          <c:showCatName val="0"/>
          <c:showSerName val="0"/>
          <c:showPercent val="0"/>
          <c:showBubbleSize val="0"/>
        </c:dLbls>
        <c:axId val="708290288"/>
        <c:axId val="708291272"/>
      </c:scatterChart>
      <c:valAx>
        <c:axId val="708290288"/>
        <c:scaling>
          <c:orientation val="minMax"/>
          <c:max val="1.5"/>
          <c:min val="0.5"/>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600" dirty="0"/>
                  <a:t>Percent Change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8291272"/>
        <c:crosses val="autoZero"/>
        <c:crossBetween val="midCat"/>
      </c:valAx>
      <c:valAx>
        <c:axId val="7082912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600" dirty="0"/>
                  <a:t>NPV ($MM/</a:t>
                </a:r>
                <a:r>
                  <a:rPr lang="en-US" sz="1600" dirty="0" err="1"/>
                  <a:t>yr</a:t>
                </a:r>
                <a:r>
                  <a:rPr lang="en-US" sz="1600" dirty="0"/>
                  <a: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8290288"/>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smoothMarker"/>
        <c:varyColors val="0"/>
        <c:ser>
          <c:idx val="0"/>
          <c:order val="0"/>
          <c:tx>
            <c:v>ISBL</c:v>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'Economical Analysis'!$S$41:$S$51</c:f>
              <c:numCache>
                <c:formatCode>0%</c:formatCode>
                <c:ptCount val="11"/>
                <c:pt idx="0">
                  <c:v>0.5</c:v>
                </c:pt>
                <c:pt idx="1">
                  <c:v>0.6</c:v>
                </c:pt>
                <c:pt idx="2">
                  <c:v>0.7</c:v>
                </c:pt>
                <c:pt idx="3">
                  <c:v>0.79999999999999993</c:v>
                </c:pt>
                <c:pt idx="4">
                  <c:v>0.89999999999999991</c:v>
                </c:pt>
                <c:pt idx="5">
                  <c:v>0.99999999999999989</c:v>
                </c:pt>
                <c:pt idx="6">
                  <c:v>1.0999999999999999</c:v>
                </c:pt>
                <c:pt idx="7">
                  <c:v>1.2</c:v>
                </c:pt>
                <c:pt idx="8">
                  <c:v>1.3</c:v>
                </c:pt>
                <c:pt idx="9">
                  <c:v>1.4000000000000001</c:v>
                </c:pt>
                <c:pt idx="10">
                  <c:v>1.5000000000000002</c:v>
                </c:pt>
              </c:numCache>
            </c:numRef>
          </c:xVal>
          <c:yVal>
            <c:numRef>
              <c:f>'Economical Analysis'!$T$41:$T$51</c:f>
              <c:numCache>
                <c:formatCode>General</c:formatCode>
                <c:ptCount val="11"/>
                <c:pt idx="0">
                  <c:v>3480.3993080789996</c:v>
                </c:pt>
                <c:pt idx="1">
                  <c:v>3477.7840596189722</c:v>
                </c:pt>
                <c:pt idx="2">
                  <c:v>3475.168811158946</c:v>
                </c:pt>
                <c:pt idx="3">
                  <c:v>3472.553562698919</c:v>
                </c:pt>
                <c:pt idx="4">
                  <c:v>3469.9383142388929</c:v>
                </c:pt>
                <c:pt idx="5">
                  <c:v>3467.3230657788649</c:v>
                </c:pt>
                <c:pt idx="6">
                  <c:v>3464.7078173188388</c:v>
                </c:pt>
                <c:pt idx="7">
                  <c:v>3462.0925688588113</c:v>
                </c:pt>
                <c:pt idx="8">
                  <c:v>3459.4773203987857</c:v>
                </c:pt>
                <c:pt idx="9">
                  <c:v>3456.8620719387582</c:v>
                </c:pt>
                <c:pt idx="10">
                  <c:v>3454.246823478732</c:v>
                </c:pt>
              </c:numCache>
            </c:numRef>
          </c:yVal>
          <c:smooth val="1"/>
          <c:extLst>
            <c:ext xmlns:c16="http://schemas.microsoft.com/office/drawing/2014/chart" uri="{C3380CC4-5D6E-409C-BE32-E72D297353CC}">
              <c16:uniqueId val="{00000000-D3C2-4996-A44E-048D4CC74A9C}"/>
            </c:ext>
          </c:extLst>
        </c:ser>
        <c:ser>
          <c:idx val="1"/>
          <c:order val="1"/>
          <c:tx>
            <c:v>OSBL</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'Economical Analysis'!$S$41:$S$51</c:f>
              <c:numCache>
                <c:formatCode>0%</c:formatCode>
                <c:ptCount val="11"/>
                <c:pt idx="0">
                  <c:v>0.5</c:v>
                </c:pt>
                <c:pt idx="1">
                  <c:v>0.6</c:v>
                </c:pt>
                <c:pt idx="2">
                  <c:v>0.7</c:v>
                </c:pt>
                <c:pt idx="3">
                  <c:v>0.79999999999999993</c:v>
                </c:pt>
                <c:pt idx="4">
                  <c:v>0.89999999999999991</c:v>
                </c:pt>
                <c:pt idx="5">
                  <c:v>0.99999999999999989</c:v>
                </c:pt>
                <c:pt idx="6">
                  <c:v>1.0999999999999999</c:v>
                </c:pt>
                <c:pt idx="7">
                  <c:v>1.2</c:v>
                </c:pt>
                <c:pt idx="8">
                  <c:v>1.3</c:v>
                </c:pt>
                <c:pt idx="9">
                  <c:v>1.4000000000000001</c:v>
                </c:pt>
                <c:pt idx="10">
                  <c:v>1.5000000000000002</c:v>
                </c:pt>
              </c:numCache>
            </c:numRef>
          </c:xVal>
          <c:yVal>
            <c:numRef>
              <c:f>'Economical Analysis'!$U$41:$U$51</c:f>
              <c:numCache>
                <c:formatCode>General</c:formatCode>
                <c:ptCount val="11"/>
                <c:pt idx="0">
                  <c:v>3472.6</c:v>
                </c:pt>
                <c:pt idx="1">
                  <c:v>3471.5074633149084</c:v>
                </c:pt>
                <c:pt idx="2">
                  <c:v>3470.4613639308977</c:v>
                </c:pt>
                <c:pt idx="3">
                  <c:v>3469.4152645468871</c:v>
                </c:pt>
                <c:pt idx="4">
                  <c:v>3468.369165162876</c:v>
                </c:pt>
                <c:pt idx="5">
                  <c:v>3467.3230657788649</c:v>
                </c:pt>
                <c:pt idx="6">
                  <c:v>3466.2769663948548</c:v>
                </c:pt>
                <c:pt idx="7">
                  <c:v>3465.2308670108441</c:v>
                </c:pt>
                <c:pt idx="8">
                  <c:v>3464.1847676268335</c:v>
                </c:pt>
                <c:pt idx="9">
                  <c:v>3463.1386682428224</c:v>
                </c:pt>
                <c:pt idx="10">
                  <c:v>3462.0925688588113</c:v>
                </c:pt>
              </c:numCache>
            </c:numRef>
          </c:yVal>
          <c:smooth val="1"/>
          <c:extLst>
            <c:ext xmlns:c16="http://schemas.microsoft.com/office/drawing/2014/chart" uri="{C3380CC4-5D6E-409C-BE32-E72D297353CC}">
              <c16:uniqueId val="{00000001-D3C2-4996-A44E-048D4CC74A9C}"/>
            </c:ext>
          </c:extLst>
        </c:ser>
        <c:dLbls>
          <c:showLegendKey val="0"/>
          <c:showVal val="0"/>
          <c:showCatName val="0"/>
          <c:showSerName val="0"/>
          <c:showPercent val="0"/>
          <c:showBubbleSize val="0"/>
        </c:dLbls>
        <c:axId val="877080880"/>
        <c:axId val="877077600"/>
      </c:scatterChart>
      <c:valAx>
        <c:axId val="87708088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600" dirty="0"/>
                  <a:t>Percent Change</a:t>
                </a:r>
              </a:p>
            </c:rich>
          </c:tx>
          <c:layout>
            <c:manualLayout>
              <c:xMode val="edge"/>
              <c:yMode val="edge"/>
              <c:x val="0.48731474190726159"/>
              <c:y val="0.8925692621755614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77077600"/>
        <c:crosses val="autoZero"/>
        <c:crossBetween val="midCat"/>
      </c:valAx>
      <c:valAx>
        <c:axId val="8770776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600" dirty="0"/>
                  <a:t>NPV ($MM/</a:t>
                </a:r>
                <a:r>
                  <a:rPr lang="en-US" sz="1600" dirty="0" err="1"/>
                  <a:t>yr</a:t>
                </a:r>
                <a:r>
                  <a:rPr lang="en-US" sz="1600" dirty="0"/>
                  <a: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77080880"/>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84C577-FB97-4C5C-8B2B-7960AE125F16}" type="doc">
      <dgm:prSet loTypeId="urn:microsoft.com/office/officeart/2005/8/layout/hierarchy3" loCatId="hierarchy" qsTypeId="urn:microsoft.com/office/officeart/2005/8/quickstyle/simple5" qsCatId="simple" csTypeId="urn:microsoft.com/office/officeart/2005/8/colors/accent0_3" csCatId="mainScheme" phldr="1"/>
      <dgm:spPr/>
      <dgm:t>
        <a:bodyPr/>
        <a:lstStyle/>
        <a:p>
          <a:endParaRPr lang="en-US"/>
        </a:p>
      </dgm:t>
    </dgm:pt>
    <dgm:pt modelId="{A2819AEE-6358-4B2F-9307-E631DFA160D7}">
      <dgm:prSet/>
      <dgm:spPr>
        <a:solidFill>
          <a:schemeClr val="accent1"/>
        </a:solidFill>
      </dgm:spPr>
      <dgm:t>
        <a:bodyPr/>
        <a:lstStyle/>
        <a:p>
          <a:r>
            <a:rPr lang="en-US" dirty="0"/>
            <a:t>Scope Includes:</a:t>
          </a:r>
        </a:p>
      </dgm:t>
    </dgm:pt>
    <dgm:pt modelId="{21E8AEF3-4B29-4EF1-88D5-026FC6507A31}" type="parTrans" cxnId="{8AD16F22-9566-492F-AEBA-48ABD8D0771E}">
      <dgm:prSet/>
      <dgm:spPr/>
      <dgm:t>
        <a:bodyPr/>
        <a:lstStyle/>
        <a:p>
          <a:endParaRPr lang="en-US"/>
        </a:p>
      </dgm:t>
    </dgm:pt>
    <dgm:pt modelId="{3790422C-EF38-486E-B770-9361960C445E}" type="sibTrans" cxnId="{8AD16F22-9566-492F-AEBA-48ABD8D0771E}">
      <dgm:prSet/>
      <dgm:spPr/>
      <dgm:t>
        <a:bodyPr/>
        <a:lstStyle/>
        <a:p>
          <a:endParaRPr lang="en-US"/>
        </a:p>
      </dgm:t>
    </dgm:pt>
    <dgm:pt modelId="{05EEF727-1629-452C-B34A-661A4565B3C4}">
      <dgm:prSet custT="1"/>
      <dgm:spPr/>
      <dgm:t>
        <a:bodyPr/>
        <a:lstStyle/>
        <a:p>
          <a:r>
            <a:rPr lang="en-US" sz="1400" dirty="0"/>
            <a:t>Total Capital Costs</a:t>
          </a:r>
        </a:p>
      </dgm:t>
    </dgm:pt>
    <dgm:pt modelId="{6E676F80-3A29-4B1A-896F-F06AACBEA9B2}" type="parTrans" cxnId="{EF67E1E9-05F4-402D-AED7-1F74B8251C6F}">
      <dgm:prSet/>
      <dgm:spPr/>
      <dgm:t>
        <a:bodyPr/>
        <a:lstStyle/>
        <a:p>
          <a:endParaRPr lang="en-US" sz="2000"/>
        </a:p>
      </dgm:t>
    </dgm:pt>
    <dgm:pt modelId="{124D9B90-079D-4BF0-8F14-CFF633AD47D8}" type="sibTrans" cxnId="{EF67E1E9-05F4-402D-AED7-1F74B8251C6F}">
      <dgm:prSet/>
      <dgm:spPr/>
      <dgm:t>
        <a:bodyPr/>
        <a:lstStyle/>
        <a:p>
          <a:endParaRPr lang="en-US"/>
        </a:p>
      </dgm:t>
    </dgm:pt>
    <dgm:pt modelId="{FCA8606D-03F5-43C9-8BA3-F77935B9D3A4}">
      <dgm:prSet custT="1"/>
      <dgm:spPr/>
      <dgm:t>
        <a:bodyPr/>
        <a:lstStyle/>
        <a:p>
          <a:r>
            <a:rPr lang="en-US" sz="1400" dirty="0"/>
            <a:t>Variables Cost of Production</a:t>
          </a:r>
        </a:p>
      </dgm:t>
    </dgm:pt>
    <dgm:pt modelId="{2E92BA48-468B-4116-8A75-28C21B785299}" type="parTrans" cxnId="{D2EDF2EA-09D7-4D68-A24D-A02EFBBD665D}">
      <dgm:prSet/>
      <dgm:spPr/>
      <dgm:t>
        <a:bodyPr/>
        <a:lstStyle/>
        <a:p>
          <a:endParaRPr lang="en-US" sz="2000"/>
        </a:p>
      </dgm:t>
    </dgm:pt>
    <dgm:pt modelId="{D141FFB1-9630-47E3-A729-7B6F44AA742F}" type="sibTrans" cxnId="{D2EDF2EA-09D7-4D68-A24D-A02EFBBD665D}">
      <dgm:prSet/>
      <dgm:spPr/>
      <dgm:t>
        <a:bodyPr/>
        <a:lstStyle/>
        <a:p>
          <a:endParaRPr lang="en-US"/>
        </a:p>
      </dgm:t>
    </dgm:pt>
    <dgm:pt modelId="{136622A6-992A-4972-A80D-9E3088BFADDC}">
      <dgm:prSet custT="1"/>
      <dgm:spPr/>
      <dgm:t>
        <a:bodyPr/>
        <a:lstStyle/>
        <a:p>
          <a:r>
            <a:rPr lang="en-US" sz="1400" dirty="0"/>
            <a:t>Fixed Cost of Production</a:t>
          </a:r>
        </a:p>
      </dgm:t>
    </dgm:pt>
    <dgm:pt modelId="{364E0459-D123-45B1-AA3F-250976E558A2}" type="parTrans" cxnId="{45052C5E-DE9E-4152-9CD2-B0AFD898C7A8}">
      <dgm:prSet/>
      <dgm:spPr/>
      <dgm:t>
        <a:bodyPr/>
        <a:lstStyle/>
        <a:p>
          <a:endParaRPr lang="en-US" sz="2000"/>
        </a:p>
      </dgm:t>
    </dgm:pt>
    <dgm:pt modelId="{727C40A8-7DE8-4F54-9A29-25A21971483C}" type="sibTrans" cxnId="{45052C5E-DE9E-4152-9CD2-B0AFD898C7A8}">
      <dgm:prSet/>
      <dgm:spPr/>
      <dgm:t>
        <a:bodyPr/>
        <a:lstStyle/>
        <a:p>
          <a:endParaRPr lang="en-US"/>
        </a:p>
      </dgm:t>
    </dgm:pt>
    <dgm:pt modelId="{1B75CA32-AD3A-4F1A-B1BB-9A967F7549AE}">
      <dgm:prSet custT="1"/>
      <dgm:spPr/>
      <dgm:t>
        <a:bodyPr/>
        <a:lstStyle/>
        <a:p>
          <a:r>
            <a:rPr lang="en-US" sz="1400" dirty="0"/>
            <a:t>NPV, ROI, Simple Payback Period</a:t>
          </a:r>
        </a:p>
      </dgm:t>
    </dgm:pt>
    <dgm:pt modelId="{54FD36F7-DDDE-44D7-947F-5B11F14559BE}" type="parTrans" cxnId="{709B97BB-AA4C-478E-9BCC-A3A39C238A55}">
      <dgm:prSet/>
      <dgm:spPr/>
      <dgm:t>
        <a:bodyPr/>
        <a:lstStyle/>
        <a:p>
          <a:endParaRPr lang="en-US" sz="2000"/>
        </a:p>
      </dgm:t>
    </dgm:pt>
    <dgm:pt modelId="{E5D1BEBE-E2CE-450B-8958-7932A32FCECC}" type="sibTrans" cxnId="{709B97BB-AA4C-478E-9BCC-A3A39C238A55}">
      <dgm:prSet/>
      <dgm:spPr/>
      <dgm:t>
        <a:bodyPr/>
        <a:lstStyle/>
        <a:p>
          <a:endParaRPr lang="en-US"/>
        </a:p>
      </dgm:t>
    </dgm:pt>
    <dgm:pt modelId="{A4FDF19D-26F5-43F4-9A54-40F8AC04C34B}">
      <dgm:prSet custT="1"/>
      <dgm:spPr/>
      <dgm:t>
        <a:bodyPr/>
        <a:lstStyle/>
        <a:p>
          <a:r>
            <a:rPr lang="en-US" sz="1400" dirty="0"/>
            <a:t>Revenues, Profits</a:t>
          </a:r>
        </a:p>
      </dgm:t>
    </dgm:pt>
    <dgm:pt modelId="{455C5DD5-5B96-4FF6-B16A-DC07E07235F9}" type="parTrans" cxnId="{FAC8835D-96CD-4894-BAA5-E4287C3B468B}">
      <dgm:prSet/>
      <dgm:spPr/>
      <dgm:t>
        <a:bodyPr/>
        <a:lstStyle/>
        <a:p>
          <a:endParaRPr lang="en-US" sz="2000"/>
        </a:p>
      </dgm:t>
    </dgm:pt>
    <dgm:pt modelId="{524E7D8F-5EFF-4532-8CCD-8652E99DE3A9}" type="sibTrans" cxnId="{FAC8835D-96CD-4894-BAA5-E4287C3B468B}">
      <dgm:prSet/>
      <dgm:spPr/>
      <dgm:t>
        <a:bodyPr/>
        <a:lstStyle/>
        <a:p>
          <a:endParaRPr lang="en-US"/>
        </a:p>
      </dgm:t>
    </dgm:pt>
    <dgm:pt modelId="{3B285E8A-B48D-4356-9408-FB456DD42A54}" type="pres">
      <dgm:prSet presAssocID="{CE84C577-FB97-4C5C-8B2B-7960AE125F16}" presName="diagram" presStyleCnt="0">
        <dgm:presLayoutVars>
          <dgm:chPref val="1"/>
          <dgm:dir/>
          <dgm:animOne val="branch"/>
          <dgm:animLvl val="lvl"/>
          <dgm:resizeHandles/>
        </dgm:presLayoutVars>
      </dgm:prSet>
      <dgm:spPr/>
    </dgm:pt>
    <dgm:pt modelId="{ABDDA517-E26B-4F38-9244-F95B74A445E6}" type="pres">
      <dgm:prSet presAssocID="{A2819AEE-6358-4B2F-9307-E631DFA160D7}" presName="root" presStyleCnt="0"/>
      <dgm:spPr/>
    </dgm:pt>
    <dgm:pt modelId="{9587E5C5-FF34-4833-ABF8-3405D6EBE2AB}" type="pres">
      <dgm:prSet presAssocID="{A2819AEE-6358-4B2F-9307-E631DFA160D7}" presName="rootComposite" presStyleCnt="0"/>
      <dgm:spPr/>
    </dgm:pt>
    <dgm:pt modelId="{B173D933-BCD3-4A80-BD51-F585A091B74A}" type="pres">
      <dgm:prSet presAssocID="{A2819AEE-6358-4B2F-9307-E631DFA160D7}" presName="rootText" presStyleLbl="node1" presStyleIdx="0" presStyleCnt="1"/>
      <dgm:spPr/>
    </dgm:pt>
    <dgm:pt modelId="{81A60C1B-77AC-4E18-9173-485D7C4575A8}" type="pres">
      <dgm:prSet presAssocID="{A2819AEE-6358-4B2F-9307-E631DFA160D7}" presName="rootConnector" presStyleLbl="node1" presStyleIdx="0" presStyleCnt="1"/>
      <dgm:spPr/>
    </dgm:pt>
    <dgm:pt modelId="{28CC69F2-9561-456B-84FB-5FA20423676C}" type="pres">
      <dgm:prSet presAssocID="{A2819AEE-6358-4B2F-9307-E631DFA160D7}" presName="childShape" presStyleCnt="0"/>
      <dgm:spPr/>
    </dgm:pt>
    <dgm:pt modelId="{A94A3311-6C01-4E42-BF66-92D0574885CF}" type="pres">
      <dgm:prSet presAssocID="{6E676F80-3A29-4B1A-896F-F06AACBEA9B2}" presName="Name13" presStyleLbl="parChTrans1D2" presStyleIdx="0" presStyleCnt="5"/>
      <dgm:spPr/>
    </dgm:pt>
    <dgm:pt modelId="{991551AF-ADF2-465C-B557-F09425C03181}" type="pres">
      <dgm:prSet presAssocID="{05EEF727-1629-452C-B34A-661A4565B3C4}" presName="childText" presStyleLbl="bgAcc1" presStyleIdx="0" presStyleCnt="5">
        <dgm:presLayoutVars>
          <dgm:bulletEnabled val="1"/>
        </dgm:presLayoutVars>
      </dgm:prSet>
      <dgm:spPr/>
    </dgm:pt>
    <dgm:pt modelId="{43C1C610-0796-4E9C-8B6F-2F41BF8ED740}" type="pres">
      <dgm:prSet presAssocID="{2E92BA48-468B-4116-8A75-28C21B785299}" presName="Name13" presStyleLbl="parChTrans1D2" presStyleIdx="1" presStyleCnt="5"/>
      <dgm:spPr/>
    </dgm:pt>
    <dgm:pt modelId="{1179ECB5-2BED-4A0E-8A80-0AA7B8C03929}" type="pres">
      <dgm:prSet presAssocID="{FCA8606D-03F5-43C9-8BA3-F77935B9D3A4}" presName="childText" presStyleLbl="bgAcc1" presStyleIdx="1" presStyleCnt="5">
        <dgm:presLayoutVars>
          <dgm:bulletEnabled val="1"/>
        </dgm:presLayoutVars>
      </dgm:prSet>
      <dgm:spPr/>
    </dgm:pt>
    <dgm:pt modelId="{69CB214B-D736-46F5-93CE-736EA12F28A8}" type="pres">
      <dgm:prSet presAssocID="{364E0459-D123-45B1-AA3F-250976E558A2}" presName="Name13" presStyleLbl="parChTrans1D2" presStyleIdx="2" presStyleCnt="5"/>
      <dgm:spPr/>
    </dgm:pt>
    <dgm:pt modelId="{A6D73B4B-CAC8-4E7F-9EE7-563EA967E198}" type="pres">
      <dgm:prSet presAssocID="{136622A6-992A-4972-A80D-9E3088BFADDC}" presName="childText" presStyleLbl="bgAcc1" presStyleIdx="2" presStyleCnt="5">
        <dgm:presLayoutVars>
          <dgm:bulletEnabled val="1"/>
        </dgm:presLayoutVars>
      </dgm:prSet>
      <dgm:spPr/>
    </dgm:pt>
    <dgm:pt modelId="{FD7A714E-6955-49C4-8E78-AA82215E722B}" type="pres">
      <dgm:prSet presAssocID="{54FD36F7-DDDE-44D7-947F-5B11F14559BE}" presName="Name13" presStyleLbl="parChTrans1D2" presStyleIdx="3" presStyleCnt="5"/>
      <dgm:spPr/>
    </dgm:pt>
    <dgm:pt modelId="{B07C56DC-B0EC-4FBA-917B-EEE9624C8A0C}" type="pres">
      <dgm:prSet presAssocID="{1B75CA32-AD3A-4F1A-B1BB-9A967F7549AE}" presName="childText" presStyleLbl="bgAcc1" presStyleIdx="3" presStyleCnt="5">
        <dgm:presLayoutVars>
          <dgm:bulletEnabled val="1"/>
        </dgm:presLayoutVars>
      </dgm:prSet>
      <dgm:spPr/>
    </dgm:pt>
    <dgm:pt modelId="{E099BF7E-4754-4B43-B56F-C6B1D0F20CBA}" type="pres">
      <dgm:prSet presAssocID="{455C5DD5-5B96-4FF6-B16A-DC07E07235F9}" presName="Name13" presStyleLbl="parChTrans1D2" presStyleIdx="4" presStyleCnt="5"/>
      <dgm:spPr/>
    </dgm:pt>
    <dgm:pt modelId="{87EC4649-997D-4922-A649-6FB63E16D9B0}" type="pres">
      <dgm:prSet presAssocID="{A4FDF19D-26F5-43F4-9A54-40F8AC04C34B}" presName="childText" presStyleLbl="bgAcc1" presStyleIdx="4" presStyleCnt="5" custLinFactNeighborX="1344" custLinFactNeighborY="4885">
        <dgm:presLayoutVars>
          <dgm:bulletEnabled val="1"/>
        </dgm:presLayoutVars>
      </dgm:prSet>
      <dgm:spPr/>
    </dgm:pt>
  </dgm:ptLst>
  <dgm:cxnLst>
    <dgm:cxn modelId="{F901EF03-0F82-4AAA-B5B4-069FE362F1B1}" type="presOf" srcId="{A4FDF19D-26F5-43F4-9A54-40F8AC04C34B}" destId="{87EC4649-997D-4922-A649-6FB63E16D9B0}" srcOrd="0" destOrd="0" presId="urn:microsoft.com/office/officeart/2005/8/layout/hierarchy3"/>
    <dgm:cxn modelId="{8AD16F22-9566-492F-AEBA-48ABD8D0771E}" srcId="{CE84C577-FB97-4C5C-8B2B-7960AE125F16}" destId="{A2819AEE-6358-4B2F-9307-E631DFA160D7}" srcOrd="0" destOrd="0" parTransId="{21E8AEF3-4B29-4EF1-88D5-026FC6507A31}" sibTransId="{3790422C-EF38-486E-B770-9361960C445E}"/>
    <dgm:cxn modelId="{0145282A-A18F-48A2-8A9D-3ED3BA17F916}" type="presOf" srcId="{CE84C577-FB97-4C5C-8B2B-7960AE125F16}" destId="{3B285E8A-B48D-4356-9408-FB456DD42A54}" srcOrd="0" destOrd="0" presId="urn:microsoft.com/office/officeart/2005/8/layout/hierarchy3"/>
    <dgm:cxn modelId="{AB5C452B-7CCB-4179-B6E2-D1A0F7BD00EC}" type="presOf" srcId="{2E92BA48-468B-4116-8A75-28C21B785299}" destId="{43C1C610-0796-4E9C-8B6F-2F41BF8ED740}" srcOrd="0" destOrd="0" presId="urn:microsoft.com/office/officeart/2005/8/layout/hierarchy3"/>
    <dgm:cxn modelId="{9A693C40-89CD-48B0-A75F-2D8214AF7FA6}" type="presOf" srcId="{A2819AEE-6358-4B2F-9307-E631DFA160D7}" destId="{B173D933-BCD3-4A80-BD51-F585A091B74A}" srcOrd="0" destOrd="0" presId="urn:microsoft.com/office/officeart/2005/8/layout/hierarchy3"/>
    <dgm:cxn modelId="{FAC8835D-96CD-4894-BAA5-E4287C3B468B}" srcId="{A2819AEE-6358-4B2F-9307-E631DFA160D7}" destId="{A4FDF19D-26F5-43F4-9A54-40F8AC04C34B}" srcOrd="4" destOrd="0" parTransId="{455C5DD5-5B96-4FF6-B16A-DC07E07235F9}" sibTransId="{524E7D8F-5EFF-4532-8CCD-8652E99DE3A9}"/>
    <dgm:cxn modelId="{45052C5E-DE9E-4152-9CD2-B0AFD898C7A8}" srcId="{A2819AEE-6358-4B2F-9307-E631DFA160D7}" destId="{136622A6-992A-4972-A80D-9E3088BFADDC}" srcOrd="2" destOrd="0" parTransId="{364E0459-D123-45B1-AA3F-250976E558A2}" sibTransId="{727C40A8-7DE8-4F54-9A29-25A21971483C}"/>
    <dgm:cxn modelId="{4E288D77-5B8D-4073-A9A9-55C91B620780}" type="presOf" srcId="{455C5DD5-5B96-4FF6-B16A-DC07E07235F9}" destId="{E099BF7E-4754-4B43-B56F-C6B1D0F20CBA}" srcOrd="0" destOrd="0" presId="urn:microsoft.com/office/officeart/2005/8/layout/hierarchy3"/>
    <dgm:cxn modelId="{5FB08980-8659-4369-8C4B-9AC3C5E9ABA3}" type="presOf" srcId="{A2819AEE-6358-4B2F-9307-E631DFA160D7}" destId="{81A60C1B-77AC-4E18-9173-485D7C4575A8}" srcOrd="1" destOrd="0" presId="urn:microsoft.com/office/officeart/2005/8/layout/hierarchy3"/>
    <dgm:cxn modelId="{DECF538F-1149-4ECA-A3EE-E78380D5C40C}" type="presOf" srcId="{1B75CA32-AD3A-4F1A-B1BB-9A967F7549AE}" destId="{B07C56DC-B0EC-4FBA-917B-EEE9624C8A0C}" srcOrd="0" destOrd="0" presId="urn:microsoft.com/office/officeart/2005/8/layout/hierarchy3"/>
    <dgm:cxn modelId="{66F9A0B3-F5F9-4774-9849-7704E3280D84}" type="presOf" srcId="{364E0459-D123-45B1-AA3F-250976E558A2}" destId="{69CB214B-D736-46F5-93CE-736EA12F28A8}" srcOrd="0" destOrd="0" presId="urn:microsoft.com/office/officeart/2005/8/layout/hierarchy3"/>
    <dgm:cxn modelId="{709B97BB-AA4C-478E-9BCC-A3A39C238A55}" srcId="{A2819AEE-6358-4B2F-9307-E631DFA160D7}" destId="{1B75CA32-AD3A-4F1A-B1BB-9A967F7549AE}" srcOrd="3" destOrd="0" parTransId="{54FD36F7-DDDE-44D7-947F-5B11F14559BE}" sibTransId="{E5D1BEBE-E2CE-450B-8958-7932A32FCECC}"/>
    <dgm:cxn modelId="{5F6B46D1-3170-4FB5-B937-CB7B80BCB2C4}" type="presOf" srcId="{FCA8606D-03F5-43C9-8BA3-F77935B9D3A4}" destId="{1179ECB5-2BED-4A0E-8A80-0AA7B8C03929}" srcOrd="0" destOrd="0" presId="urn:microsoft.com/office/officeart/2005/8/layout/hierarchy3"/>
    <dgm:cxn modelId="{89686BD5-79D1-4712-BFAD-9D419E1F61A5}" type="presOf" srcId="{136622A6-992A-4972-A80D-9E3088BFADDC}" destId="{A6D73B4B-CAC8-4E7F-9EE7-563EA967E198}" srcOrd="0" destOrd="0" presId="urn:microsoft.com/office/officeart/2005/8/layout/hierarchy3"/>
    <dgm:cxn modelId="{EF67E1E9-05F4-402D-AED7-1F74B8251C6F}" srcId="{A2819AEE-6358-4B2F-9307-E631DFA160D7}" destId="{05EEF727-1629-452C-B34A-661A4565B3C4}" srcOrd="0" destOrd="0" parTransId="{6E676F80-3A29-4B1A-896F-F06AACBEA9B2}" sibTransId="{124D9B90-079D-4BF0-8F14-CFF633AD47D8}"/>
    <dgm:cxn modelId="{D2EDF2EA-09D7-4D68-A24D-A02EFBBD665D}" srcId="{A2819AEE-6358-4B2F-9307-E631DFA160D7}" destId="{FCA8606D-03F5-43C9-8BA3-F77935B9D3A4}" srcOrd="1" destOrd="0" parTransId="{2E92BA48-468B-4116-8A75-28C21B785299}" sibTransId="{D141FFB1-9630-47E3-A729-7B6F44AA742F}"/>
    <dgm:cxn modelId="{3C79F6EE-E6F0-4D3E-A18C-B9B6336F7874}" type="presOf" srcId="{54FD36F7-DDDE-44D7-947F-5B11F14559BE}" destId="{FD7A714E-6955-49C4-8E78-AA82215E722B}" srcOrd="0" destOrd="0" presId="urn:microsoft.com/office/officeart/2005/8/layout/hierarchy3"/>
    <dgm:cxn modelId="{C27013F9-0A04-41CB-997A-ADC4C13847A7}" type="presOf" srcId="{6E676F80-3A29-4B1A-896F-F06AACBEA9B2}" destId="{A94A3311-6C01-4E42-BF66-92D0574885CF}" srcOrd="0" destOrd="0" presId="urn:microsoft.com/office/officeart/2005/8/layout/hierarchy3"/>
    <dgm:cxn modelId="{C26A58FA-07E5-43B0-8F88-FBEF0F1FC78F}" type="presOf" srcId="{05EEF727-1629-452C-B34A-661A4565B3C4}" destId="{991551AF-ADF2-465C-B557-F09425C03181}" srcOrd="0" destOrd="0" presId="urn:microsoft.com/office/officeart/2005/8/layout/hierarchy3"/>
    <dgm:cxn modelId="{26591985-6FC9-4AFF-9A60-27276345239B}" type="presParOf" srcId="{3B285E8A-B48D-4356-9408-FB456DD42A54}" destId="{ABDDA517-E26B-4F38-9244-F95B74A445E6}" srcOrd="0" destOrd="0" presId="urn:microsoft.com/office/officeart/2005/8/layout/hierarchy3"/>
    <dgm:cxn modelId="{6D6357AB-32A9-4949-BBE3-682614519485}" type="presParOf" srcId="{ABDDA517-E26B-4F38-9244-F95B74A445E6}" destId="{9587E5C5-FF34-4833-ABF8-3405D6EBE2AB}" srcOrd="0" destOrd="0" presId="urn:microsoft.com/office/officeart/2005/8/layout/hierarchy3"/>
    <dgm:cxn modelId="{F603BF60-BB54-47A7-BF31-42335A75E7D2}" type="presParOf" srcId="{9587E5C5-FF34-4833-ABF8-3405D6EBE2AB}" destId="{B173D933-BCD3-4A80-BD51-F585A091B74A}" srcOrd="0" destOrd="0" presId="urn:microsoft.com/office/officeart/2005/8/layout/hierarchy3"/>
    <dgm:cxn modelId="{775F18AA-E4F8-42BF-A868-5D3D26381262}" type="presParOf" srcId="{9587E5C5-FF34-4833-ABF8-3405D6EBE2AB}" destId="{81A60C1B-77AC-4E18-9173-485D7C4575A8}" srcOrd="1" destOrd="0" presId="urn:microsoft.com/office/officeart/2005/8/layout/hierarchy3"/>
    <dgm:cxn modelId="{4B7893AA-EC48-4B08-8B7C-7106BACE20F6}" type="presParOf" srcId="{ABDDA517-E26B-4F38-9244-F95B74A445E6}" destId="{28CC69F2-9561-456B-84FB-5FA20423676C}" srcOrd="1" destOrd="0" presId="urn:microsoft.com/office/officeart/2005/8/layout/hierarchy3"/>
    <dgm:cxn modelId="{C29B7687-46E4-4F48-A05E-CC0A1602182D}" type="presParOf" srcId="{28CC69F2-9561-456B-84FB-5FA20423676C}" destId="{A94A3311-6C01-4E42-BF66-92D0574885CF}" srcOrd="0" destOrd="0" presId="urn:microsoft.com/office/officeart/2005/8/layout/hierarchy3"/>
    <dgm:cxn modelId="{37E50CBC-3DFB-4C34-AC9C-F0607358353C}" type="presParOf" srcId="{28CC69F2-9561-456B-84FB-5FA20423676C}" destId="{991551AF-ADF2-465C-B557-F09425C03181}" srcOrd="1" destOrd="0" presId="urn:microsoft.com/office/officeart/2005/8/layout/hierarchy3"/>
    <dgm:cxn modelId="{76520BA7-E68F-4B5C-89CA-ED656A7B3F39}" type="presParOf" srcId="{28CC69F2-9561-456B-84FB-5FA20423676C}" destId="{43C1C610-0796-4E9C-8B6F-2F41BF8ED740}" srcOrd="2" destOrd="0" presId="urn:microsoft.com/office/officeart/2005/8/layout/hierarchy3"/>
    <dgm:cxn modelId="{BB1AAB0F-CFFC-4D14-ACE4-99DCB22C7218}" type="presParOf" srcId="{28CC69F2-9561-456B-84FB-5FA20423676C}" destId="{1179ECB5-2BED-4A0E-8A80-0AA7B8C03929}" srcOrd="3" destOrd="0" presId="urn:microsoft.com/office/officeart/2005/8/layout/hierarchy3"/>
    <dgm:cxn modelId="{B29AD0A8-FB4C-4F5D-B47D-25B46D31E7A4}" type="presParOf" srcId="{28CC69F2-9561-456B-84FB-5FA20423676C}" destId="{69CB214B-D736-46F5-93CE-736EA12F28A8}" srcOrd="4" destOrd="0" presId="urn:microsoft.com/office/officeart/2005/8/layout/hierarchy3"/>
    <dgm:cxn modelId="{7BA8AFDA-C977-4FCE-9A5E-A76FD7DEF499}" type="presParOf" srcId="{28CC69F2-9561-456B-84FB-5FA20423676C}" destId="{A6D73B4B-CAC8-4E7F-9EE7-563EA967E198}" srcOrd="5" destOrd="0" presId="urn:microsoft.com/office/officeart/2005/8/layout/hierarchy3"/>
    <dgm:cxn modelId="{CB3E4B35-EE48-4C3C-A33F-1D230ACB8526}" type="presParOf" srcId="{28CC69F2-9561-456B-84FB-5FA20423676C}" destId="{FD7A714E-6955-49C4-8E78-AA82215E722B}" srcOrd="6" destOrd="0" presId="urn:microsoft.com/office/officeart/2005/8/layout/hierarchy3"/>
    <dgm:cxn modelId="{34C2501B-BD24-42EA-B63D-937029397DB5}" type="presParOf" srcId="{28CC69F2-9561-456B-84FB-5FA20423676C}" destId="{B07C56DC-B0EC-4FBA-917B-EEE9624C8A0C}" srcOrd="7" destOrd="0" presId="urn:microsoft.com/office/officeart/2005/8/layout/hierarchy3"/>
    <dgm:cxn modelId="{FB513C65-BB7B-4A9F-AA97-9DAEFB8F39B3}" type="presParOf" srcId="{28CC69F2-9561-456B-84FB-5FA20423676C}" destId="{E099BF7E-4754-4B43-B56F-C6B1D0F20CBA}" srcOrd="8" destOrd="0" presId="urn:microsoft.com/office/officeart/2005/8/layout/hierarchy3"/>
    <dgm:cxn modelId="{E42C62A1-858C-4983-A533-CCBB92F87554}" type="presParOf" srcId="{28CC69F2-9561-456B-84FB-5FA20423676C}" destId="{87EC4649-997D-4922-A649-6FB63E16D9B0}" srcOrd="9"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1EFA696-CA9F-4E1F-B8F2-98B62AEA1BDD}" type="doc">
      <dgm:prSet loTypeId="urn:diagrams.loki3.com/BracketList" loCatId="list" qsTypeId="urn:microsoft.com/office/officeart/2005/8/quickstyle/simple1" qsCatId="simple" csTypeId="urn:microsoft.com/office/officeart/2005/8/colors/accent1_2" csCatId="accent1" phldr="1"/>
      <dgm:spPr/>
      <dgm:t>
        <a:bodyPr/>
        <a:lstStyle/>
        <a:p>
          <a:endParaRPr lang="en-US"/>
        </a:p>
      </dgm:t>
    </dgm:pt>
    <dgm:pt modelId="{C3C97496-61FB-4FB8-93D9-5EA6C6E46816}">
      <dgm:prSet phldrT="[Text]"/>
      <dgm:spPr/>
      <dgm:t>
        <a:bodyPr/>
        <a:lstStyle/>
        <a:p>
          <a:r>
            <a:rPr lang="en-US" dirty="0"/>
            <a:t>By-products:</a:t>
          </a:r>
        </a:p>
      </dgm:t>
    </dgm:pt>
    <dgm:pt modelId="{8B74AE91-E35D-4DD2-B038-4C40C8BE2B25}" type="parTrans" cxnId="{503D9EA0-F108-4432-9016-30E859C66A4C}">
      <dgm:prSet/>
      <dgm:spPr/>
      <dgm:t>
        <a:bodyPr/>
        <a:lstStyle/>
        <a:p>
          <a:endParaRPr lang="en-US"/>
        </a:p>
      </dgm:t>
    </dgm:pt>
    <dgm:pt modelId="{7EA9A8C3-4765-4F6B-AA91-FBDEDD586248}" type="sibTrans" cxnId="{503D9EA0-F108-4432-9016-30E859C66A4C}">
      <dgm:prSet/>
      <dgm:spPr/>
      <dgm:t>
        <a:bodyPr/>
        <a:lstStyle/>
        <a:p>
          <a:endParaRPr lang="en-US"/>
        </a:p>
      </dgm:t>
    </dgm:pt>
    <dgm:pt modelId="{855E9B68-AD1A-4177-9D22-76968F1EF58F}">
      <dgm:prSet phldrT="[Text]"/>
      <dgm:spPr/>
      <dgm:t>
        <a:bodyPr/>
        <a:lstStyle/>
        <a:p>
          <a:r>
            <a:rPr lang="en-US" dirty="0"/>
            <a:t>Raw Materials:</a:t>
          </a:r>
        </a:p>
      </dgm:t>
    </dgm:pt>
    <dgm:pt modelId="{8FD20709-AC63-46CF-838B-3371ACC1C021}" type="parTrans" cxnId="{CF08D17C-6C91-410B-9BD1-862AD6895F9A}">
      <dgm:prSet/>
      <dgm:spPr/>
      <dgm:t>
        <a:bodyPr/>
        <a:lstStyle/>
        <a:p>
          <a:endParaRPr lang="en-US"/>
        </a:p>
      </dgm:t>
    </dgm:pt>
    <dgm:pt modelId="{868A16F1-7299-4876-91A7-6AF83252FA5E}" type="sibTrans" cxnId="{CF08D17C-6C91-410B-9BD1-862AD6895F9A}">
      <dgm:prSet/>
      <dgm:spPr/>
      <dgm:t>
        <a:bodyPr/>
        <a:lstStyle/>
        <a:p>
          <a:endParaRPr lang="en-US"/>
        </a:p>
      </dgm:t>
    </dgm:pt>
    <dgm:pt modelId="{246F2DEF-023C-4188-A927-3B9AE1345451}">
      <dgm:prSet phldrT="[Text]"/>
      <dgm:spPr/>
      <dgm:t>
        <a:bodyPr/>
        <a:lstStyle/>
        <a:p>
          <a:r>
            <a:rPr lang="en-US" dirty="0"/>
            <a:t>Consumables:</a:t>
          </a:r>
        </a:p>
      </dgm:t>
    </dgm:pt>
    <dgm:pt modelId="{17EA896E-FA61-477F-9DA6-0DA2A9D8B4A1}" type="parTrans" cxnId="{1F179C19-B349-4C4A-A7A1-F99C3FA27B14}">
      <dgm:prSet/>
      <dgm:spPr/>
      <dgm:t>
        <a:bodyPr/>
        <a:lstStyle/>
        <a:p>
          <a:endParaRPr lang="en-US"/>
        </a:p>
      </dgm:t>
    </dgm:pt>
    <dgm:pt modelId="{CA97BA2C-F5AB-4754-AE77-492F3BF7CD6C}" type="sibTrans" cxnId="{1F179C19-B349-4C4A-A7A1-F99C3FA27B14}">
      <dgm:prSet/>
      <dgm:spPr/>
      <dgm:t>
        <a:bodyPr/>
        <a:lstStyle/>
        <a:p>
          <a:endParaRPr lang="en-US"/>
        </a:p>
      </dgm:t>
    </dgm:pt>
    <dgm:pt modelId="{6AE8612C-A9A9-406C-A1E4-7812A559CC27}">
      <dgm:prSet phldrT="[Text]"/>
      <dgm:spPr/>
      <dgm:t>
        <a:bodyPr/>
        <a:lstStyle/>
        <a:p>
          <a:r>
            <a:rPr lang="en-US" dirty="0"/>
            <a:t>Utilities:</a:t>
          </a:r>
        </a:p>
      </dgm:t>
    </dgm:pt>
    <dgm:pt modelId="{A3A889DA-3640-478A-B67D-6B82E6017D69}" type="parTrans" cxnId="{7C29923D-DAEA-4543-B7AD-6A5911FAD104}">
      <dgm:prSet/>
      <dgm:spPr/>
      <dgm:t>
        <a:bodyPr/>
        <a:lstStyle/>
        <a:p>
          <a:endParaRPr lang="en-US"/>
        </a:p>
      </dgm:t>
    </dgm:pt>
    <dgm:pt modelId="{1C71C6E8-C008-432D-B83C-7419C8B6C320}" type="sibTrans" cxnId="{7C29923D-DAEA-4543-B7AD-6A5911FAD104}">
      <dgm:prSet/>
      <dgm:spPr/>
      <dgm:t>
        <a:bodyPr/>
        <a:lstStyle/>
        <a:p>
          <a:endParaRPr lang="en-US"/>
        </a:p>
      </dgm:t>
    </dgm:pt>
    <dgm:pt modelId="{31D06428-371E-400B-BDE0-10842807888C}" type="pres">
      <dgm:prSet presAssocID="{61EFA696-CA9F-4E1F-B8F2-98B62AEA1BDD}" presName="Name0" presStyleCnt="0">
        <dgm:presLayoutVars>
          <dgm:dir/>
          <dgm:animLvl val="lvl"/>
          <dgm:resizeHandles val="exact"/>
        </dgm:presLayoutVars>
      </dgm:prSet>
      <dgm:spPr/>
    </dgm:pt>
    <dgm:pt modelId="{43657B39-D146-481F-A897-9E47AFC636ED}" type="pres">
      <dgm:prSet presAssocID="{C3C97496-61FB-4FB8-93D9-5EA6C6E46816}" presName="linNode" presStyleCnt="0"/>
      <dgm:spPr/>
    </dgm:pt>
    <dgm:pt modelId="{D1B19E9D-3313-4DD6-A279-8B875B0B77B9}" type="pres">
      <dgm:prSet presAssocID="{C3C97496-61FB-4FB8-93D9-5EA6C6E46816}" presName="parTx" presStyleLbl="revTx" presStyleIdx="0" presStyleCnt="4" custLinFactNeighborX="-25612">
        <dgm:presLayoutVars>
          <dgm:chMax val="1"/>
          <dgm:bulletEnabled val="1"/>
        </dgm:presLayoutVars>
      </dgm:prSet>
      <dgm:spPr/>
    </dgm:pt>
    <dgm:pt modelId="{956E645D-61FE-4076-8661-51A7C1094954}" type="pres">
      <dgm:prSet presAssocID="{C3C97496-61FB-4FB8-93D9-5EA6C6E46816}" presName="bracket" presStyleLbl="parChTrans1D1" presStyleIdx="0" presStyleCnt="4" custScaleX="155277" custScaleY="151826"/>
      <dgm:spPr/>
    </dgm:pt>
    <dgm:pt modelId="{721802A9-B159-4336-8CF1-B7363160F50D}" type="pres">
      <dgm:prSet presAssocID="{C3C97496-61FB-4FB8-93D9-5EA6C6E46816}" presName="spH" presStyleCnt="0"/>
      <dgm:spPr/>
    </dgm:pt>
    <dgm:pt modelId="{36AC977B-1925-4EE6-8433-5A905A238AD5}" type="pres">
      <dgm:prSet presAssocID="{7EA9A8C3-4765-4F6B-AA91-FBDEDD586248}" presName="spV" presStyleCnt="0"/>
      <dgm:spPr/>
    </dgm:pt>
    <dgm:pt modelId="{107A49B3-603F-4D34-BD6E-B69C5123A7AA}" type="pres">
      <dgm:prSet presAssocID="{855E9B68-AD1A-4177-9D22-76968F1EF58F}" presName="linNode" presStyleCnt="0"/>
      <dgm:spPr/>
    </dgm:pt>
    <dgm:pt modelId="{AA219D3F-B518-4521-BEB5-4579783AE8CC}" type="pres">
      <dgm:prSet presAssocID="{855E9B68-AD1A-4177-9D22-76968F1EF58F}" presName="parTx" presStyleLbl="revTx" presStyleIdx="1" presStyleCnt="4">
        <dgm:presLayoutVars>
          <dgm:chMax val="1"/>
          <dgm:bulletEnabled val="1"/>
        </dgm:presLayoutVars>
      </dgm:prSet>
      <dgm:spPr/>
    </dgm:pt>
    <dgm:pt modelId="{51C729D6-2D86-40E5-A0E9-6D75ECA5724D}" type="pres">
      <dgm:prSet presAssocID="{855E9B68-AD1A-4177-9D22-76968F1EF58F}" presName="bracket" presStyleLbl="parChTrans1D1" presStyleIdx="1" presStyleCnt="4" custScaleX="155277" custScaleY="151826"/>
      <dgm:spPr/>
    </dgm:pt>
    <dgm:pt modelId="{B6D093AF-D993-4783-85BD-2E40923070BD}" type="pres">
      <dgm:prSet presAssocID="{855E9B68-AD1A-4177-9D22-76968F1EF58F}" presName="spH" presStyleCnt="0"/>
      <dgm:spPr/>
    </dgm:pt>
    <dgm:pt modelId="{DE3DA663-CF73-4E35-BFDF-40554943F41B}" type="pres">
      <dgm:prSet presAssocID="{868A16F1-7299-4876-91A7-6AF83252FA5E}" presName="spV" presStyleCnt="0"/>
      <dgm:spPr/>
    </dgm:pt>
    <dgm:pt modelId="{6A88A853-A92F-4631-96F7-E46E18828EDB}" type="pres">
      <dgm:prSet presAssocID="{246F2DEF-023C-4188-A927-3B9AE1345451}" presName="linNode" presStyleCnt="0"/>
      <dgm:spPr/>
    </dgm:pt>
    <dgm:pt modelId="{51C50391-7E60-429E-9D23-513FA4EF84C2}" type="pres">
      <dgm:prSet presAssocID="{246F2DEF-023C-4188-A927-3B9AE1345451}" presName="parTx" presStyleLbl="revTx" presStyleIdx="2" presStyleCnt="4">
        <dgm:presLayoutVars>
          <dgm:chMax val="1"/>
          <dgm:bulletEnabled val="1"/>
        </dgm:presLayoutVars>
      </dgm:prSet>
      <dgm:spPr/>
    </dgm:pt>
    <dgm:pt modelId="{94325AAA-2B8B-4950-ABFB-8848DFBC0D50}" type="pres">
      <dgm:prSet presAssocID="{246F2DEF-023C-4188-A927-3B9AE1345451}" presName="bracket" presStyleLbl="parChTrans1D1" presStyleIdx="2" presStyleCnt="4" custScaleX="155277" custScaleY="151826"/>
      <dgm:spPr/>
    </dgm:pt>
    <dgm:pt modelId="{32A15859-C0DB-4D6F-960E-564DF4330A79}" type="pres">
      <dgm:prSet presAssocID="{246F2DEF-023C-4188-A927-3B9AE1345451}" presName="spH" presStyleCnt="0"/>
      <dgm:spPr/>
    </dgm:pt>
    <dgm:pt modelId="{0F0EDF57-CF4F-493C-B052-7CDAF0CFFE8B}" type="pres">
      <dgm:prSet presAssocID="{CA97BA2C-F5AB-4754-AE77-492F3BF7CD6C}" presName="spV" presStyleCnt="0"/>
      <dgm:spPr/>
    </dgm:pt>
    <dgm:pt modelId="{654645C1-99E7-46BD-B4EF-DD38A580DE7B}" type="pres">
      <dgm:prSet presAssocID="{6AE8612C-A9A9-406C-A1E4-7812A559CC27}" presName="linNode" presStyleCnt="0"/>
      <dgm:spPr/>
    </dgm:pt>
    <dgm:pt modelId="{34DE60BD-1ED8-40DB-ACEC-C3DFE0896C68}" type="pres">
      <dgm:prSet presAssocID="{6AE8612C-A9A9-406C-A1E4-7812A559CC27}" presName="parTx" presStyleLbl="revTx" presStyleIdx="3" presStyleCnt="4">
        <dgm:presLayoutVars>
          <dgm:chMax val="1"/>
          <dgm:bulletEnabled val="1"/>
        </dgm:presLayoutVars>
      </dgm:prSet>
      <dgm:spPr/>
    </dgm:pt>
    <dgm:pt modelId="{D1A4012D-4A2B-4199-AFF9-1050E72B70A8}" type="pres">
      <dgm:prSet presAssocID="{6AE8612C-A9A9-406C-A1E4-7812A559CC27}" presName="bracket" presStyleLbl="parChTrans1D1" presStyleIdx="3" presStyleCnt="4" custScaleX="155277" custScaleY="151826"/>
      <dgm:spPr/>
    </dgm:pt>
    <dgm:pt modelId="{8C1EE4B7-1F2C-4760-80B2-E22B868F5686}" type="pres">
      <dgm:prSet presAssocID="{6AE8612C-A9A9-406C-A1E4-7812A559CC27}" presName="spH" presStyleCnt="0"/>
      <dgm:spPr/>
    </dgm:pt>
  </dgm:ptLst>
  <dgm:cxnLst>
    <dgm:cxn modelId="{C947A412-248B-4A89-B4D6-AF6BE7FFAF8C}" type="presOf" srcId="{246F2DEF-023C-4188-A927-3B9AE1345451}" destId="{51C50391-7E60-429E-9D23-513FA4EF84C2}" srcOrd="0" destOrd="0" presId="urn:diagrams.loki3.com/BracketList"/>
    <dgm:cxn modelId="{1F179C19-B349-4C4A-A7A1-F99C3FA27B14}" srcId="{61EFA696-CA9F-4E1F-B8F2-98B62AEA1BDD}" destId="{246F2DEF-023C-4188-A927-3B9AE1345451}" srcOrd="2" destOrd="0" parTransId="{17EA896E-FA61-477F-9DA6-0DA2A9D8B4A1}" sibTransId="{CA97BA2C-F5AB-4754-AE77-492F3BF7CD6C}"/>
    <dgm:cxn modelId="{E86EE525-FEAE-4341-9ABF-FD6069A311EE}" type="presOf" srcId="{855E9B68-AD1A-4177-9D22-76968F1EF58F}" destId="{AA219D3F-B518-4521-BEB5-4579783AE8CC}" srcOrd="0" destOrd="0" presId="urn:diagrams.loki3.com/BracketList"/>
    <dgm:cxn modelId="{7C29923D-DAEA-4543-B7AD-6A5911FAD104}" srcId="{61EFA696-CA9F-4E1F-B8F2-98B62AEA1BDD}" destId="{6AE8612C-A9A9-406C-A1E4-7812A559CC27}" srcOrd="3" destOrd="0" parTransId="{A3A889DA-3640-478A-B67D-6B82E6017D69}" sibTransId="{1C71C6E8-C008-432D-B83C-7419C8B6C320}"/>
    <dgm:cxn modelId="{9909CD59-EE6C-44E6-885C-E66326BCB0C1}" type="presOf" srcId="{61EFA696-CA9F-4E1F-B8F2-98B62AEA1BDD}" destId="{31D06428-371E-400B-BDE0-10842807888C}" srcOrd="0" destOrd="0" presId="urn:diagrams.loki3.com/BracketList"/>
    <dgm:cxn modelId="{CF08D17C-6C91-410B-9BD1-862AD6895F9A}" srcId="{61EFA696-CA9F-4E1F-B8F2-98B62AEA1BDD}" destId="{855E9B68-AD1A-4177-9D22-76968F1EF58F}" srcOrd="1" destOrd="0" parTransId="{8FD20709-AC63-46CF-838B-3371ACC1C021}" sibTransId="{868A16F1-7299-4876-91A7-6AF83252FA5E}"/>
    <dgm:cxn modelId="{503D9EA0-F108-4432-9016-30E859C66A4C}" srcId="{61EFA696-CA9F-4E1F-B8F2-98B62AEA1BDD}" destId="{C3C97496-61FB-4FB8-93D9-5EA6C6E46816}" srcOrd="0" destOrd="0" parTransId="{8B74AE91-E35D-4DD2-B038-4C40C8BE2B25}" sibTransId="{7EA9A8C3-4765-4F6B-AA91-FBDEDD586248}"/>
    <dgm:cxn modelId="{068B23A7-C58B-472D-B44A-9C7EA1091861}" type="presOf" srcId="{C3C97496-61FB-4FB8-93D9-5EA6C6E46816}" destId="{D1B19E9D-3313-4DD6-A279-8B875B0B77B9}" srcOrd="0" destOrd="0" presId="urn:diagrams.loki3.com/BracketList"/>
    <dgm:cxn modelId="{E61924F3-1240-40A5-BD96-114BA7CCF184}" type="presOf" srcId="{6AE8612C-A9A9-406C-A1E4-7812A559CC27}" destId="{34DE60BD-1ED8-40DB-ACEC-C3DFE0896C68}" srcOrd="0" destOrd="0" presId="urn:diagrams.loki3.com/BracketList"/>
    <dgm:cxn modelId="{C0898466-DBD9-48DA-BA29-C8E6FC4609E2}" type="presParOf" srcId="{31D06428-371E-400B-BDE0-10842807888C}" destId="{43657B39-D146-481F-A897-9E47AFC636ED}" srcOrd="0" destOrd="0" presId="urn:diagrams.loki3.com/BracketList"/>
    <dgm:cxn modelId="{C11CEE84-C407-4228-8B7F-01970D391751}" type="presParOf" srcId="{43657B39-D146-481F-A897-9E47AFC636ED}" destId="{D1B19E9D-3313-4DD6-A279-8B875B0B77B9}" srcOrd="0" destOrd="0" presId="urn:diagrams.loki3.com/BracketList"/>
    <dgm:cxn modelId="{CB1DA092-5097-407B-BAF0-CADE912A7115}" type="presParOf" srcId="{43657B39-D146-481F-A897-9E47AFC636ED}" destId="{956E645D-61FE-4076-8661-51A7C1094954}" srcOrd="1" destOrd="0" presId="urn:diagrams.loki3.com/BracketList"/>
    <dgm:cxn modelId="{9DA8EEA4-722F-48EF-A8DD-8FED566D732B}" type="presParOf" srcId="{43657B39-D146-481F-A897-9E47AFC636ED}" destId="{721802A9-B159-4336-8CF1-B7363160F50D}" srcOrd="2" destOrd="0" presId="urn:diagrams.loki3.com/BracketList"/>
    <dgm:cxn modelId="{4540BF31-392B-4B64-AC6D-6AC7FCE0F7EF}" type="presParOf" srcId="{31D06428-371E-400B-BDE0-10842807888C}" destId="{36AC977B-1925-4EE6-8433-5A905A238AD5}" srcOrd="1" destOrd="0" presId="urn:diagrams.loki3.com/BracketList"/>
    <dgm:cxn modelId="{DAB25DD8-7D1E-4680-B27E-B57A794F2CF8}" type="presParOf" srcId="{31D06428-371E-400B-BDE0-10842807888C}" destId="{107A49B3-603F-4D34-BD6E-B69C5123A7AA}" srcOrd="2" destOrd="0" presId="urn:diagrams.loki3.com/BracketList"/>
    <dgm:cxn modelId="{F8DC810E-5929-4C7A-85A3-94CAB93B2FA3}" type="presParOf" srcId="{107A49B3-603F-4D34-BD6E-B69C5123A7AA}" destId="{AA219D3F-B518-4521-BEB5-4579783AE8CC}" srcOrd="0" destOrd="0" presId="urn:diagrams.loki3.com/BracketList"/>
    <dgm:cxn modelId="{09003401-6598-4DBD-9051-05C4FB039137}" type="presParOf" srcId="{107A49B3-603F-4D34-BD6E-B69C5123A7AA}" destId="{51C729D6-2D86-40E5-A0E9-6D75ECA5724D}" srcOrd="1" destOrd="0" presId="urn:diagrams.loki3.com/BracketList"/>
    <dgm:cxn modelId="{5D9536A0-A27D-4704-B72F-B35791A16301}" type="presParOf" srcId="{107A49B3-603F-4D34-BD6E-B69C5123A7AA}" destId="{B6D093AF-D993-4783-85BD-2E40923070BD}" srcOrd="2" destOrd="0" presId="urn:diagrams.loki3.com/BracketList"/>
    <dgm:cxn modelId="{E4833429-0652-4418-9DF9-550A9B021617}" type="presParOf" srcId="{31D06428-371E-400B-BDE0-10842807888C}" destId="{DE3DA663-CF73-4E35-BFDF-40554943F41B}" srcOrd="3" destOrd="0" presId="urn:diagrams.loki3.com/BracketList"/>
    <dgm:cxn modelId="{1F2C5DCE-B08B-4F2D-93F6-27CC71F91801}" type="presParOf" srcId="{31D06428-371E-400B-BDE0-10842807888C}" destId="{6A88A853-A92F-4631-96F7-E46E18828EDB}" srcOrd="4" destOrd="0" presId="urn:diagrams.loki3.com/BracketList"/>
    <dgm:cxn modelId="{148C00D8-E246-4C0F-AE80-B890023E08A7}" type="presParOf" srcId="{6A88A853-A92F-4631-96F7-E46E18828EDB}" destId="{51C50391-7E60-429E-9D23-513FA4EF84C2}" srcOrd="0" destOrd="0" presId="urn:diagrams.loki3.com/BracketList"/>
    <dgm:cxn modelId="{2119D33F-015C-4098-B340-AC5D47D56682}" type="presParOf" srcId="{6A88A853-A92F-4631-96F7-E46E18828EDB}" destId="{94325AAA-2B8B-4950-ABFB-8848DFBC0D50}" srcOrd="1" destOrd="0" presId="urn:diagrams.loki3.com/BracketList"/>
    <dgm:cxn modelId="{3990D959-4E29-442E-B478-829DBC2E514E}" type="presParOf" srcId="{6A88A853-A92F-4631-96F7-E46E18828EDB}" destId="{32A15859-C0DB-4D6F-960E-564DF4330A79}" srcOrd="2" destOrd="0" presId="urn:diagrams.loki3.com/BracketList"/>
    <dgm:cxn modelId="{41084F26-AFEE-47CE-ACCE-9ADBF50FDC2A}" type="presParOf" srcId="{31D06428-371E-400B-BDE0-10842807888C}" destId="{0F0EDF57-CF4F-493C-B052-7CDAF0CFFE8B}" srcOrd="5" destOrd="0" presId="urn:diagrams.loki3.com/BracketList"/>
    <dgm:cxn modelId="{46D4CED5-1469-4C8F-91EE-702ACD8C6ADA}" type="presParOf" srcId="{31D06428-371E-400B-BDE0-10842807888C}" destId="{654645C1-99E7-46BD-B4EF-DD38A580DE7B}" srcOrd="6" destOrd="0" presId="urn:diagrams.loki3.com/BracketList"/>
    <dgm:cxn modelId="{067D1ACF-ACAF-4EB6-B8E1-973BE45B2BFA}" type="presParOf" srcId="{654645C1-99E7-46BD-B4EF-DD38A580DE7B}" destId="{34DE60BD-1ED8-40DB-ACEC-C3DFE0896C68}" srcOrd="0" destOrd="0" presId="urn:diagrams.loki3.com/BracketList"/>
    <dgm:cxn modelId="{6857FB01-5AC5-4F38-B852-FA3FB7EFCCE6}" type="presParOf" srcId="{654645C1-99E7-46BD-B4EF-DD38A580DE7B}" destId="{D1A4012D-4A2B-4199-AFF9-1050E72B70A8}" srcOrd="1" destOrd="0" presId="urn:diagrams.loki3.com/BracketList"/>
    <dgm:cxn modelId="{64BD8F37-3B4A-415F-A18D-030F93BFC156}" type="presParOf" srcId="{654645C1-99E7-46BD-B4EF-DD38A580DE7B}" destId="{8C1EE4B7-1F2C-4760-80B2-E22B868F5686}" srcOrd="2"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E13BD38-954C-4E93-951E-71A7D684EE39}"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0343C87B-14CA-4369-8AC1-64860E7B8E5F}">
      <dgm:prSet phldrT="[Text]"/>
      <dgm:spPr/>
      <dgm:t>
        <a:bodyPr/>
        <a:lstStyle/>
        <a:p>
          <a:r>
            <a:rPr lang="en-US" dirty="0"/>
            <a:t>10-year NPV</a:t>
          </a:r>
        </a:p>
        <a:p>
          <a:r>
            <a:rPr lang="en-US" dirty="0"/>
            <a:t>$MM/</a:t>
          </a:r>
          <a:r>
            <a:rPr lang="en-US" dirty="0" err="1"/>
            <a:t>yr</a:t>
          </a:r>
          <a:r>
            <a:rPr lang="en-US" dirty="0"/>
            <a:t>  2,530.00</a:t>
          </a:r>
        </a:p>
      </dgm:t>
    </dgm:pt>
    <dgm:pt modelId="{80350DFA-6116-48E8-8095-436F6564FF2A}" type="parTrans" cxnId="{80817D49-7139-4B4D-BA8B-4C2DD9A4E834}">
      <dgm:prSet/>
      <dgm:spPr/>
      <dgm:t>
        <a:bodyPr/>
        <a:lstStyle/>
        <a:p>
          <a:endParaRPr lang="en-US"/>
        </a:p>
      </dgm:t>
    </dgm:pt>
    <dgm:pt modelId="{E1AA74BC-423B-41DC-A67D-8F682D237ECA}" type="sibTrans" cxnId="{80817D49-7139-4B4D-BA8B-4C2DD9A4E834}">
      <dgm:prSet/>
      <dgm:spPr/>
      <dgm:t>
        <a:bodyPr/>
        <a:lstStyle/>
        <a:p>
          <a:endParaRPr lang="en-US"/>
        </a:p>
      </dgm:t>
    </dgm:pt>
    <dgm:pt modelId="{AD86909F-4913-4CE2-A6C1-E9A81A5059A1}">
      <dgm:prSet phldrT="[Text]"/>
      <dgm:spPr/>
      <dgm:t>
        <a:bodyPr/>
        <a:lstStyle/>
        <a:p>
          <a:r>
            <a:rPr lang="en-US" dirty="0"/>
            <a:t>20-year NPV</a:t>
          </a:r>
        </a:p>
        <a:p>
          <a:r>
            <a:rPr lang="en-US" dirty="0"/>
            <a:t>$MM/</a:t>
          </a:r>
          <a:r>
            <a:rPr lang="en-US" dirty="0" err="1"/>
            <a:t>yr</a:t>
          </a:r>
          <a:r>
            <a:rPr lang="en-US" dirty="0"/>
            <a:t>  3,467.30</a:t>
          </a:r>
        </a:p>
      </dgm:t>
    </dgm:pt>
    <dgm:pt modelId="{50090A64-FD43-432C-AB06-46C3606B00C6}" type="parTrans" cxnId="{608A5916-4B28-4DD2-AB2C-A192EBE6520F}">
      <dgm:prSet/>
      <dgm:spPr/>
      <dgm:t>
        <a:bodyPr/>
        <a:lstStyle/>
        <a:p>
          <a:endParaRPr lang="en-US"/>
        </a:p>
      </dgm:t>
    </dgm:pt>
    <dgm:pt modelId="{A5E4351C-8995-4333-8B87-BC57BCD8F9D2}" type="sibTrans" cxnId="{608A5916-4B28-4DD2-AB2C-A192EBE6520F}">
      <dgm:prSet/>
      <dgm:spPr/>
      <dgm:t>
        <a:bodyPr/>
        <a:lstStyle/>
        <a:p>
          <a:endParaRPr lang="en-US"/>
        </a:p>
      </dgm:t>
    </dgm:pt>
    <dgm:pt modelId="{935E9D8C-9ACD-46BF-A4DA-96FF674BAABA}" type="pres">
      <dgm:prSet presAssocID="{AE13BD38-954C-4E93-951E-71A7D684EE39}" presName="Name0" presStyleCnt="0">
        <dgm:presLayoutVars>
          <dgm:dir/>
          <dgm:resizeHandles val="exact"/>
        </dgm:presLayoutVars>
      </dgm:prSet>
      <dgm:spPr/>
    </dgm:pt>
    <dgm:pt modelId="{2D9BA5DD-D024-49FD-8294-23563DAFF1BD}" type="pres">
      <dgm:prSet presAssocID="{0343C87B-14CA-4369-8AC1-64860E7B8E5F}" presName="node" presStyleLbl="node1" presStyleIdx="0" presStyleCnt="2">
        <dgm:presLayoutVars>
          <dgm:bulletEnabled val="1"/>
        </dgm:presLayoutVars>
      </dgm:prSet>
      <dgm:spPr/>
    </dgm:pt>
    <dgm:pt modelId="{E3AB5A09-FFFF-498F-8922-43ACEFC49E0E}" type="pres">
      <dgm:prSet presAssocID="{E1AA74BC-423B-41DC-A67D-8F682D237ECA}" presName="sibTrans" presStyleCnt="0"/>
      <dgm:spPr/>
    </dgm:pt>
    <dgm:pt modelId="{5D9C23E2-2043-42D2-8C4F-EDFCEBE88D48}" type="pres">
      <dgm:prSet presAssocID="{AD86909F-4913-4CE2-A6C1-E9A81A5059A1}" presName="node" presStyleLbl="node1" presStyleIdx="1" presStyleCnt="2">
        <dgm:presLayoutVars>
          <dgm:bulletEnabled val="1"/>
        </dgm:presLayoutVars>
      </dgm:prSet>
      <dgm:spPr/>
    </dgm:pt>
  </dgm:ptLst>
  <dgm:cxnLst>
    <dgm:cxn modelId="{C152E710-DC5B-4CC8-8285-AA8F40C3260D}" type="presOf" srcId="{AE13BD38-954C-4E93-951E-71A7D684EE39}" destId="{935E9D8C-9ACD-46BF-A4DA-96FF674BAABA}" srcOrd="0" destOrd="0" presId="urn:microsoft.com/office/officeart/2005/8/layout/hList6"/>
    <dgm:cxn modelId="{608A5916-4B28-4DD2-AB2C-A192EBE6520F}" srcId="{AE13BD38-954C-4E93-951E-71A7D684EE39}" destId="{AD86909F-4913-4CE2-A6C1-E9A81A5059A1}" srcOrd="1" destOrd="0" parTransId="{50090A64-FD43-432C-AB06-46C3606B00C6}" sibTransId="{A5E4351C-8995-4333-8B87-BC57BCD8F9D2}"/>
    <dgm:cxn modelId="{80817D49-7139-4B4D-BA8B-4C2DD9A4E834}" srcId="{AE13BD38-954C-4E93-951E-71A7D684EE39}" destId="{0343C87B-14CA-4369-8AC1-64860E7B8E5F}" srcOrd="0" destOrd="0" parTransId="{80350DFA-6116-48E8-8095-436F6564FF2A}" sibTransId="{E1AA74BC-423B-41DC-A67D-8F682D237ECA}"/>
    <dgm:cxn modelId="{698F1088-3735-4162-AA0B-04D4429E6506}" type="presOf" srcId="{0343C87B-14CA-4369-8AC1-64860E7B8E5F}" destId="{2D9BA5DD-D024-49FD-8294-23563DAFF1BD}" srcOrd="0" destOrd="0" presId="urn:microsoft.com/office/officeart/2005/8/layout/hList6"/>
    <dgm:cxn modelId="{3F38EFF7-1BC3-4F4E-BA79-5C824281EB1B}" type="presOf" srcId="{AD86909F-4913-4CE2-A6C1-E9A81A5059A1}" destId="{5D9C23E2-2043-42D2-8C4F-EDFCEBE88D48}" srcOrd="0" destOrd="0" presId="urn:microsoft.com/office/officeart/2005/8/layout/hList6"/>
    <dgm:cxn modelId="{C79EC43C-0C7F-4E12-B812-F681C9FBF402}" type="presParOf" srcId="{935E9D8C-9ACD-46BF-A4DA-96FF674BAABA}" destId="{2D9BA5DD-D024-49FD-8294-23563DAFF1BD}" srcOrd="0" destOrd="0" presId="urn:microsoft.com/office/officeart/2005/8/layout/hList6"/>
    <dgm:cxn modelId="{C99A2CD7-0A38-42B1-9DE4-01BCA8CBD7B7}" type="presParOf" srcId="{935E9D8C-9ACD-46BF-A4DA-96FF674BAABA}" destId="{E3AB5A09-FFFF-498F-8922-43ACEFC49E0E}" srcOrd="1" destOrd="0" presId="urn:microsoft.com/office/officeart/2005/8/layout/hList6"/>
    <dgm:cxn modelId="{BD11B7A9-9494-4A6E-8763-63C2FA020672}" type="presParOf" srcId="{935E9D8C-9ACD-46BF-A4DA-96FF674BAABA}" destId="{5D9C23E2-2043-42D2-8C4F-EDFCEBE88D48}" srcOrd="2"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1C1FBB8-49EC-4FFE-905B-0370D25C8FCD}"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05A29B04-1E3B-44DD-AD3E-A2698141D9DD}">
      <dgm:prSet custT="1"/>
      <dgm:spPr/>
      <dgm:t>
        <a:bodyPr/>
        <a:lstStyle/>
        <a:p>
          <a:r>
            <a:rPr lang="en-US" sz="2400" dirty="0"/>
            <a:t>3,158.16 </a:t>
          </a:r>
          <a:r>
            <a:rPr lang="en-US" sz="2000" dirty="0"/>
            <a:t>$MM/</a:t>
          </a:r>
          <a:r>
            <a:rPr lang="en-US" sz="2000" dirty="0" err="1"/>
            <a:t>yr</a:t>
          </a:r>
          <a:endParaRPr lang="en-US" sz="2400" dirty="0">
            <a:solidFill>
              <a:schemeClr val="accent2"/>
            </a:solidFill>
          </a:endParaRPr>
        </a:p>
      </dgm:t>
    </dgm:pt>
    <dgm:pt modelId="{69377F92-0EEF-4545-A261-F532C682471A}" type="parTrans" cxnId="{24EBFF64-7BF3-4A8A-84FC-4123EC66CE19}">
      <dgm:prSet/>
      <dgm:spPr/>
      <dgm:t>
        <a:bodyPr/>
        <a:lstStyle/>
        <a:p>
          <a:endParaRPr lang="en-US"/>
        </a:p>
      </dgm:t>
    </dgm:pt>
    <dgm:pt modelId="{44A319AD-4659-449B-8628-C3AEC2611A1A}" type="sibTrans" cxnId="{24EBFF64-7BF3-4A8A-84FC-4123EC66CE19}">
      <dgm:prSet/>
      <dgm:spPr/>
      <dgm:t>
        <a:bodyPr/>
        <a:lstStyle/>
        <a:p>
          <a:endParaRPr lang="en-US"/>
        </a:p>
      </dgm:t>
    </dgm:pt>
    <dgm:pt modelId="{C20D9229-BE5C-4FDB-9AC8-83EA37D1CF45}">
      <dgm:prSet custT="1"/>
      <dgm:spPr/>
      <dgm:t>
        <a:bodyPr/>
        <a:lstStyle/>
        <a:p>
          <a:r>
            <a:rPr lang="en-US" sz="2400" dirty="0"/>
            <a:t>2,066.42 </a:t>
          </a:r>
          <a:r>
            <a:rPr lang="en-US" sz="2000" dirty="0"/>
            <a:t>$MM/</a:t>
          </a:r>
          <a:r>
            <a:rPr lang="en-US" sz="2000" dirty="0" err="1"/>
            <a:t>yr</a:t>
          </a:r>
          <a:endParaRPr lang="en-US" sz="2400" dirty="0"/>
        </a:p>
      </dgm:t>
    </dgm:pt>
    <dgm:pt modelId="{49B10356-3B45-435F-BE5E-D851EF4718A0}" type="parTrans" cxnId="{F48D4397-0410-4CA7-9C6E-D2714A54E67C}">
      <dgm:prSet/>
      <dgm:spPr/>
      <dgm:t>
        <a:bodyPr/>
        <a:lstStyle/>
        <a:p>
          <a:endParaRPr lang="en-US"/>
        </a:p>
      </dgm:t>
    </dgm:pt>
    <dgm:pt modelId="{6FACBB60-A765-4801-A38D-3DE1B01589CC}" type="sibTrans" cxnId="{F48D4397-0410-4CA7-9C6E-D2714A54E67C}">
      <dgm:prSet/>
      <dgm:spPr/>
      <dgm:t>
        <a:bodyPr/>
        <a:lstStyle/>
        <a:p>
          <a:endParaRPr lang="en-US"/>
        </a:p>
      </dgm:t>
    </dgm:pt>
    <dgm:pt modelId="{A3998B93-0502-423B-B822-2F7CA14EF697}">
      <dgm:prSet/>
      <dgm:spPr/>
      <dgm:t>
        <a:bodyPr/>
        <a:lstStyle/>
        <a:p>
          <a:r>
            <a:rPr lang="en-US" dirty="0"/>
            <a:t>1,091.75 $MM/</a:t>
          </a:r>
          <a:r>
            <a:rPr lang="en-US" dirty="0" err="1"/>
            <a:t>yr</a:t>
          </a:r>
          <a:endParaRPr lang="en-US" dirty="0"/>
        </a:p>
      </dgm:t>
    </dgm:pt>
    <dgm:pt modelId="{6159240C-BE31-49F5-8CE8-DD3E74E37F29}" type="parTrans" cxnId="{2FFC4DB4-5B24-4980-8E5D-DD0DA3F6386B}">
      <dgm:prSet/>
      <dgm:spPr/>
      <dgm:t>
        <a:bodyPr/>
        <a:lstStyle/>
        <a:p>
          <a:endParaRPr lang="en-US"/>
        </a:p>
      </dgm:t>
    </dgm:pt>
    <dgm:pt modelId="{1DE53C60-602F-45F2-BE72-25A8E4E3745E}" type="sibTrans" cxnId="{2FFC4DB4-5B24-4980-8E5D-DD0DA3F6386B}">
      <dgm:prSet/>
      <dgm:spPr/>
      <dgm:t>
        <a:bodyPr/>
        <a:lstStyle/>
        <a:p>
          <a:endParaRPr lang="en-US"/>
        </a:p>
      </dgm:t>
    </dgm:pt>
    <dgm:pt modelId="{4C6976F6-83D4-4595-A5E4-84A332C53C52}">
      <dgm:prSet custT="1"/>
      <dgm:spPr/>
      <dgm:t>
        <a:bodyPr/>
        <a:lstStyle/>
        <a:p>
          <a:r>
            <a:rPr lang="en-US" sz="2800" dirty="0">
              <a:solidFill>
                <a:schemeClr val="accent1"/>
              </a:solidFill>
            </a:rPr>
            <a:t>Total Product Revenues from Para-xylene</a:t>
          </a:r>
        </a:p>
      </dgm:t>
    </dgm:pt>
    <dgm:pt modelId="{6638F1B1-D072-4CBE-B54D-B9F3A77140AC}" type="parTrans" cxnId="{7491D04E-0B7F-40FC-B897-204ABD28546F}">
      <dgm:prSet/>
      <dgm:spPr/>
      <dgm:t>
        <a:bodyPr/>
        <a:lstStyle/>
        <a:p>
          <a:endParaRPr lang="en-US"/>
        </a:p>
      </dgm:t>
    </dgm:pt>
    <dgm:pt modelId="{2DFAFF3E-5C9F-4AC1-93A4-3A22C196F21C}" type="sibTrans" cxnId="{7491D04E-0B7F-40FC-B897-204ABD28546F}">
      <dgm:prSet/>
      <dgm:spPr/>
      <dgm:t>
        <a:bodyPr/>
        <a:lstStyle/>
        <a:p>
          <a:endParaRPr lang="en-US"/>
        </a:p>
      </dgm:t>
    </dgm:pt>
    <dgm:pt modelId="{B0930BBF-B021-49A8-B80E-E2D89745D80A}">
      <dgm:prSet custT="1"/>
      <dgm:spPr/>
      <dgm:t>
        <a:bodyPr/>
        <a:lstStyle/>
        <a:p>
          <a:r>
            <a:rPr lang="en-US" sz="2800" dirty="0">
              <a:solidFill>
                <a:schemeClr val="accent1"/>
              </a:solidFill>
            </a:rPr>
            <a:t>Cash Cost of Production (FCOP+VCOP)</a:t>
          </a:r>
          <a:endParaRPr lang="en-US" sz="2800" dirty="0"/>
        </a:p>
      </dgm:t>
    </dgm:pt>
    <dgm:pt modelId="{7E148469-13BB-41A4-97D5-37F33581F179}" type="parTrans" cxnId="{729253AE-BC1C-4F39-A307-BC5A20680F69}">
      <dgm:prSet/>
      <dgm:spPr/>
      <dgm:t>
        <a:bodyPr/>
        <a:lstStyle/>
        <a:p>
          <a:endParaRPr lang="en-US"/>
        </a:p>
      </dgm:t>
    </dgm:pt>
    <dgm:pt modelId="{66CB3B5A-E256-4153-845E-468315B61141}" type="sibTrans" cxnId="{729253AE-BC1C-4F39-A307-BC5A20680F69}">
      <dgm:prSet/>
      <dgm:spPr/>
      <dgm:t>
        <a:bodyPr/>
        <a:lstStyle/>
        <a:p>
          <a:endParaRPr lang="en-US"/>
        </a:p>
      </dgm:t>
    </dgm:pt>
    <dgm:pt modelId="{0E4D80D8-927E-475E-8957-4A2C10180542}">
      <dgm:prSet custT="1"/>
      <dgm:spPr/>
      <dgm:t>
        <a:bodyPr/>
        <a:lstStyle/>
        <a:p>
          <a:r>
            <a:rPr lang="en-US" sz="2800" dirty="0">
              <a:solidFill>
                <a:schemeClr val="accent1"/>
              </a:solidFill>
            </a:rPr>
            <a:t>Gross Profit</a:t>
          </a:r>
          <a:endParaRPr lang="en-US" sz="2800" dirty="0"/>
        </a:p>
      </dgm:t>
    </dgm:pt>
    <dgm:pt modelId="{382EEC91-B48D-4F59-950C-95BD74608889}" type="parTrans" cxnId="{4304D56A-968E-4810-8255-D9559BCBF6B7}">
      <dgm:prSet/>
      <dgm:spPr/>
      <dgm:t>
        <a:bodyPr/>
        <a:lstStyle/>
        <a:p>
          <a:endParaRPr lang="en-US"/>
        </a:p>
      </dgm:t>
    </dgm:pt>
    <dgm:pt modelId="{04602562-2D0B-4A87-923E-04D54E8A33FB}" type="sibTrans" cxnId="{4304D56A-968E-4810-8255-D9559BCBF6B7}">
      <dgm:prSet/>
      <dgm:spPr/>
      <dgm:t>
        <a:bodyPr/>
        <a:lstStyle/>
        <a:p>
          <a:endParaRPr lang="en-US"/>
        </a:p>
      </dgm:t>
    </dgm:pt>
    <dgm:pt modelId="{75A64AD4-8183-4438-85BD-156EEA2EF971}" type="pres">
      <dgm:prSet presAssocID="{41C1FBB8-49EC-4FFE-905B-0370D25C8FCD}" presName="linearFlow" presStyleCnt="0">
        <dgm:presLayoutVars>
          <dgm:dir/>
          <dgm:animLvl val="lvl"/>
          <dgm:resizeHandles val="exact"/>
        </dgm:presLayoutVars>
      </dgm:prSet>
      <dgm:spPr/>
    </dgm:pt>
    <dgm:pt modelId="{7AECA5D0-D2B5-4BA8-A914-1F6FD12525A4}" type="pres">
      <dgm:prSet presAssocID="{05A29B04-1E3B-44DD-AD3E-A2698141D9DD}" presName="composite" presStyleCnt="0"/>
      <dgm:spPr/>
    </dgm:pt>
    <dgm:pt modelId="{F99EFCE8-1563-4DD9-AD88-CA737E8846D3}" type="pres">
      <dgm:prSet presAssocID="{05A29B04-1E3B-44DD-AD3E-A2698141D9DD}" presName="parentText" presStyleLbl="alignNode1" presStyleIdx="0" presStyleCnt="3">
        <dgm:presLayoutVars>
          <dgm:chMax val="1"/>
          <dgm:bulletEnabled val="1"/>
        </dgm:presLayoutVars>
      </dgm:prSet>
      <dgm:spPr/>
    </dgm:pt>
    <dgm:pt modelId="{A23E1995-F3CE-4769-9768-BDC71DC458AC}" type="pres">
      <dgm:prSet presAssocID="{05A29B04-1E3B-44DD-AD3E-A2698141D9DD}" presName="descendantText" presStyleLbl="alignAcc1" presStyleIdx="0" presStyleCnt="3">
        <dgm:presLayoutVars>
          <dgm:bulletEnabled val="1"/>
        </dgm:presLayoutVars>
      </dgm:prSet>
      <dgm:spPr/>
    </dgm:pt>
    <dgm:pt modelId="{05697D60-39C6-4402-8696-C492AEED92EA}" type="pres">
      <dgm:prSet presAssocID="{44A319AD-4659-449B-8628-C3AEC2611A1A}" presName="sp" presStyleCnt="0"/>
      <dgm:spPr/>
    </dgm:pt>
    <dgm:pt modelId="{1919D95F-E748-4579-A5DB-19FAA5AD7978}" type="pres">
      <dgm:prSet presAssocID="{C20D9229-BE5C-4FDB-9AC8-83EA37D1CF45}" presName="composite" presStyleCnt="0"/>
      <dgm:spPr/>
    </dgm:pt>
    <dgm:pt modelId="{8B2457D9-8A01-4F16-A87C-95BA05D235FC}" type="pres">
      <dgm:prSet presAssocID="{C20D9229-BE5C-4FDB-9AC8-83EA37D1CF45}" presName="parentText" presStyleLbl="alignNode1" presStyleIdx="1" presStyleCnt="3">
        <dgm:presLayoutVars>
          <dgm:chMax val="1"/>
          <dgm:bulletEnabled val="1"/>
        </dgm:presLayoutVars>
      </dgm:prSet>
      <dgm:spPr/>
    </dgm:pt>
    <dgm:pt modelId="{6B234E94-E5D0-46F4-95AC-E4C6DCD16D8B}" type="pres">
      <dgm:prSet presAssocID="{C20D9229-BE5C-4FDB-9AC8-83EA37D1CF45}" presName="descendantText" presStyleLbl="alignAcc1" presStyleIdx="1" presStyleCnt="3">
        <dgm:presLayoutVars>
          <dgm:bulletEnabled val="1"/>
        </dgm:presLayoutVars>
      </dgm:prSet>
      <dgm:spPr/>
    </dgm:pt>
    <dgm:pt modelId="{0BDC105E-2EEC-4158-AD9B-D22318337A29}" type="pres">
      <dgm:prSet presAssocID="{6FACBB60-A765-4801-A38D-3DE1B01589CC}" presName="sp" presStyleCnt="0"/>
      <dgm:spPr/>
    </dgm:pt>
    <dgm:pt modelId="{4A2814F3-1713-4DB4-9ECF-5D7BB0C491EA}" type="pres">
      <dgm:prSet presAssocID="{A3998B93-0502-423B-B822-2F7CA14EF697}" presName="composite" presStyleCnt="0"/>
      <dgm:spPr/>
    </dgm:pt>
    <dgm:pt modelId="{2CA2AB75-6958-4E22-8181-E474055B6AF0}" type="pres">
      <dgm:prSet presAssocID="{A3998B93-0502-423B-B822-2F7CA14EF697}" presName="parentText" presStyleLbl="alignNode1" presStyleIdx="2" presStyleCnt="3">
        <dgm:presLayoutVars>
          <dgm:chMax val="1"/>
          <dgm:bulletEnabled val="1"/>
        </dgm:presLayoutVars>
      </dgm:prSet>
      <dgm:spPr/>
    </dgm:pt>
    <dgm:pt modelId="{CBDD9B47-542A-4E98-92E3-6EEF9F5D326A}" type="pres">
      <dgm:prSet presAssocID="{A3998B93-0502-423B-B822-2F7CA14EF697}" presName="descendantText" presStyleLbl="alignAcc1" presStyleIdx="2" presStyleCnt="3">
        <dgm:presLayoutVars>
          <dgm:bulletEnabled val="1"/>
        </dgm:presLayoutVars>
      </dgm:prSet>
      <dgm:spPr/>
    </dgm:pt>
  </dgm:ptLst>
  <dgm:cxnLst>
    <dgm:cxn modelId="{25B1340F-4A8C-4C6F-BCE8-8B2F153E928A}" type="presOf" srcId="{05A29B04-1E3B-44DD-AD3E-A2698141D9DD}" destId="{F99EFCE8-1563-4DD9-AD88-CA737E8846D3}" srcOrd="0" destOrd="0" presId="urn:microsoft.com/office/officeart/2005/8/layout/chevron2"/>
    <dgm:cxn modelId="{730FA332-2FC2-45CD-9D6A-E37AA691A93A}" type="presOf" srcId="{A3998B93-0502-423B-B822-2F7CA14EF697}" destId="{2CA2AB75-6958-4E22-8181-E474055B6AF0}" srcOrd="0" destOrd="0" presId="urn:microsoft.com/office/officeart/2005/8/layout/chevron2"/>
    <dgm:cxn modelId="{1353643A-B19B-4452-9410-9B1AD3D9DE95}" type="presOf" srcId="{4C6976F6-83D4-4595-A5E4-84A332C53C52}" destId="{A23E1995-F3CE-4769-9768-BDC71DC458AC}" srcOrd="0" destOrd="0" presId="urn:microsoft.com/office/officeart/2005/8/layout/chevron2"/>
    <dgm:cxn modelId="{24EBFF64-7BF3-4A8A-84FC-4123EC66CE19}" srcId="{41C1FBB8-49EC-4FFE-905B-0370D25C8FCD}" destId="{05A29B04-1E3B-44DD-AD3E-A2698141D9DD}" srcOrd="0" destOrd="0" parTransId="{69377F92-0EEF-4545-A261-F532C682471A}" sibTransId="{44A319AD-4659-449B-8628-C3AEC2611A1A}"/>
    <dgm:cxn modelId="{078B6A67-2877-46A1-9FDB-9902BF739048}" type="presOf" srcId="{C20D9229-BE5C-4FDB-9AC8-83EA37D1CF45}" destId="{8B2457D9-8A01-4F16-A87C-95BA05D235FC}" srcOrd="0" destOrd="0" presId="urn:microsoft.com/office/officeart/2005/8/layout/chevron2"/>
    <dgm:cxn modelId="{4304D56A-968E-4810-8255-D9559BCBF6B7}" srcId="{A3998B93-0502-423B-B822-2F7CA14EF697}" destId="{0E4D80D8-927E-475E-8957-4A2C10180542}" srcOrd="0" destOrd="0" parTransId="{382EEC91-B48D-4F59-950C-95BD74608889}" sibTransId="{04602562-2D0B-4A87-923E-04D54E8A33FB}"/>
    <dgm:cxn modelId="{7491D04E-0B7F-40FC-B897-204ABD28546F}" srcId="{05A29B04-1E3B-44DD-AD3E-A2698141D9DD}" destId="{4C6976F6-83D4-4595-A5E4-84A332C53C52}" srcOrd="0" destOrd="0" parTransId="{6638F1B1-D072-4CBE-B54D-B9F3A77140AC}" sibTransId="{2DFAFF3E-5C9F-4AC1-93A4-3A22C196F21C}"/>
    <dgm:cxn modelId="{F48D4397-0410-4CA7-9C6E-D2714A54E67C}" srcId="{41C1FBB8-49EC-4FFE-905B-0370D25C8FCD}" destId="{C20D9229-BE5C-4FDB-9AC8-83EA37D1CF45}" srcOrd="1" destOrd="0" parTransId="{49B10356-3B45-435F-BE5E-D851EF4718A0}" sibTransId="{6FACBB60-A765-4801-A38D-3DE1B01589CC}"/>
    <dgm:cxn modelId="{729253AE-BC1C-4F39-A307-BC5A20680F69}" srcId="{C20D9229-BE5C-4FDB-9AC8-83EA37D1CF45}" destId="{B0930BBF-B021-49A8-B80E-E2D89745D80A}" srcOrd="0" destOrd="0" parTransId="{7E148469-13BB-41A4-97D5-37F33581F179}" sibTransId="{66CB3B5A-E256-4153-845E-468315B61141}"/>
    <dgm:cxn modelId="{2FFC4DB4-5B24-4980-8E5D-DD0DA3F6386B}" srcId="{41C1FBB8-49EC-4FFE-905B-0370D25C8FCD}" destId="{A3998B93-0502-423B-B822-2F7CA14EF697}" srcOrd="2" destOrd="0" parTransId="{6159240C-BE31-49F5-8CE8-DD3E74E37F29}" sibTransId="{1DE53C60-602F-45F2-BE72-25A8E4E3745E}"/>
    <dgm:cxn modelId="{944962D3-CB2D-4F5B-823F-673FC22DC3DE}" type="presOf" srcId="{0E4D80D8-927E-475E-8957-4A2C10180542}" destId="{CBDD9B47-542A-4E98-92E3-6EEF9F5D326A}" srcOrd="0" destOrd="0" presId="urn:microsoft.com/office/officeart/2005/8/layout/chevron2"/>
    <dgm:cxn modelId="{33C926EC-6F4C-4813-8158-A15CB285F7F9}" type="presOf" srcId="{41C1FBB8-49EC-4FFE-905B-0370D25C8FCD}" destId="{75A64AD4-8183-4438-85BD-156EEA2EF971}" srcOrd="0" destOrd="0" presId="urn:microsoft.com/office/officeart/2005/8/layout/chevron2"/>
    <dgm:cxn modelId="{D3701BEF-67BA-4BEE-BAFF-0E382FFDE327}" type="presOf" srcId="{B0930BBF-B021-49A8-B80E-E2D89745D80A}" destId="{6B234E94-E5D0-46F4-95AC-E4C6DCD16D8B}" srcOrd="0" destOrd="0" presId="urn:microsoft.com/office/officeart/2005/8/layout/chevron2"/>
    <dgm:cxn modelId="{3A8ECC9E-5ACE-460B-8D73-51132F1D902B}" type="presParOf" srcId="{75A64AD4-8183-4438-85BD-156EEA2EF971}" destId="{7AECA5D0-D2B5-4BA8-A914-1F6FD12525A4}" srcOrd="0" destOrd="0" presId="urn:microsoft.com/office/officeart/2005/8/layout/chevron2"/>
    <dgm:cxn modelId="{F29E8F86-E56C-4EB3-BBF7-EA085A243F19}" type="presParOf" srcId="{7AECA5D0-D2B5-4BA8-A914-1F6FD12525A4}" destId="{F99EFCE8-1563-4DD9-AD88-CA737E8846D3}" srcOrd="0" destOrd="0" presId="urn:microsoft.com/office/officeart/2005/8/layout/chevron2"/>
    <dgm:cxn modelId="{A758B3E3-8A20-49EE-8CAE-DC0C2331B822}" type="presParOf" srcId="{7AECA5D0-D2B5-4BA8-A914-1F6FD12525A4}" destId="{A23E1995-F3CE-4769-9768-BDC71DC458AC}" srcOrd="1" destOrd="0" presId="urn:microsoft.com/office/officeart/2005/8/layout/chevron2"/>
    <dgm:cxn modelId="{B83BC208-DA79-4ED6-AAC6-59CD5BBEC0E1}" type="presParOf" srcId="{75A64AD4-8183-4438-85BD-156EEA2EF971}" destId="{05697D60-39C6-4402-8696-C492AEED92EA}" srcOrd="1" destOrd="0" presId="urn:microsoft.com/office/officeart/2005/8/layout/chevron2"/>
    <dgm:cxn modelId="{AE984205-36A1-4B98-8C0C-7D0B78420E44}" type="presParOf" srcId="{75A64AD4-8183-4438-85BD-156EEA2EF971}" destId="{1919D95F-E748-4579-A5DB-19FAA5AD7978}" srcOrd="2" destOrd="0" presId="urn:microsoft.com/office/officeart/2005/8/layout/chevron2"/>
    <dgm:cxn modelId="{AE1E9A8E-4603-415B-BB4E-D9FDDC638E08}" type="presParOf" srcId="{1919D95F-E748-4579-A5DB-19FAA5AD7978}" destId="{8B2457D9-8A01-4F16-A87C-95BA05D235FC}" srcOrd="0" destOrd="0" presId="urn:microsoft.com/office/officeart/2005/8/layout/chevron2"/>
    <dgm:cxn modelId="{66D52FD7-4BE1-49F2-AB21-57B3EEE12BD4}" type="presParOf" srcId="{1919D95F-E748-4579-A5DB-19FAA5AD7978}" destId="{6B234E94-E5D0-46F4-95AC-E4C6DCD16D8B}" srcOrd="1" destOrd="0" presId="urn:microsoft.com/office/officeart/2005/8/layout/chevron2"/>
    <dgm:cxn modelId="{8EA6CB51-C45E-47AA-9168-5918A2AFFD4E}" type="presParOf" srcId="{75A64AD4-8183-4438-85BD-156EEA2EF971}" destId="{0BDC105E-2EEC-4158-AD9B-D22318337A29}" srcOrd="3" destOrd="0" presId="urn:microsoft.com/office/officeart/2005/8/layout/chevron2"/>
    <dgm:cxn modelId="{36FB65A2-34A3-43DF-ACDA-C39958028CC9}" type="presParOf" srcId="{75A64AD4-8183-4438-85BD-156EEA2EF971}" destId="{4A2814F3-1713-4DB4-9ECF-5D7BB0C491EA}" srcOrd="4" destOrd="0" presId="urn:microsoft.com/office/officeart/2005/8/layout/chevron2"/>
    <dgm:cxn modelId="{686B3A6D-A78A-43A9-99BB-3101D8232A26}" type="presParOf" srcId="{4A2814F3-1713-4DB4-9ECF-5D7BB0C491EA}" destId="{2CA2AB75-6958-4E22-8181-E474055B6AF0}" srcOrd="0" destOrd="0" presId="urn:microsoft.com/office/officeart/2005/8/layout/chevron2"/>
    <dgm:cxn modelId="{FB839967-7AC6-4EEA-A631-CC820E209992}" type="presParOf" srcId="{4A2814F3-1713-4DB4-9ECF-5D7BB0C491EA}" destId="{CBDD9B47-542A-4E98-92E3-6EEF9F5D326A}"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E84C577-FB97-4C5C-8B2B-7960AE125F16}" type="doc">
      <dgm:prSet loTypeId="urn:microsoft.com/office/officeart/2005/8/layout/hierarchy3" loCatId="hierarchy" qsTypeId="urn:microsoft.com/office/officeart/2005/8/quickstyle/simple5" qsCatId="simple" csTypeId="urn:microsoft.com/office/officeart/2005/8/colors/accent0_3" csCatId="mainScheme" phldr="1"/>
      <dgm:spPr/>
      <dgm:t>
        <a:bodyPr/>
        <a:lstStyle/>
        <a:p>
          <a:endParaRPr lang="en-US"/>
        </a:p>
      </dgm:t>
    </dgm:pt>
    <dgm:pt modelId="{A2819AEE-6358-4B2F-9307-E631DFA160D7}">
      <dgm:prSet/>
      <dgm:spPr>
        <a:solidFill>
          <a:schemeClr val="accent1"/>
        </a:solidFill>
      </dgm:spPr>
      <dgm:t>
        <a:bodyPr/>
        <a:lstStyle/>
        <a:p>
          <a:r>
            <a:rPr lang="en-US" dirty="0"/>
            <a:t>Scope Includes:</a:t>
          </a:r>
        </a:p>
      </dgm:t>
    </dgm:pt>
    <dgm:pt modelId="{21E8AEF3-4B29-4EF1-88D5-026FC6507A31}" type="parTrans" cxnId="{8AD16F22-9566-492F-AEBA-48ABD8D0771E}">
      <dgm:prSet/>
      <dgm:spPr/>
      <dgm:t>
        <a:bodyPr/>
        <a:lstStyle/>
        <a:p>
          <a:endParaRPr lang="en-US"/>
        </a:p>
      </dgm:t>
    </dgm:pt>
    <dgm:pt modelId="{3790422C-EF38-486E-B770-9361960C445E}" type="sibTrans" cxnId="{8AD16F22-9566-492F-AEBA-48ABD8D0771E}">
      <dgm:prSet/>
      <dgm:spPr/>
      <dgm:t>
        <a:bodyPr/>
        <a:lstStyle/>
        <a:p>
          <a:endParaRPr lang="en-US"/>
        </a:p>
      </dgm:t>
    </dgm:pt>
    <dgm:pt modelId="{05EEF727-1629-452C-B34A-661A4565B3C4}">
      <dgm:prSet custT="1"/>
      <dgm:spPr/>
      <dgm:t>
        <a:bodyPr/>
        <a:lstStyle/>
        <a:p>
          <a:r>
            <a:rPr lang="en-US" sz="1400" dirty="0"/>
            <a:t>Total Capital Costs</a:t>
          </a:r>
        </a:p>
      </dgm:t>
    </dgm:pt>
    <dgm:pt modelId="{6E676F80-3A29-4B1A-896F-F06AACBEA9B2}" type="parTrans" cxnId="{EF67E1E9-05F4-402D-AED7-1F74B8251C6F}">
      <dgm:prSet/>
      <dgm:spPr/>
      <dgm:t>
        <a:bodyPr/>
        <a:lstStyle/>
        <a:p>
          <a:endParaRPr lang="en-US" sz="2000"/>
        </a:p>
      </dgm:t>
    </dgm:pt>
    <dgm:pt modelId="{124D9B90-079D-4BF0-8F14-CFF633AD47D8}" type="sibTrans" cxnId="{EF67E1E9-05F4-402D-AED7-1F74B8251C6F}">
      <dgm:prSet/>
      <dgm:spPr/>
      <dgm:t>
        <a:bodyPr/>
        <a:lstStyle/>
        <a:p>
          <a:endParaRPr lang="en-US"/>
        </a:p>
      </dgm:t>
    </dgm:pt>
    <dgm:pt modelId="{FCA8606D-03F5-43C9-8BA3-F77935B9D3A4}">
      <dgm:prSet custT="1"/>
      <dgm:spPr/>
      <dgm:t>
        <a:bodyPr/>
        <a:lstStyle/>
        <a:p>
          <a:r>
            <a:rPr lang="en-US" sz="1400" dirty="0"/>
            <a:t>Variables Cost of Production</a:t>
          </a:r>
        </a:p>
      </dgm:t>
    </dgm:pt>
    <dgm:pt modelId="{2E92BA48-468B-4116-8A75-28C21B785299}" type="parTrans" cxnId="{D2EDF2EA-09D7-4D68-A24D-A02EFBBD665D}">
      <dgm:prSet/>
      <dgm:spPr/>
      <dgm:t>
        <a:bodyPr/>
        <a:lstStyle/>
        <a:p>
          <a:endParaRPr lang="en-US" sz="2000"/>
        </a:p>
      </dgm:t>
    </dgm:pt>
    <dgm:pt modelId="{D141FFB1-9630-47E3-A729-7B6F44AA742F}" type="sibTrans" cxnId="{D2EDF2EA-09D7-4D68-A24D-A02EFBBD665D}">
      <dgm:prSet/>
      <dgm:spPr/>
      <dgm:t>
        <a:bodyPr/>
        <a:lstStyle/>
        <a:p>
          <a:endParaRPr lang="en-US"/>
        </a:p>
      </dgm:t>
    </dgm:pt>
    <dgm:pt modelId="{136622A6-992A-4972-A80D-9E3088BFADDC}">
      <dgm:prSet custT="1"/>
      <dgm:spPr/>
      <dgm:t>
        <a:bodyPr/>
        <a:lstStyle/>
        <a:p>
          <a:r>
            <a:rPr lang="en-US" sz="1400" dirty="0"/>
            <a:t>Fixed Cost of Production</a:t>
          </a:r>
        </a:p>
      </dgm:t>
    </dgm:pt>
    <dgm:pt modelId="{364E0459-D123-45B1-AA3F-250976E558A2}" type="parTrans" cxnId="{45052C5E-DE9E-4152-9CD2-B0AFD898C7A8}">
      <dgm:prSet/>
      <dgm:spPr/>
      <dgm:t>
        <a:bodyPr/>
        <a:lstStyle/>
        <a:p>
          <a:endParaRPr lang="en-US" sz="2000"/>
        </a:p>
      </dgm:t>
    </dgm:pt>
    <dgm:pt modelId="{727C40A8-7DE8-4F54-9A29-25A21971483C}" type="sibTrans" cxnId="{45052C5E-DE9E-4152-9CD2-B0AFD898C7A8}">
      <dgm:prSet/>
      <dgm:spPr/>
      <dgm:t>
        <a:bodyPr/>
        <a:lstStyle/>
        <a:p>
          <a:endParaRPr lang="en-US"/>
        </a:p>
      </dgm:t>
    </dgm:pt>
    <dgm:pt modelId="{1B75CA32-AD3A-4F1A-B1BB-9A967F7549AE}">
      <dgm:prSet custT="1"/>
      <dgm:spPr/>
      <dgm:t>
        <a:bodyPr/>
        <a:lstStyle/>
        <a:p>
          <a:r>
            <a:rPr lang="en-US" sz="1400" dirty="0"/>
            <a:t>NPV, ROI, Simple Payback Period</a:t>
          </a:r>
        </a:p>
      </dgm:t>
    </dgm:pt>
    <dgm:pt modelId="{54FD36F7-DDDE-44D7-947F-5B11F14559BE}" type="parTrans" cxnId="{709B97BB-AA4C-478E-9BCC-A3A39C238A55}">
      <dgm:prSet/>
      <dgm:spPr/>
      <dgm:t>
        <a:bodyPr/>
        <a:lstStyle/>
        <a:p>
          <a:endParaRPr lang="en-US" sz="2000"/>
        </a:p>
      </dgm:t>
    </dgm:pt>
    <dgm:pt modelId="{E5D1BEBE-E2CE-450B-8958-7932A32FCECC}" type="sibTrans" cxnId="{709B97BB-AA4C-478E-9BCC-A3A39C238A55}">
      <dgm:prSet/>
      <dgm:spPr/>
      <dgm:t>
        <a:bodyPr/>
        <a:lstStyle/>
        <a:p>
          <a:endParaRPr lang="en-US"/>
        </a:p>
      </dgm:t>
    </dgm:pt>
    <dgm:pt modelId="{A4FDF19D-26F5-43F4-9A54-40F8AC04C34B}">
      <dgm:prSet custT="1"/>
      <dgm:spPr/>
      <dgm:t>
        <a:bodyPr/>
        <a:lstStyle/>
        <a:p>
          <a:r>
            <a:rPr lang="en-US" sz="1400" dirty="0"/>
            <a:t>Revenues, Profits</a:t>
          </a:r>
        </a:p>
      </dgm:t>
    </dgm:pt>
    <dgm:pt modelId="{455C5DD5-5B96-4FF6-B16A-DC07E07235F9}" type="parTrans" cxnId="{FAC8835D-96CD-4894-BAA5-E4287C3B468B}">
      <dgm:prSet/>
      <dgm:spPr/>
      <dgm:t>
        <a:bodyPr/>
        <a:lstStyle/>
        <a:p>
          <a:endParaRPr lang="en-US" sz="2000"/>
        </a:p>
      </dgm:t>
    </dgm:pt>
    <dgm:pt modelId="{524E7D8F-5EFF-4532-8CCD-8652E99DE3A9}" type="sibTrans" cxnId="{FAC8835D-96CD-4894-BAA5-E4287C3B468B}">
      <dgm:prSet/>
      <dgm:spPr/>
      <dgm:t>
        <a:bodyPr/>
        <a:lstStyle/>
        <a:p>
          <a:endParaRPr lang="en-US"/>
        </a:p>
      </dgm:t>
    </dgm:pt>
    <dgm:pt modelId="{3B285E8A-B48D-4356-9408-FB456DD42A54}" type="pres">
      <dgm:prSet presAssocID="{CE84C577-FB97-4C5C-8B2B-7960AE125F16}" presName="diagram" presStyleCnt="0">
        <dgm:presLayoutVars>
          <dgm:chPref val="1"/>
          <dgm:dir/>
          <dgm:animOne val="branch"/>
          <dgm:animLvl val="lvl"/>
          <dgm:resizeHandles/>
        </dgm:presLayoutVars>
      </dgm:prSet>
      <dgm:spPr/>
    </dgm:pt>
    <dgm:pt modelId="{ABDDA517-E26B-4F38-9244-F95B74A445E6}" type="pres">
      <dgm:prSet presAssocID="{A2819AEE-6358-4B2F-9307-E631DFA160D7}" presName="root" presStyleCnt="0"/>
      <dgm:spPr/>
    </dgm:pt>
    <dgm:pt modelId="{9587E5C5-FF34-4833-ABF8-3405D6EBE2AB}" type="pres">
      <dgm:prSet presAssocID="{A2819AEE-6358-4B2F-9307-E631DFA160D7}" presName="rootComposite" presStyleCnt="0"/>
      <dgm:spPr/>
    </dgm:pt>
    <dgm:pt modelId="{B173D933-BCD3-4A80-BD51-F585A091B74A}" type="pres">
      <dgm:prSet presAssocID="{A2819AEE-6358-4B2F-9307-E631DFA160D7}" presName="rootText" presStyleLbl="node1" presStyleIdx="0" presStyleCnt="1"/>
      <dgm:spPr/>
    </dgm:pt>
    <dgm:pt modelId="{81A60C1B-77AC-4E18-9173-485D7C4575A8}" type="pres">
      <dgm:prSet presAssocID="{A2819AEE-6358-4B2F-9307-E631DFA160D7}" presName="rootConnector" presStyleLbl="node1" presStyleIdx="0" presStyleCnt="1"/>
      <dgm:spPr/>
    </dgm:pt>
    <dgm:pt modelId="{28CC69F2-9561-456B-84FB-5FA20423676C}" type="pres">
      <dgm:prSet presAssocID="{A2819AEE-6358-4B2F-9307-E631DFA160D7}" presName="childShape" presStyleCnt="0"/>
      <dgm:spPr/>
    </dgm:pt>
    <dgm:pt modelId="{A94A3311-6C01-4E42-BF66-92D0574885CF}" type="pres">
      <dgm:prSet presAssocID="{6E676F80-3A29-4B1A-896F-F06AACBEA9B2}" presName="Name13" presStyleLbl="parChTrans1D2" presStyleIdx="0" presStyleCnt="5"/>
      <dgm:spPr/>
    </dgm:pt>
    <dgm:pt modelId="{991551AF-ADF2-465C-B557-F09425C03181}" type="pres">
      <dgm:prSet presAssocID="{05EEF727-1629-452C-B34A-661A4565B3C4}" presName="childText" presStyleLbl="bgAcc1" presStyleIdx="0" presStyleCnt="5">
        <dgm:presLayoutVars>
          <dgm:bulletEnabled val="1"/>
        </dgm:presLayoutVars>
      </dgm:prSet>
      <dgm:spPr/>
    </dgm:pt>
    <dgm:pt modelId="{43C1C610-0796-4E9C-8B6F-2F41BF8ED740}" type="pres">
      <dgm:prSet presAssocID="{2E92BA48-468B-4116-8A75-28C21B785299}" presName="Name13" presStyleLbl="parChTrans1D2" presStyleIdx="1" presStyleCnt="5"/>
      <dgm:spPr/>
    </dgm:pt>
    <dgm:pt modelId="{1179ECB5-2BED-4A0E-8A80-0AA7B8C03929}" type="pres">
      <dgm:prSet presAssocID="{FCA8606D-03F5-43C9-8BA3-F77935B9D3A4}" presName="childText" presStyleLbl="bgAcc1" presStyleIdx="1" presStyleCnt="5">
        <dgm:presLayoutVars>
          <dgm:bulletEnabled val="1"/>
        </dgm:presLayoutVars>
      </dgm:prSet>
      <dgm:spPr/>
    </dgm:pt>
    <dgm:pt modelId="{69CB214B-D736-46F5-93CE-736EA12F28A8}" type="pres">
      <dgm:prSet presAssocID="{364E0459-D123-45B1-AA3F-250976E558A2}" presName="Name13" presStyleLbl="parChTrans1D2" presStyleIdx="2" presStyleCnt="5"/>
      <dgm:spPr/>
    </dgm:pt>
    <dgm:pt modelId="{A6D73B4B-CAC8-4E7F-9EE7-563EA967E198}" type="pres">
      <dgm:prSet presAssocID="{136622A6-992A-4972-A80D-9E3088BFADDC}" presName="childText" presStyleLbl="bgAcc1" presStyleIdx="2" presStyleCnt="5">
        <dgm:presLayoutVars>
          <dgm:bulletEnabled val="1"/>
        </dgm:presLayoutVars>
      </dgm:prSet>
      <dgm:spPr/>
    </dgm:pt>
    <dgm:pt modelId="{FD7A714E-6955-49C4-8E78-AA82215E722B}" type="pres">
      <dgm:prSet presAssocID="{54FD36F7-DDDE-44D7-947F-5B11F14559BE}" presName="Name13" presStyleLbl="parChTrans1D2" presStyleIdx="3" presStyleCnt="5"/>
      <dgm:spPr/>
    </dgm:pt>
    <dgm:pt modelId="{B07C56DC-B0EC-4FBA-917B-EEE9624C8A0C}" type="pres">
      <dgm:prSet presAssocID="{1B75CA32-AD3A-4F1A-B1BB-9A967F7549AE}" presName="childText" presStyleLbl="bgAcc1" presStyleIdx="3" presStyleCnt="5">
        <dgm:presLayoutVars>
          <dgm:bulletEnabled val="1"/>
        </dgm:presLayoutVars>
      </dgm:prSet>
      <dgm:spPr/>
    </dgm:pt>
    <dgm:pt modelId="{E099BF7E-4754-4B43-B56F-C6B1D0F20CBA}" type="pres">
      <dgm:prSet presAssocID="{455C5DD5-5B96-4FF6-B16A-DC07E07235F9}" presName="Name13" presStyleLbl="parChTrans1D2" presStyleIdx="4" presStyleCnt="5"/>
      <dgm:spPr/>
    </dgm:pt>
    <dgm:pt modelId="{87EC4649-997D-4922-A649-6FB63E16D9B0}" type="pres">
      <dgm:prSet presAssocID="{A4FDF19D-26F5-43F4-9A54-40F8AC04C34B}" presName="childText" presStyleLbl="bgAcc1" presStyleIdx="4" presStyleCnt="5" custLinFactNeighborX="1344" custLinFactNeighborY="4885">
        <dgm:presLayoutVars>
          <dgm:bulletEnabled val="1"/>
        </dgm:presLayoutVars>
      </dgm:prSet>
      <dgm:spPr/>
    </dgm:pt>
  </dgm:ptLst>
  <dgm:cxnLst>
    <dgm:cxn modelId="{F901EF03-0F82-4AAA-B5B4-069FE362F1B1}" type="presOf" srcId="{A4FDF19D-26F5-43F4-9A54-40F8AC04C34B}" destId="{87EC4649-997D-4922-A649-6FB63E16D9B0}" srcOrd="0" destOrd="0" presId="urn:microsoft.com/office/officeart/2005/8/layout/hierarchy3"/>
    <dgm:cxn modelId="{8AD16F22-9566-492F-AEBA-48ABD8D0771E}" srcId="{CE84C577-FB97-4C5C-8B2B-7960AE125F16}" destId="{A2819AEE-6358-4B2F-9307-E631DFA160D7}" srcOrd="0" destOrd="0" parTransId="{21E8AEF3-4B29-4EF1-88D5-026FC6507A31}" sibTransId="{3790422C-EF38-486E-B770-9361960C445E}"/>
    <dgm:cxn modelId="{0145282A-A18F-48A2-8A9D-3ED3BA17F916}" type="presOf" srcId="{CE84C577-FB97-4C5C-8B2B-7960AE125F16}" destId="{3B285E8A-B48D-4356-9408-FB456DD42A54}" srcOrd="0" destOrd="0" presId="urn:microsoft.com/office/officeart/2005/8/layout/hierarchy3"/>
    <dgm:cxn modelId="{AB5C452B-7CCB-4179-B6E2-D1A0F7BD00EC}" type="presOf" srcId="{2E92BA48-468B-4116-8A75-28C21B785299}" destId="{43C1C610-0796-4E9C-8B6F-2F41BF8ED740}" srcOrd="0" destOrd="0" presId="urn:microsoft.com/office/officeart/2005/8/layout/hierarchy3"/>
    <dgm:cxn modelId="{9A693C40-89CD-48B0-A75F-2D8214AF7FA6}" type="presOf" srcId="{A2819AEE-6358-4B2F-9307-E631DFA160D7}" destId="{B173D933-BCD3-4A80-BD51-F585A091B74A}" srcOrd="0" destOrd="0" presId="urn:microsoft.com/office/officeart/2005/8/layout/hierarchy3"/>
    <dgm:cxn modelId="{FAC8835D-96CD-4894-BAA5-E4287C3B468B}" srcId="{A2819AEE-6358-4B2F-9307-E631DFA160D7}" destId="{A4FDF19D-26F5-43F4-9A54-40F8AC04C34B}" srcOrd="4" destOrd="0" parTransId="{455C5DD5-5B96-4FF6-B16A-DC07E07235F9}" sibTransId="{524E7D8F-5EFF-4532-8CCD-8652E99DE3A9}"/>
    <dgm:cxn modelId="{45052C5E-DE9E-4152-9CD2-B0AFD898C7A8}" srcId="{A2819AEE-6358-4B2F-9307-E631DFA160D7}" destId="{136622A6-992A-4972-A80D-9E3088BFADDC}" srcOrd="2" destOrd="0" parTransId="{364E0459-D123-45B1-AA3F-250976E558A2}" sibTransId="{727C40A8-7DE8-4F54-9A29-25A21971483C}"/>
    <dgm:cxn modelId="{4E288D77-5B8D-4073-A9A9-55C91B620780}" type="presOf" srcId="{455C5DD5-5B96-4FF6-B16A-DC07E07235F9}" destId="{E099BF7E-4754-4B43-B56F-C6B1D0F20CBA}" srcOrd="0" destOrd="0" presId="urn:microsoft.com/office/officeart/2005/8/layout/hierarchy3"/>
    <dgm:cxn modelId="{5FB08980-8659-4369-8C4B-9AC3C5E9ABA3}" type="presOf" srcId="{A2819AEE-6358-4B2F-9307-E631DFA160D7}" destId="{81A60C1B-77AC-4E18-9173-485D7C4575A8}" srcOrd="1" destOrd="0" presId="urn:microsoft.com/office/officeart/2005/8/layout/hierarchy3"/>
    <dgm:cxn modelId="{DECF538F-1149-4ECA-A3EE-E78380D5C40C}" type="presOf" srcId="{1B75CA32-AD3A-4F1A-B1BB-9A967F7549AE}" destId="{B07C56DC-B0EC-4FBA-917B-EEE9624C8A0C}" srcOrd="0" destOrd="0" presId="urn:microsoft.com/office/officeart/2005/8/layout/hierarchy3"/>
    <dgm:cxn modelId="{66F9A0B3-F5F9-4774-9849-7704E3280D84}" type="presOf" srcId="{364E0459-D123-45B1-AA3F-250976E558A2}" destId="{69CB214B-D736-46F5-93CE-736EA12F28A8}" srcOrd="0" destOrd="0" presId="urn:microsoft.com/office/officeart/2005/8/layout/hierarchy3"/>
    <dgm:cxn modelId="{709B97BB-AA4C-478E-9BCC-A3A39C238A55}" srcId="{A2819AEE-6358-4B2F-9307-E631DFA160D7}" destId="{1B75CA32-AD3A-4F1A-B1BB-9A967F7549AE}" srcOrd="3" destOrd="0" parTransId="{54FD36F7-DDDE-44D7-947F-5B11F14559BE}" sibTransId="{E5D1BEBE-E2CE-450B-8958-7932A32FCECC}"/>
    <dgm:cxn modelId="{5F6B46D1-3170-4FB5-B937-CB7B80BCB2C4}" type="presOf" srcId="{FCA8606D-03F5-43C9-8BA3-F77935B9D3A4}" destId="{1179ECB5-2BED-4A0E-8A80-0AA7B8C03929}" srcOrd="0" destOrd="0" presId="urn:microsoft.com/office/officeart/2005/8/layout/hierarchy3"/>
    <dgm:cxn modelId="{89686BD5-79D1-4712-BFAD-9D419E1F61A5}" type="presOf" srcId="{136622A6-992A-4972-A80D-9E3088BFADDC}" destId="{A6D73B4B-CAC8-4E7F-9EE7-563EA967E198}" srcOrd="0" destOrd="0" presId="urn:microsoft.com/office/officeart/2005/8/layout/hierarchy3"/>
    <dgm:cxn modelId="{EF67E1E9-05F4-402D-AED7-1F74B8251C6F}" srcId="{A2819AEE-6358-4B2F-9307-E631DFA160D7}" destId="{05EEF727-1629-452C-B34A-661A4565B3C4}" srcOrd="0" destOrd="0" parTransId="{6E676F80-3A29-4B1A-896F-F06AACBEA9B2}" sibTransId="{124D9B90-079D-4BF0-8F14-CFF633AD47D8}"/>
    <dgm:cxn modelId="{D2EDF2EA-09D7-4D68-A24D-A02EFBBD665D}" srcId="{A2819AEE-6358-4B2F-9307-E631DFA160D7}" destId="{FCA8606D-03F5-43C9-8BA3-F77935B9D3A4}" srcOrd="1" destOrd="0" parTransId="{2E92BA48-468B-4116-8A75-28C21B785299}" sibTransId="{D141FFB1-9630-47E3-A729-7B6F44AA742F}"/>
    <dgm:cxn modelId="{3C79F6EE-E6F0-4D3E-A18C-B9B6336F7874}" type="presOf" srcId="{54FD36F7-DDDE-44D7-947F-5B11F14559BE}" destId="{FD7A714E-6955-49C4-8E78-AA82215E722B}" srcOrd="0" destOrd="0" presId="urn:microsoft.com/office/officeart/2005/8/layout/hierarchy3"/>
    <dgm:cxn modelId="{C27013F9-0A04-41CB-997A-ADC4C13847A7}" type="presOf" srcId="{6E676F80-3A29-4B1A-896F-F06AACBEA9B2}" destId="{A94A3311-6C01-4E42-BF66-92D0574885CF}" srcOrd="0" destOrd="0" presId="urn:microsoft.com/office/officeart/2005/8/layout/hierarchy3"/>
    <dgm:cxn modelId="{C26A58FA-07E5-43B0-8F88-FBEF0F1FC78F}" type="presOf" srcId="{05EEF727-1629-452C-B34A-661A4565B3C4}" destId="{991551AF-ADF2-465C-B557-F09425C03181}" srcOrd="0" destOrd="0" presId="urn:microsoft.com/office/officeart/2005/8/layout/hierarchy3"/>
    <dgm:cxn modelId="{26591985-6FC9-4AFF-9A60-27276345239B}" type="presParOf" srcId="{3B285E8A-B48D-4356-9408-FB456DD42A54}" destId="{ABDDA517-E26B-4F38-9244-F95B74A445E6}" srcOrd="0" destOrd="0" presId="urn:microsoft.com/office/officeart/2005/8/layout/hierarchy3"/>
    <dgm:cxn modelId="{6D6357AB-32A9-4949-BBE3-682614519485}" type="presParOf" srcId="{ABDDA517-E26B-4F38-9244-F95B74A445E6}" destId="{9587E5C5-FF34-4833-ABF8-3405D6EBE2AB}" srcOrd="0" destOrd="0" presId="urn:microsoft.com/office/officeart/2005/8/layout/hierarchy3"/>
    <dgm:cxn modelId="{F603BF60-BB54-47A7-BF31-42335A75E7D2}" type="presParOf" srcId="{9587E5C5-FF34-4833-ABF8-3405D6EBE2AB}" destId="{B173D933-BCD3-4A80-BD51-F585A091B74A}" srcOrd="0" destOrd="0" presId="urn:microsoft.com/office/officeart/2005/8/layout/hierarchy3"/>
    <dgm:cxn modelId="{775F18AA-E4F8-42BF-A868-5D3D26381262}" type="presParOf" srcId="{9587E5C5-FF34-4833-ABF8-3405D6EBE2AB}" destId="{81A60C1B-77AC-4E18-9173-485D7C4575A8}" srcOrd="1" destOrd="0" presId="urn:microsoft.com/office/officeart/2005/8/layout/hierarchy3"/>
    <dgm:cxn modelId="{4B7893AA-EC48-4B08-8B7C-7106BACE20F6}" type="presParOf" srcId="{ABDDA517-E26B-4F38-9244-F95B74A445E6}" destId="{28CC69F2-9561-456B-84FB-5FA20423676C}" srcOrd="1" destOrd="0" presId="urn:microsoft.com/office/officeart/2005/8/layout/hierarchy3"/>
    <dgm:cxn modelId="{C29B7687-46E4-4F48-A05E-CC0A1602182D}" type="presParOf" srcId="{28CC69F2-9561-456B-84FB-5FA20423676C}" destId="{A94A3311-6C01-4E42-BF66-92D0574885CF}" srcOrd="0" destOrd="0" presId="urn:microsoft.com/office/officeart/2005/8/layout/hierarchy3"/>
    <dgm:cxn modelId="{37E50CBC-3DFB-4C34-AC9C-F0607358353C}" type="presParOf" srcId="{28CC69F2-9561-456B-84FB-5FA20423676C}" destId="{991551AF-ADF2-465C-B557-F09425C03181}" srcOrd="1" destOrd="0" presId="urn:microsoft.com/office/officeart/2005/8/layout/hierarchy3"/>
    <dgm:cxn modelId="{76520BA7-E68F-4B5C-89CA-ED656A7B3F39}" type="presParOf" srcId="{28CC69F2-9561-456B-84FB-5FA20423676C}" destId="{43C1C610-0796-4E9C-8B6F-2F41BF8ED740}" srcOrd="2" destOrd="0" presId="urn:microsoft.com/office/officeart/2005/8/layout/hierarchy3"/>
    <dgm:cxn modelId="{BB1AAB0F-CFFC-4D14-ACE4-99DCB22C7218}" type="presParOf" srcId="{28CC69F2-9561-456B-84FB-5FA20423676C}" destId="{1179ECB5-2BED-4A0E-8A80-0AA7B8C03929}" srcOrd="3" destOrd="0" presId="urn:microsoft.com/office/officeart/2005/8/layout/hierarchy3"/>
    <dgm:cxn modelId="{B29AD0A8-FB4C-4F5D-B47D-25B46D31E7A4}" type="presParOf" srcId="{28CC69F2-9561-456B-84FB-5FA20423676C}" destId="{69CB214B-D736-46F5-93CE-736EA12F28A8}" srcOrd="4" destOrd="0" presId="urn:microsoft.com/office/officeart/2005/8/layout/hierarchy3"/>
    <dgm:cxn modelId="{7BA8AFDA-C977-4FCE-9A5E-A76FD7DEF499}" type="presParOf" srcId="{28CC69F2-9561-456B-84FB-5FA20423676C}" destId="{A6D73B4B-CAC8-4E7F-9EE7-563EA967E198}" srcOrd="5" destOrd="0" presId="urn:microsoft.com/office/officeart/2005/8/layout/hierarchy3"/>
    <dgm:cxn modelId="{CB3E4B35-EE48-4C3C-A33F-1D230ACB8526}" type="presParOf" srcId="{28CC69F2-9561-456B-84FB-5FA20423676C}" destId="{FD7A714E-6955-49C4-8E78-AA82215E722B}" srcOrd="6" destOrd="0" presId="urn:microsoft.com/office/officeart/2005/8/layout/hierarchy3"/>
    <dgm:cxn modelId="{34C2501B-BD24-42EA-B63D-937029397DB5}" type="presParOf" srcId="{28CC69F2-9561-456B-84FB-5FA20423676C}" destId="{B07C56DC-B0EC-4FBA-917B-EEE9624C8A0C}" srcOrd="7" destOrd="0" presId="urn:microsoft.com/office/officeart/2005/8/layout/hierarchy3"/>
    <dgm:cxn modelId="{FB513C65-BB7B-4A9F-AA97-9DAEFB8F39B3}" type="presParOf" srcId="{28CC69F2-9561-456B-84FB-5FA20423676C}" destId="{E099BF7E-4754-4B43-B56F-C6B1D0F20CBA}" srcOrd="8" destOrd="0" presId="urn:microsoft.com/office/officeart/2005/8/layout/hierarchy3"/>
    <dgm:cxn modelId="{E42C62A1-858C-4983-A533-CCBB92F87554}" type="presParOf" srcId="{28CC69F2-9561-456B-84FB-5FA20423676C}" destId="{87EC4649-997D-4922-A649-6FB63E16D9B0}" srcOrd="9"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73D933-BCD3-4A80-BD51-F585A091B74A}">
      <dsp:nvSpPr>
        <dsp:cNvPr id="0" name=""/>
        <dsp:cNvSpPr/>
      </dsp:nvSpPr>
      <dsp:spPr>
        <a:xfrm>
          <a:off x="4132096" y="261"/>
          <a:ext cx="1650901" cy="825450"/>
        </a:xfrm>
        <a:prstGeom prst="roundRect">
          <a:avLst>
            <a:gd name="adj" fmla="val 10000"/>
          </a:avLst>
        </a:prstGeom>
        <a:solidFill>
          <a:schemeClr val="accent1"/>
        </a:soli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kern="1200" dirty="0"/>
            <a:t>Scope Includes:</a:t>
          </a:r>
        </a:p>
      </dsp:txBody>
      <dsp:txXfrm>
        <a:off x="4156273" y="24438"/>
        <a:ext cx="1602547" cy="777096"/>
      </dsp:txXfrm>
    </dsp:sp>
    <dsp:sp modelId="{A94A3311-6C01-4E42-BF66-92D0574885CF}">
      <dsp:nvSpPr>
        <dsp:cNvPr id="0" name=""/>
        <dsp:cNvSpPr/>
      </dsp:nvSpPr>
      <dsp:spPr>
        <a:xfrm>
          <a:off x="4297186" y="825712"/>
          <a:ext cx="165090" cy="619088"/>
        </a:xfrm>
        <a:custGeom>
          <a:avLst/>
          <a:gdLst/>
          <a:ahLst/>
          <a:cxnLst/>
          <a:rect l="0" t="0" r="0" b="0"/>
          <a:pathLst>
            <a:path>
              <a:moveTo>
                <a:pt x="0" y="0"/>
              </a:moveTo>
              <a:lnTo>
                <a:pt x="0" y="619088"/>
              </a:lnTo>
              <a:lnTo>
                <a:pt x="165090" y="619088"/>
              </a:lnTo>
            </a:path>
          </a:pathLst>
        </a:custGeom>
        <a:noFill/>
        <a:ln w="19050" cap="rnd"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1551AF-ADF2-465C-B557-F09425C03181}">
      <dsp:nvSpPr>
        <dsp:cNvPr id="0" name=""/>
        <dsp:cNvSpPr/>
      </dsp:nvSpPr>
      <dsp:spPr>
        <a:xfrm>
          <a:off x="4462276" y="1032075"/>
          <a:ext cx="1320721" cy="825450"/>
        </a:xfrm>
        <a:prstGeom prst="roundRect">
          <a:avLst>
            <a:gd name="adj" fmla="val 10000"/>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Total Capital Costs</a:t>
          </a:r>
        </a:p>
      </dsp:txBody>
      <dsp:txXfrm>
        <a:off x="4486453" y="1056252"/>
        <a:ext cx="1272367" cy="777096"/>
      </dsp:txXfrm>
    </dsp:sp>
    <dsp:sp modelId="{43C1C610-0796-4E9C-8B6F-2F41BF8ED740}">
      <dsp:nvSpPr>
        <dsp:cNvPr id="0" name=""/>
        <dsp:cNvSpPr/>
      </dsp:nvSpPr>
      <dsp:spPr>
        <a:xfrm>
          <a:off x="4297186" y="825712"/>
          <a:ext cx="165090" cy="1650901"/>
        </a:xfrm>
        <a:custGeom>
          <a:avLst/>
          <a:gdLst/>
          <a:ahLst/>
          <a:cxnLst/>
          <a:rect l="0" t="0" r="0" b="0"/>
          <a:pathLst>
            <a:path>
              <a:moveTo>
                <a:pt x="0" y="0"/>
              </a:moveTo>
              <a:lnTo>
                <a:pt x="0" y="1650901"/>
              </a:lnTo>
              <a:lnTo>
                <a:pt x="165090" y="1650901"/>
              </a:lnTo>
            </a:path>
          </a:pathLst>
        </a:custGeom>
        <a:noFill/>
        <a:ln w="19050" cap="rnd"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79ECB5-2BED-4A0E-8A80-0AA7B8C03929}">
      <dsp:nvSpPr>
        <dsp:cNvPr id="0" name=""/>
        <dsp:cNvSpPr/>
      </dsp:nvSpPr>
      <dsp:spPr>
        <a:xfrm>
          <a:off x="4462276" y="2063888"/>
          <a:ext cx="1320721" cy="825450"/>
        </a:xfrm>
        <a:prstGeom prst="roundRect">
          <a:avLst>
            <a:gd name="adj" fmla="val 10000"/>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Variables Cost of Production</a:t>
          </a:r>
        </a:p>
      </dsp:txBody>
      <dsp:txXfrm>
        <a:off x="4486453" y="2088065"/>
        <a:ext cx="1272367" cy="777096"/>
      </dsp:txXfrm>
    </dsp:sp>
    <dsp:sp modelId="{69CB214B-D736-46F5-93CE-736EA12F28A8}">
      <dsp:nvSpPr>
        <dsp:cNvPr id="0" name=""/>
        <dsp:cNvSpPr/>
      </dsp:nvSpPr>
      <dsp:spPr>
        <a:xfrm>
          <a:off x="4297186" y="825712"/>
          <a:ext cx="165090" cy="2682715"/>
        </a:xfrm>
        <a:custGeom>
          <a:avLst/>
          <a:gdLst/>
          <a:ahLst/>
          <a:cxnLst/>
          <a:rect l="0" t="0" r="0" b="0"/>
          <a:pathLst>
            <a:path>
              <a:moveTo>
                <a:pt x="0" y="0"/>
              </a:moveTo>
              <a:lnTo>
                <a:pt x="0" y="2682715"/>
              </a:lnTo>
              <a:lnTo>
                <a:pt x="165090" y="2682715"/>
              </a:lnTo>
            </a:path>
          </a:pathLst>
        </a:custGeom>
        <a:noFill/>
        <a:ln w="19050" cap="rnd"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D73B4B-CAC8-4E7F-9EE7-563EA967E198}">
      <dsp:nvSpPr>
        <dsp:cNvPr id="0" name=""/>
        <dsp:cNvSpPr/>
      </dsp:nvSpPr>
      <dsp:spPr>
        <a:xfrm>
          <a:off x="4462276" y="3095702"/>
          <a:ext cx="1320721" cy="825450"/>
        </a:xfrm>
        <a:prstGeom prst="roundRect">
          <a:avLst>
            <a:gd name="adj" fmla="val 10000"/>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Fixed Cost of Production</a:t>
          </a:r>
        </a:p>
      </dsp:txBody>
      <dsp:txXfrm>
        <a:off x="4486453" y="3119879"/>
        <a:ext cx="1272367" cy="777096"/>
      </dsp:txXfrm>
    </dsp:sp>
    <dsp:sp modelId="{FD7A714E-6955-49C4-8E78-AA82215E722B}">
      <dsp:nvSpPr>
        <dsp:cNvPr id="0" name=""/>
        <dsp:cNvSpPr/>
      </dsp:nvSpPr>
      <dsp:spPr>
        <a:xfrm>
          <a:off x="4297186" y="825712"/>
          <a:ext cx="165090" cy="3714529"/>
        </a:xfrm>
        <a:custGeom>
          <a:avLst/>
          <a:gdLst/>
          <a:ahLst/>
          <a:cxnLst/>
          <a:rect l="0" t="0" r="0" b="0"/>
          <a:pathLst>
            <a:path>
              <a:moveTo>
                <a:pt x="0" y="0"/>
              </a:moveTo>
              <a:lnTo>
                <a:pt x="0" y="3714529"/>
              </a:lnTo>
              <a:lnTo>
                <a:pt x="165090" y="3714529"/>
              </a:lnTo>
            </a:path>
          </a:pathLst>
        </a:custGeom>
        <a:noFill/>
        <a:ln w="19050" cap="rnd"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07C56DC-B0EC-4FBA-917B-EEE9624C8A0C}">
      <dsp:nvSpPr>
        <dsp:cNvPr id="0" name=""/>
        <dsp:cNvSpPr/>
      </dsp:nvSpPr>
      <dsp:spPr>
        <a:xfrm>
          <a:off x="4462276" y="4127516"/>
          <a:ext cx="1320721" cy="825450"/>
        </a:xfrm>
        <a:prstGeom prst="roundRect">
          <a:avLst>
            <a:gd name="adj" fmla="val 10000"/>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NPV, ROI, Simple Payback Period</a:t>
          </a:r>
        </a:p>
      </dsp:txBody>
      <dsp:txXfrm>
        <a:off x="4486453" y="4151693"/>
        <a:ext cx="1272367" cy="777096"/>
      </dsp:txXfrm>
    </dsp:sp>
    <dsp:sp modelId="{E099BF7E-4754-4B43-B56F-C6B1D0F20CBA}">
      <dsp:nvSpPr>
        <dsp:cNvPr id="0" name=""/>
        <dsp:cNvSpPr/>
      </dsp:nvSpPr>
      <dsp:spPr>
        <a:xfrm>
          <a:off x="4297186" y="825712"/>
          <a:ext cx="182840" cy="4746604"/>
        </a:xfrm>
        <a:custGeom>
          <a:avLst/>
          <a:gdLst/>
          <a:ahLst/>
          <a:cxnLst/>
          <a:rect l="0" t="0" r="0" b="0"/>
          <a:pathLst>
            <a:path>
              <a:moveTo>
                <a:pt x="0" y="0"/>
              </a:moveTo>
              <a:lnTo>
                <a:pt x="0" y="4746604"/>
              </a:lnTo>
              <a:lnTo>
                <a:pt x="182840" y="4746604"/>
              </a:lnTo>
            </a:path>
          </a:pathLst>
        </a:custGeom>
        <a:noFill/>
        <a:ln w="19050" cap="rnd"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7EC4649-997D-4922-A649-6FB63E16D9B0}">
      <dsp:nvSpPr>
        <dsp:cNvPr id="0" name=""/>
        <dsp:cNvSpPr/>
      </dsp:nvSpPr>
      <dsp:spPr>
        <a:xfrm>
          <a:off x="4480026" y="5159591"/>
          <a:ext cx="1320721" cy="825450"/>
        </a:xfrm>
        <a:prstGeom prst="roundRect">
          <a:avLst>
            <a:gd name="adj" fmla="val 10000"/>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Revenues, Profits</a:t>
          </a:r>
        </a:p>
      </dsp:txBody>
      <dsp:txXfrm>
        <a:off x="4504203" y="5183768"/>
        <a:ext cx="1272367" cy="7770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B19E9D-3313-4DD6-A279-8B875B0B77B9}">
      <dsp:nvSpPr>
        <dsp:cNvPr id="0" name=""/>
        <dsp:cNvSpPr/>
      </dsp:nvSpPr>
      <dsp:spPr>
        <a:xfrm>
          <a:off x="1848784" y="630149"/>
          <a:ext cx="1472602" cy="29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38100" rIns="106680" bIns="38100" numCol="1" spcCol="1270" anchor="ctr" anchorCtr="0">
          <a:noAutofit/>
        </a:bodyPr>
        <a:lstStyle/>
        <a:p>
          <a:pPr marL="0" lvl="0" indent="0" algn="r" defTabSz="666750">
            <a:lnSpc>
              <a:spcPct val="90000"/>
            </a:lnSpc>
            <a:spcBef>
              <a:spcPct val="0"/>
            </a:spcBef>
            <a:spcAft>
              <a:spcPct val="35000"/>
            </a:spcAft>
            <a:buNone/>
          </a:pPr>
          <a:r>
            <a:rPr lang="en-US" sz="1500" kern="1200" dirty="0"/>
            <a:t>By-products:</a:t>
          </a:r>
        </a:p>
      </dsp:txBody>
      <dsp:txXfrm>
        <a:off x="1848784" y="630149"/>
        <a:ext cx="1472602" cy="297000"/>
      </dsp:txXfrm>
    </dsp:sp>
    <dsp:sp modelId="{956E645D-61FE-4076-8661-51A7C1094954}">
      <dsp:nvSpPr>
        <dsp:cNvPr id="0" name=""/>
        <dsp:cNvSpPr/>
      </dsp:nvSpPr>
      <dsp:spPr>
        <a:xfrm>
          <a:off x="3396818" y="553188"/>
          <a:ext cx="457322" cy="450923"/>
        </a:xfrm>
        <a:prstGeom prst="leftBrace">
          <a:avLst>
            <a:gd name="adj1" fmla="val 35000"/>
            <a:gd name="adj2" fmla="val 5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A219D3F-B518-4521-BEB5-4579783AE8CC}">
      <dsp:nvSpPr>
        <dsp:cNvPr id="0" name=""/>
        <dsp:cNvSpPr/>
      </dsp:nvSpPr>
      <dsp:spPr>
        <a:xfrm>
          <a:off x="1924216" y="1135072"/>
          <a:ext cx="1472602" cy="29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38100" rIns="106680" bIns="38100" numCol="1" spcCol="1270" anchor="ctr" anchorCtr="0">
          <a:noAutofit/>
        </a:bodyPr>
        <a:lstStyle/>
        <a:p>
          <a:pPr marL="0" lvl="0" indent="0" algn="r" defTabSz="666750">
            <a:lnSpc>
              <a:spcPct val="90000"/>
            </a:lnSpc>
            <a:spcBef>
              <a:spcPct val="0"/>
            </a:spcBef>
            <a:spcAft>
              <a:spcPct val="35000"/>
            </a:spcAft>
            <a:buNone/>
          </a:pPr>
          <a:r>
            <a:rPr lang="en-US" sz="1500" kern="1200" dirty="0"/>
            <a:t>Raw Materials:</a:t>
          </a:r>
        </a:p>
      </dsp:txBody>
      <dsp:txXfrm>
        <a:off x="1924216" y="1135072"/>
        <a:ext cx="1472602" cy="297000"/>
      </dsp:txXfrm>
    </dsp:sp>
    <dsp:sp modelId="{51C729D6-2D86-40E5-A0E9-6D75ECA5724D}">
      <dsp:nvSpPr>
        <dsp:cNvPr id="0" name=""/>
        <dsp:cNvSpPr/>
      </dsp:nvSpPr>
      <dsp:spPr>
        <a:xfrm>
          <a:off x="3396818" y="1058111"/>
          <a:ext cx="457322" cy="450923"/>
        </a:xfrm>
        <a:prstGeom prst="leftBrace">
          <a:avLst>
            <a:gd name="adj1" fmla="val 35000"/>
            <a:gd name="adj2" fmla="val 5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1C50391-7E60-429E-9D23-513FA4EF84C2}">
      <dsp:nvSpPr>
        <dsp:cNvPr id="0" name=""/>
        <dsp:cNvSpPr/>
      </dsp:nvSpPr>
      <dsp:spPr>
        <a:xfrm>
          <a:off x="1924216" y="1639996"/>
          <a:ext cx="1472602" cy="29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38100" rIns="106680" bIns="38100" numCol="1" spcCol="1270" anchor="ctr" anchorCtr="0">
          <a:noAutofit/>
        </a:bodyPr>
        <a:lstStyle/>
        <a:p>
          <a:pPr marL="0" lvl="0" indent="0" algn="r" defTabSz="666750">
            <a:lnSpc>
              <a:spcPct val="90000"/>
            </a:lnSpc>
            <a:spcBef>
              <a:spcPct val="0"/>
            </a:spcBef>
            <a:spcAft>
              <a:spcPct val="35000"/>
            </a:spcAft>
            <a:buNone/>
          </a:pPr>
          <a:r>
            <a:rPr lang="en-US" sz="1500" kern="1200" dirty="0"/>
            <a:t>Consumables:</a:t>
          </a:r>
        </a:p>
      </dsp:txBody>
      <dsp:txXfrm>
        <a:off x="1924216" y="1639996"/>
        <a:ext cx="1472602" cy="297000"/>
      </dsp:txXfrm>
    </dsp:sp>
    <dsp:sp modelId="{94325AAA-2B8B-4950-ABFB-8848DFBC0D50}">
      <dsp:nvSpPr>
        <dsp:cNvPr id="0" name=""/>
        <dsp:cNvSpPr/>
      </dsp:nvSpPr>
      <dsp:spPr>
        <a:xfrm>
          <a:off x="3396818" y="1563034"/>
          <a:ext cx="457322" cy="450923"/>
        </a:xfrm>
        <a:prstGeom prst="leftBrace">
          <a:avLst>
            <a:gd name="adj1" fmla="val 35000"/>
            <a:gd name="adj2" fmla="val 5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DE60BD-1ED8-40DB-ACEC-C3DFE0896C68}">
      <dsp:nvSpPr>
        <dsp:cNvPr id="0" name=""/>
        <dsp:cNvSpPr/>
      </dsp:nvSpPr>
      <dsp:spPr>
        <a:xfrm>
          <a:off x="1924216" y="2144919"/>
          <a:ext cx="1472602" cy="29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38100" rIns="106680" bIns="38100" numCol="1" spcCol="1270" anchor="ctr" anchorCtr="0">
          <a:noAutofit/>
        </a:bodyPr>
        <a:lstStyle/>
        <a:p>
          <a:pPr marL="0" lvl="0" indent="0" algn="r" defTabSz="666750">
            <a:lnSpc>
              <a:spcPct val="90000"/>
            </a:lnSpc>
            <a:spcBef>
              <a:spcPct val="0"/>
            </a:spcBef>
            <a:spcAft>
              <a:spcPct val="35000"/>
            </a:spcAft>
            <a:buNone/>
          </a:pPr>
          <a:r>
            <a:rPr lang="en-US" sz="1500" kern="1200" dirty="0"/>
            <a:t>Utilities:</a:t>
          </a:r>
        </a:p>
      </dsp:txBody>
      <dsp:txXfrm>
        <a:off x="1924216" y="2144919"/>
        <a:ext cx="1472602" cy="297000"/>
      </dsp:txXfrm>
    </dsp:sp>
    <dsp:sp modelId="{D1A4012D-4A2B-4199-AFF9-1050E72B70A8}">
      <dsp:nvSpPr>
        <dsp:cNvPr id="0" name=""/>
        <dsp:cNvSpPr/>
      </dsp:nvSpPr>
      <dsp:spPr>
        <a:xfrm>
          <a:off x="3396818" y="2067957"/>
          <a:ext cx="457322" cy="450923"/>
        </a:xfrm>
        <a:prstGeom prst="leftBrace">
          <a:avLst>
            <a:gd name="adj1" fmla="val 35000"/>
            <a:gd name="adj2" fmla="val 50000"/>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9BA5DD-D024-49FD-8294-23563DAFF1BD}">
      <dsp:nvSpPr>
        <dsp:cNvPr id="0" name=""/>
        <dsp:cNvSpPr/>
      </dsp:nvSpPr>
      <dsp:spPr>
        <a:xfrm rot="16200000">
          <a:off x="-5225" y="7958"/>
          <a:ext cx="2644971" cy="2629053"/>
        </a:xfrm>
        <a:prstGeom prst="flowChartManualOperati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0" tIns="0" rIns="202902" bIns="0" numCol="1" spcCol="1270" anchor="ctr" anchorCtr="0">
          <a:noAutofit/>
        </a:bodyPr>
        <a:lstStyle/>
        <a:p>
          <a:pPr marL="0" lvl="0" indent="0" algn="ctr" defTabSz="1422400">
            <a:lnSpc>
              <a:spcPct val="90000"/>
            </a:lnSpc>
            <a:spcBef>
              <a:spcPct val="0"/>
            </a:spcBef>
            <a:spcAft>
              <a:spcPct val="35000"/>
            </a:spcAft>
            <a:buNone/>
          </a:pPr>
          <a:r>
            <a:rPr lang="en-US" sz="3200" kern="1200" dirty="0"/>
            <a:t>10-year NPV</a:t>
          </a:r>
        </a:p>
        <a:p>
          <a:pPr marL="0" lvl="0" indent="0" algn="ctr" defTabSz="1422400">
            <a:lnSpc>
              <a:spcPct val="90000"/>
            </a:lnSpc>
            <a:spcBef>
              <a:spcPct val="0"/>
            </a:spcBef>
            <a:spcAft>
              <a:spcPct val="35000"/>
            </a:spcAft>
            <a:buNone/>
          </a:pPr>
          <a:r>
            <a:rPr lang="en-US" sz="3200" kern="1200" dirty="0"/>
            <a:t>$MM/</a:t>
          </a:r>
          <a:r>
            <a:rPr lang="en-US" sz="3200" kern="1200" dirty="0" err="1"/>
            <a:t>yr</a:t>
          </a:r>
          <a:r>
            <a:rPr lang="en-US" sz="3200" kern="1200" dirty="0"/>
            <a:t>  2,530.00</a:t>
          </a:r>
        </a:p>
      </dsp:txBody>
      <dsp:txXfrm rot="5400000">
        <a:off x="2734" y="528993"/>
        <a:ext cx="2629053" cy="1586983"/>
      </dsp:txXfrm>
    </dsp:sp>
    <dsp:sp modelId="{5D9C23E2-2043-42D2-8C4F-EDFCEBE88D48}">
      <dsp:nvSpPr>
        <dsp:cNvPr id="0" name=""/>
        <dsp:cNvSpPr/>
      </dsp:nvSpPr>
      <dsp:spPr>
        <a:xfrm rot="16200000">
          <a:off x="2821007" y="7958"/>
          <a:ext cx="2644971" cy="2629053"/>
        </a:xfrm>
        <a:prstGeom prst="flowChartManualOperation">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0" tIns="0" rIns="202902" bIns="0" numCol="1" spcCol="1270" anchor="ctr" anchorCtr="0">
          <a:noAutofit/>
        </a:bodyPr>
        <a:lstStyle/>
        <a:p>
          <a:pPr marL="0" lvl="0" indent="0" algn="ctr" defTabSz="1422400">
            <a:lnSpc>
              <a:spcPct val="90000"/>
            </a:lnSpc>
            <a:spcBef>
              <a:spcPct val="0"/>
            </a:spcBef>
            <a:spcAft>
              <a:spcPct val="35000"/>
            </a:spcAft>
            <a:buNone/>
          </a:pPr>
          <a:r>
            <a:rPr lang="en-US" sz="3200" kern="1200" dirty="0"/>
            <a:t>20-year NPV</a:t>
          </a:r>
        </a:p>
        <a:p>
          <a:pPr marL="0" lvl="0" indent="0" algn="ctr" defTabSz="1422400">
            <a:lnSpc>
              <a:spcPct val="90000"/>
            </a:lnSpc>
            <a:spcBef>
              <a:spcPct val="0"/>
            </a:spcBef>
            <a:spcAft>
              <a:spcPct val="35000"/>
            </a:spcAft>
            <a:buNone/>
          </a:pPr>
          <a:r>
            <a:rPr lang="en-US" sz="3200" kern="1200" dirty="0"/>
            <a:t>$MM/</a:t>
          </a:r>
          <a:r>
            <a:rPr lang="en-US" sz="3200" kern="1200" dirty="0" err="1"/>
            <a:t>yr</a:t>
          </a:r>
          <a:r>
            <a:rPr lang="en-US" sz="3200" kern="1200" dirty="0"/>
            <a:t>  3,467.30</a:t>
          </a:r>
        </a:p>
      </dsp:txBody>
      <dsp:txXfrm rot="5400000">
        <a:off x="2828966" y="528993"/>
        <a:ext cx="2629053" cy="15869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9EFCE8-1563-4DD9-AD88-CA737E8846D3}">
      <dsp:nvSpPr>
        <dsp:cNvPr id="0" name=""/>
        <dsp:cNvSpPr/>
      </dsp:nvSpPr>
      <dsp:spPr>
        <a:xfrm rot="5400000">
          <a:off x="-317701" y="317967"/>
          <a:ext cx="2118012" cy="1482608"/>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3,158.16 </a:t>
          </a:r>
          <a:r>
            <a:rPr lang="en-US" sz="2000" kern="1200" dirty="0"/>
            <a:t>$MM/</a:t>
          </a:r>
          <a:r>
            <a:rPr lang="en-US" sz="2000" kern="1200" dirty="0" err="1"/>
            <a:t>yr</a:t>
          </a:r>
          <a:endParaRPr lang="en-US" sz="2400" kern="1200" dirty="0">
            <a:solidFill>
              <a:schemeClr val="accent2"/>
            </a:solidFill>
          </a:endParaRPr>
        </a:p>
      </dsp:txBody>
      <dsp:txXfrm rot="-5400000">
        <a:off x="1" y="741569"/>
        <a:ext cx="1482608" cy="635404"/>
      </dsp:txXfrm>
    </dsp:sp>
    <dsp:sp modelId="{A23E1995-F3CE-4769-9768-BDC71DC458AC}">
      <dsp:nvSpPr>
        <dsp:cNvPr id="0" name=""/>
        <dsp:cNvSpPr/>
      </dsp:nvSpPr>
      <dsp:spPr>
        <a:xfrm rot="5400000">
          <a:off x="4642705" y="-3159831"/>
          <a:ext cx="1376708" cy="7696902"/>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solidFill>
                <a:schemeClr val="accent1"/>
              </a:solidFill>
            </a:rPr>
            <a:t>Total Product Revenues from Para-xylene</a:t>
          </a:r>
        </a:p>
      </dsp:txBody>
      <dsp:txXfrm rot="-5400000">
        <a:off x="1482609" y="67470"/>
        <a:ext cx="7629697" cy="1242298"/>
      </dsp:txXfrm>
    </dsp:sp>
    <dsp:sp modelId="{8B2457D9-8A01-4F16-A87C-95BA05D235FC}">
      <dsp:nvSpPr>
        <dsp:cNvPr id="0" name=""/>
        <dsp:cNvSpPr/>
      </dsp:nvSpPr>
      <dsp:spPr>
        <a:xfrm rot="5400000">
          <a:off x="-317701" y="2246085"/>
          <a:ext cx="2118012" cy="1482608"/>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2,066.42 </a:t>
          </a:r>
          <a:r>
            <a:rPr lang="en-US" sz="2000" kern="1200" dirty="0"/>
            <a:t>$MM/</a:t>
          </a:r>
          <a:r>
            <a:rPr lang="en-US" sz="2000" kern="1200" dirty="0" err="1"/>
            <a:t>yr</a:t>
          </a:r>
          <a:endParaRPr lang="en-US" sz="2400" kern="1200" dirty="0"/>
        </a:p>
      </dsp:txBody>
      <dsp:txXfrm rot="-5400000">
        <a:off x="1" y="2669687"/>
        <a:ext cx="1482608" cy="635404"/>
      </dsp:txXfrm>
    </dsp:sp>
    <dsp:sp modelId="{6B234E94-E5D0-46F4-95AC-E4C6DCD16D8B}">
      <dsp:nvSpPr>
        <dsp:cNvPr id="0" name=""/>
        <dsp:cNvSpPr/>
      </dsp:nvSpPr>
      <dsp:spPr>
        <a:xfrm rot="5400000">
          <a:off x="4642705" y="-1231713"/>
          <a:ext cx="1376708" cy="7696902"/>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solidFill>
                <a:schemeClr val="accent1"/>
              </a:solidFill>
            </a:rPr>
            <a:t>Cash Cost of Production (FCOP+VCOP)</a:t>
          </a:r>
          <a:endParaRPr lang="en-US" sz="2800" kern="1200" dirty="0"/>
        </a:p>
      </dsp:txBody>
      <dsp:txXfrm rot="-5400000">
        <a:off x="1482609" y="1995588"/>
        <a:ext cx="7629697" cy="1242298"/>
      </dsp:txXfrm>
    </dsp:sp>
    <dsp:sp modelId="{2CA2AB75-6958-4E22-8181-E474055B6AF0}">
      <dsp:nvSpPr>
        <dsp:cNvPr id="0" name=""/>
        <dsp:cNvSpPr/>
      </dsp:nvSpPr>
      <dsp:spPr>
        <a:xfrm rot="5400000">
          <a:off x="-317701" y="4174203"/>
          <a:ext cx="2118012" cy="1482608"/>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1,091.75 $MM/</a:t>
          </a:r>
          <a:r>
            <a:rPr lang="en-US" sz="2200" kern="1200" dirty="0" err="1"/>
            <a:t>yr</a:t>
          </a:r>
          <a:endParaRPr lang="en-US" sz="2200" kern="1200" dirty="0"/>
        </a:p>
      </dsp:txBody>
      <dsp:txXfrm rot="-5400000">
        <a:off x="1" y="4597805"/>
        <a:ext cx="1482608" cy="635404"/>
      </dsp:txXfrm>
    </dsp:sp>
    <dsp:sp modelId="{CBDD9B47-542A-4E98-92E3-6EEF9F5D326A}">
      <dsp:nvSpPr>
        <dsp:cNvPr id="0" name=""/>
        <dsp:cNvSpPr/>
      </dsp:nvSpPr>
      <dsp:spPr>
        <a:xfrm rot="5400000">
          <a:off x="4642705" y="696404"/>
          <a:ext cx="1376708" cy="7696902"/>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solidFill>
                <a:schemeClr val="accent1"/>
              </a:solidFill>
            </a:rPr>
            <a:t>Gross Profit</a:t>
          </a:r>
          <a:endParaRPr lang="en-US" sz="2800" kern="1200" dirty="0"/>
        </a:p>
      </dsp:txBody>
      <dsp:txXfrm rot="-5400000">
        <a:off x="1482609" y="3923706"/>
        <a:ext cx="7629697" cy="124229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73D933-BCD3-4A80-BD51-F585A091B74A}">
      <dsp:nvSpPr>
        <dsp:cNvPr id="0" name=""/>
        <dsp:cNvSpPr/>
      </dsp:nvSpPr>
      <dsp:spPr>
        <a:xfrm>
          <a:off x="4132096" y="261"/>
          <a:ext cx="1650901" cy="825450"/>
        </a:xfrm>
        <a:prstGeom prst="roundRect">
          <a:avLst>
            <a:gd name="adj" fmla="val 10000"/>
          </a:avLst>
        </a:prstGeom>
        <a:solidFill>
          <a:schemeClr val="accent1"/>
        </a:soli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49530" tIns="33020" rIns="49530" bIns="33020" numCol="1" spcCol="1270" anchor="ctr" anchorCtr="0">
          <a:noAutofit/>
        </a:bodyPr>
        <a:lstStyle/>
        <a:p>
          <a:pPr marL="0" lvl="0" indent="0" algn="ctr" defTabSz="1155700">
            <a:lnSpc>
              <a:spcPct val="90000"/>
            </a:lnSpc>
            <a:spcBef>
              <a:spcPct val="0"/>
            </a:spcBef>
            <a:spcAft>
              <a:spcPct val="35000"/>
            </a:spcAft>
            <a:buNone/>
          </a:pPr>
          <a:r>
            <a:rPr lang="en-US" sz="2600" kern="1200" dirty="0"/>
            <a:t>Scope Includes:</a:t>
          </a:r>
        </a:p>
      </dsp:txBody>
      <dsp:txXfrm>
        <a:off x="4156273" y="24438"/>
        <a:ext cx="1602547" cy="777096"/>
      </dsp:txXfrm>
    </dsp:sp>
    <dsp:sp modelId="{A94A3311-6C01-4E42-BF66-92D0574885CF}">
      <dsp:nvSpPr>
        <dsp:cNvPr id="0" name=""/>
        <dsp:cNvSpPr/>
      </dsp:nvSpPr>
      <dsp:spPr>
        <a:xfrm>
          <a:off x="4297186" y="825712"/>
          <a:ext cx="165090" cy="619088"/>
        </a:xfrm>
        <a:custGeom>
          <a:avLst/>
          <a:gdLst/>
          <a:ahLst/>
          <a:cxnLst/>
          <a:rect l="0" t="0" r="0" b="0"/>
          <a:pathLst>
            <a:path>
              <a:moveTo>
                <a:pt x="0" y="0"/>
              </a:moveTo>
              <a:lnTo>
                <a:pt x="0" y="619088"/>
              </a:lnTo>
              <a:lnTo>
                <a:pt x="165090" y="619088"/>
              </a:lnTo>
            </a:path>
          </a:pathLst>
        </a:custGeom>
        <a:noFill/>
        <a:ln w="19050" cap="rnd"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1551AF-ADF2-465C-B557-F09425C03181}">
      <dsp:nvSpPr>
        <dsp:cNvPr id="0" name=""/>
        <dsp:cNvSpPr/>
      </dsp:nvSpPr>
      <dsp:spPr>
        <a:xfrm>
          <a:off x="4462276" y="1032075"/>
          <a:ext cx="1320721" cy="825450"/>
        </a:xfrm>
        <a:prstGeom prst="roundRect">
          <a:avLst>
            <a:gd name="adj" fmla="val 10000"/>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Total Capital Costs</a:t>
          </a:r>
        </a:p>
      </dsp:txBody>
      <dsp:txXfrm>
        <a:off x="4486453" y="1056252"/>
        <a:ext cx="1272367" cy="777096"/>
      </dsp:txXfrm>
    </dsp:sp>
    <dsp:sp modelId="{43C1C610-0796-4E9C-8B6F-2F41BF8ED740}">
      <dsp:nvSpPr>
        <dsp:cNvPr id="0" name=""/>
        <dsp:cNvSpPr/>
      </dsp:nvSpPr>
      <dsp:spPr>
        <a:xfrm>
          <a:off x="4297186" y="825712"/>
          <a:ext cx="165090" cy="1650901"/>
        </a:xfrm>
        <a:custGeom>
          <a:avLst/>
          <a:gdLst/>
          <a:ahLst/>
          <a:cxnLst/>
          <a:rect l="0" t="0" r="0" b="0"/>
          <a:pathLst>
            <a:path>
              <a:moveTo>
                <a:pt x="0" y="0"/>
              </a:moveTo>
              <a:lnTo>
                <a:pt x="0" y="1650901"/>
              </a:lnTo>
              <a:lnTo>
                <a:pt x="165090" y="1650901"/>
              </a:lnTo>
            </a:path>
          </a:pathLst>
        </a:custGeom>
        <a:noFill/>
        <a:ln w="19050" cap="rnd"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79ECB5-2BED-4A0E-8A80-0AA7B8C03929}">
      <dsp:nvSpPr>
        <dsp:cNvPr id="0" name=""/>
        <dsp:cNvSpPr/>
      </dsp:nvSpPr>
      <dsp:spPr>
        <a:xfrm>
          <a:off x="4462276" y="2063888"/>
          <a:ext cx="1320721" cy="825450"/>
        </a:xfrm>
        <a:prstGeom prst="roundRect">
          <a:avLst>
            <a:gd name="adj" fmla="val 10000"/>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Variables Cost of Production</a:t>
          </a:r>
        </a:p>
      </dsp:txBody>
      <dsp:txXfrm>
        <a:off x="4486453" y="2088065"/>
        <a:ext cx="1272367" cy="777096"/>
      </dsp:txXfrm>
    </dsp:sp>
    <dsp:sp modelId="{69CB214B-D736-46F5-93CE-736EA12F28A8}">
      <dsp:nvSpPr>
        <dsp:cNvPr id="0" name=""/>
        <dsp:cNvSpPr/>
      </dsp:nvSpPr>
      <dsp:spPr>
        <a:xfrm>
          <a:off x="4297186" y="825712"/>
          <a:ext cx="165090" cy="2682715"/>
        </a:xfrm>
        <a:custGeom>
          <a:avLst/>
          <a:gdLst/>
          <a:ahLst/>
          <a:cxnLst/>
          <a:rect l="0" t="0" r="0" b="0"/>
          <a:pathLst>
            <a:path>
              <a:moveTo>
                <a:pt x="0" y="0"/>
              </a:moveTo>
              <a:lnTo>
                <a:pt x="0" y="2682715"/>
              </a:lnTo>
              <a:lnTo>
                <a:pt x="165090" y="2682715"/>
              </a:lnTo>
            </a:path>
          </a:pathLst>
        </a:custGeom>
        <a:noFill/>
        <a:ln w="19050" cap="rnd"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D73B4B-CAC8-4E7F-9EE7-563EA967E198}">
      <dsp:nvSpPr>
        <dsp:cNvPr id="0" name=""/>
        <dsp:cNvSpPr/>
      </dsp:nvSpPr>
      <dsp:spPr>
        <a:xfrm>
          <a:off x="4462276" y="3095702"/>
          <a:ext cx="1320721" cy="825450"/>
        </a:xfrm>
        <a:prstGeom prst="roundRect">
          <a:avLst>
            <a:gd name="adj" fmla="val 10000"/>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Fixed Cost of Production</a:t>
          </a:r>
        </a:p>
      </dsp:txBody>
      <dsp:txXfrm>
        <a:off x="4486453" y="3119879"/>
        <a:ext cx="1272367" cy="777096"/>
      </dsp:txXfrm>
    </dsp:sp>
    <dsp:sp modelId="{FD7A714E-6955-49C4-8E78-AA82215E722B}">
      <dsp:nvSpPr>
        <dsp:cNvPr id="0" name=""/>
        <dsp:cNvSpPr/>
      </dsp:nvSpPr>
      <dsp:spPr>
        <a:xfrm>
          <a:off x="4297186" y="825712"/>
          <a:ext cx="165090" cy="3714529"/>
        </a:xfrm>
        <a:custGeom>
          <a:avLst/>
          <a:gdLst/>
          <a:ahLst/>
          <a:cxnLst/>
          <a:rect l="0" t="0" r="0" b="0"/>
          <a:pathLst>
            <a:path>
              <a:moveTo>
                <a:pt x="0" y="0"/>
              </a:moveTo>
              <a:lnTo>
                <a:pt x="0" y="3714529"/>
              </a:lnTo>
              <a:lnTo>
                <a:pt x="165090" y="3714529"/>
              </a:lnTo>
            </a:path>
          </a:pathLst>
        </a:custGeom>
        <a:noFill/>
        <a:ln w="19050" cap="rnd"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07C56DC-B0EC-4FBA-917B-EEE9624C8A0C}">
      <dsp:nvSpPr>
        <dsp:cNvPr id="0" name=""/>
        <dsp:cNvSpPr/>
      </dsp:nvSpPr>
      <dsp:spPr>
        <a:xfrm>
          <a:off x="4462276" y="4127516"/>
          <a:ext cx="1320721" cy="825450"/>
        </a:xfrm>
        <a:prstGeom prst="roundRect">
          <a:avLst>
            <a:gd name="adj" fmla="val 10000"/>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NPV, ROI, Simple Payback Period</a:t>
          </a:r>
        </a:p>
      </dsp:txBody>
      <dsp:txXfrm>
        <a:off x="4486453" y="4151693"/>
        <a:ext cx="1272367" cy="777096"/>
      </dsp:txXfrm>
    </dsp:sp>
    <dsp:sp modelId="{E099BF7E-4754-4B43-B56F-C6B1D0F20CBA}">
      <dsp:nvSpPr>
        <dsp:cNvPr id="0" name=""/>
        <dsp:cNvSpPr/>
      </dsp:nvSpPr>
      <dsp:spPr>
        <a:xfrm>
          <a:off x="4297186" y="825712"/>
          <a:ext cx="182840" cy="4746604"/>
        </a:xfrm>
        <a:custGeom>
          <a:avLst/>
          <a:gdLst/>
          <a:ahLst/>
          <a:cxnLst/>
          <a:rect l="0" t="0" r="0" b="0"/>
          <a:pathLst>
            <a:path>
              <a:moveTo>
                <a:pt x="0" y="0"/>
              </a:moveTo>
              <a:lnTo>
                <a:pt x="0" y="4746604"/>
              </a:lnTo>
              <a:lnTo>
                <a:pt x="182840" y="4746604"/>
              </a:lnTo>
            </a:path>
          </a:pathLst>
        </a:custGeom>
        <a:noFill/>
        <a:ln w="19050" cap="rnd"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7EC4649-997D-4922-A649-6FB63E16D9B0}">
      <dsp:nvSpPr>
        <dsp:cNvPr id="0" name=""/>
        <dsp:cNvSpPr/>
      </dsp:nvSpPr>
      <dsp:spPr>
        <a:xfrm>
          <a:off x="4480026" y="5159591"/>
          <a:ext cx="1320721" cy="825450"/>
        </a:xfrm>
        <a:prstGeom prst="roundRect">
          <a:avLst>
            <a:gd name="adj" fmla="val 10000"/>
          </a:avLst>
        </a:prstGeom>
        <a:solidFill>
          <a:schemeClr val="lt2">
            <a:alpha val="90000"/>
            <a:hueOff val="0"/>
            <a:satOff val="0"/>
            <a:lumOff val="0"/>
            <a:alphaOff val="0"/>
          </a:schemeClr>
        </a:solidFill>
        <a:ln w="12700" cap="rnd" cmpd="sng" algn="ctr">
          <a:solidFill>
            <a:schemeClr val="dk2">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Revenues, Profits</a:t>
          </a:r>
        </a:p>
      </dsp:txBody>
      <dsp:txXfrm>
        <a:off x="4504203" y="5183768"/>
        <a:ext cx="1272367" cy="77709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49A5019-B212-44BD-8C99-BF611EF23A1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9E090CE-351B-4AF6-A94B-4D7A1095F8D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1791BED-9BC5-42F4-983C-4FACD1D2C91D}" type="datetimeFigureOut">
              <a:rPr lang="en-US" smtClean="0"/>
              <a:t>3/31/2020</a:t>
            </a:fld>
            <a:endParaRPr lang="en-US"/>
          </a:p>
        </p:txBody>
      </p:sp>
      <p:sp>
        <p:nvSpPr>
          <p:cNvPr id="4" name="Footer Placeholder 3">
            <a:extLst>
              <a:ext uri="{FF2B5EF4-FFF2-40B4-BE49-F238E27FC236}">
                <a16:creationId xmlns:a16="http://schemas.microsoft.com/office/drawing/2014/main" id="{D493A400-F8DA-4D26-9330-454FBCB2FF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7E7EB36-22FD-4335-BCE3-88A29B565C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CEC1E4B-4978-4964-9530-B6F879351E84}" type="slidenum">
              <a:rPr lang="en-US" smtClean="0"/>
              <a:t>‹#›</a:t>
            </a:fld>
            <a:endParaRPr lang="en-US"/>
          </a:p>
        </p:txBody>
      </p:sp>
    </p:spTree>
    <p:extLst>
      <p:ext uri="{BB962C8B-B14F-4D97-AF65-F5344CB8AC3E}">
        <p14:creationId xmlns:p14="http://schemas.microsoft.com/office/powerpoint/2010/main" val="222069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DF942F-F4A1-470C-B3D6-656E08600B58}" type="datetimeFigureOut">
              <a:rPr lang="en-US" smtClean="0"/>
              <a:t>3/31/2020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21B0BE-9BC6-4C24-8943-1DAAFB4E162E}" type="slidenum">
              <a:rPr lang="en-US" smtClean="0"/>
              <a:t>‹#›</a:t>
            </a:fld>
            <a:endParaRPr lang="en-US"/>
          </a:p>
        </p:txBody>
      </p:sp>
    </p:spTree>
    <p:extLst>
      <p:ext uri="{BB962C8B-B14F-4D97-AF65-F5344CB8AC3E}">
        <p14:creationId xmlns:p14="http://schemas.microsoft.com/office/powerpoint/2010/main" val="2136064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21B0BE-9BC6-4C24-8943-1DAAFB4E162E}" type="slidenum">
              <a:rPr lang="en-US" smtClean="0"/>
              <a:t>3</a:t>
            </a:fld>
            <a:endParaRPr lang="en-US"/>
          </a:p>
        </p:txBody>
      </p:sp>
    </p:spTree>
    <p:extLst>
      <p:ext uri="{BB962C8B-B14F-4D97-AF65-F5344CB8AC3E}">
        <p14:creationId xmlns:p14="http://schemas.microsoft.com/office/powerpoint/2010/main" val="152152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ISBL distribution of our process. As you can see the biggest cost for our process comes from the benzene tower section. The high costs for the benzene section are because the tower needs 50 sieve trays at a diameter of 18.5 meters. This makes it the biggest distillation tower in whole process. </a:t>
            </a:r>
          </a:p>
        </p:txBody>
      </p:sp>
      <p:sp>
        <p:nvSpPr>
          <p:cNvPr id="4" name="Slide Number Placeholder 3"/>
          <p:cNvSpPr>
            <a:spLocks noGrp="1"/>
          </p:cNvSpPr>
          <p:nvPr>
            <p:ph type="sldNum" sz="quarter" idx="5"/>
          </p:nvPr>
        </p:nvSpPr>
        <p:spPr/>
        <p:txBody>
          <a:bodyPr/>
          <a:lstStyle/>
          <a:p>
            <a:fld id="{FA21B0BE-9BC6-4C24-8943-1DAAFB4E162E}" type="slidenum">
              <a:rPr lang="en-US" smtClean="0"/>
              <a:t>18</a:t>
            </a:fld>
            <a:endParaRPr lang="en-US"/>
          </a:p>
        </p:txBody>
      </p:sp>
    </p:spTree>
    <p:extLst>
      <p:ext uri="{BB962C8B-B14F-4D97-AF65-F5344CB8AC3E}">
        <p14:creationId xmlns:p14="http://schemas.microsoft.com/office/powerpoint/2010/main" val="2106619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1B79A45-5987-4B58-A1D8-715999642D76}" type="datetime1">
              <a:rPr lang="en-US" smtClean="0"/>
              <a:t>3/31/2020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094792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6CA890-C3ED-41D7-991D-A87643A586BE}" type="datetime1">
              <a:rPr lang="en-US" smtClean="0"/>
              <a:t>3/31/2020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172996" y="6041362"/>
            <a:ext cx="683339" cy="365125"/>
          </a:xfrm>
        </p:spPr>
        <p:txBody>
          <a:bodyPr/>
          <a:lstStyle>
            <a:lvl1pPr>
              <a:defRPr sz="2400" b="1">
                <a:solidFill>
                  <a:schemeClr val="tx1"/>
                </a:solidFill>
              </a:defRPr>
            </a:lvl1pPr>
          </a:lstStyle>
          <a:p>
            <a:fld id="{34B7E4EF-A1BD-40F4-AB7B-04F084DD991D}" type="slidenum">
              <a:rPr lang="en-US" smtClean="0"/>
              <a:pPr/>
              <a:t>‹#›</a:t>
            </a:fld>
            <a:endParaRPr lang="en-US"/>
          </a:p>
        </p:txBody>
      </p:sp>
    </p:spTree>
    <p:extLst>
      <p:ext uri="{BB962C8B-B14F-4D97-AF65-F5344CB8AC3E}">
        <p14:creationId xmlns:p14="http://schemas.microsoft.com/office/powerpoint/2010/main" val="1545140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4574BF-F6FB-4008-82D7-B144BDD6274C}" type="datetime1">
              <a:rPr lang="en-US" smtClean="0"/>
              <a:t>3/31/2020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056021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7B4765-B754-485B-9EB3-28556A9FB847}" type="datetime1">
              <a:rPr lang="en-US" smtClean="0"/>
              <a:t>3/31/2020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534632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0FBB80-B88B-4FD0-9762-29A5BD94DE4E}" type="datetime1">
              <a:rPr lang="en-US" smtClean="0"/>
              <a:t>3/31/2020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817326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88C70FC7-1FF0-41F1-8DEA-139726DC89D4}" type="datetime1">
              <a:rPr lang="en-US" smtClean="0"/>
              <a:t>3/31/2020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11172996" y="6037622"/>
            <a:ext cx="683339" cy="365125"/>
          </a:xfrm>
        </p:spPr>
        <p:txBody>
          <a:bodyPr/>
          <a:lstStyle>
            <a:lvl1pPr>
              <a:defRPr sz="1800">
                <a:solidFill>
                  <a:schemeClr val="tx1"/>
                </a:solidFill>
              </a:defRPr>
            </a:lvl1pPr>
          </a:lstStyle>
          <a:p>
            <a:fld id="{34B7E4EF-A1BD-40F4-AB7B-04F084DD991D}" type="slidenum">
              <a:rPr lang="en-US" smtClean="0"/>
              <a:pPr/>
              <a:t>‹#›</a:t>
            </a:fld>
            <a:endParaRPr lang="en-US"/>
          </a:p>
        </p:txBody>
      </p:sp>
    </p:spTree>
    <p:extLst>
      <p:ext uri="{BB962C8B-B14F-4D97-AF65-F5344CB8AC3E}">
        <p14:creationId xmlns:p14="http://schemas.microsoft.com/office/powerpoint/2010/main" val="2675663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222D40-26CB-4CA1-8413-E7D11FB41D05}" type="datetime1">
              <a:rPr lang="en-US" smtClean="0"/>
              <a:t>3/31/2020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1172996" y="6041362"/>
            <a:ext cx="683339" cy="365125"/>
          </a:xfrm>
        </p:spPr>
        <p:txBody>
          <a:bodyPr/>
          <a:lstStyle>
            <a:lvl1pPr>
              <a:defRPr sz="2400" b="1">
                <a:solidFill>
                  <a:schemeClr val="tx1"/>
                </a:solidFill>
              </a:defRPr>
            </a:lvl1pPr>
          </a:lstStyle>
          <a:p>
            <a:fld id="{34B7E4EF-A1BD-40F4-AB7B-04F084DD991D}" type="slidenum">
              <a:rPr lang="en-US" smtClean="0"/>
              <a:pPr/>
              <a:t>‹#›</a:t>
            </a:fld>
            <a:endParaRPr lang="en-US"/>
          </a:p>
        </p:txBody>
      </p:sp>
    </p:spTree>
    <p:extLst>
      <p:ext uri="{BB962C8B-B14F-4D97-AF65-F5344CB8AC3E}">
        <p14:creationId xmlns:p14="http://schemas.microsoft.com/office/powerpoint/2010/main" val="915025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99E58B-34B3-4FE9-87B9-1B0211CE2B44}" type="datetime1">
              <a:rPr lang="en-US" smtClean="0"/>
              <a:t>3/31/2020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060356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824AC6-F3FF-4B71-B79B-3BC50780D360}" type="datetime1">
              <a:rPr lang="en-US" smtClean="0"/>
              <a:t>3/31/2020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772570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CCE5CB-EBC1-42CB-BA08-63D0F3863BAA}" type="datetime1">
              <a:rPr lang="en-US" smtClean="0"/>
              <a:t>3/31/2020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06442334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CCE5CB-EBC1-42CB-BA08-63D0F3863BAA}" type="datetime1">
              <a:rPr lang="en-US" smtClean="0"/>
              <a:t>3/31/2020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291380024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CCE5CB-EBC1-42CB-BA08-63D0F3863BAA}" type="datetime1">
              <a:rPr lang="en-US" smtClean="0"/>
              <a:t>3/31/2020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40901322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CCE5CB-EBC1-42CB-BA08-63D0F3863BAA}" type="datetime1">
              <a:rPr lang="en-US" smtClean="0"/>
              <a:t>3/31/2020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60325317"/>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CCE5CB-EBC1-42CB-BA08-63D0F3863BAA}" type="datetime1">
              <a:rPr lang="en-US" smtClean="0"/>
              <a:t>3/31/2020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62490714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7103FE-9341-4D52-B713-2A873D188B73}" type="datetime1">
              <a:rPr lang="en-US" smtClean="0"/>
              <a:t>3/31/2020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7238731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D22240-6C7B-473A-82CE-A48014D0709F}" type="datetime1">
              <a:rPr lang="en-US" smtClean="0"/>
              <a:t>3/31/2020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664533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E8F0F23-6F03-4770-A1C5-55D0E326F350}" type="datetime1">
              <a:rPr lang="en-US" smtClean="0"/>
              <a:t>3/31/2020</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280516296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me1065.wikidot.com/automotive-heat-exchangers" TargetMode="External"/><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1.xml.rels><?xml version="1.0" encoding="UTF-8" standalone="yes"?>
<Relationships xmlns="http://schemas.openxmlformats.org/package/2006/relationships"><Relationship Id="rId3" Type="http://schemas.openxmlformats.org/officeDocument/2006/relationships/hyperlink" Target="https://us.123rf.com/450wm/arcady31/arcady311410/arcady31141000027/32561215-stock-vector-safety-first-sign.jpg?ver=6" TargetMode="External"/><Relationship Id="rId2" Type="http://schemas.openxmlformats.org/officeDocument/2006/relationships/hyperlink" Target="https://www.kindpng.com/picc/m/34-343914_hazard-symbol-warning-sign-clip-art-nuclear-toxic.p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picture containing man, room, white&#10;&#10;Description automatically generated">
            <a:extLst>
              <a:ext uri="{FF2B5EF4-FFF2-40B4-BE49-F238E27FC236}">
                <a16:creationId xmlns:a16="http://schemas.microsoft.com/office/drawing/2014/main" id="{4A2CF0C4-9AA2-4AEC-9E88-0569F803B2FD}"/>
              </a:ext>
            </a:extLst>
          </p:cNvPr>
          <p:cNvPicPr>
            <a:picLocks noChangeAspect="1"/>
          </p:cNvPicPr>
          <p:nvPr/>
        </p:nvPicPr>
        <p:blipFill rotWithShape="1">
          <a:blip r:embed="rId2"/>
          <a:srcRect l="17785" r="19207" b="9092"/>
          <a:stretch/>
        </p:blipFill>
        <p:spPr>
          <a:xfrm>
            <a:off x="4269854" y="-47440"/>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F3D78A4D-76BD-4399-ADB0-7580A5F3278D}"/>
              </a:ext>
            </a:extLst>
          </p:cNvPr>
          <p:cNvSpPr>
            <a:spLocks noGrp="1"/>
          </p:cNvSpPr>
          <p:nvPr>
            <p:ph type="ctrTitle"/>
          </p:nvPr>
        </p:nvSpPr>
        <p:spPr>
          <a:xfrm>
            <a:off x="668867" y="1678666"/>
            <a:ext cx="4088190" cy="2369093"/>
          </a:xfrm>
        </p:spPr>
        <p:txBody>
          <a:bodyPr>
            <a:normAutofit/>
          </a:bodyPr>
          <a:lstStyle/>
          <a:p>
            <a:pPr>
              <a:lnSpc>
                <a:spcPct val="90000"/>
              </a:lnSpc>
            </a:pPr>
            <a:r>
              <a:rPr lang="en-US" sz="3400"/>
              <a:t>Para-xylene Production Through Methylation of Toluene</a:t>
            </a:r>
          </a:p>
        </p:txBody>
      </p:sp>
      <p:sp>
        <p:nvSpPr>
          <p:cNvPr id="3" name="Subtitle 2">
            <a:extLst>
              <a:ext uri="{FF2B5EF4-FFF2-40B4-BE49-F238E27FC236}">
                <a16:creationId xmlns:a16="http://schemas.microsoft.com/office/drawing/2014/main" id="{44BA4085-4B29-436A-A31C-520E60997AAE}"/>
              </a:ext>
            </a:extLst>
          </p:cNvPr>
          <p:cNvSpPr>
            <a:spLocks noGrp="1"/>
          </p:cNvSpPr>
          <p:nvPr>
            <p:ph type="subTitle" idx="1"/>
          </p:nvPr>
        </p:nvSpPr>
        <p:spPr>
          <a:xfrm>
            <a:off x="677335" y="4050831"/>
            <a:ext cx="4702402" cy="1096901"/>
          </a:xfrm>
        </p:spPr>
        <p:txBody>
          <a:bodyPr>
            <a:normAutofit/>
          </a:bodyPr>
          <a:lstStyle/>
          <a:p>
            <a:r>
              <a:rPr lang="en-US" sz="1600" b="1"/>
              <a:t>Mentor: </a:t>
            </a:r>
            <a:r>
              <a:rPr lang="en-US" sz="1600"/>
              <a:t>Adam </a:t>
            </a:r>
            <a:r>
              <a:rPr lang="en-US" sz="1600" err="1"/>
              <a:t>Brostow</a:t>
            </a:r>
            <a:endParaRPr lang="en-US" sz="1600"/>
          </a:p>
          <a:p>
            <a:r>
              <a:rPr lang="en-US" sz="1600" b="1"/>
              <a:t>Authored by: </a:t>
            </a:r>
            <a:r>
              <a:rPr lang="en-US" sz="1600"/>
              <a:t>Mahamat </a:t>
            </a:r>
            <a:r>
              <a:rPr lang="en-US" sz="1600" err="1"/>
              <a:t>Abdraman</a:t>
            </a:r>
            <a:r>
              <a:rPr lang="en-US" sz="1600"/>
              <a:t>, James Fell, </a:t>
            </a:r>
            <a:r>
              <a:rPr lang="en-US" sz="1600" err="1"/>
              <a:t>Rongwei</a:t>
            </a:r>
            <a:r>
              <a:rPr lang="en-US" sz="1600"/>
              <a:t> Lin, William Rawson</a:t>
            </a:r>
          </a:p>
          <a:p>
            <a:endParaRPr lang="en-US" sz="1600"/>
          </a:p>
        </p:txBody>
      </p:sp>
      <p:cxnSp>
        <p:nvCxnSpPr>
          <p:cNvPr id="11" name="Straight Connector 10">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5" name="Slide Number Placeholder 4">
            <a:extLst>
              <a:ext uri="{FF2B5EF4-FFF2-40B4-BE49-F238E27FC236}">
                <a16:creationId xmlns:a16="http://schemas.microsoft.com/office/drawing/2014/main" id="{BA55DB88-09BB-47D5-ABC4-ECC1CD221DE5}"/>
              </a:ext>
            </a:extLst>
          </p:cNvPr>
          <p:cNvSpPr>
            <a:spLocks noGrp="1"/>
          </p:cNvSpPr>
          <p:nvPr>
            <p:ph type="sldNum" sz="quarter" idx="12"/>
          </p:nvPr>
        </p:nvSpPr>
        <p:spPr>
          <a:xfrm>
            <a:off x="8590663" y="6041362"/>
            <a:ext cx="683339" cy="365125"/>
          </a:xfrm>
        </p:spPr>
        <p:txBody>
          <a:bodyPr>
            <a:normAutofit/>
          </a:bodyPr>
          <a:lstStyle/>
          <a:p>
            <a:pPr>
              <a:spcAft>
                <a:spcPts val="600"/>
              </a:spcAft>
            </a:pPr>
            <a:fld id="{34B7E4EF-A1BD-40F4-AB7B-04F084DD991D}" type="slidenum">
              <a:rPr lang="en-US">
                <a:solidFill>
                  <a:srgbClr val="FFFFFF"/>
                </a:solidFill>
              </a:rPr>
              <a:pPr>
                <a:spcAft>
                  <a:spcPts val="600"/>
                </a:spcAft>
              </a:pPr>
              <a:t>1</a:t>
            </a:fld>
            <a:endParaRPr lang="en-US">
              <a:solidFill>
                <a:srgbClr val="FFFFFF"/>
              </a:solidFill>
            </a:endParaRPr>
          </a:p>
        </p:txBody>
      </p:sp>
      <p:sp>
        <p:nvSpPr>
          <p:cNvPr id="21"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 name="Rectangle 5">
            <a:extLst>
              <a:ext uri="{FF2B5EF4-FFF2-40B4-BE49-F238E27FC236}">
                <a16:creationId xmlns:a16="http://schemas.microsoft.com/office/drawing/2014/main" id="{9FAB5C68-5963-4CC5-ACCA-6CDBBBC9AB9D}"/>
              </a:ext>
            </a:extLst>
          </p:cNvPr>
          <p:cNvSpPr/>
          <p:nvPr/>
        </p:nvSpPr>
        <p:spPr>
          <a:xfrm>
            <a:off x="9748986" y="6074847"/>
            <a:ext cx="1754006" cy="369332"/>
          </a:xfrm>
          <a:prstGeom prst="rect">
            <a:avLst/>
          </a:prstGeom>
        </p:spPr>
        <p:txBody>
          <a:bodyPr wrap="none" anchor="t">
            <a:spAutoFit/>
          </a:bodyPr>
          <a:lstStyle/>
          <a:p>
            <a:pPr>
              <a:spcAft>
                <a:spcPts val="600"/>
              </a:spcAft>
            </a:pPr>
            <a:r>
              <a:rPr lang="en-US"/>
              <a:t>March 31, 2020</a:t>
            </a:r>
          </a:p>
        </p:txBody>
      </p:sp>
    </p:spTree>
    <p:extLst>
      <p:ext uri="{BB962C8B-B14F-4D97-AF65-F5344CB8AC3E}">
        <p14:creationId xmlns:p14="http://schemas.microsoft.com/office/powerpoint/2010/main" val="2977224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B28436A-6072-4880-8296-2FB08DE9E939}"/>
              </a:ext>
            </a:extLst>
          </p:cNvPr>
          <p:cNvSpPr>
            <a:spLocks noGrp="1"/>
          </p:cNvSpPr>
          <p:nvPr>
            <p:ph type="title"/>
          </p:nvPr>
        </p:nvSpPr>
        <p:spPr>
          <a:xfrm>
            <a:off x="920834" y="2061"/>
            <a:ext cx="9966960" cy="897854"/>
          </a:xfrm>
        </p:spPr>
        <p:txBody>
          <a:bodyPr vert="horz" lIns="91440" tIns="45720" rIns="91440" bIns="45720" rtlCol="0" anchor="b">
            <a:normAutofit/>
          </a:bodyPr>
          <a:lstStyle/>
          <a:p>
            <a:pPr algn="ctr">
              <a:lnSpc>
                <a:spcPct val="80000"/>
              </a:lnSpc>
            </a:pPr>
            <a:r>
              <a:rPr lang="en-US" sz="4800" kern="1200" cap="all" baseline="0">
                <a:blipFill dpi="0" rotWithShape="1">
                  <a:blip r:embed="rId2"/>
                  <a:srcRect/>
                  <a:tile tx="6350" ty="-127000" sx="65000" sy="64000" flip="none" algn="tl"/>
                </a:blipFill>
                <a:latin typeface="+mj-lt"/>
                <a:ea typeface="+mj-ea"/>
                <a:cs typeface="+mj-cs"/>
              </a:rPr>
              <a:t>Introduction</a:t>
            </a:r>
          </a:p>
        </p:txBody>
      </p:sp>
      <p:sp>
        <p:nvSpPr>
          <p:cNvPr id="55" name="Content Placeholder 4">
            <a:extLst>
              <a:ext uri="{FF2B5EF4-FFF2-40B4-BE49-F238E27FC236}">
                <a16:creationId xmlns:a16="http://schemas.microsoft.com/office/drawing/2014/main" id="{0E9279E8-0DE1-4C21-956C-85992C64BFF5}"/>
              </a:ext>
            </a:extLst>
          </p:cNvPr>
          <p:cNvSpPr>
            <a:spLocks noGrp="1"/>
          </p:cNvSpPr>
          <p:nvPr>
            <p:ph idx="1"/>
          </p:nvPr>
        </p:nvSpPr>
        <p:spPr>
          <a:xfrm>
            <a:off x="290826" y="4377260"/>
            <a:ext cx="3869185" cy="602005"/>
          </a:xfrm>
        </p:spPr>
        <p:txBody>
          <a:bodyPr>
            <a:normAutofit lnSpcReduction="10000"/>
          </a:bodyPr>
          <a:lstStyle/>
          <a:p>
            <a:pPr marL="0" indent="0">
              <a:buNone/>
            </a:pPr>
            <a:r>
              <a:rPr lang="en-US" sz="1800" b="1">
                <a:solidFill>
                  <a:schemeClr val="accent1"/>
                </a:solidFill>
              </a:rPr>
              <a:t>What industry is para-xylene produced? </a:t>
            </a:r>
          </a:p>
        </p:txBody>
      </p:sp>
      <p:sp>
        <p:nvSpPr>
          <p:cNvPr id="2" name="Slide Number Placeholder 1">
            <a:extLst>
              <a:ext uri="{FF2B5EF4-FFF2-40B4-BE49-F238E27FC236}">
                <a16:creationId xmlns:a16="http://schemas.microsoft.com/office/drawing/2014/main" id="{4C92020C-370F-4A0B-AC6E-1F753744083F}"/>
              </a:ext>
            </a:extLst>
          </p:cNvPr>
          <p:cNvSpPr>
            <a:spLocks noGrp="1"/>
          </p:cNvSpPr>
          <p:nvPr>
            <p:ph type="sldNum" sz="quarter" idx="12"/>
          </p:nvPr>
        </p:nvSpPr>
        <p:spPr>
          <a:xfrm>
            <a:off x="11313755" y="6272784"/>
            <a:ext cx="640080" cy="365760"/>
          </a:xfrm>
        </p:spPr>
        <p:txBody>
          <a:bodyPr vert="horz" lIns="91440" tIns="45720" rIns="91440" bIns="45720" rtlCol="0" anchor="ctr">
            <a:normAutofit/>
          </a:bodyPr>
          <a:lstStyle/>
          <a:p>
            <a:pPr>
              <a:spcAft>
                <a:spcPts val="600"/>
              </a:spcAft>
            </a:pPr>
            <a:fld id="{34B7E4EF-A1BD-40F4-AB7B-04F084DD991D}" type="slidenum">
              <a:rPr lang="en-US" sz="1600"/>
              <a:pPr>
                <a:spcAft>
                  <a:spcPts val="600"/>
                </a:spcAft>
              </a:pPr>
              <a:t>2</a:t>
            </a:fld>
            <a:endParaRPr lang="en-US" sz="1600"/>
          </a:p>
        </p:txBody>
      </p:sp>
      <p:pic>
        <p:nvPicPr>
          <p:cNvPr id="5" name="Picture 4">
            <a:extLst>
              <a:ext uri="{FF2B5EF4-FFF2-40B4-BE49-F238E27FC236}">
                <a16:creationId xmlns:a16="http://schemas.microsoft.com/office/drawing/2014/main" id="{E2834BF8-92E6-4961-8F97-134BBE51D1A6}"/>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4461688" y="1111288"/>
            <a:ext cx="3300984" cy="2943623"/>
          </a:xfrm>
          <a:custGeom>
            <a:avLst/>
            <a:gdLst/>
            <a:ahLst/>
            <a:cxnLst/>
            <a:rect l="l" t="t" r="r" b="b"/>
            <a:pathLst>
              <a:path w="3300984" h="3300984">
                <a:moveTo>
                  <a:pt x="1650492" y="185680"/>
                </a:moveTo>
                <a:cubicBezTo>
                  <a:pt x="2459485" y="185680"/>
                  <a:pt x="3115304" y="841499"/>
                  <a:pt x="3115304" y="1650492"/>
                </a:cubicBezTo>
                <a:cubicBezTo>
                  <a:pt x="3115304" y="2459485"/>
                  <a:pt x="2459485" y="3115304"/>
                  <a:pt x="1650492" y="3115304"/>
                </a:cubicBezTo>
                <a:cubicBezTo>
                  <a:pt x="841499" y="3115304"/>
                  <a:pt x="185680" y="2459485"/>
                  <a:pt x="185680" y="1650492"/>
                </a:cubicBezTo>
                <a:cubicBezTo>
                  <a:pt x="185680" y="841499"/>
                  <a:pt x="841499" y="185680"/>
                  <a:pt x="1650492" y="185680"/>
                </a:cubicBezTo>
                <a:close/>
                <a:moveTo>
                  <a:pt x="1650492" y="144418"/>
                </a:moveTo>
                <a:cubicBezTo>
                  <a:pt x="818711" y="144418"/>
                  <a:pt x="144418" y="818711"/>
                  <a:pt x="144418" y="1650492"/>
                </a:cubicBezTo>
                <a:cubicBezTo>
                  <a:pt x="144418" y="2482274"/>
                  <a:pt x="818711" y="3156566"/>
                  <a:pt x="1650492" y="3156566"/>
                </a:cubicBezTo>
                <a:cubicBezTo>
                  <a:pt x="2482274" y="3156566"/>
                  <a:pt x="3156566" y="2482274"/>
                  <a:pt x="3156566" y="1650492"/>
                </a:cubicBezTo>
                <a:cubicBezTo>
                  <a:pt x="3156566" y="818711"/>
                  <a:pt x="2482274" y="144418"/>
                  <a:pt x="1650492" y="144418"/>
                </a:cubicBezTo>
                <a:close/>
                <a:moveTo>
                  <a:pt x="1650492" y="0"/>
                </a:moveTo>
                <a:cubicBezTo>
                  <a:pt x="2562034" y="0"/>
                  <a:pt x="3300984" y="738950"/>
                  <a:pt x="3300984" y="1650492"/>
                </a:cubicBezTo>
                <a:cubicBezTo>
                  <a:pt x="3300984" y="2562034"/>
                  <a:pt x="2562034" y="3300984"/>
                  <a:pt x="1650492" y="3300984"/>
                </a:cubicBezTo>
                <a:cubicBezTo>
                  <a:pt x="738950" y="3300984"/>
                  <a:pt x="0" y="2562034"/>
                  <a:pt x="0" y="1650492"/>
                </a:cubicBezTo>
                <a:cubicBezTo>
                  <a:pt x="0" y="738950"/>
                  <a:pt x="738950" y="0"/>
                  <a:pt x="1650492" y="0"/>
                </a:cubicBezTo>
                <a:close/>
              </a:path>
            </a:pathLst>
          </a:cu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a:glow rad="127000">
              <a:schemeClr val="accent2"/>
            </a:glow>
          </a:effectLst>
        </p:spPr>
      </p:pic>
      <p:pic>
        <p:nvPicPr>
          <p:cNvPr id="1026" name="Picture 2" descr="#">
            <a:extLst>
              <a:ext uri="{FF2B5EF4-FFF2-40B4-BE49-F238E27FC236}">
                <a16:creationId xmlns:a16="http://schemas.microsoft.com/office/drawing/2014/main" id="{1DA8D75A-A5DE-497B-9050-079B15AA7C3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692" r="3306" b="-3"/>
          <a:stretch/>
        </p:blipFill>
        <p:spPr bwMode="auto">
          <a:xfrm>
            <a:off x="8174613" y="840171"/>
            <a:ext cx="3300984" cy="3300984"/>
          </a:xfrm>
          <a:custGeom>
            <a:avLst/>
            <a:gdLst/>
            <a:ahLst/>
            <a:cxnLst/>
            <a:rect l="l" t="t" r="r" b="b"/>
            <a:pathLst>
              <a:path w="3300984" h="3300984">
                <a:moveTo>
                  <a:pt x="1650492" y="185680"/>
                </a:moveTo>
                <a:cubicBezTo>
                  <a:pt x="2459485" y="185680"/>
                  <a:pt x="3115304" y="841499"/>
                  <a:pt x="3115304" y="1650492"/>
                </a:cubicBezTo>
                <a:cubicBezTo>
                  <a:pt x="3115304" y="2459485"/>
                  <a:pt x="2459485" y="3115304"/>
                  <a:pt x="1650492" y="3115304"/>
                </a:cubicBezTo>
                <a:cubicBezTo>
                  <a:pt x="841499" y="3115304"/>
                  <a:pt x="185681" y="2459485"/>
                  <a:pt x="185681" y="1650492"/>
                </a:cubicBezTo>
                <a:cubicBezTo>
                  <a:pt x="185681" y="841499"/>
                  <a:pt x="841499" y="185680"/>
                  <a:pt x="1650492" y="185680"/>
                </a:cubicBezTo>
                <a:close/>
                <a:moveTo>
                  <a:pt x="1650492" y="144418"/>
                </a:moveTo>
                <a:cubicBezTo>
                  <a:pt x="818711" y="144418"/>
                  <a:pt x="144418" y="818711"/>
                  <a:pt x="144418" y="1650492"/>
                </a:cubicBezTo>
                <a:cubicBezTo>
                  <a:pt x="144418" y="2482274"/>
                  <a:pt x="818711" y="3156566"/>
                  <a:pt x="1650492" y="3156566"/>
                </a:cubicBezTo>
                <a:cubicBezTo>
                  <a:pt x="2482274" y="3156566"/>
                  <a:pt x="3156566" y="2482274"/>
                  <a:pt x="3156566" y="1650492"/>
                </a:cubicBezTo>
                <a:cubicBezTo>
                  <a:pt x="3156566" y="818711"/>
                  <a:pt x="2482274" y="144418"/>
                  <a:pt x="1650492" y="144418"/>
                </a:cubicBezTo>
                <a:close/>
                <a:moveTo>
                  <a:pt x="1650492" y="0"/>
                </a:moveTo>
                <a:cubicBezTo>
                  <a:pt x="2562034" y="0"/>
                  <a:pt x="3300984" y="738950"/>
                  <a:pt x="3300984" y="1650492"/>
                </a:cubicBezTo>
                <a:cubicBezTo>
                  <a:pt x="3300984" y="2562034"/>
                  <a:pt x="2562034" y="3300984"/>
                  <a:pt x="1650492" y="3300984"/>
                </a:cubicBezTo>
                <a:cubicBezTo>
                  <a:pt x="738951" y="3300984"/>
                  <a:pt x="0" y="2562034"/>
                  <a:pt x="0" y="1650492"/>
                </a:cubicBezTo>
                <a:cubicBezTo>
                  <a:pt x="0" y="738950"/>
                  <a:pt x="738951" y="0"/>
                  <a:pt x="1650492" y="0"/>
                </a:cubicBezTo>
                <a:close/>
              </a:path>
            </a:pathLst>
          </a:cu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4051EEC-C975-49DD-9FCF-105E74970A80}"/>
              </a:ext>
            </a:extLst>
          </p:cNvPr>
          <p:cNvPicPr>
            <a:picLocks noChangeAspect="1"/>
          </p:cNvPicPr>
          <p:nvPr/>
        </p:nvPicPr>
        <p:blipFill rotWithShape="1">
          <a:blip r:embed="rId5"/>
          <a:srcRect l="29972" r="13778"/>
          <a:stretch/>
        </p:blipFill>
        <p:spPr>
          <a:xfrm>
            <a:off x="766641" y="842135"/>
            <a:ext cx="3300984" cy="3300984"/>
          </a:xfrm>
          <a:custGeom>
            <a:avLst/>
            <a:gdLst/>
            <a:ahLst/>
            <a:cxnLst/>
            <a:rect l="l" t="t" r="r" b="b"/>
            <a:pathLst>
              <a:path w="3300984" h="3300984">
                <a:moveTo>
                  <a:pt x="1650492" y="185680"/>
                </a:moveTo>
                <a:cubicBezTo>
                  <a:pt x="2459485" y="185680"/>
                  <a:pt x="3115304" y="841499"/>
                  <a:pt x="3115304" y="1650492"/>
                </a:cubicBezTo>
                <a:cubicBezTo>
                  <a:pt x="3115304" y="2459485"/>
                  <a:pt x="2459485" y="3115304"/>
                  <a:pt x="1650492" y="3115304"/>
                </a:cubicBezTo>
                <a:cubicBezTo>
                  <a:pt x="841499" y="3115304"/>
                  <a:pt x="185681" y="2459485"/>
                  <a:pt x="185681" y="1650492"/>
                </a:cubicBezTo>
                <a:cubicBezTo>
                  <a:pt x="185681" y="841499"/>
                  <a:pt x="841499" y="185680"/>
                  <a:pt x="1650492" y="185680"/>
                </a:cubicBezTo>
                <a:close/>
                <a:moveTo>
                  <a:pt x="1650492" y="144418"/>
                </a:moveTo>
                <a:cubicBezTo>
                  <a:pt x="818711" y="144418"/>
                  <a:pt x="144418" y="818711"/>
                  <a:pt x="144418" y="1650492"/>
                </a:cubicBezTo>
                <a:cubicBezTo>
                  <a:pt x="144418" y="2482274"/>
                  <a:pt x="818711" y="3156566"/>
                  <a:pt x="1650492" y="3156566"/>
                </a:cubicBezTo>
                <a:cubicBezTo>
                  <a:pt x="2482274" y="3156566"/>
                  <a:pt x="3156566" y="2482274"/>
                  <a:pt x="3156566" y="1650492"/>
                </a:cubicBezTo>
                <a:cubicBezTo>
                  <a:pt x="3156566" y="818711"/>
                  <a:pt x="2482274" y="144418"/>
                  <a:pt x="1650492" y="144418"/>
                </a:cubicBezTo>
                <a:close/>
                <a:moveTo>
                  <a:pt x="1650492" y="0"/>
                </a:moveTo>
                <a:cubicBezTo>
                  <a:pt x="2562034" y="0"/>
                  <a:pt x="3300984" y="738950"/>
                  <a:pt x="3300984" y="1650492"/>
                </a:cubicBezTo>
                <a:cubicBezTo>
                  <a:pt x="3300984" y="2562034"/>
                  <a:pt x="2562034" y="3300984"/>
                  <a:pt x="1650492" y="3300984"/>
                </a:cubicBezTo>
                <a:cubicBezTo>
                  <a:pt x="738950" y="3300984"/>
                  <a:pt x="0" y="2562034"/>
                  <a:pt x="0" y="1650492"/>
                </a:cubicBezTo>
                <a:cubicBezTo>
                  <a:pt x="0" y="738950"/>
                  <a:pt x="738950" y="0"/>
                  <a:pt x="1650492" y="0"/>
                </a:cubicBezTo>
                <a:close/>
              </a:path>
            </a:pathLst>
          </a:custGeom>
        </p:spPr>
      </p:pic>
      <p:sp>
        <p:nvSpPr>
          <p:cNvPr id="12" name="TextBox 11">
            <a:extLst>
              <a:ext uri="{FF2B5EF4-FFF2-40B4-BE49-F238E27FC236}">
                <a16:creationId xmlns:a16="http://schemas.microsoft.com/office/drawing/2014/main" id="{8341B420-7175-46F3-B01E-875354C4C56B}"/>
              </a:ext>
            </a:extLst>
          </p:cNvPr>
          <p:cNvSpPr txBox="1"/>
          <p:nvPr/>
        </p:nvSpPr>
        <p:spPr>
          <a:xfrm>
            <a:off x="290826" y="5145457"/>
            <a:ext cx="9559446" cy="923330"/>
          </a:xfrm>
          <a:prstGeom prst="rect">
            <a:avLst/>
          </a:prstGeom>
          <a:noFill/>
        </p:spPr>
        <p:txBody>
          <a:bodyPr wrap="square" rtlCol="0">
            <a:spAutoFit/>
          </a:bodyPr>
          <a:lstStyle/>
          <a:p>
            <a:r>
              <a:rPr lang="en-US" b="1">
                <a:solidFill>
                  <a:schemeClr val="accent1"/>
                </a:solidFill>
              </a:rPr>
              <a:t>Para-xylene is used as a building block in the manufacture of chemicals sought after in the plastic industry, such as terephthalic acid (TPA), purified terephthalic acid (PTA), and dimethyl-terephthalate (DMT).</a:t>
            </a:r>
            <a:endParaRPr lang="en-US">
              <a:solidFill>
                <a:schemeClr val="accent1"/>
              </a:solidFill>
            </a:endParaRPr>
          </a:p>
        </p:txBody>
      </p:sp>
      <p:cxnSp>
        <p:nvCxnSpPr>
          <p:cNvPr id="56" name="Straight Arrow Connector 55">
            <a:extLst>
              <a:ext uri="{FF2B5EF4-FFF2-40B4-BE49-F238E27FC236}">
                <a16:creationId xmlns:a16="http://schemas.microsoft.com/office/drawing/2014/main" id="{1E66FE35-608D-44F7-BD2B-6EE8DF36019F}"/>
              </a:ext>
            </a:extLst>
          </p:cNvPr>
          <p:cNvCxnSpPr/>
          <p:nvPr/>
        </p:nvCxnSpPr>
        <p:spPr>
          <a:xfrm>
            <a:off x="4148359" y="4554165"/>
            <a:ext cx="3195961" cy="0"/>
          </a:xfrm>
          <a:prstGeom prst="straightConnector1">
            <a:avLst/>
          </a:prstGeom>
          <a:ln>
            <a:solidFill>
              <a:srgbClr val="002060"/>
            </a:solidFill>
            <a:tailEnd type="triangle"/>
          </a:ln>
        </p:spPr>
        <p:style>
          <a:lnRef idx="1">
            <a:schemeClr val="dk1"/>
          </a:lnRef>
          <a:fillRef idx="0">
            <a:schemeClr val="dk1"/>
          </a:fillRef>
          <a:effectRef idx="0">
            <a:schemeClr val="dk1"/>
          </a:effectRef>
          <a:fontRef idx="minor">
            <a:schemeClr val="tx1"/>
          </a:fontRef>
        </p:style>
      </p:cxnSp>
      <p:sp>
        <p:nvSpPr>
          <p:cNvPr id="57" name="Content Placeholder 4">
            <a:extLst>
              <a:ext uri="{FF2B5EF4-FFF2-40B4-BE49-F238E27FC236}">
                <a16:creationId xmlns:a16="http://schemas.microsoft.com/office/drawing/2014/main" id="{D0FD64B1-294F-47A6-8D24-580A5DEB995A}"/>
              </a:ext>
            </a:extLst>
          </p:cNvPr>
          <p:cNvSpPr txBox="1">
            <a:spLocks/>
          </p:cNvSpPr>
          <p:nvPr/>
        </p:nvSpPr>
        <p:spPr>
          <a:xfrm>
            <a:off x="7761294" y="4377260"/>
            <a:ext cx="2656643" cy="610033"/>
          </a:xfrm>
          <a:prstGeom prst="rect">
            <a:avLst/>
          </a:prstGeom>
        </p:spPr>
        <p:txBody>
          <a:bodyPr vert="horz" lIns="91440" tIns="45720" rIns="91440" bIns="45720" rtlCol="0">
            <a:normAutofit fontScale="92500"/>
          </a:bodyPr>
          <a:lst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pPr marL="0" indent="0">
              <a:buNone/>
            </a:pPr>
            <a:r>
              <a:rPr lang="en-US" sz="1800" b="1">
                <a:solidFill>
                  <a:schemeClr val="accent1"/>
                </a:solidFill>
              </a:rPr>
              <a:t>Petrochemical Industry</a:t>
            </a:r>
          </a:p>
        </p:txBody>
      </p:sp>
      <p:sp>
        <p:nvSpPr>
          <p:cNvPr id="4" name="TextBox 3">
            <a:extLst>
              <a:ext uri="{FF2B5EF4-FFF2-40B4-BE49-F238E27FC236}">
                <a16:creationId xmlns:a16="http://schemas.microsoft.com/office/drawing/2014/main" id="{2056CB3A-2E3E-48E6-9761-13E899DA8F56}"/>
              </a:ext>
            </a:extLst>
          </p:cNvPr>
          <p:cNvSpPr txBox="1"/>
          <p:nvPr/>
        </p:nvSpPr>
        <p:spPr>
          <a:xfrm>
            <a:off x="3256919" y="3879545"/>
            <a:ext cx="772998" cy="261610"/>
          </a:xfrm>
          <a:prstGeom prst="rect">
            <a:avLst/>
          </a:prstGeom>
          <a:noFill/>
        </p:spPr>
        <p:txBody>
          <a:bodyPr wrap="square" rtlCol="0">
            <a:spAutoFit/>
          </a:bodyPr>
          <a:lstStyle/>
          <a:p>
            <a:r>
              <a:rPr lang="en-US" sz="1100"/>
              <a:t>[1]</a:t>
            </a:r>
          </a:p>
        </p:txBody>
      </p:sp>
      <p:sp>
        <p:nvSpPr>
          <p:cNvPr id="13" name="TextBox 12">
            <a:extLst>
              <a:ext uri="{FF2B5EF4-FFF2-40B4-BE49-F238E27FC236}">
                <a16:creationId xmlns:a16="http://schemas.microsoft.com/office/drawing/2014/main" id="{6A4225BC-6AE9-4211-BACC-BC7DB8A9C882}"/>
              </a:ext>
            </a:extLst>
          </p:cNvPr>
          <p:cNvSpPr txBox="1"/>
          <p:nvPr/>
        </p:nvSpPr>
        <p:spPr>
          <a:xfrm>
            <a:off x="7000670" y="3881509"/>
            <a:ext cx="772998" cy="261610"/>
          </a:xfrm>
          <a:prstGeom prst="rect">
            <a:avLst/>
          </a:prstGeom>
          <a:noFill/>
        </p:spPr>
        <p:txBody>
          <a:bodyPr wrap="square" rtlCol="0">
            <a:spAutoFit/>
          </a:bodyPr>
          <a:lstStyle/>
          <a:p>
            <a:r>
              <a:rPr lang="en-US" sz="1100"/>
              <a:t>[2]</a:t>
            </a:r>
          </a:p>
        </p:txBody>
      </p:sp>
      <p:sp>
        <p:nvSpPr>
          <p:cNvPr id="14" name="TextBox 13">
            <a:extLst>
              <a:ext uri="{FF2B5EF4-FFF2-40B4-BE49-F238E27FC236}">
                <a16:creationId xmlns:a16="http://schemas.microsoft.com/office/drawing/2014/main" id="{0809FFE0-D3C7-4E03-9B52-8A510F1442D2}"/>
              </a:ext>
            </a:extLst>
          </p:cNvPr>
          <p:cNvSpPr txBox="1"/>
          <p:nvPr/>
        </p:nvSpPr>
        <p:spPr>
          <a:xfrm>
            <a:off x="10697876" y="3879545"/>
            <a:ext cx="772998" cy="261610"/>
          </a:xfrm>
          <a:prstGeom prst="rect">
            <a:avLst/>
          </a:prstGeom>
          <a:noFill/>
        </p:spPr>
        <p:txBody>
          <a:bodyPr wrap="square" rtlCol="0">
            <a:spAutoFit/>
          </a:bodyPr>
          <a:lstStyle/>
          <a:p>
            <a:r>
              <a:rPr lang="en-US" sz="1100"/>
              <a:t>[3]</a:t>
            </a:r>
          </a:p>
        </p:txBody>
      </p:sp>
    </p:spTree>
    <p:extLst>
      <p:ext uri="{BB962C8B-B14F-4D97-AF65-F5344CB8AC3E}">
        <p14:creationId xmlns:p14="http://schemas.microsoft.com/office/powerpoint/2010/main" val="1717766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07D17-A02E-44AA-A70B-4FC7534DD4F2}"/>
              </a:ext>
            </a:extLst>
          </p:cNvPr>
          <p:cNvSpPr>
            <a:spLocks noGrp="1"/>
          </p:cNvSpPr>
          <p:nvPr>
            <p:ph type="title"/>
          </p:nvPr>
        </p:nvSpPr>
        <p:spPr>
          <a:xfrm>
            <a:off x="1067065" y="232597"/>
            <a:ext cx="8596668" cy="697075"/>
          </a:xfrm>
        </p:spPr>
        <p:txBody>
          <a:bodyPr>
            <a:normAutofit/>
          </a:bodyPr>
          <a:lstStyle/>
          <a:p>
            <a:r>
              <a:rPr lang="en-US" sz="3200"/>
              <a:t>Overall Process Outline</a:t>
            </a:r>
          </a:p>
        </p:txBody>
      </p:sp>
      <p:sp>
        <p:nvSpPr>
          <p:cNvPr id="4" name="Slide Number Placeholder 3">
            <a:extLst>
              <a:ext uri="{FF2B5EF4-FFF2-40B4-BE49-F238E27FC236}">
                <a16:creationId xmlns:a16="http://schemas.microsoft.com/office/drawing/2014/main" id="{1E001106-F72D-440E-BA01-7847C452C26B}"/>
              </a:ext>
            </a:extLst>
          </p:cNvPr>
          <p:cNvSpPr>
            <a:spLocks noGrp="1"/>
          </p:cNvSpPr>
          <p:nvPr>
            <p:ph type="sldNum" sz="quarter" idx="12"/>
          </p:nvPr>
        </p:nvSpPr>
        <p:spPr/>
        <p:txBody>
          <a:bodyPr/>
          <a:lstStyle/>
          <a:p>
            <a:fld id="{34B7E4EF-A1BD-40F4-AB7B-04F084DD991D}" type="slidenum">
              <a:rPr lang="en-US" smtClean="0"/>
              <a:pPr/>
              <a:t>3</a:t>
            </a:fld>
            <a:endParaRPr lang="en-US"/>
          </a:p>
        </p:txBody>
      </p:sp>
      <p:sp>
        <p:nvSpPr>
          <p:cNvPr id="5" name="Content Placeholder 4">
            <a:extLst>
              <a:ext uri="{FF2B5EF4-FFF2-40B4-BE49-F238E27FC236}">
                <a16:creationId xmlns:a16="http://schemas.microsoft.com/office/drawing/2014/main" id="{C640EB37-9ABF-41F0-A058-E2B8512350D8}"/>
              </a:ext>
            </a:extLst>
          </p:cNvPr>
          <p:cNvSpPr>
            <a:spLocks noGrp="1"/>
          </p:cNvSpPr>
          <p:nvPr>
            <p:ph idx="1"/>
          </p:nvPr>
        </p:nvSpPr>
        <p:spPr>
          <a:xfrm>
            <a:off x="1385114" y="1525180"/>
            <a:ext cx="1648294" cy="1138093"/>
          </a:xfrm>
          <a:prstGeom prst="rect">
            <a:avLst/>
          </a:prstGeom>
          <a:solidFill>
            <a:srgbClr val="FF0000"/>
          </a:solidFill>
        </p:spPr>
        <p:style>
          <a:lnRef idx="2">
            <a:schemeClr val="dk1"/>
          </a:lnRef>
          <a:fillRef idx="1">
            <a:schemeClr val="lt1"/>
          </a:fillRef>
          <a:effectRef idx="0">
            <a:schemeClr val="dk1"/>
          </a:effectRef>
          <a:fontRef idx="minor">
            <a:schemeClr val="dk1"/>
          </a:fontRef>
        </p:style>
        <p:txBody>
          <a:bodyPr rtlCol="0" anchor="ctr">
            <a:noAutofit/>
          </a:bodyPr>
          <a:lstStyle/>
          <a:p>
            <a:pPr marL="0" indent="0" algn="ctr">
              <a:buNone/>
            </a:pPr>
            <a:r>
              <a:rPr lang="en-US" sz="2000" b="1">
                <a:solidFill>
                  <a:schemeClr val="tx1"/>
                </a:solidFill>
              </a:rPr>
              <a:t>TOLUENE ALKYLATION REACTOR</a:t>
            </a:r>
          </a:p>
        </p:txBody>
      </p:sp>
      <p:sp>
        <p:nvSpPr>
          <p:cNvPr id="7" name="TextBox 6">
            <a:extLst>
              <a:ext uri="{FF2B5EF4-FFF2-40B4-BE49-F238E27FC236}">
                <a16:creationId xmlns:a16="http://schemas.microsoft.com/office/drawing/2014/main" id="{9FC9B329-93BA-43B1-9A1B-AE9CE1F463B4}"/>
              </a:ext>
            </a:extLst>
          </p:cNvPr>
          <p:cNvSpPr txBox="1"/>
          <p:nvPr/>
        </p:nvSpPr>
        <p:spPr>
          <a:xfrm>
            <a:off x="0" y="1708379"/>
            <a:ext cx="1595110" cy="400110"/>
          </a:xfrm>
          <a:prstGeom prst="rect">
            <a:avLst/>
          </a:prstGeom>
          <a:noFill/>
        </p:spPr>
        <p:txBody>
          <a:bodyPr wrap="square" rtlCol="0">
            <a:spAutoFit/>
          </a:bodyPr>
          <a:lstStyle/>
          <a:p>
            <a:pPr algn="ctr"/>
            <a:r>
              <a:rPr lang="en-US" b="1">
                <a:latin typeface="+mj-lt"/>
                <a:cs typeface="Times New Roman" panose="02020603050405020304" pitchFamily="18" charset="0"/>
              </a:rPr>
              <a:t> </a:t>
            </a:r>
            <a:r>
              <a:rPr lang="en-US" sz="2000" b="1">
                <a:latin typeface="+mj-lt"/>
                <a:cs typeface="Times New Roman" panose="02020603050405020304" pitchFamily="18" charset="0"/>
              </a:rPr>
              <a:t>FEED </a:t>
            </a:r>
          </a:p>
        </p:txBody>
      </p:sp>
      <p:cxnSp>
        <p:nvCxnSpPr>
          <p:cNvPr id="8" name="Straight Arrow Connector 7">
            <a:extLst>
              <a:ext uri="{FF2B5EF4-FFF2-40B4-BE49-F238E27FC236}">
                <a16:creationId xmlns:a16="http://schemas.microsoft.com/office/drawing/2014/main" id="{51C283E5-3CF5-47A1-8DC8-49F538DC195E}"/>
              </a:ext>
            </a:extLst>
          </p:cNvPr>
          <p:cNvCxnSpPr>
            <a:cxnSpLocks/>
          </p:cNvCxnSpPr>
          <p:nvPr/>
        </p:nvCxnSpPr>
        <p:spPr>
          <a:xfrm>
            <a:off x="122646" y="2112060"/>
            <a:ext cx="127175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7179A681-8974-4FB9-B638-8C2ACC760542}"/>
              </a:ext>
            </a:extLst>
          </p:cNvPr>
          <p:cNvSpPr txBox="1"/>
          <p:nvPr/>
        </p:nvSpPr>
        <p:spPr>
          <a:xfrm>
            <a:off x="3022827" y="1162413"/>
            <a:ext cx="1508470" cy="923330"/>
          </a:xfrm>
          <a:prstGeom prst="rect">
            <a:avLst/>
          </a:prstGeom>
          <a:noFill/>
        </p:spPr>
        <p:txBody>
          <a:bodyPr wrap="square" rtlCol="0">
            <a:spAutoFit/>
          </a:bodyPr>
          <a:lstStyle/>
          <a:p>
            <a:pPr algn="ctr"/>
            <a:r>
              <a:rPr lang="en-US" sz="1400" b="1">
                <a:latin typeface="Times New Roman" panose="02020603050405020304" pitchFamily="18" charset="0"/>
                <a:cs typeface="Times New Roman" panose="02020603050405020304" pitchFamily="18" charset="0"/>
              </a:rPr>
              <a:t> </a:t>
            </a:r>
            <a:r>
              <a:rPr lang="en-US" sz="2000" b="1">
                <a:solidFill>
                  <a:srgbClr val="7030A0"/>
                </a:solidFill>
                <a:latin typeface="+mj-lt"/>
                <a:cs typeface="Times New Roman" panose="02020603050405020304" pitchFamily="18" charset="0"/>
              </a:rPr>
              <a:t>METHANOL</a:t>
            </a:r>
          </a:p>
          <a:p>
            <a:pPr algn="ctr"/>
            <a:r>
              <a:rPr lang="en-US" sz="2000" b="1">
                <a:solidFill>
                  <a:srgbClr val="0070C0"/>
                </a:solidFill>
                <a:latin typeface="+mj-lt"/>
                <a:cs typeface="Times New Roman" panose="02020603050405020304" pitchFamily="18" charset="0"/>
              </a:rPr>
              <a:t>WATER</a:t>
            </a:r>
          </a:p>
        </p:txBody>
      </p:sp>
      <p:cxnSp>
        <p:nvCxnSpPr>
          <p:cNvPr id="10" name="Straight Arrow Connector 9">
            <a:extLst>
              <a:ext uri="{FF2B5EF4-FFF2-40B4-BE49-F238E27FC236}">
                <a16:creationId xmlns:a16="http://schemas.microsoft.com/office/drawing/2014/main" id="{9E24C5D1-5DCB-42B9-A912-DB68371CFCAA}"/>
              </a:ext>
            </a:extLst>
          </p:cNvPr>
          <p:cNvCxnSpPr>
            <a:cxnSpLocks/>
            <a:stCxn id="5" idx="3"/>
            <a:endCxn id="14" idx="1"/>
          </p:cNvCxnSpPr>
          <p:nvPr/>
        </p:nvCxnSpPr>
        <p:spPr>
          <a:xfrm flipV="1">
            <a:off x="3033408" y="2085744"/>
            <a:ext cx="1504598" cy="84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6BEA268B-CF8A-402C-B006-91F40AE9CFF4}"/>
              </a:ext>
            </a:extLst>
          </p:cNvPr>
          <p:cNvSpPr txBox="1"/>
          <p:nvPr/>
        </p:nvSpPr>
        <p:spPr>
          <a:xfrm>
            <a:off x="3052931" y="2052669"/>
            <a:ext cx="1420329" cy="1015663"/>
          </a:xfrm>
          <a:prstGeom prst="rect">
            <a:avLst/>
          </a:prstGeom>
          <a:noFill/>
        </p:spPr>
        <p:txBody>
          <a:bodyPr wrap="square" rtlCol="0">
            <a:spAutoFit/>
          </a:bodyPr>
          <a:lstStyle/>
          <a:p>
            <a:pPr algn="ctr"/>
            <a:r>
              <a:rPr lang="en-US" sz="2000" b="1">
                <a:solidFill>
                  <a:schemeClr val="accent6">
                    <a:lumMod val="75000"/>
                  </a:schemeClr>
                </a:solidFill>
                <a:latin typeface="+mj-lt"/>
                <a:cs typeface="Times New Roman" panose="02020603050405020304" pitchFamily="18" charset="0"/>
              </a:rPr>
              <a:t>BENZENE</a:t>
            </a:r>
          </a:p>
          <a:p>
            <a:pPr algn="ctr"/>
            <a:r>
              <a:rPr lang="en-US" sz="2000" b="1">
                <a:solidFill>
                  <a:srgbClr val="00B050"/>
                </a:solidFill>
                <a:latin typeface="+mj-lt"/>
                <a:cs typeface="Times New Roman" panose="02020603050405020304" pitchFamily="18" charset="0"/>
              </a:rPr>
              <a:t>TOLUENE</a:t>
            </a:r>
          </a:p>
          <a:p>
            <a:pPr algn="ctr"/>
            <a:r>
              <a:rPr lang="en-US" sz="2000" b="1">
                <a:latin typeface="+mj-lt"/>
                <a:cs typeface="Times New Roman" panose="02020603050405020304" pitchFamily="18" charset="0"/>
              </a:rPr>
              <a:t>XYLENES</a:t>
            </a:r>
          </a:p>
        </p:txBody>
      </p:sp>
      <p:sp>
        <p:nvSpPr>
          <p:cNvPr id="13" name="Rectangle 12">
            <a:extLst>
              <a:ext uri="{FF2B5EF4-FFF2-40B4-BE49-F238E27FC236}">
                <a16:creationId xmlns:a16="http://schemas.microsoft.com/office/drawing/2014/main" id="{EDC229DD-DB1D-4A9F-8453-97A98B2A4336}"/>
              </a:ext>
            </a:extLst>
          </p:cNvPr>
          <p:cNvSpPr/>
          <p:nvPr/>
        </p:nvSpPr>
        <p:spPr>
          <a:xfrm>
            <a:off x="7761529" y="1516895"/>
            <a:ext cx="1629486" cy="1124807"/>
          </a:xfrm>
          <a:prstGeom prst="rect">
            <a:avLst/>
          </a:prstGeom>
          <a:solidFill>
            <a:srgbClr val="FFC0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a:solidFill>
                  <a:schemeClr val="tx1"/>
                </a:solidFill>
              </a:rPr>
              <a:t>METHANOL COLUMN</a:t>
            </a:r>
          </a:p>
        </p:txBody>
      </p:sp>
      <p:sp>
        <p:nvSpPr>
          <p:cNvPr id="14" name="Rectangle 13">
            <a:extLst>
              <a:ext uri="{FF2B5EF4-FFF2-40B4-BE49-F238E27FC236}">
                <a16:creationId xmlns:a16="http://schemas.microsoft.com/office/drawing/2014/main" id="{35E66817-E4D1-49B5-BB9F-332684E6210A}"/>
              </a:ext>
            </a:extLst>
          </p:cNvPr>
          <p:cNvSpPr/>
          <p:nvPr/>
        </p:nvSpPr>
        <p:spPr>
          <a:xfrm>
            <a:off x="4538006" y="1485900"/>
            <a:ext cx="1654787" cy="1199687"/>
          </a:xfrm>
          <a:prstGeom prst="rect">
            <a:avLst/>
          </a:prstGeom>
          <a:solidFill>
            <a:srgbClr val="00B0F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a:solidFill>
                  <a:schemeClr val="tx1"/>
                </a:solidFill>
              </a:rPr>
              <a:t>DECANTER</a:t>
            </a:r>
          </a:p>
        </p:txBody>
      </p:sp>
      <p:cxnSp>
        <p:nvCxnSpPr>
          <p:cNvPr id="17" name="Straight Arrow Connector 16">
            <a:extLst>
              <a:ext uri="{FF2B5EF4-FFF2-40B4-BE49-F238E27FC236}">
                <a16:creationId xmlns:a16="http://schemas.microsoft.com/office/drawing/2014/main" id="{11B75059-03D7-4049-B1EE-5F5431CE7F26}"/>
              </a:ext>
            </a:extLst>
          </p:cNvPr>
          <p:cNvCxnSpPr>
            <a:cxnSpLocks/>
            <a:stCxn id="14" idx="3"/>
            <a:endCxn id="13" idx="1"/>
          </p:cNvCxnSpPr>
          <p:nvPr/>
        </p:nvCxnSpPr>
        <p:spPr>
          <a:xfrm flipV="1">
            <a:off x="6192793" y="2079299"/>
            <a:ext cx="1568736" cy="64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86464302-804F-4739-825C-BB2D2D0DB773}"/>
              </a:ext>
            </a:extLst>
          </p:cNvPr>
          <p:cNvSpPr txBox="1"/>
          <p:nvPr/>
        </p:nvSpPr>
        <p:spPr>
          <a:xfrm>
            <a:off x="6206211" y="1638555"/>
            <a:ext cx="1541899" cy="646331"/>
          </a:xfrm>
          <a:prstGeom prst="rect">
            <a:avLst/>
          </a:prstGeom>
          <a:noFill/>
        </p:spPr>
        <p:txBody>
          <a:bodyPr wrap="square" rtlCol="0">
            <a:spAutoFit/>
          </a:bodyPr>
          <a:lstStyle/>
          <a:p>
            <a:pPr algn="ctr"/>
            <a:r>
              <a:rPr lang="en-US" sz="1400" b="1">
                <a:solidFill>
                  <a:srgbClr val="00B0F0"/>
                </a:solidFill>
                <a:latin typeface="Times New Roman" panose="02020603050405020304" pitchFamily="18" charset="0"/>
                <a:cs typeface="Times New Roman" panose="02020603050405020304" pitchFamily="18" charset="0"/>
              </a:rPr>
              <a:t> </a:t>
            </a:r>
            <a:r>
              <a:rPr lang="en-US" sz="2000" b="1">
                <a:solidFill>
                  <a:srgbClr val="7030A0"/>
                </a:solidFill>
                <a:latin typeface="+mj-lt"/>
                <a:cs typeface="Times New Roman" panose="02020603050405020304" pitchFamily="18" charset="0"/>
              </a:rPr>
              <a:t>METHANOL</a:t>
            </a:r>
          </a:p>
          <a:p>
            <a:pPr algn="ctr"/>
            <a:r>
              <a:rPr lang="en-US" sz="1600" b="1">
                <a:latin typeface="Times New Roman" panose="02020603050405020304" pitchFamily="18" charset="0"/>
                <a:cs typeface="Times New Roman" panose="02020603050405020304" pitchFamily="18" charset="0"/>
              </a:rPr>
              <a:t> </a:t>
            </a:r>
          </a:p>
        </p:txBody>
      </p:sp>
      <p:sp>
        <p:nvSpPr>
          <p:cNvPr id="25" name="TextBox 24">
            <a:extLst>
              <a:ext uri="{FF2B5EF4-FFF2-40B4-BE49-F238E27FC236}">
                <a16:creationId xmlns:a16="http://schemas.microsoft.com/office/drawing/2014/main" id="{E336BE5A-C42F-40E1-BBA9-F283DB275C0D}"/>
              </a:ext>
            </a:extLst>
          </p:cNvPr>
          <p:cNvSpPr txBox="1"/>
          <p:nvPr/>
        </p:nvSpPr>
        <p:spPr>
          <a:xfrm>
            <a:off x="6257539" y="1906152"/>
            <a:ext cx="1397966" cy="615553"/>
          </a:xfrm>
          <a:prstGeom prst="rect">
            <a:avLst/>
          </a:prstGeom>
          <a:noFill/>
        </p:spPr>
        <p:txBody>
          <a:bodyPr wrap="square" rtlCol="0">
            <a:spAutoFit/>
          </a:bodyPr>
          <a:lstStyle/>
          <a:p>
            <a:pPr algn="ctr"/>
            <a:r>
              <a:rPr lang="en-US" sz="1400" b="1">
                <a:latin typeface="Times New Roman" panose="02020603050405020304" pitchFamily="18" charset="0"/>
                <a:cs typeface="Times New Roman" panose="02020603050405020304" pitchFamily="18" charset="0"/>
              </a:rPr>
              <a:t> </a:t>
            </a:r>
            <a:endParaRPr lang="en-US" sz="1600" b="1">
              <a:latin typeface="Times New Roman" panose="02020603050405020304" pitchFamily="18" charset="0"/>
              <a:cs typeface="Times New Roman" panose="02020603050405020304" pitchFamily="18" charset="0"/>
            </a:endParaRPr>
          </a:p>
          <a:p>
            <a:pPr algn="ctr"/>
            <a:r>
              <a:rPr lang="en-US" sz="2000" b="1">
                <a:solidFill>
                  <a:srgbClr val="0070C0"/>
                </a:solidFill>
                <a:latin typeface="+mj-lt"/>
                <a:cs typeface="Times New Roman" panose="02020603050405020304" pitchFamily="18" charset="0"/>
              </a:rPr>
              <a:t>WATER</a:t>
            </a:r>
          </a:p>
        </p:txBody>
      </p:sp>
      <p:sp>
        <p:nvSpPr>
          <p:cNvPr id="31" name="TextBox 30">
            <a:extLst>
              <a:ext uri="{FF2B5EF4-FFF2-40B4-BE49-F238E27FC236}">
                <a16:creationId xmlns:a16="http://schemas.microsoft.com/office/drawing/2014/main" id="{528D2787-6532-432D-8A21-E6397DBB639A}"/>
              </a:ext>
            </a:extLst>
          </p:cNvPr>
          <p:cNvSpPr txBox="1"/>
          <p:nvPr/>
        </p:nvSpPr>
        <p:spPr>
          <a:xfrm>
            <a:off x="8490955" y="2504123"/>
            <a:ext cx="1397966" cy="615553"/>
          </a:xfrm>
          <a:prstGeom prst="rect">
            <a:avLst/>
          </a:prstGeom>
          <a:noFill/>
        </p:spPr>
        <p:txBody>
          <a:bodyPr wrap="square" rtlCol="0">
            <a:spAutoFit/>
          </a:bodyPr>
          <a:lstStyle/>
          <a:p>
            <a:pPr algn="ctr"/>
            <a:r>
              <a:rPr lang="en-US" sz="1400" b="1">
                <a:latin typeface="Times New Roman" panose="02020603050405020304" pitchFamily="18" charset="0"/>
                <a:cs typeface="Times New Roman" panose="02020603050405020304" pitchFamily="18" charset="0"/>
              </a:rPr>
              <a:t> </a:t>
            </a:r>
            <a:endParaRPr lang="en-US" sz="1600" b="1">
              <a:latin typeface="Times New Roman" panose="02020603050405020304" pitchFamily="18" charset="0"/>
              <a:cs typeface="Times New Roman" panose="02020603050405020304" pitchFamily="18" charset="0"/>
            </a:endParaRPr>
          </a:p>
          <a:p>
            <a:pPr algn="ctr"/>
            <a:r>
              <a:rPr lang="en-US" sz="2000" b="1">
                <a:solidFill>
                  <a:srgbClr val="0070C0"/>
                </a:solidFill>
                <a:latin typeface="+mj-lt"/>
                <a:cs typeface="Times New Roman" panose="02020603050405020304" pitchFamily="18" charset="0"/>
              </a:rPr>
              <a:t>WATER</a:t>
            </a:r>
          </a:p>
        </p:txBody>
      </p:sp>
      <p:sp>
        <p:nvSpPr>
          <p:cNvPr id="32" name="TextBox 31">
            <a:extLst>
              <a:ext uri="{FF2B5EF4-FFF2-40B4-BE49-F238E27FC236}">
                <a16:creationId xmlns:a16="http://schemas.microsoft.com/office/drawing/2014/main" id="{3A1A2649-5701-47A1-8D75-AB99EC6E8EBF}"/>
              </a:ext>
            </a:extLst>
          </p:cNvPr>
          <p:cNvSpPr txBox="1"/>
          <p:nvPr/>
        </p:nvSpPr>
        <p:spPr>
          <a:xfrm>
            <a:off x="8411876" y="1014165"/>
            <a:ext cx="1724252" cy="646331"/>
          </a:xfrm>
          <a:prstGeom prst="rect">
            <a:avLst/>
          </a:prstGeom>
          <a:noFill/>
        </p:spPr>
        <p:txBody>
          <a:bodyPr wrap="square" rtlCol="0">
            <a:spAutoFit/>
          </a:bodyPr>
          <a:lstStyle/>
          <a:p>
            <a:pPr algn="ctr"/>
            <a:r>
              <a:rPr lang="en-US" sz="1400" b="1">
                <a:solidFill>
                  <a:srgbClr val="00B0F0"/>
                </a:solidFill>
                <a:latin typeface="Times New Roman" panose="02020603050405020304" pitchFamily="18" charset="0"/>
                <a:cs typeface="Times New Roman" panose="02020603050405020304" pitchFamily="18" charset="0"/>
              </a:rPr>
              <a:t> </a:t>
            </a:r>
            <a:r>
              <a:rPr lang="en-US" sz="2000" b="1">
                <a:solidFill>
                  <a:srgbClr val="7030A0"/>
                </a:solidFill>
                <a:latin typeface="+mj-lt"/>
                <a:cs typeface="Times New Roman" panose="02020603050405020304" pitchFamily="18" charset="0"/>
              </a:rPr>
              <a:t>METHANOL</a:t>
            </a:r>
          </a:p>
          <a:p>
            <a:pPr algn="ctr"/>
            <a:r>
              <a:rPr lang="en-US" sz="1600" b="1">
                <a:latin typeface="Times New Roman" panose="02020603050405020304" pitchFamily="18" charset="0"/>
                <a:cs typeface="Times New Roman" panose="02020603050405020304" pitchFamily="18" charset="0"/>
              </a:rPr>
              <a:t> </a:t>
            </a:r>
          </a:p>
        </p:txBody>
      </p:sp>
      <p:cxnSp>
        <p:nvCxnSpPr>
          <p:cNvPr id="44" name="Connector: Elbow 43">
            <a:extLst>
              <a:ext uri="{FF2B5EF4-FFF2-40B4-BE49-F238E27FC236}">
                <a16:creationId xmlns:a16="http://schemas.microsoft.com/office/drawing/2014/main" id="{4743B568-B3EB-4A06-A7B5-FBEF53997DD5}"/>
              </a:ext>
            </a:extLst>
          </p:cNvPr>
          <p:cNvCxnSpPr>
            <a:cxnSpLocks/>
          </p:cNvCxnSpPr>
          <p:nvPr/>
        </p:nvCxnSpPr>
        <p:spPr>
          <a:xfrm rot="5400000">
            <a:off x="2205028" y="1859789"/>
            <a:ext cx="2369289" cy="3990544"/>
          </a:xfrm>
          <a:prstGeom prst="bentConnector4">
            <a:avLst>
              <a:gd name="adj1" fmla="val 28426"/>
              <a:gd name="adj2" fmla="val 128643"/>
            </a:avLst>
          </a:prstGeom>
          <a:ln>
            <a:tailEnd type="triangle"/>
          </a:ln>
        </p:spPr>
        <p:style>
          <a:lnRef idx="3">
            <a:schemeClr val="dk1"/>
          </a:lnRef>
          <a:fillRef idx="0">
            <a:schemeClr val="dk1"/>
          </a:fillRef>
          <a:effectRef idx="2">
            <a:schemeClr val="dk1"/>
          </a:effectRef>
          <a:fontRef idx="minor">
            <a:schemeClr val="tx1"/>
          </a:fontRef>
        </p:style>
      </p:cxnSp>
      <p:sp>
        <p:nvSpPr>
          <p:cNvPr id="64" name="Rectangle 63">
            <a:extLst>
              <a:ext uri="{FF2B5EF4-FFF2-40B4-BE49-F238E27FC236}">
                <a16:creationId xmlns:a16="http://schemas.microsoft.com/office/drawing/2014/main" id="{3CF6066F-E81A-463D-AC72-48B8BA03E638}"/>
              </a:ext>
            </a:extLst>
          </p:cNvPr>
          <p:cNvSpPr/>
          <p:nvPr/>
        </p:nvSpPr>
        <p:spPr>
          <a:xfrm>
            <a:off x="1410355" y="4557934"/>
            <a:ext cx="1503842" cy="1110739"/>
          </a:xfrm>
          <a:prstGeom prst="rect">
            <a:avLst/>
          </a:prstGeom>
          <a:solidFill>
            <a:srgbClr val="FFC0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a:solidFill>
                  <a:schemeClr val="tx1"/>
                </a:solidFill>
              </a:rPr>
              <a:t>BENZENE</a:t>
            </a:r>
          </a:p>
          <a:p>
            <a:pPr algn="ctr"/>
            <a:r>
              <a:rPr lang="en-US" sz="2000" b="1">
                <a:solidFill>
                  <a:schemeClr val="tx1"/>
                </a:solidFill>
              </a:rPr>
              <a:t>COLUMN</a:t>
            </a:r>
          </a:p>
        </p:txBody>
      </p:sp>
      <p:sp>
        <p:nvSpPr>
          <p:cNvPr id="75" name="TextBox 74">
            <a:extLst>
              <a:ext uri="{FF2B5EF4-FFF2-40B4-BE49-F238E27FC236}">
                <a16:creationId xmlns:a16="http://schemas.microsoft.com/office/drawing/2014/main" id="{8BB0F424-4F99-43C6-A091-2CAB74E58D9E}"/>
              </a:ext>
            </a:extLst>
          </p:cNvPr>
          <p:cNvSpPr txBox="1"/>
          <p:nvPr/>
        </p:nvSpPr>
        <p:spPr>
          <a:xfrm>
            <a:off x="27943" y="5060614"/>
            <a:ext cx="1420329" cy="707886"/>
          </a:xfrm>
          <a:prstGeom prst="rect">
            <a:avLst/>
          </a:prstGeom>
          <a:noFill/>
        </p:spPr>
        <p:txBody>
          <a:bodyPr wrap="square" rtlCol="0">
            <a:spAutoFit/>
          </a:bodyPr>
          <a:lstStyle/>
          <a:p>
            <a:pPr algn="ctr"/>
            <a:r>
              <a:rPr lang="en-US" sz="1600" b="1">
                <a:latin typeface="Times New Roman" panose="02020603050405020304" pitchFamily="18" charset="0"/>
                <a:cs typeface="Times New Roman" panose="02020603050405020304" pitchFamily="18" charset="0"/>
              </a:rPr>
              <a:t> </a:t>
            </a:r>
            <a:r>
              <a:rPr lang="en-US" sz="2000" b="1">
                <a:solidFill>
                  <a:srgbClr val="00B050"/>
                </a:solidFill>
                <a:latin typeface="+mj-lt"/>
                <a:cs typeface="Times New Roman" panose="02020603050405020304" pitchFamily="18" charset="0"/>
              </a:rPr>
              <a:t>TOLUENE</a:t>
            </a:r>
          </a:p>
          <a:p>
            <a:pPr algn="ctr"/>
            <a:r>
              <a:rPr lang="en-US" sz="2000" b="1">
                <a:latin typeface="+mj-lt"/>
                <a:cs typeface="Times New Roman" panose="02020603050405020304" pitchFamily="18" charset="0"/>
              </a:rPr>
              <a:t>XYLENES</a:t>
            </a:r>
          </a:p>
        </p:txBody>
      </p:sp>
      <p:sp>
        <p:nvSpPr>
          <p:cNvPr id="76" name="TextBox 75">
            <a:extLst>
              <a:ext uri="{FF2B5EF4-FFF2-40B4-BE49-F238E27FC236}">
                <a16:creationId xmlns:a16="http://schemas.microsoft.com/office/drawing/2014/main" id="{2AB20AF8-5A42-4A9D-981C-ABEF7ADDE492}"/>
              </a:ext>
            </a:extLst>
          </p:cNvPr>
          <p:cNvSpPr txBox="1"/>
          <p:nvPr/>
        </p:nvSpPr>
        <p:spPr>
          <a:xfrm>
            <a:off x="117875" y="4578842"/>
            <a:ext cx="1420329" cy="400110"/>
          </a:xfrm>
          <a:prstGeom prst="rect">
            <a:avLst/>
          </a:prstGeom>
          <a:noFill/>
        </p:spPr>
        <p:txBody>
          <a:bodyPr wrap="square" rtlCol="0">
            <a:spAutoFit/>
          </a:bodyPr>
          <a:lstStyle/>
          <a:p>
            <a:pPr algn="ctr"/>
            <a:r>
              <a:rPr lang="en-US" sz="2000" b="1">
                <a:solidFill>
                  <a:schemeClr val="accent6">
                    <a:lumMod val="75000"/>
                  </a:schemeClr>
                </a:solidFill>
                <a:latin typeface="+mj-lt"/>
                <a:cs typeface="Times New Roman" panose="02020603050405020304" pitchFamily="18" charset="0"/>
              </a:rPr>
              <a:t>BENZENE</a:t>
            </a:r>
          </a:p>
        </p:txBody>
      </p:sp>
      <p:cxnSp>
        <p:nvCxnSpPr>
          <p:cNvPr id="84" name="Connector: Elbow 83">
            <a:extLst>
              <a:ext uri="{FF2B5EF4-FFF2-40B4-BE49-F238E27FC236}">
                <a16:creationId xmlns:a16="http://schemas.microsoft.com/office/drawing/2014/main" id="{EBAABC03-25EC-4C90-B5C4-1673DC95837C}"/>
              </a:ext>
            </a:extLst>
          </p:cNvPr>
          <p:cNvCxnSpPr>
            <a:cxnSpLocks/>
            <a:stCxn id="64" idx="0"/>
          </p:cNvCxnSpPr>
          <p:nvPr/>
        </p:nvCxnSpPr>
        <p:spPr>
          <a:xfrm rot="5400000" flipH="1" flipV="1">
            <a:off x="2660200" y="3426374"/>
            <a:ext cx="633636" cy="1629484"/>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87" name="Straight Arrow Connector 86">
            <a:extLst>
              <a:ext uri="{FF2B5EF4-FFF2-40B4-BE49-F238E27FC236}">
                <a16:creationId xmlns:a16="http://schemas.microsoft.com/office/drawing/2014/main" id="{D9CF10DD-C237-4D53-B659-814CBD91095A}"/>
              </a:ext>
            </a:extLst>
          </p:cNvPr>
          <p:cNvCxnSpPr>
            <a:cxnSpLocks/>
            <a:endCxn id="92" idx="1"/>
          </p:cNvCxnSpPr>
          <p:nvPr/>
        </p:nvCxnSpPr>
        <p:spPr>
          <a:xfrm>
            <a:off x="2929056" y="5108512"/>
            <a:ext cx="1455298" cy="1216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88" name="TextBox 87">
            <a:extLst>
              <a:ext uri="{FF2B5EF4-FFF2-40B4-BE49-F238E27FC236}">
                <a16:creationId xmlns:a16="http://schemas.microsoft.com/office/drawing/2014/main" id="{5E8B73FB-57F6-4C24-B271-D46E829FE85B}"/>
              </a:ext>
            </a:extLst>
          </p:cNvPr>
          <p:cNvSpPr txBox="1"/>
          <p:nvPr/>
        </p:nvSpPr>
        <p:spPr>
          <a:xfrm>
            <a:off x="2372468" y="3548857"/>
            <a:ext cx="1420329" cy="400110"/>
          </a:xfrm>
          <a:prstGeom prst="rect">
            <a:avLst/>
          </a:prstGeom>
          <a:noFill/>
        </p:spPr>
        <p:txBody>
          <a:bodyPr wrap="square" rtlCol="0">
            <a:spAutoFit/>
          </a:bodyPr>
          <a:lstStyle/>
          <a:p>
            <a:pPr algn="ctr"/>
            <a:r>
              <a:rPr lang="en-US" sz="2000" b="1">
                <a:solidFill>
                  <a:schemeClr val="accent6">
                    <a:lumMod val="75000"/>
                  </a:schemeClr>
                </a:solidFill>
                <a:latin typeface="+mj-lt"/>
                <a:cs typeface="Times New Roman" panose="02020603050405020304" pitchFamily="18" charset="0"/>
              </a:rPr>
              <a:t>BENZENE</a:t>
            </a:r>
          </a:p>
        </p:txBody>
      </p:sp>
      <p:sp>
        <p:nvSpPr>
          <p:cNvPr id="89" name="TextBox 88">
            <a:extLst>
              <a:ext uri="{FF2B5EF4-FFF2-40B4-BE49-F238E27FC236}">
                <a16:creationId xmlns:a16="http://schemas.microsoft.com/office/drawing/2014/main" id="{948CAEE9-DE1A-4831-8FAE-FA25952D1835}"/>
              </a:ext>
            </a:extLst>
          </p:cNvPr>
          <p:cNvSpPr txBox="1"/>
          <p:nvPr/>
        </p:nvSpPr>
        <p:spPr>
          <a:xfrm>
            <a:off x="2854351" y="5133944"/>
            <a:ext cx="1420329" cy="707886"/>
          </a:xfrm>
          <a:prstGeom prst="rect">
            <a:avLst/>
          </a:prstGeom>
          <a:noFill/>
        </p:spPr>
        <p:txBody>
          <a:bodyPr wrap="square" rtlCol="0">
            <a:spAutoFit/>
          </a:bodyPr>
          <a:lstStyle/>
          <a:p>
            <a:pPr algn="ctr"/>
            <a:r>
              <a:rPr lang="en-US" sz="1600" b="1">
                <a:latin typeface="Times New Roman" panose="02020603050405020304" pitchFamily="18" charset="0"/>
                <a:cs typeface="Times New Roman" panose="02020603050405020304" pitchFamily="18" charset="0"/>
              </a:rPr>
              <a:t> </a:t>
            </a:r>
            <a:r>
              <a:rPr lang="en-US" sz="2000" b="1">
                <a:solidFill>
                  <a:srgbClr val="00B050"/>
                </a:solidFill>
                <a:latin typeface="+mj-lt"/>
                <a:cs typeface="Times New Roman" panose="02020603050405020304" pitchFamily="18" charset="0"/>
              </a:rPr>
              <a:t>TOLUENE</a:t>
            </a:r>
          </a:p>
          <a:p>
            <a:pPr algn="ctr"/>
            <a:r>
              <a:rPr lang="en-US" sz="2000" b="1">
                <a:latin typeface="+mj-lt"/>
                <a:cs typeface="Times New Roman" panose="02020603050405020304" pitchFamily="18" charset="0"/>
              </a:rPr>
              <a:t>XYLENES</a:t>
            </a:r>
          </a:p>
        </p:txBody>
      </p:sp>
      <p:sp>
        <p:nvSpPr>
          <p:cNvPr id="92" name="Rectangle 91">
            <a:extLst>
              <a:ext uri="{FF2B5EF4-FFF2-40B4-BE49-F238E27FC236}">
                <a16:creationId xmlns:a16="http://schemas.microsoft.com/office/drawing/2014/main" id="{10D2DBBF-FAFA-41D6-8EB6-33756456CB44}"/>
              </a:ext>
            </a:extLst>
          </p:cNvPr>
          <p:cNvSpPr/>
          <p:nvPr/>
        </p:nvSpPr>
        <p:spPr>
          <a:xfrm>
            <a:off x="4384354" y="4520831"/>
            <a:ext cx="1503842" cy="1199686"/>
          </a:xfrm>
          <a:prstGeom prst="rect">
            <a:avLst/>
          </a:prstGeom>
          <a:solidFill>
            <a:srgbClr val="FFC0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a:solidFill>
                  <a:schemeClr val="tx1"/>
                </a:solidFill>
              </a:rPr>
              <a:t>TOLUENE</a:t>
            </a:r>
          </a:p>
          <a:p>
            <a:pPr algn="ctr"/>
            <a:r>
              <a:rPr lang="en-US" sz="2000" b="1">
                <a:solidFill>
                  <a:schemeClr val="tx1"/>
                </a:solidFill>
              </a:rPr>
              <a:t>COLUMN</a:t>
            </a:r>
          </a:p>
        </p:txBody>
      </p:sp>
      <p:cxnSp>
        <p:nvCxnSpPr>
          <p:cNvPr id="93" name="Connector: Elbow 92">
            <a:extLst>
              <a:ext uri="{FF2B5EF4-FFF2-40B4-BE49-F238E27FC236}">
                <a16:creationId xmlns:a16="http://schemas.microsoft.com/office/drawing/2014/main" id="{4DD31289-FEA6-4B0B-B9C5-400D0F2442B4}"/>
              </a:ext>
            </a:extLst>
          </p:cNvPr>
          <p:cNvCxnSpPr>
            <a:cxnSpLocks/>
          </p:cNvCxnSpPr>
          <p:nvPr/>
        </p:nvCxnSpPr>
        <p:spPr>
          <a:xfrm rot="5400000" flipH="1" flipV="1">
            <a:off x="5639148" y="3380506"/>
            <a:ext cx="633638" cy="1629485"/>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
        <p:nvSpPr>
          <p:cNvPr id="95" name="TextBox 94">
            <a:extLst>
              <a:ext uri="{FF2B5EF4-FFF2-40B4-BE49-F238E27FC236}">
                <a16:creationId xmlns:a16="http://schemas.microsoft.com/office/drawing/2014/main" id="{ECD9F6AC-4E7E-4286-AF86-67FE56490B29}"/>
              </a:ext>
            </a:extLst>
          </p:cNvPr>
          <p:cNvSpPr txBox="1"/>
          <p:nvPr/>
        </p:nvSpPr>
        <p:spPr>
          <a:xfrm>
            <a:off x="5254730" y="3514492"/>
            <a:ext cx="1420329" cy="400110"/>
          </a:xfrm>
          <a:prstGeom prst="rect">
            <a:avLst/>
          </a:prstGeom>
          <a:noFill/>
        </p:spPr>
        <p:txBody>
          <a:bodyPr wrap="square" rtlCol="0">
            <a:spAutoFit/>
          </a:bodyPr>
          <a:lstStyle/>
          <a:p>
            <a:pPr algn="ctr"/>
            <a:r>
              <a:rPr lang="en-US" sz="2000" b="1">
                <a:solidFill>
                  <a:srgbClr val="00B050"/>
                </a:solidFill>
                <a:latin typeface="+mj-lt"/>
                <a:cs typeface="Times New Roman" panose="02020603050405020304" pitchFamily="18" charset="0"/>
              </a:rPr>
              <a:t>TOLUENE</a:t>
            </a:r>
          </a:p>
        </p:txBody>
      </p:sp>
      <p:cxnSp>
        <p:nvCxnSpPr>
          <p:cNvPr id="96" name="Straight Arrow Connector 95">
            <a:extLst>
              <a:ext uri="{FF2B5EF4-FFF2-40B4-BE49-F238E27FC236}">
                <a16:creationId xmlns:a16="http://schemas.microsoft.com/office/drawing/2014/main" id="{66BD4DAE-5011-4F2D-B053-C2C447EB2BB7}"/>
              </a:ext>
            </a:extLst>
          </p:cNvPr>
          <p:cNvCxnSpPr>
            <a:cxnSpLocks/>
            <a:stCxn id="92" idx="3"/>
            <a:endCxn id="99" idx="1"/>
          </p:cNvCxnSpPr>
          <p:nvPr/>
        </p:nvCxnSpPr>
        <p:spPr>
          <a:xfrm>
            <a:off x="5888196" y="5120674"/>
            <a:ext cx="1382412" cy="1327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98" name="TextBox 97">
            <a:extLst>
              <a:ext uri="{FF2B5EF4-FFF2-40B4-BE49-F238E27FC236}">
                <a16:creationId xmlns:a16="http://schemas.microsoft.com/office/drawing/2014/main" id="{A185F876-51CE-4BF8-B613-D74137FD6487}"/>
              </a:ext>
            </a:extLst>
          </p:cNvPr>
          <p:cNvSpPr txBox="1"/>
          <p:nvPr/>
        </p:nvSpPr>
        <p:spPr>
          <a:xfrm>
            <a:off x="5855359" y="5172045"/>
            <a:ext cx="1420329" cy="400110"/>
          </a:xfrm>
          <a:prstGeom prst="rect">
            <a:avLst/>
          </a:prstGeom>
          <a:noFill/>
        </p:spPr>
        <p:txBody>
          <a:bodyPr wrap="square" rtlCol="0">
            <a:spAutoFit/>
          </a:bodyPr>
          <a:lstStyle/>
          <a:p>
            <a:pPr algn="ctr"/>
            <a:r>
              <a:rPr lang="en-US" sz="2000" b="1">
                <a:latin typeface="+mj-lt"/>
                <a:cs typeface="Times New Roman" panose="02020603050405020304" pitchFamily="18" charset="0"/>
              </a:rPr>
              <a:t>XYLENES</a:t>
            </a:r>
          </a:p>
        </p:txBody>
      </p:sp>
      <p:sp>
        <p:nvSpPr>
          <p:cNvPr id="99" name="Rectangle 98">
            <a:extLst>
              <a:ext uri="{FF2B5EF4-FFF2-40B4-BE49-F238E27FC236}">
                <a16:creationId xmlns:a16="http://schemas.microsoft.com/office/drawing/2014/main" id="{09508574-448C-4D32-922A-742FA9EAC08B}"/>
              </a:ext>
            </a:extLst>
          </p:cNvPr>
          <p:cNvSpPr/>
          <p:nvPr/>
        </p:nvSpPr>
        <p:spPr>
          <a:xfrm>
            <a:off x="7270608" y="4555641"/>
            <a:ext cx="1835835" cy="1156605"/>
          </a:xfrm>
          <a:prstGeom prst="rect">
            <a:avLst/>
          </a:prstGeom>
          <a:solidFill>
            <a:srgbClr val="FFC000"/>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a:solidFill>
                  <a:schemeClr val="tx1"/>
                </a:solidFill>
              </a:rPr>
              <a:t>XYLENES</a:t>
            </a:r>
          </a:p>
          <a:p>
            <a:pPr algn="ctr"/>
            <a:r>
              <a:rPr lang="en-US" sz="2000" b="1">
                <a:solidFill>
                  <a:schemeClr val="tx1"/>
                </a:solidFill>
              </a:rPr>
              <a:t>PROCESSING</a:t>
            </a:r>
          </a:p>
          <a:p>
            <a:pPr algn="ctr"/>
            <a:r>
              <a:rPr lang="en-US" sz="2000" b="1">
                <a:solidFill>
                  <a:schemeClr val="tx1"/>
                </a:solidFill>
              </a:rPr>
              <a:t>UNIT</a:t>
            </a:r>
          </a:p>
        </p:txBody>
      </p:sp>
      <p:cxnSp>
        <p:nvCxnSpPr>
          <p:cNvPr id="100" name="Connector: Elbow 99">
            <a:extLst>
              <a:ext uri="{FF2B5EF4-FFF2-40B4-BE49-F238E27FC236}">
                <a16:creationId xmlns:a16="http://schemas.microsoft.com/office/drawing/2014/main" id="{3527BF21-09D9-47B2-9F94-43AE80E4A913}"/>
              </a:ext>
            </a:extLst>
          </p:cNvPr>
          <p:cNvCxnSpPr>
            <a:cxnSpLocks/>
          </p:cNvCxnSpPr>
          <p:nvPr/>
        </p:nvCxnSpPr>
        <p:spPr>
          <a:xfrm flipV="1">
            <a:off x="8576272" y="3827174"/>
            <a:ext cx="1700396" cy="707887"/>
          </a:xfrm>
          <a:prstGeom prst="bentConnector3">
            <a:avLst>
              <a:gd name="adj1" fmla="val -255"/>
            </a:avLst>
          </a:prstGeom>
          <a:ln>
            <a:tailEnd type="triangle"/>
          </a:ln>
        </p:spPr>
        <p:style>
          <a:lnRef idx="3">
            <a:schemeClr val="dk1"/>
          </a:lnRef>
          <a:fillRef idx="0">
            <a:schemeClr val="dk1"/>
          </a:fillRef>
          <a:effectRef idx="2">
            <a:schemeClr val="dk1"/>
          </a:effectRef>
          <a:fontRef idx="minor">
            <a:schemeClr val="tx1"/>
          </a:fontRef>
        </p:style>
      </p:cxnSp>
      <p:sp>
        <p:nvSpPr>
          <p:cNvPr id="101" name="TextBox 100">
            <a:extLst>
              <a:ext uri="{FF2B5EF4-FFF2-40B4-BE49-F238E27FC236}">
                <a16:creationId xmlns:a16="http://schemas.microsoft.com/office/drawing/2014/main" id="{3C6682BA-643A-4AEA-A98C-064C04F0DE2C}"/>
              </a:ext>
            </a:extLst>
          </p:cNvPr>
          <p:cNvSpPr txBox="1"/>
          <p:nvPr/>
        </p:nvSpPr>
        <p:spPr>
          <a:xfrm>
            <a:off x="8467212" y="3427064"/>
            <a:ext cx="2710476" cy="400110"/>
          </a:xfrm>
          <a:prstGeom prst="rect">
            <a:avLst/>
          </a:prstGeom>
          <a:noFill/>
        </p:spPr>
        <p:txBody>
          <a:bodyPr wrap="square" rtlCol="0">
            <a:spAutoFit/>
          </a:bodyPr>
          <a:lstStyle/>
          <a:p>
            <a:pPr algn="ctr"/>
            <a:r>
              <a:rPr lang="en-US" sz="2000" b="1">
                <a:solidFill>
                  <a:schemeClr val="accent6">
                    <a:lumMod val="75000"/>
                  </a:schemeClr>
                </a:solidFill>
                <a:latin typeface="+mj-lt"/>
                <a:cs typeface="Times New Roman" panose="02020603050405020304" pitchFamily="18" charset="0"/>
              </a:rPr>
              <a:t>Undesired Aromatics</a:t>
            </a:r>
          </a:p>
        </p:txBody>
      </p:sp>
      <p:sp>
        <p:nvSpPr>
          <p:cNvPr id="102" name="TextBox 101">
            <a:extLst>
              <a:ext uri="{FF2B5EF4-FFF2-40B4-BE49-F238E27FC236}">
                <a16:creationId xmlns:a16="http://schemas.microsoft.com/office/drawing/2014/main" id="{B1756812-3EFF-452A-B446-3F9C2ABCFC8E}"/>
              </a:ext>
            </a:extLst>
          </p:cNvPr>
          <p:cNvSpPr txBox="1"/>
          <p:nvPr/>
        </p:nvSpPr>
        <p:spPr>
          <a:xfrm>
            <a:off x="9038361" y="3822934"/>
            <a:ext cx="1420329" cy="707886"/>
          </a:xfrm>
          <a:prstGeom prst="rect">
            <a:avLst/>
          </a:prstGeom>
          <a:noFill/>
        </p:spPr>
        <p:txBody>
          <a:bodyPr wrap="square" rtlCol="0">
            <a:spAutoFit/>
          </a:bodyPr>
          <a:lstStyle/>
          <a:p>
            <a:pPr algn="ctr"/>
            <a:r>
              <a:rPr lang="en-US" sz="2000" b="1">
                <a:solidFill>
                  <a:srgbClr val="FFC000"/>
                </a:solidFill>
                <a:latin typeface="+mj-lt"/>
                <a:cs typeface="Times New Roman" panose="02020603050405020304" pitchFamily="18" charset="0"/>
              </a:rPr>
              <a:t>O-XYLENE</a:t>
            </a:r>
          </a:p>
          <a:p>
            <a:pPr algn="ctr"/>
            <a:r>
              <a:rPr lang="en-US" sz="2000" b="1">
                <a:solidFill>
                  <a:srgbClr val="FF0000"/>
                </a:solidFill>
                <a:latin typeface="+mj-lt"/>
                <a:cs typeface="Times New Roman" panose="02020603050405020304" pitchFamily="18" charset="0"/>
              </a:rPr>
              <a:t>M-XYLENE</a:t>
            </a:r>
          </a:p>
        </p:txBody>
      </p:sp>
      <p:cxnSp>
        <p:nvCxnSpPr>
          <p:cNvPr id="103" name="Connector: Elbow 102">
            <a:extLst>
              <a:ext uri="{FF2B5EF4-FFF2-40B4-BE49-F238E27FC236}">
                <a16:creationId xmlns:a16="http://schemas.microsoft.com/office/drawing/2014/main" id="{FAC2492F-E11C-4DC3-96E3-FC39919AF06D}"/>
              </a:ext>
            </a:extLst>
          </p:cNvPr>
          <p:cNvCxnSpPr>
            <a:cxnSpLocks/>
            <a:stCxn id="99" idx="2"/>
          </p:cNvCxnSpPr>
          <p:nvPr/>
        </p:nvCxnSpPr>
        <p:spPr>
          <a:xfrm rot="16200000" flipH="1">
            <a:off x="8408058" y="5492714"/>
            <a:ext cx="737814" cy="1176878"/>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
        <p:nvSpPr>
          <p:cNvPr id="109" name="TextBox 108">
            <a:extLst>
              <a:ext uri="{FF2B5EF4-FFF2-40B4-BE49-F238E27FC236}">
                <a16:creationId xmlns:a16="http://schemas.microsoft.com/office/drawing/2014/main" id="{0A1F5326-09F3-4DCA-9C46-9F2EFCF188CE}"/>
              </a:ext>
            </a:extLst>
          </p:cNvPr>
          <p:cNvSpPr txBox="1"/>
          <p:nvPr/>
        </p:nvSpPr>
        <p:spPr>
          <a:xfrm>
            <a:off x="8243946" y="6006377"/>
            <a:ext cx="1420329" cy="400110"/>
          </a:xfrm>
          <a:prstGeom prst="rect">
            <a:avLst/>
          </a:prstGeom>
          <a:noFill/>
        </p:spPr>
        <p:txBody>
          <a:bodyPr wrap="square" rtlCol="0">
            <a:spAutoFit/>
          </a:bodyPr>
          <a:lstStyle/>
          <a:p>
            <a:pPr algn="ctr"/>
            <a:r>
              <a:rPr lang="en-US" sz="2000" b="1">
                <a:solidFill>
                  <a:srgbClr val="00B0F0"/>
                </a:solidFill>
                <a:latin typeface="+mj-lt"/>
                <a:cs typeface="Times New Roman" panose="02020603050405020304" pitchFamily="18" charset="0"/>
              </a:rPr>
              <a:t>P-XYLENE</a:t>
            </a:r>
          </a:p>
        </p:txBody>
      </p:sp>
      <p:cxnSp>
        <p:nvCxnSpPr>
          <p:cNvPr id="137" name="Straight Arrow Connector 136">
            <a:extLst>
              <a:ext uri="{FF2B5EF4-FFF2-40B4-BE49-F238E27FC236}">
                <a16:creationId xmlns:a16="http://schemas.microsoft.com/office/drawing/2014/main" id="{9AB82C5A-37E2-4117-99D9-3EC774F79D7A}"/>
              </a:ext>
            </a:extLst>
          </p:cNvPr>
          <p:cNvCxnSpPr>
            <a:cxnSpLocks/>
          </p:cNvCxnSpPr>
          <p:nvPr/>
        </p:nvCxnSpPr>
        <p:spPr>
          <a:xfrm flipV="1">
            <a:off x="8576272" y="566382"/>
            <a:ext cx="0" cy="95051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5" name="Connector: Elbow 154">
            <a:extLst>
              <a:ext uri="{FF2B5EF4-FFF2-40B4-BE49-F238E27FC236}">
                <a16:creationId xmlns:a16="http://schemas.microsoft.com/office/drawing/2014/main" id="{B690D347-D6A7-43B5-AEC8-CD3B68E6BCB7}"/>
              </a:ext>
            </a:extLst>
          </p:cNvPr>
          <p:cNvCxnSpPr>
            <a:cxnSpLocks/>
          </p:cNvCxnSpPr>
          <p:nvPr/>
        </p:nvCxnSpPr>
        <p:spPr>
          <a:xfrm>
            <a:off x="8576272" y="2641702"/>
            <a:ext cx="1410132" cy="484212"/>
          </a:xfrm>
          <a:prstGeom prst="bentConnector3">
            <a:avLst>
              <a:gd name="adj1" fmla="val -3652"/>
            </a:avLst>
          </a:prstGeom>
          <a:ln>
            <a:tailEnd type="triangle"/>
          </a:ln>
        </p:spPr>
        <p:style>
          <a:lnRef idx="3">
            <a:schemeClr val="dk1"/>
          </a:lnRef>
          <a:fillRef idx="0">
            <a:schemeClr val="dk1"/>
          </a:fillRef>
          <a:effectRef idx="2">
            <a:schemeClr val="dk1"/>
          </a:effectRef>
          <a:fontRef idx="minor">
            <a:schemeClr val="tx1"/>
          </a:fontRef>
        </p:style>
      </p:cxnSp>
      <p:cxnSp>
        <p:nvCxnSpPr>
          <p:cNvPr id="38" name="Straight Arrow Connector 37">
            <a:extLst>
              <a:ext uri="{FF2B5EF4-FFF2-40B4-BE49-F238E27FC236}">
                <a16:creationId xmlns:a16="http://schemas.microsoft.com/office/drawing/2014/main" id="{F2F8AE97-9E1F-410E-9F95-F97F391056AA}"/>
              </a:ext>
            </a:extLst>
          </p:cNvPr>
          <p:cNvCxnSpPr>
            <a:cxnSpLocks/>
          </p:cNvCxnSpPr>
          <p:nvPr/>
        </p:nvCxnSpPr>
        <p:spPr>
          <a:xfrm>
            <a:off x="7796857" y="3714547"/>
            <a:ext cx="0" cy="84006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5" name="TextBox 44">
            <a:extLst>
              <a:ext uri="{FF2B5EF4-FFF2-40B4-BE49-F238E27FC236}">
                <a16:creationId xmlns:a16="http://schemas.microsoft.com/office/drawing/2014/main" id="{E1C00B11-FB47-4559-B46C-C38889DEA82D}"/>
              </a:ext>
            </a:extLst>
          </p:cNvPr>
          <p:cNvSpPr txBox="1"/>
          <p:nvPr/>
        </p:nvSpPr>
        <p:spPr>
          <a:xfrm>
            <a:off x="6919934" y="3655214"/>
            <a:ext cx="984195" cy="952178"/>
          </a:xfrm>
          <a:prstGeom prst="rect">
            <a:avLst/>
          </a:prstGeom>
          <a:noFill/>
        </p:spPr>
        <p:txBody>
          <a:bodyPr wrap="square" rtlCol="0">
            <a:spAutoFit/>
          </a:bodyPr>
          <a:lstStyle/>
          <a:p>
            <a:pPr algn="ctr"/>
            <a:r>
              <a:rPr lang="en-US" sz="1400" b="1">
                <a:latin typeface="Times New Roman" panose="02020603050405020304" pitchFamily="18" charset="0"/>
                <a:cs typeface="Times New Roman" panose="02020603050405020304" pitchFamily="18" charset="0"/>
              </a:rPr>
              <a:t> </a:t>
            </a:r>
            <a:endParaRPr lang="en-US" sz="1600" b="1">
              <a:latin typeface="Times New Roman" panose="02020603050405020304" pitchFamily="18" charset="0"/>
              <a:cs typeface="Times New Roman" panose="02020603050405020304" pitchFamily="18" charset="0"/>
            </a:endParaRPr>
          </a:p>
          <a:p>
            <a:pPr algn="ctr"/>
            <a:r>
              <a:rPr lang="en-US" sz="2000" b="1">
                <a:solidFill>
                  <a:schemeClr val="accent2"/>
                </a:solidFill>
                <a:latin typeface="+mj-lt"/>
                <a:cs typeface="Times New Roman" panose="02020603050405020304" pitchFamily="18" charset="0"/>
              </a:rPr>
              <a:t>DTBB</a:t>
            </a:r>
          </a:p>
          <a:p>
            <a:pPr algn="ctr"/>
            <a:r>
              <a:rPr lang="en-US" sz="2000" b="1">
                <a:solidFill>
                  <a:schemeClr val="accent2"/>
                </a:solidFill>
                <a:latin typeface="+mj-lt"/>
                <a:cs typeface="Times New Roman" panose="02020603050405020304" pitchFamily="18" charset="0"/>
              </a:rPr>
              <a:t>TBB</a:t>
            </a:r>
          </a:p>
        </p:txBody>
      </p:sp>
    </p:spTree>
    <p:extLst>
      <p:ext uri="{BB962C8B-B14F-4D97-AF65-F5344CB8AC3E}">
        <p14:creationId xmlns:p14="http://schemas.microsoft.com/office/powerpoint/2010/main" val="725514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87E2B-4CE5-492D-B821-E044FD254166}"/>
              </a:ext>
            </a:extLst>
          </p:cNvPr>
          <p:cNvSpPr>
            <a:spLocks noGrp="1"/>
          </p:cNvSpPr>
          <p:nvPr>
            <p:ph type="title"/>
          </p:nvPr>
        </p:nvSpPr>
        <p:spPr/>
        <p:txBody>
          <a:bodyPr/>
          <a:lstStyle/>
          <a:p>
            <a:r>
              <a:rPr lang="en-US"/>
              <a:t>Environmental Analysis</a:t>
            </a:r>
          </a:p>
        </p:txBody>
      </p:sp>
      <p:sp>
        <p:nvSpPr>
          <p:cNvPr id="4" name="Slide Number Placeholder 3">
            <a:extLst>
              <a:ext uri="{FF2B5EF4-FFF2-40B4-BE49-F238E27FC236}">
                <a16:creationId xmlns:a16="http://schemas.microsoft.com/office/drawing/2014/main" id="{7B650397-8CC1-4E0A-9532-00327A63CEF2}"/>
              </a:ext>
            </a:extLst>
          </p:cNvPr>
          <p:cNvSpPr>
            <a:spLocks noGrp="1"/>
          </p:cNvSpPr>
          <p:nvPr>
            <p:ph type="sldNum" sz="quarter" idx="12"/>
          </p:nvPr>
        </p:nvSpPr>
        <p:spPr/>
        <p:txBody>
          <a:bodyPr/>
          <a:lstStyle/>
          <a:p>
            <a:fld id="{34B7E4EF-A1BD-40F4-AB7B-04F084DD991D}" type="slidenum">
              <a:rPr lang="en-US" smtClean="0"/>
              <a:pPr/>
              <a:t>4</a:t>
            </a:fld>
            <a:endParaRPr lang="en-US"/>
          </a:p>
        </p:txBody>
      </p:sp>
      <p:sp>
        <p:nvSpPr>
          <p:cNvPr id="5" name="Content Placeholder 2">
            <a:extLst>
              <a:ext uri="{FF2B5EF4-FFF2-40B4-BE49-F238E27FC236}">
                <a16:creationId xmlns:a16="http://schemas.microsoft.com/office/drawing/2014/main" id="{67FB40C2-F6B4-4F72-A2F8-8BB631EAD1F6}"/>
              </a:ext>
            </a:extLst>
          </p:cNvPr>
          <p:cNvSpPr>
            <a:spLocks noGrp="1"/>
          </p:cNvSpPr>
          <p:nvPr>
            <p:ph idx="1"/>
          </p:nvPr>
        </p:nvSpPr>
        <p:spPr>
          <a:xfrm>
            <a:off x="335665" y="1631029"/>
            <a:ext cx="8596669" cy="4410333"/>
          </a:xfrm>
        </p:spPr>
        <p:txBody>
          <a:bodyPr>
            <a:normAutofit fontScale="92500" lnSpcReduction="10000"/>
          </a:bodyPr>
          <a:lstStyle/>
          <a:p>
            <a:r>
              <a:rPr lang="en-US" sz="2400" b="1"/>
              <a:t>Paraxylene</a:t>
            </a:r>
            <a:r>
              <a:rPr lang="en-US" sz="2400" b="1">
                <a:sym typeface="Wingdings" panose="05000000000000000000" pitchFamily="2" charset="2"/>
              </a:rPr>
              <a:t>, M</a:t>
            </a:r>
            <a:r>
              <a:rPr lang="en-US" sz="2400" b="1"/>
              <a:t>etaxylene, Orthoxylene</a:t>
            </a:r>
            <a:endParaRPr lang="en-US" sz="2400" b="1">
              <a:sym typeface="Wingdings" panose="05000000000000000000" pitchFamily="2" charset="2"/>
            </a:endParaRPr>
          </a:p>
          <a:p>
            <a:pPr lvl="1"/>
            <a:r>
              <a:rPr lang="en-US" sz="2000">
                <a:sym typeface="Wingdings" panose="05000000000000000000" pitchFamily="2" charset="2"/>
              </a:rPr>
              <a:t>Short-term aquatic hazard, EPA limits the concentration of xylenes in a water discharge to be </a:t>
            </a:r>
            <a:r>
              <a:rPr lang="el-GR" sz="2000">
                <a:sym typeface="Wingdings" panose="05000000000000000000" pitchFamily="2" charset="2"/>
              </a:rPr>
              <a:t>100 μ</a:t>
            </a:r>
            <a:r>
              <a:rPr lang="en-US" sz="2000">
                <a:sym typeface="Wingdings" panose="05000000000000000000" pitchFamily="2" charset="2"/>
              </a:rPr>
              <a:t>g/L [1].  </a:t>
            </a:r>
            <a:endParaRPr lang="en-US" sz="2400"/>
          </a:p>
          <a:p>
            <a:r>
              <a:rPr lang="en-US" sz="2400" b="1"/>
              <a:t>Benzene </a:t>
            </a:r>
          </a:p>
          <a:p>
            <a:pPr lvl="1"/>
            <a:r>
              <a:rPr lang="en-US" sz="2000">
                <a:sym typeface="Wingdings" panose="05000000000000000000" pitchFamily="2" charset="2"/>
              </a:rPr>
              <a:t>Short-term and long-term aquatic hazard, EPA limits the concentration of xylenes in a water discharge to be 5</a:t>
            </a:r>
            <a:r>
              <a:rPr lang="el-GR" sz="2000">
                <a:sym typeface="Wingdings" panose="05000000000000000000" pitchFamily="2" charset="2"/>
              </a:rPr>
              <a:t> μ</a:t>
            </a:r>
            <a:r>
              <a:rPr lang="en-US" sz="2000">
                <a:sym typeface="Wingdings" panose="05000000000000000000" pitchFamily="2" charset="2"/>
              </a:rPr>
              <a:t>g/L [1].  </a:t>
            </a:r>
            <a:endParaRPr lang="en-US" sz="2400"/>
          </a:p>
          <a:p>
            <a:r>
              <a:rPr lang="en-US" sz="2400" b="1"/>
              <a:t>Toluene </a:t>
            </a:r>
          </a:p>
          <a:p>
            <a:pPr lvl="1"/>
            <a:r>
              <a:rPr lang="en-US" sz="2000">
                <a:sym typeface="Wingdings" panose="05000000000000000000" pitchFamily="2" charset="2"/>
              </a:rPr>
              <a:t>Short-term and long-term aquatic hazard, EPA limits the concentration of xylenes in a water discharge to be </a:t>
            </a:r>
            <a:r>
              <a:rPr lang="el-GR" sz="2000">
                <a:sym typeface="Wingdings" panose="05000000000000000000" pitchFamily="2" charset="2"/>
              </a:rPr>
              <a:t>100 μ</a:t>
            </a:r>
            <a:r>
              <a:rPr lang="en-US" sz="2000">
                <a:sym typeface="Wingdings" panose="05000000000000000000" pitchFamily="2" charset="2"/>
              </a:rPr>
              <a:t>g/L [1].  </a:t>
            </a:r>
            <a:endParaRPr lang="en-US" sz="2000"/>
          </a:p>
          <a:p>
            <a:r>
              <a:rPr lang="en-US" sz="2400" b="1"/>
              <a:t>Ethylbenzene</a:t>
            </a:r>
          </a:p>
          <a:p>
            <a:pPr lvl="1"/>
            <a:r>
              <a:rPr lang="en-US" sz="2000">
                <a:sym typeface="Wingdings" panose="05000000000000000000" pitchFamily="2" charset="2"/>
              </a:rPr>
              <a:t>EPA limits the concentration of xylenes in a water discharge to be </a:t>
            </a:r>
            <a:r>
              <a:rPr lang="el-GR" sz="2000">
                <a:sym typeface="Wingdings" panose="05000000000000000000" pitchFamily="2" charset="2"/>
              </a:rPr>
              <a:t>100 μ</a:t>
            </a:r>
            <a:r>
              <a:rPr lang="en-US" sz="2000">
                <a:sym typeface="Wingdings" panose="05000000000000000000" pitchFamily="2" charset="2"/>
              </a:rPr>
              <a:t>g/L [1].</a:t>
            </a:r>
            <a:endParaRPr lang="en-US" sz="2400"/>
          </a:p>
          <a:p>
            <a:endParaRPr lang="en-US" sz="2000"/>
          </a:p>
        </p:txBody>
      </p:sp>
      <p:pic>
        <p:nvPicPr>
          <p:cNvPr id="9" name="Picture 8">
            <a:extLst>
              <a:ext uri="{FF2B5EF4-FFF2-40B4-BE49-F238E27FC236}">
                <a16:creationId xmlns:a16="http://schemas.microsoft.com/office/drawing/2014/main" id="{57FCE0C2-CBF3-4B75-BD6E-80F326DD1FCF}"/>
              </a:ext>
            </a:extLst>
          </p:cNvPr>
          <p:cNvPicPr>
            <a:picLocks noChangeAspect="1"/>
          </p:cNvPicPr>
          <p:nvPr/>
        </p:nvPicPr>
        <p:blipFill>
          <a:blip r:embed="rId2">
            <a:clrChange>
              <a:clrFrom>
                <a:srgbClr val="F7F7F7"/>
              </a:clrFrom>
              <a:clrTo>
                <a:srgbClr val="F7F7F7">
                  <a:alpha val="0"/>
                </a:srgbClr>
              </a:clrTo>
            </a:clrChange>
          </a:blip>
          <a:stretch>
            <a:fillRect/>
          </a:stretch>
        </p:blipFill>
        <p:spPr>
          <a:xfrm>
            <a:off x="8489998" y="1645096"/>
            <a:ext cx="4169833" cy="4189228"/>
          </a:xfrm>
          <a:prstGeom prst="rect">
            <a:avLst/>
          </a:prstGeom>
        </p:spPr>
      </p:pic>
      <p:sp>
        <p:nvSpPr>
          <p:cNvPr id="10" name="Rectangle 9">
            <a:extLst>
              <a:ext uri="{FF2B5EF4-FFF2-40B4-BE49-F238E27FC236}">
                <a16:creationId xmlns:a16="http://schemas.microsoft.com/office/drawing/2014/main" id="{7F05833A-320D-4BE8-9B81-BDEDC6142EA0}"/>
              </a:ext>
            </a:extLst>
          </p:cNvPr>
          <p:cNvSpPr/>
          <p:nvPr/>
        </p:nvSpPr>
        <p:spPr>
          <a:xfrm>
            <a:off x="10109882" y="1446363"/>
            <a:ext cx="476412" cy="369332"/>
          </a:xfrm>
          <a:prstGeom prst="rect">
            <a:avLst/>
          </a:prstGeom>
        </p:spPr>
        <p:txBody>
          <a:bodyPr wrap="none">
            <a:spAutoFit/>
          </a:bodyPr>
          <a:lstStyle/>
          <a:p>
            <a:r>
              <a:rPr lang="en-US">
                <a:sym typeface="Wingdings" panose="05000000000000000000" pitchFamily="2" charset="2"/>
              </a:rPr>
              <a:t>[2]</a:t>
            </a:r>
            <a:endParaRPr lang="en-US"/>
          </a:p>
        </p:txBody>
      </p:sp>
    </p:spTree>
    <p:extLst>
      <p:ext uri="{BB962C8B-B14F-4D97-AF65-F5344CB8AC3E}">
        <p14:creationId xmlns:p14="http://schemas.microsoft.com/office/powerpoint/2010/main" val="2655417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BA700-AF7F-4CAA-AC8A-D2CCA39A500B}"/>
              </a:ext>
            </a:extLst>
          </p:cNvPr>
          <p:cNvSpPr>
            <a:spLocks noGrp="1"/>
          </p:cNvSpPr>
          <p:nvPr>
            <p:ph type="title"/>
          </p:nvPr>
        </p:nvSpPr>
        <p:spPr>
          <a:xfrm>
            <a:off x="677334" y="260918"/>
            <a:ext cx="8596668" cy="1320800"/>
          </a:xfrm>
        </p:spPr>
        <p:txBody>
          <a:bodyPr/>
          <a:lstStyle/>
          <a:p>
            <a:r>
              <a:rPr lang="en-US"/>
              <a:t>Safety Analysis</a:t>
            </a:r>
          </a:p>
        </p:txBody>
      </p:sp>
      <p:sp>
        <p:nvSpPr>
          <p:cNvPr id="4" name="Slide Number Placeholder 3">
            <a:extLst>
              <a:ext uri="{FF2B5EF4-FFF2-40B4-BE49-F238E27FC236}">
                <a16:creationId xmlns:a16="http://schemas.microsoft.com/office/drawing/2014/main" id="{0D1360F1-B0AA-471F-B73A-27FDE3EAD91C}"/>
              </a:ext>
            </a:extLst>
          </p:cNvPr>
          <p:cNvSpPr>
            <a:spLocks noGrp="1"/>
          </p:cNvSpPr>
          <p:nvPr>
            <p:ph type="sldNum" sz="quarter" idx="12"/>
          </p:nvPr>
        </p:nvSpPr>
        <p:spPr/>
        <p:txBody>
          <a:bodyPr/>
          <a:lstStyle/>
          <a:p>
            <a:fld id="{34B7E4EF-A1BD-40F4-AB7B-04F084DD991D}" type="slidenum">
              <a:rPr lang="en-US" smtClean="0"/>
              <a:pPr/>
              <a:t>5</a:t>
            </a:fld>
            <a:endParaRPr lang="en-US"/>
          </a:p>
        </p:txBody>
      </p:sp>
      <p:pic>
        <p:nvPicPr>
          <p:cNvPr id="14" name="Picture 13">
            <a:extLst>
              <a:ext uri="{FF2B5EF4-FFF2-40B4-BE49-F238E27FC236}">
                <a16:creationId xmlns:a16="http://schemas.microsoft.com/office/drawing/2014/main" id="{81D5A17A-C98F-4D07-8522-6ECDB5482B5D}"/>
              </a:ext>
            </a:extLst>
          </p:cNvPr>
          <p:cNvPicPr>
            <a:picLocks noChangeAspect="1"/>
          </p:cNvPicPr>
          <p:nvPr/>
        </p:nvPicPr>
        <p:blipFill>
          <a:blip r:embed="rId2"/>
          <a:stretch>
            <a:fillRect/>
          </a:stretch>
        </p:blipFill>
        <p:spPr>
          <a:xfrm>
            <a:off x="335665" y="899416"/>
            <a:ext cx="9573880" cy="5583714"/>
          </a:xfrm>
          <a:prstGeom prst="rect">
            <a:avLst/>
          </a:prstGeom>
        </p:spPr>
      </p:pic>
      <p:pic>
        <p:nvPicPr>
          <p:cNvPr id="2058" name="Picture 10" descr="616,134 Safety Stock Vector Illustration And Royalty Free Safety ...">
            <a:extLst>
              <a:ext uri="{FF2B5EF4-FFF2-40B4-BE49-F238E27FC236}">
                <a16:creationId xmlns:a16="http://schemas.microsoft.com/office/drawing/2014/main" id="{C369EB06-4E7A-4B4E-8BBF-A9ED188A795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909838" y="2287919"/>
            <a:ext cx="2282162" cy="2282162"/>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54C17567-FD3F-49A9-8708-6AE88C040403}"/>
              </a:ext>
            </a:extLst>
          </p:cNvPr>
          <p:cNvSpPr/>
          <p:nvPr/>
        </p:nvSpPr>
        <p:spPr>
          <a:xfrm>
            <a:off x="10585887" y="1918587"/>
            <a:ext cx="476412" cy="369332"/>
          </a:xfrm>
          <a:prstGeom prst="rect">
            <a:avLst/>
          </a:prstGeom>
        </p:spPr>
        <p:txBody>
          <a:bodyPr wrap="none">
            <a:spAutoFit/>
          </a:bodyPr>
          <a:lstStyle/>
          <a:p>
            <a:r>
              <a:rPr lang="en-US">
                <a:sym typeface="Wingdings" panose="05000000000000000000" pitchFamily="2" charset="2"/>
              </a:rPr>
              <a:t>[3]</a:t>
            </a:r>
            <a:endParaRPr lang="en-US"/>
          </a:p>
        </p:txBody>
      </p:sp>
    </p:spTree>
    <p:extLst>
      <p:ext uri="{BB962C8B-B14F-4D97-AF65-F5344CB8AC3E}">
        <p14:creationId xmlns:p14="http://schemas.microsoft.com/office/powerpoint/2010/main" val="635411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E417F-C0FE-4EBC-AD08-B027D0C772D8}"/>
              </a:ext>
            </a:extLst>
          </p:cNvPr>
          <p:cNvSpPr>
            <a:spLocks noGrp="1"/>
          </p:cNvSpPr>
          <p:nvPr>
            <p:ph type="title"/>
          </p:nvPr>
        </p:nvSpPr>
        <p:spPr>
          <a:xfrm>
            <a:off x="379622" y="144464"/>
            <a:ext cx="8596668" cy="1320800"/>
          </a:xfrm>
        </p:spPr>
        <p:txBody>
          <a:bodyPr/>
          <a:lstStyle/>
          <a:p>
            <a:r>
              <a:rPr lang="en-US"/>
              <a:t>Process Safety Concerns</a:t>
            </a:r>
          </a:p>
        </p:txBody>
      </p:sp>
      <p:sp>
        <p:nvSpPr>
          <p:cNvPr id="4" name="Slide Number Placeholder 3">
            <a:extLst>
              <a:ext uri="{FF2B5EF4-FFF2-40B4-BE49-F238E27FC236}">
                <a16:creationId xmlns:a16="http://schemas.microsoft.com/office/drawing/2014/main" id="{50826E08-2D18-45CE-8B66-9E5F60496544}"/>
              </a:ext>
            </a:extLst>
          </p:cNvPr>
          <p:cNvSpPr>
            <a:spLocks noGrp="1"/>
          </p:cNvSpPr>
          <p:nvPr>
            <p:ph type="sldNum" sz="quarter" idx="12"/>
          </p:nvPr>
        </p:nvSpPr>
        <p:spPr/>
        <p:txBody>
          <a:bodyPr/>
          <a:lstStyle/>
          <a:p>
            <a:fld id="{34B7E4EF-A1BD-40F4-AB7B-04F084DD991D}" type="slidenum">
              <a:rPr lang="en-US" smtClean="0"/>
              <a:pPr/>
              <a:t>6</a:t>
            </a:fld>
            <a:endParaRPr lang="en-US"/>
          </a:p>
        </p:txBody>
      </p:sp>
      <p:graphicFrame>
        <p:nvGraphicFramePr>
          <p:cNvPr id="5" name="Table 4">
            <a:extLst>
              <a:ext uri="{FF2B5EF4-FFF2-40B4-BE49-F238E27FC236}">
                <a16:creationId xmlns:a16="http://schemas.microsoft.com/office/drawing/2014/main" id="{DF98FCB8-78D7-41D7-A33C-4F64840396D1}"/>
              </a:ext>
            </a:extLst>
          </p:cNvPr>
          <p:cNvGraphicFramePr>
            <a:graphicFrameLocks noGrp="1"/>
          </p:cNvGraphicFramePr>
          <p:nvPr>
            <p:extLst>
              <p:ext uri="{D42A27DB-BD31-4B8C-83A1-F6EECF244321}">
                <p14:modId xmlns:p14="http://schemas.microsoft.com/office/powerpoint/2010/main" val="2025323624"/>
              </p:ext>
            </p:extLst>
          </p:nvPr>
        </p:nvGraphicFramePr>
        <p:xfrm>
          <a:off x="581246" y="935749"/>
          <a:ext cx="10497879" cy="5643817"/>
        </p:xfrm>
        <a:graphic>
          <a:graphicData uri="http://schemas.openxmlformats.org/drawingml/2006/table">
            <a:tbl>
              <a:tblPr firstRow="1" firstCol="1" bandRow="1"/>
              <a:tblGrid>
                <a:gridCol w="1702407">
                  <a:extLst>
                    <a:ext uri="{9D8B030D-6E8A-4147-A177-3AD203B41FA5}">
                      <a16:colId xmlns:a16="http://schemas.microsoft.com/office/drawing/2014/main" val="815943891"/>
                    </a:ext>
                  </a:extLst>
                </a:gridCol>
                <a:gridCol w="8795472">
                  <a:extLst>
                    <a:ext uri="{9D8B030D-6E8A-4147-A177-3AD203B41FA5}">
                      <a16:colId xmlns:a16="http://schemas.microsoft.com/office/drawing/2014/main" val="3565604980"/>
                    </a:ext>
                  </a:extLst>
                </a:gridCol>
              </a:tblGrid>
              <a:tr h="291970">
                <a:tc>
                  <a:txBody>
                    <a:bodyPr/>
                    <a:lstStyle/>
                    <a:p>
                      <a:pPr marL="0" marR="0" algn="ctr">
                        <a:lnSpc>
                          <a:spcPct val="115000"/>
                        </a:lnSpc>
                        <a:spcBef>
                          <a:spcPts val="0"/>
                        </a:spcBef>
                        <a:spcAft>
                          <a:spcPts val="0"/>
                        </a:spcAft>
                      </a:pPr>
                      <a:r>
                        <a:rPr lang="en-US" sz="2000" b="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Process</a:t>
                      </a:r>
                      <a:endParaRPr lang="en-US" sz="2400" b="1">
                        <a:solidFill>
                          <a:srgbClr val="082A75"/>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2229" marR="62229"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marL="0" marR="0" algn="ctr">
                        <a:lnSpc>
                          <a:spcPct val="115000"/>
                        </a:lnSpc>
                        <a:spcBef>
                          <a:spcPts val="0"/>
                        </a:spcBef>
                        <a:spcAft>
                          <a:spcPts val="0"/>
                        </a:spcAft>
                      </a:pPr>
                      <a:r>
                        <a:rPr lang="en-US" sz="2000" b="1">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Main Safety Concerns &amp; Proposed Hazard Mitigation</a:t>
                      </a:r>
                      <a:endParaRPr lang="en-US" sz="2400" b="1">
                        <a:solidFill>
                          <a:srgbClr val="082A75"/>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2229" marR="62229"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3210083314"/>
                  </a:ext>
                </a:extLst>
              </a:tr>
              <a:tr h="691240">
                <a:tc rowSpan="2">
                  <a:txBody>
                    <a:bodyPr/>
                    <a:lstStyle/>
                    <a:p>
                      <a:pPr marL="0" marR="0" algn="ctr">
                        <a:lnSpc>
                          <a:spcPct val="115000"/>
                        </a:lnSpc>
                        <a:spcBef>
                          <a:spcPts val="0"/>
                        </a:spcBef>
                        <a:spcAft>
                          <a:spcPts val="0"/>
                        </a:spcAft>
                      </a:pPr>
                      <a:r>
                        <a:rPr lang="en-US" sz="1800" b="0">
                          <a:solidFill>
                            <a:srgbClr val="082A75"/>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1">
                        <a:solidFill>
                          <a:srgbClr val="082A75"/>
                        </a:solidFill>
                        <a:effectLst/>
                        <a:latin typeface="Calibri" panose="020F0502020204030204" pitchFamily="34" charset="0"/>
                        <a:ea typeface="MS Mincho" panose="02020609040205080304" pitchFamily="49" charset="-128"/>
                        <a:cs typeface="Times New Roman" panose="02020603050405020304" pitchFamily="18" charset="0"/>
                      </a:endParaRPr>
                    </a:p>
                    <a:p>
                      <a:pPr marL="0" marR="0" algn="ctr">
                        <a:lnSpc>
                          <a:spcPct val="115000"/>
                        </a:lnSpc>
                        <a:spcBef>
                          <a:spcPts val="0"/>
                        </a:spcBef>
                        <a:spcAft>
                          <a:spcPts val="0"/>
                        </a:spcAft>
                      </a:pPr>
                      <a:r>
                        <a:rPr lang="en-US" sz="1800" b="0">
                          <a:solidFill>
                            <a:srgbClr val="082A75"/>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1">
                        <a:solidFill>
                          <a:srgbClr val="082A75"/>
                        </a:solidFill>
                        <a:effectLst/>
                        <a:latin typeface="Calibri" panose="020F0502020204030204" pitchFamily="34" charset="0"/>
                        <a:ea typeface="MS Mincho" panose="02020609040205080304" pitchFamily="49" charset="-128"/>
                        <a:cs typeface="Times New Roman" panose="02020603050405020304" pitchFamily="18" charset="0"/>
                      </a:endParaRPr>
                    </a:p>
                    <a:p>
                      <a:pPr marL="0" marR="0" algn="ctr">
                        <a:lnSpc>
                          <a:spcPct val="115000"/>
                        </a:lnSpc>
                        <a:spcBef>
                          <a:spcPts val="0"/>
                        </a:spcBef>
                        <a:spcAft>
                          <a:spcPts val="0"/>
                        </a:spcAft>
                      </a:pPr>
                      <a:r>
                        <a:rPr lang="en-US" sz="1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Packed Bed Reactor</a:t>
                      </a:r>
                      <a:endParaRPr lang="en-US" sz="2000" b="1">
                        <a:solidFill>
                          <a:srgbClr val="082A75"/>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2229" marR="6222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342900" lvl="0" indent="-342900">
                        <a:spcBef>
                          <a:spcPts val="0"/>
                        </a:spcBef>
                        <a:spcAft>
                          <a:spcPts val="0"/>
                        </a:spcAft>
                        <a:buFont typeface="+mj-lt"/>
                        <a:buAutoNum type="arabicPeriod"/>
                      </a:pPr>
                      <a:r>
                        <a:rPr lang="en-US"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Temperature of the reactor goes too high and reaches the autoignition temperature of the flammable chemicals. </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spcBef>
                          <a:spcPts val="0"/>
                        </a:spcBef>
                        <a:spcAft>
                          <a:spcPts val="0"/>
                        </a:spcAft>
                        <a:buFont typeface="+mj-lt"/>
                        <a:buAutoNum type="arabicPeriod"/>
                      </a:pPr>
                      <a:r>
                        <a:rPr lang="en-US"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Flammable and toxic gases leak from pipes into the environment.</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2229" marR="6222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4017664441"/>
                  </a:ext>
                </a:extLst>
              </a:tr>
              <a:tr h="820775">
                <a:tc vMerge="1">
                  <a:txBody>
                    <a:bodyPr/>
                    <a:lstStyle/>
                    <a:p>
                      <a:endParaRPr lang="en-US"/>
                    </a:p>
                  </a:txBody>
                  <a:tcPr/>
                </a:tc>
                <a:tc>
                  <a:txBody>
                    <a:bodyPr/>
                    <a:lstStyle/>
                    <a:p>
                      <a:pPr marL="342900" lvl="0" indent="-342900">
                        <a:buFont typeface="+mj-lt"/>
                        <a:buAutoNum type="arabicPeriod"/>
                      </a:pPr>
                      <a:r>
                        <a:rPr lang="en-US" sz="1800">
                          <a:effectLst/>
                          <a:latin typeface="Times New Roman" panose="02020603050405020304" pitchFamily="18" charset="0"/>
                          <a:ea typeface="Calibri" panose="020F0502020204030204" pitchFamily="34" charset="0"/>
                          <a:cs typeface="Times New Roman" panose="02020603050405020304" pitchFamily="18" charset="0"/>
                        </a:rPr>
                        <a:t>Very accurate temperature controllers, emergency air cooling, and double sensors for accuracy.</a:t>
                      </a:r>
                    </a:p>
                    <a:p>
                      <a:pPr marL="342900" lvl="0" indent="-342900">
                        <a:buFont typeface="+mj-lt"/>
                        <a:buAutoNum type="arabicPeriod"/>
                      </a:pPr>
                      <a:r>
                        <a:rPr lang="en-US" sz="1800">
                          <a:effectLst/>
                          <a:latin typeface="Times New Roman" panose="02020603050405020304" pitchFamily="18" charset="0"/>
                          <a:ea typeface="Calibri" panose="020F0502020204030204" pitchFamily="34" charset="0"/>
                          <a:cs typeface="Times New Roman" panose="02020603050405020304" pitchFamily="18" charset="0"/>
                        </a:rPr>
                        <a:t>Air monitoring, proper ventilation, and removal of ignition sources from the area of potential leaks. </a:t>
                      </a:r>
                    </a:p>
                  </a:txBody>
                  <a:tcPr marL="62229" marR="6222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extLst>
                  <a:ext uri="{0D108BD9-81ED-4DB2-BD59-A6C34878D82A}">
                    <a16:rowId xmlns:a16="http://schemas.microsoft.com/office/drawing/2014/main" val="2002816788"/>
                  </a:ext>
                </a:extLst>
              </a:tr>
              <a:tr h="230413">
                <a:tc rowSpan="2">
                  <a:txBody>
                    <a:bodyPr/>
                    <a:lstStyle/>
                    <a:p>
                      <a:pPr marL="0" marR="0" algn="ctr">
                        <a:lnSpc>
                          <a:spcPct val="115000"/>
                        </a:lnSpc>
                        <a:spcBef>
                          <a:spcPts val="0"/>
                        </a:spcBef>
                        <a:spcAft>
                          <a:spcPts val="0"/>
                        </a:spcAft>
                      </a:pPr>
                      <a:r>
                        <a:rPr lang="en-US" sz="1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Benzene Column</a:t>
                      </a:r>
                      <a:endParaRPr lang="en-US" sz="2000" b="1">
                        <a:solidFill>
                          <a:srgbClr val="082A75"/>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2229" marR="6222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342900" lvl="0" indent="-342900">
                        <a:spcBef>
                          <a:spcPts val="0"/>
                        </a:spcBef>
                        <a:spcAft>
                          <a:spcPts val="0"/>
                        </a:spcAft>
                        <a:buFont typeface="+mj-lt"/>
                        <a:buAutoNum type="arabicPeriod"/>
                      </a:pPr>
                      <a:r>
                        <a:rPr lang="en-US"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Flammable and toxic gases leak from pipes into the environment.</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2229" marR="6222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241625606"/>
                  </a:ext>
                </a:extLst>
              </a:tr>
              <a:tr h="460827">
                <a:tc vMerge="1">
                  <a:txBody>
                    <a:bodyPr/>
                    <a:lstStyle/>
                    <a:p>
                      <a:endParaRPr lang="en-US"/>
                    </a:p>
                  </a:txBody>
                  <a:tcPr/>
                </a:tc>
                <a:tc>
                  <a:txBody>
                    <a:bodyPr/>
                    <a:lstStyle/>
                    <a:p>
                      <a:pPr marL="342900" lvl="0" indent="-342900">
                        <a:spcBef>
                          <a:spcPts val="0"/>
                        </a:spcBef>
                        <a:spcAft>
                          <a:spcPts val="0"/>
                        </a:spcAft>
                        <a:buFont typeface="+mj-lt"/>
                        <a:buAutoNum type="arabicPeriod"/>
                      </a:pPr>
                      <a:r>
                        <a:rPr lang="en-US"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Air monitoring, proper ventilation, and removal of ignition sources from the area of potential leaks.</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2229" marR="6222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804543802"/>
                  </a:ext>
                </a:extLst>
              </a:tr>
              <a:tr h="230413">
                <a:tc rowSpan="2">
                  <a:txBody>
                    <a:bodyPr/>
                    <a:lstStyle/>
                    <a:p>
                      <a:pPr marL="0" marR="0" algn="ctr">
                        <a:lnSpc>
                          <a:spcPct val="115000"/>
                        </a:lnSpc>
                        <a:spcBef>
                          <a:spcPts val="0"/>
                        </a:spcBef>
                        <a:spcAft>
                          <a:spcPts val="0"/>
                        </a:spcAft>
                      </a:pPr>
                      <a:r>
                        <a:rPr lang="en-US" sz="1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Toluene Column</a:t>
                      </a:r>
                      <a:endParaRPr lang="en-US" sz="2000" b="1">
                        <a:solidFill>
                          <a:srgbClr val="082A75"/>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2229" marR="6222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342900" lvl="0" indent="-342900">
                        <a:spcBef>
                          <a:spcPts val="0"/>
                        </a:spcBef>
                        <a:spcAft>
                          <a:spcPts val="0"/>
                        </a:spcAft>
                        <a:buFont typeface="+mj-lt"/>
                        <a:buAutoNum type="arabicPeriod"/>
                      </a:pPr>
                      <a:r>
                        <a:rPr lang="en-US"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Flammable and toxic gases leak from pipes into the environment.</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2229" marR="6222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583185130"/>
                  </a:ext>
                </a:extLst>
              </a:tr>
              <a:tr h="460827">
                <a:tc vMerge="1">
                  <a:txBody>
                    <a:bodyPr/>
                    <a:lstStyle/>
                    <a:p>
                      <a:endParaRPr lang="en-US"/>
                    </a:p>
                  </a:txBody>
                  <a:tcPr/>
                </a:tc>
                <a:tc>
                  <a:txBody>
                    <a:bodyPr/>
                    <a:lstStyle/>
                    <a:p>
                      <a:pPr marL="342900" lvl="0" indent="-342900">
                        <a:buFont typeface="+mj-lt"/>
                        <a:buAutoNum type="arabicPeriod"/>
                      </a:pPr>
                      <a:r>
                        <a:rPr lang="en-US"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Air monitoring, proper ventilation, and removal of ignition sources from the area of potential leaks.</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2229" marR="6222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3989417937"/>
                  </a:ext>
                </a:extLst>
              </a:tr>
              <a:tr h="230413">
                <a:tc rowSpan="2">
                  <a:txBody>
                    <a:bodyPr/>
                    <a:lstStyle/>
                    <a:p>
                      <a:pPr marL="0" marR="0" algn="ctr">
                        <a:lnSpc>
                          <a:spcPct val="115000"/>
                        </a:lnSpc>
                        <a:spcBef>
                          <a:spcPts val="0"/>
                        </a:spcBef>
                        <a:spcAft>
                          <a:spcPts val="0"/>
                        </a:spcAft>
                      </a:pPr>
                      <a:r>
                        <a:rPr lang="en-US" sz="1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Reactive Distillation Column</a:t>
                      </a:r>
                      <a:endParaRPr lang="en-US" sz="2000" b="1">
                        <a:solidFill>
                          <a:srgbClr val="082A75"/>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2229" marR="6222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342900" lvl="0" indent="-342900">
                        <a:spcBef>
                          <a:spcPts val="0"/>
                        </a:spcBef>
                        <a:spcAft>
                          <a:spcPts val="0"/>
                        </a:spcAft>
                        <a:buFont typeface="+mj-lt"/>
                        <a:buAutoNum type="arabicPeriod"/>
                      </a:pPr>
                      <a:r>
                        <a:rPr lang="en-US"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Flammable and toxic gases leak from pipes into the environment.</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2229" marR="6222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D0CECE"/>
                    </a:solidFill>
                  </a:tcPr>
                </a:tc>
                <a:extLst>
                  <a:ext uri="{0D108BD9-81ED-4DB2-BD59-A6C34878D82A}">
                    <a16:rowId xmlns:a16="http://schemas.microsoft.com/office/drawing/2014/main" val="4281636248"/>
                  </a:ext>
                </a:extLst>
              </a:tr>
              <a:tr h="487763">
                <a:tc vMerge="1">
                  <a:txBody>
                    <a:bodyPr/>
                    <a:lstStyle/>
                    <a:p>
                      <a:endParaRPr lang="en-US"/>
                    </a:p>
                  </a:txBody>
                  <a:tcPr/>
                </a:tc>
                <a:tc>
                  <a:txBody>
                    <a:bodyPr/>
                    <a:lstStyle/>
                    <a:p>
                      <a:pPr marL="342900" lvl="0" indent="-342900">
                        <a:spcBef>
                          <a:spcPts val="0"/>
                        </a:spcBef>
                        <a:spcAft>
                          <a:spcPts val="0"/>
                        </a:spcAft>
                        <a:buFont typeface="+mj-lt"/>
                        <a:buAutoNum type="arabicPeriod"/>
                      </a:pPr>
                      <a:r>
                        <a:rPr lang="en-US"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Air monitoring, proper ventilation, and removal of ignition sources from the area of potential leaks.</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2229" marR="6222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812949048"/>
                  </a:ext>
                </a:extLst>
              </a:tr>
              <a:tr h="230413">
                <a:tc rowSpan="2">
                  <a:txBody>
                    <a:bodyPr/>
                    <a:lstStyle/>
                    <a:p>
                      <a:pPr marL="0" marR="0" algn="ctr">
                        <a:lnSpc>
                          <a:spcPct val="115000"/>
                        </a:lnSpc>
                        <a:spcBef>
                          <a:spcPts val="0"/>
                        </a:spcBef>
                        <a:spcAft>
                          <a:spcPts val="0"/>
                        </a:spcAft>
                      </a:pPr>
                      <a:r>
                        <a:rPr lang="en-US" sz="18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Paraxylene Column</a:t>
                      </a:r>
                      <a:endParaRPr lang="en-US" sz="2000" b="1">
                        <a:solidFill>
                          <a:srgbClr val="082A75"/>
                        </a:solidFill>
                        <a:effectLst/>
                        <a:latin typeface="Calibri" panose="020F0502020204030204" pitchFamily="34" charset="0"/>
                        <a:ea typeface="MS Mincho" panose="02020609040205080304" pitchFamily="49" charset="-128"/>
                        <a:cs typeface="Times New Roman" panose="02020603050405020304" pitchFamily="18" charset="0"/>
                      </a:endParaRPr>
                    </a:p>
                  </a:txBody>
                  <a:tcPr marL="62229" marR="6222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marL="342900" lvl="0" indent="-342900">
                        <a:spcBef>
                          <a:spcPts val="0"/>
                        </a:spcBef>
                        <a:spcAft>
                          <a:spcPts val="0"/>
                        </a:spcAft>
                        <a:buFont typeface="+mj-lt"/>
                        <a:buAutoNum type="arabicPeriod"/>
                      </a:pPr>
                      <a:r>
                        <a:rPr lang="en-US"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Flammable and toxic gases leak from pipes into the environment.</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2229" marR="6222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D0CECE"/>
                    </a:solidFill>
                  </a:tcPr>
                </a:tc>
                <a:extLst>
                  <a:ext uri="{0D108BD9-81ED-4DB2-BD59-A6C34878D82A}">
                    <a16:rowId xmlns:a16="http://schemas.microsoft.com/office/drawing/2014/main" val="4018669837"/>
                  </a:ext>
                </a:extLst>
              </a:tr>
              <a:tr h="460827">
                <a:tc vMerge="1">
                  <a:txBody>
                    <a:bodyPr/>
                    <a:lstStyle/>
                    <a:p>
                      <a:endParaRPr lang="en-US"/>
                    </a:p>
                  </a:txBody>
                  <a:tcPr/>
                </a:tc>
                <a:tc>
                  <a:txBody>
                    <a:bodyPr/>
                    <a:lstStyle/>
                    <a:p>
                      <a:pPr marL="342900" lvl="0" indent="-342900">
                        <a:spcBef>
                          <a:spcPts val="0"/>
                        </a:spcBef>
                        <a:spcAft>
                          <a:spcPts val="0"/>
                        </a:spcAft>
                        <a:buFont typeface="+mj-lt"/>
                        <a:buAutoNum type="arabicPeriod"/>
                      </a:pPr>
                      <a:r>
                        <a:rPr lang="en-US" sz="18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Air monitoring, proper ventilation, and removal of ignition sources from the area of potential leaks.</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2229" marR="6222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497694774"/>
                  </a:ext>
                </a:extLst>
              </a:tr>
            </a:tbl>
          </a:graphicData>
        </a:graphic>
      </p:graphicFrame>
    </p:spTree>
    <p:extLst>
      <p:ext uri="{BB962C8B-B14F-4D97-AF65-F5344CB8AC3E}">
        <p14:creationId xmlns:p14="http://schemas.microsoft.com/office/powerpoint/2010/main" val="2688483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5F7DA-0F37-4E9D-B3D0-C0D4D2B175E4}"/>
              </a:ext>
            </a:extLst>
          </p:cNvPr>
          <p:cNvSpPr>
            <a:spLocks noGrp="1"/>
          </p:cNvSpPr>
          <p:nvPr>
            <p:ph type="title"/>
          </p:nvPr>
        </p:nvSpPr>
        <p:spPr>
          <a:xfrm>
            <a:off x="838047" y="216131"/>
            <a:ext cx="8596668" cy="653935"/>
          </a:xfrm>
        </p:spPr>
        <p:txBody>
          <a:bodyPr/>
          <a:lstStyle/>
          <a:p>
            <a:r>
              <a:rPr lang="en-US"/>
              <a:t>Process Controls</a:t>
            </a:r>
          </a:p>
        </p:txBody>
      </p:sp>
      <p:sp>
        <p:nvSpPr>
          <p:cNvPr id="3" name="Content Placeholder 2">
            <a:extLst>
              <a:ext uri="{FF2B5EF4-FFF2-40B4-BE49-F238E27FC236}">
                <a16:creationId xmlns:a16="http://schemas.microsoft.com/office/drawing/2014/main" id="{8D707A5D-71E0-45C4-974F-117BF7674D83}"/>
              </a:ext>
            </a:extLst>
          </p:cNvPr>
          <p:cNvSpPr>
            <a:spLocks noGrp="1"/>
          </p:cNvSpPr>
          <p:nvPr>
            <p:ph idx="1"/>
          </p:nvPr>
        </p:nvSpPr>
        <p:spPr>
          <a:xfrm>
            <a:off x="1126222" y="1005120"/>
            <a:ext cx="8596668" cy="6069011"/>
          </a:xfrm>
        </p:spPr>
        <p:txBody>
          <a:bodyPr>
            <a:noAutofit/>
          </a:bodyPr>
          <a:lstStyle/>
          <a:p>
            <a:pPr marL="0" indent="0">
              <a:buNone/>
            </a:pPr>
            <a:r>
              <a:rPr lang="en-US" sz="2400" b="1">
                <a:solidFill>
                  <a:schemeClr val="tx2"/>
                </a:solidFill>
              </a:rPr>
              <a:t>Control Objectives: </a:t>
            </a:r>
          </a:p>
          <a:p>
            <a:pPr>
              <a:buFont typeface="Wingdings" panose="05000000000000000000" pitchFamily="2" charset="2"/>
              <a:buChar char="q"/>
            </a:pPr>
            <a:r>
              <a:rPr lang="en-US" sz="2400">
                <a:solidFill>
                  <a:schemeClr val="tx2"/>
                </a:solidFill>
              </a:rPr>
              <a:t>Safety</a:t>
            </a:r>
          </a:p>
          <a:p>
            <a:pPr>
              <a:buFont typeface="Wingdings" panose="05000000000000000000" pitchFamily="2" charset="2"/>
              <a:buChar char="q"/>
            </a:pPr>
            <a:r>
              <a:rPr lang="en-US" sz="2400">
                <a:solidFill>
                  <a:schemeClr val="tx2"/>
                </a:solidFill>
              </a:rPr>
              <a:t>Quality</a:t>
            </a:r>
          </a:p>
          <a:p>
            <a:pPr>
              <a:buFont typeface="Wingdings" panose="05000000000000000000" pitchFamily="2" charset="2"/>
              <a:buChar char="q"/>
            </a:pPr>
            <a:r>
              <a:rPr lang="en-US" sz="2400">
                <a:solidFill>
                  <a:schemeClr val="tx2"/>
                </a:solidFill>
              </a:rPr>
              <a:t>Smooth Operation and Production rate</a:t>
            </a:r>
            <a:r>
              <a:rPr lang="en-US" sz="2400">
                <a:solidFill>
                  <a:schemeClr val="tx2"/>
                </a:solidFill>
                <a:latin typeface="Calibri" panose="020F0502020204030204" pitchFamily="34" charset="0"/>
                <a:ea typeface="MS Mincho" panose="02020609040205080304" pitchFamily="49" charset="-128"/>
                <a:cs typeface="Times New Roman" panose="02020603050405020304" pitchFamily="18" charset="0"/>
              </a:rPr>
              <a:t> [4] </a:t>
            </a:r>
          </a:p>
          <a:p>
            <a:pPr>
              <a:buFont typeface="Wingdings" panose="05000000000000000000" pitchFamily="2" charset="2"/>
              <a:buChar char="q"/>
            </a:pPr>
            <a:r>
              <a:rPr lang="en-US" sz="2400">
                <a:solidFill>
                  <a:schemeClr val="tx2"/>
                </a:solidFill>
              </a:rPr>
              <a:t>Operational Constrains</a:t>
            </a:r>
            <a:r>
              <a:rPr lang="en-US" sz="2400">
                <a:solidFill>
                  <a:schemeClr val="tx2"/>
                </a:solidFill>
                <a:latin typeface="Calibri" panose="020F0502020204030204" pitchFamily="34" charset="0"/>
                <a:ea typeface="MS Mincho" panose="02020609040205080304" pitchFamily="49" charset="-128"/>
                <a:cs typeface="Times New Roman" panose="02020603050405020304" pitchFamily="18" charset="0"/>
              </a:rPr>
              <a:t> [5] </a:t>
            </a:r>
            <a:endParaRPr lang="en-US" sz="2400">
              <a:solidFill>
                <a:schemeClr val="tx2"/>
              </a:solidFill>
            </a:endParaRPr>
          </a:p>
          <a:p>
            <a:pPr>
              <a:buFont typeface="Wingdings" panose="05000000000000000000" pitchFamily="2" charset="2"/>
              <a:buChar char="q"/>
            </a:pPr>
            <a:r>
              <a:rPr lang="en-US" sz="2400">
                <a:solidFill>
                  <a:schemeClr val="tx2"/>
                </a:solidFill>
              </a:rPr>
              <a:t>Process Cost Minimization</a:t>
            </a:r>
          </a:p>
          <a:p>
            <a:pPr marL="0" indent="0">
              <a:buNone/>
            </a:pPr>
            <a:r>
              <a:rPr lang="en-US" sz="2400" b="1">
                <a:solidFill>
                  <a:schemeClr val="tx2"/>
                </a:solidFill>
              </a:rPr>
              <a:t>Control Strategy:</a:t>
            </a:r>
          </a:p>
          <a:p>
            <a:pPr>
              <a:buFont typeface="Wingdings" panose="05000000000000000000" pitchFamily="2" charset="2"/>
              <a:buChar char="q"/>
            </a:pPr>
            <a:r>
              <a:rPr lang="en-US" sz="2400">
                <a:solidFill>
                  <a:schemeClr val="tx2"/>
                </a:solidFill>
              </a:rPr>
              <a:t>	Feedback Control</a:t>
            </a:r>
          </a:p>
          <a:p>
            <a:pPr>
              <a:buFont typeface="Wingdings" panose="05000000000000000000" pitchFamily="2" charset="2"/>
              <a:buChar char="q"/>
            </a:pPr>
            <a:r>
              <a:rPr lang="en-US" sz="2400">
                <a:solidFill>
                  <a:schemeClr val="tx2"/>
                </a:solidFill>
              </a:rPr>
              <a:t>	Feedforward Control</a:t>
            </a:r>
          </a:p>
          <a:p>
            <a:pPr>
              <a:buFont typeface="Wingdings" panose="05000000000000000000" pitchFamily="2" charset="2"/>
              <a:buChar char="q"/>
            </a:pPr>
            <a:r>
              <a:rPr lang="en-US" sz="2400">
                <a:solidFill>
                  <a:schemeClr val="tx2"/>
                </a:solidFill>
              </a:rPr>
              <a:t>	Cascade Control</a:t>
            </a:r>
          </a:p>
          <a:p>
            <a:pPr>
              <a:buFont typeface="Wingdings" panose="05000000000000000000" pitchFamily="2" charset="2"/>
              <a:buChar char="q"/>
            </a:pPr>
            <a:r>
              <a:rPr lang="en-US" sz="2400">
                <a:solidFill>
                  <a:schemeClr val="tx2"/>
                </a:solidFill>
              </a:rPr>
              <a:t>	Ratio Control</a:t>
            </a:r>
          </a:p>
          <a:p>
            <a:pPr marL="0" indent="0">
              <a:buNone/>
            </a:pPr>
            <a:endParaRPr lang="en-US" sz="2400"/>
          </a:p>
          <a:p>
            <a:endParaRPr lang="en-US" sz="2400"/>
          </a:p>
        </p:txBody>
      </p:sp>
      <p:sp>
        <p:nvSpPr>
          <p:cNvPr id="4" name="Slide Number Placeholder 3">
            <a:extLst>
              <a:ext uri="{FF2B5EF4-FFF2-40B4-BE49-F238E27FC236}">
                <a16:creationId xmlns:a16="http://schemas.microsoft.com/office/drawing/2014/main" id="{25FEB43A-A126-4FD6-9687-5842CB361B04}"/>
              </a:ext>
            </a:extLst>
          </p:cNvPr>
          <p:cNvSpPr>
            <a:spLocks noGrp="1"/>
          </p:cNvSpPr>
          <p:nvPr>
            <p:ph type="sldNum" sz="quarter" idx="12"/>
          </p:nvPr>
        </p:nvSpPr>
        <p:spPr/>
        <p:txBody>
          <a:bodyPr/>
          <a:lstStyle/>
          <a:p>
            <a:fld id="{34B7E4EF-A1BD-40F4-AB7B-04F084DD991D}" type="slidenum">
              <a:rPr lang="en-US" smtClean="0"/>
              <a:pPr/>
              <a:t>7</a:t>
            </a:fld>
            <a:endParaRPr lang="en-US"/>
          </a:p>
        </p:txBody>
      </p:sp>
      <p:pic>
        <p:nvPicPr>
          <p:cNvPr id="6" name="Picture 5">
            <a:extLst>
              <a:ext uri="{FF2B5EF4-FFF2-40B4-BE49-F238E27FC236}">
                <a16:creationId xmlns:a16="http://schemas.microsoft.com/office/drawing/2014/main" id="{EE9F19B4-7C3E-42BC-9D02-F645DAFB52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6989" y="3276897"/>
            <a:ext cx="2987158" cy="2764465"/>
          </a:xfrm>
          <a:prstGeom prst="rect">
            <a:avLst/>
          </a:prstGeom>
        </p:spPr>
      </p:pic>
    </p:spTree>
    <p:extLst>
      <p:ext uri="{BB962C8B-B14F-4D97-AF65-F5344CB8AC3E}">
        <p14:creationId xmlns:p14="http://schemas.microsoft.com/office/powerpoint/2010/main" val="3923531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134BB-A3D7-4AC7-BE28-16FA84FB602B}"/>
              </a:ext>
            </a:extLst>
          </p:cNvPr>
          <p:cNvSpPr>
            <a:spLocks noGrp="1"/>
          </p:cNvSpPr>
          <p:nvPr>
            <p:ph type="title"/>
          </p:nvPr>
        </p:nvSpPr>
        <p:spPr>
          <a:xfrm>
            <a:off x="846063" y="228600"/>
            <a:ext cx="8596668" cy="827314"/>
          </a:xfrm>
        </p:spPr>
        <p:txBody>
          <a:bodyPr/>
          <a:lstStyle/>
          <a:p>
            <a:r>
              <a:rPr lang="en-US"/>
              <a:t> Process Controls (cont.)</a:t>
            </a:r>
          </a:p>
        </p:txBody>
      </p:sp>
      <p:sp>
        <p:nvSpPr>
          <p:cNvPr id="3" name="Content Placeholder 2">
            <a:extLst>
              <a:ext uri="{FF2B5EF4-FFF2-40B4-BE49-F238E27FC236}">
                <a16:creationId xmlns:a16="http://schemas.microsoft.com/office/drawing/2014/main" id="{534D5F4B-B280-4BFA-941D-526722A17B0F}"/>
              </a:ext>
            </a:extLst>
          </p:cNvPr>
          <p:cNvSpPr>
            <a:spLocks noGrp="1"/>
          </p:cNvSpPr>
          <p:nvPr>
            <p:ph idx="1"/>
          </p:nvPr>
        </p:nvSpPr>
        <p:spPr>
          <a:xfrm>
            <a:off x="1330476" y="1121230"/>
            <a:ext cx="8596668" cy="5638799"/>
          </a:xfrm>
        </p:spPr>
        <p:txBody>
          <a:bodyPr>
            <a:normAutofit/>
          </a:bodyPr>
          <a:lstStyle/>
          <a:p>
            <a:pPr marL="0" indent="0">
              <a:buNone/>
            </a:pPr>
            <a:r>
              <a:rPr lang="en-US" sz="2400" b="1" u="sng">
                <a:solidFill>
                  <a:schemeClr val="tx2"/>
                </a:solidFill>
              </a:rPr>
              <a:t>Critical Process Parameters </a:t>
            </a:r>
            <a:endParaRPr lang="en-US" sz="2400" b="1">
              <a:solidFill>
                <a:schemeClr val="tx2"/>
              </a:solidFill>
            </a:endParaRPr>
          </a:p>
          <a:p>
            <a:pPr>
              <a:buFont typeface="Wingdings" panose="05000000000000000000" pitchFamily="2" charset="2"/>
              <a:buChar char="q"/>
            </a:pPr>
            <a:r>
              <a:rPr lang="en-US" sz="2400" b="1" i="1">
                <a:solidFill>
                  <a:schemeClr val="tx2"/>
                </a:solidFill>
              </a:rPr>
              <a:t>Heat Exchanger:</a:t>
            </a:r>
            <a:r>
              <a:rPr lang="en-US" sz="2400">
                <a:solidFill>
                  <a:schemeClr val="tx2"/>
                </a:solidFill>
              </a:rPr>
              <a:t> Temperature</a:t>
            </a:r>
            <a:endParaRPr lang="en-US" sz="2400" b="1">
              <a:solidFill>
                <a:schemeClr val="tx2"/>
              </a:solidFill>
            </a:endParaRPr>
          </a:p>
          <a:p>
            <a:pPr>
              <a:buFont typeface="Wingdings" panose="05000000000000000000" pitchFamily="2" charset="2"/>
              <a:buChar char="q"/>
            </a:pPr>
            <a:r>
              <a:rPr lang="en-US" sz="2400" b="1" i="1">
                <a:solidFill>
                  <a:schemeClr val="tx2"/>
                </a:solidFill>
              </a:rPr>
              <a:t>Reactor: </a:t>
            </a:r>
            <a:r>
              <a:rPr lang="en-US" sz="2400">
                <a:solidFill>
                  <a:schemeClr val="tx2"/>
                </a:solidFill>
              </a:rPr>
              <a:t>Temperature, Composition and Production rate</a:t>
            </a:r>
            <a:endParaRPr lang="en-US" sz="2400" b="1">
              <a:solidFill>
                <a:schemeClr val="tx2"/>
              </a:solidFill>
            </a:endParaRPr>
          </a:p>
          <a:p>
            <a:pPr>
              <a:buFont typeface="Wingdings" panose="05000000000000000000" pitchFamily="2" charset="2"/>
              <a:buChar char="q"/>
            </a:pPr>
            <a:r>
              <a:rPr lang="en-US" sz="2400" b="1" i="1">
                <a:solidFill>
                  <a:schemeClr val="tx2"/>
                </a:solidFill>
              </a:rPr>
              <a:t>Columns: </a:t>
            </a:r>
            <a:r>
              <a:rPr lang="en-US" sz="2400">
                <a:solidFill>
                  <a:schemeClr val="tx2"/>
                </a:solidFill>
              </a:rPr>
              <a:t>Temperature, Pressure, Level and Composition</a:t>
            </a:r>
            <a:endParaRPr lang="en-US" sz="2400" b="1">
              <a:solidFill>
                <a:schemeClr val="tx2"/>
              </a:solidFill>
            </a:endParaRPr>
          </a:p>
          <a:p>
            <a:pPr>
              <a:buFont typeface="Wingdings" panose="05000000000000000000" pitchFamily="2" charset="2"/>
              <a:buChar char="q"/>
            </a:pPr>
            <a:r>
              <a:rPr lang="en-US" sz="2400" b="1" i="1">
                <a:solidFill>
                  <a:schemeClr val="tx2"/>
                </a:solidFill>
              </a:rPr>
              <a:t>Decanter and Drums:</a:t>
            </a:r>
            <a:r>
              <a:rPr lang="en-US" sz="2400">
                <a:solidFill>
                  <a:schemeClr val="tx2"/>
                </a:solidFill>
              </a:rPr>
              <a:t> Level</a:t>
            </a:r>
          </a:p>
          <a:p>
            <a:pPr marL="0" indent="0">
              <a:buNone/>
            </a:pPr>
            <a:r>
              <a:rPr lang="en-US" sz="2400" b="1" u="sng">
                <a:solidFill>
                  <a:schemeClr val="tx2"/>
                </a:solidFill>
              </a:rPr>
              <a:t>Key manipulated variables</a:t>
            </a:r>
          </a:p>
          <a:p>
            <a:pPr>
              <a:buFont typeface="Wingdings" panose="05000000000000000000" pitchFamily="2" charset="2"/>
              <a:buChar char="q"/>
            </a:pPr>
            <a:r>
              <a:rPr lang="en-US" sz="2400">
                <a:solidFill>
                  <a:schemeClr val="tx2"/>
                </a:solidFill>
              </a:rPr>
              <a:t>Coolant/Steam flow rates</a:t>
            </a:r>
          </a:p>
          <a:p>
            <a:pPr>
              <a:buFont typeface="Wingdings" panose="05000000000000000000" pitchFamily="2" charset="2"/>
              <a:buChar char="q"/>
            </a:pPr>
            <a:r>
              <a:rPr lang="en-US" sz="2400">
                <a:solidFill>
                  <a:schemeClr val="tx2"/>
                </a:solidFill>
              </a:rPr>
              <a:t>Distillate/Bottoms flow rates</a:t>
            </a:r>
          </a:p>
          <a:p>
            <a:pPr>
              <a:buFont typeface="Wingdings" panose="05000000000000000000" pitchFamily="2" charset="2"/>
              <a:buChar char="q"/>
            </a:pPr>
            <a:r>
              <a:rPr lang="en-US" sz="2400">
                <a:solidFill>
                  <a:schemeClr val="tx2"/>
                </a:solidFill>
              </a:rPr>
              <a:t>Reflux flow rate</a:t>
            </a:r>
          </a:p>
          <a:p>
            <a:pPr>
              <a:buFont typeface="Wingdings" panose="05000000000000000000" pitchFamily="2" charset="2"/>
              <a:buChar char="q"/>
            </a:pPr>
            <a:r>
              <a:rPr lang="en-US" sz="2400">
                <a:solidFill>
                  <a:schemeClr val="tx2"/>
                </a:solidFill>
              </a:rPr>
              <a:t>Feed flow rates</a:t>
            </a:r>
          </a:p>
          <a:p>
            <a:pPr>
              <a:buFont typeface="Wingdings" panose="05000000000000000000" pitchFamily="2" charset="2"/>
              <a:buChar char="q"/>
            </a:pPr>
            <a:r>
              <a:rPr lang="en-US" sz="2400">
                <a:solidFill>
                  <a:schemeClr val="tx2"/>
                </a:solidFill>
              </a:rPr>
              <a:t>Reactor affluent flow rate</a:t>
            </a:r>
          </a:p>
          <a:p>
            <a:endParaRPr lang="en-US"/>
          </a:p>
        </p:txBody>
      </p:sp>
      <p:sp>
        <p:nvSpPr>
          <p:cNvPr id="4" name="Slide Number Placeholder 3">
            <a:extLst>
              <a:ext uri="{FF2B5EF4-FFF2-40B4-BE49-F238E27FC236}">
                <a16:creationId xmlns:a16="http://schemas.microsoft.com/office/drawing/2014/main" id="{09C7A0C8-15CD-405A-AE2B-1139D11D1F16}"/>
              </a:ext>
            </a:extLst>
          </p:cNvPr>
          <p:cNvSpPr>
            <a:spLocks noGrp="1"/>
          </p:cNvSpPr>
          <p:nvPr>
            <p:ph type="sldNum" sz="quarter" idx="12"/>
          </p:nvPr>
        </p:nvSpPr>
        <p:spPr/>
        <p:txBody>
          <a:bodyPr/>
          <a:lstStyle/>
          <a:p>
            <a:fld id="{34B7E4EF-A1BD-40F4-AB7B-04F084DD991D}" type="slidenum">
              <a:rPr lang="en-US" smtClean="0"/>
              <a:pPr/>
              <a:t>8</a:t>
            </a:fld>
            <a:endParaRPr lang="en-US"/>
          </a:p>
        </p:txBody>
      </p:sp>
      <p:pic>
        <p:nvPicPr>
          <p:cNvPr id="9" name="Picture 8">
            <a:extLst>
              <a:ext uri="{FF2B5EF4-FFF2-40B4-BE49-F238E27FC236}">
                <a16:creationId xmlns:a16="http://schemas.microsoft.com/office/drawing/2014/main" id="{65E3BF93-3E7D-48F1-8E52-41C43595F8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5802" y="3306725"/>
            <a:ext cx="3406929" cy="2649834"/>
          </a:xfrm>
          <a:prstGeom prst="rect">
            <a:avLst/>
          </a:prstGeom>
        </p:spPr>
      </p:pic>
      <p:sp>
        <p:nvSpPr>
          <p:cNvPr id="10" name="TextBox 9">
            <a:extLst>
              <a:ext uri="{FF2B5EF4-FFF2-40B4-BE49-F238E27FC236}">
                <a16:creationId xmlns:a16="http://schemas.microsoft.com/office/drawing/2014/main" id="{C6D4F000-456B-49D3-8BD0-346DEED03458}"/>
              </a:ext>
            </a:extLst>
          </p:cNvPr>
          <p:cNvSpPr txBox="1"/>
          <p:nvPr/>
        </p:nvSpPr>
        <p:spPr>
          <a:xfrm>
            <a:off x="6035802" y="6000017"/>
            <a:ext cx="3243321" cy="230832"/>
          </a:xfrm>
          <a:prstGeom prst="rect">
            <a:avLst/>
          </a:prstGeom>
          <a:noFill/>
        </p:spPr>
        <p:txBody>
          <a:bodyPr wrap="square" rtlCol="0">
            <a:spAutoFit/>
          </a:bodyPr>
          <a:lstStyle/>
          <a:p>
            <a:r>
              <a:rPr lang="en-US" sz="900">
                <a:hlinkClick r:id="rId3" tooltip="http://me1065.wikidot.com/automotive-heat-exchangers"/>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2056431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C0C4B-0A43-4978-995F-AC4F4986D8C3}"/>
              </a:ext>
            </a:extLst>
          </p:cNvPr>
          <p:cNvSpPr>
            <a:spLocks noGrp="1"/>
          </p:cNvSpPr>
          <p:nvPr>
            <p:ph type="title"/>
          </p:nvPr>
        </p:nvSpPr>
        <p:spPr>
          <a:xfrm>
            <a:off x="617462" y="191445"/>
            <a:ext cx="8596668" cy="370114"/>
          </a:xfrm>
        </p:spPr>
        <p:txBody>
          <a:bodyPr>
            <a:noAutofit/>
          </a:bodyPr>
          <a:lstStyle/>
          <a:p>
            <a:r>
              <a:rPr lang="en-US"/>
              <a:t>Methanol Distillation Column Controls</a:t>
            </a:r>
          </a:p>
        </p:txBody>
      </p:sp>
      <p:sp>
        <p:nvSpPr>
          <p:cNvPr id="4" name="Slide Number Placeholder 3">
            <a:extLst>
              <a:ext uri="{FF2B5EF4-FFF2-40B4-BE49-F238E27FC236}">
                <a16:creationId xmlns:a16="http://schemas.microsoft.com/office/drawing/2014/main" id="{E05731B3-FC11-4A0F-B1F5-0D486C6E2EEB}"/>
              </a:ext>
            </a:extLst>
          </p:cNvPr>
          <p:cNvSpPr>
            <a:spLocks noGrp="1"/>
          </p:cNvSpPr>
          <p:nvPr>
            <p:ph type="sldNum" sz="quarter" idx="12"/>
          </p:nvPr>
        </p:nvSpPr>
        <p:spPr/>
        <p:txBody>
          <a:bodyPr/>
          <a:lstStyle/>
          <a:p>
            <a:fld id="{34B7E4EF-A1BD-40F4-AB7B-04F084DD991D}" type="slidenum">
              <a:rPr lang="en-US" smtClean="0"/>
              <a:pPr/>
              <a:t>9</a:t>
            </a:fld>
            <a:endParaRPr lang="en-US"/>
          </a:p>
        </p:txBody>
      </p:sp>
      <p:graphicFrame>
        <p:nvGraphicFramePr>
          <p:cNvPr id="7" name="Content Placeholder 6">
            <a:extLst>
              <a:ext uri="{FF2B5EF4-FFF2-40B4-BE49-F238E27FC236}">
                <a16:creationId xmlns:a16="http://schemas.microsoft.com/office/drawing/2014/main" id="{88C89F2C-7302-4137-AB7F-4842C554BC5E}"/>
              </a:ext>
            </a:extLst>
          </p:cNvPr>
          <p:cNvGraphicFramePr>
            <a:graphicFrameLocks noGrp="1"/>
          </p:cNvGraphicFramePr>
          <p:nvPr>
            <p:ph idx="1"/>
            <p:extLst>
              <p:ext uri="{D42A27DB-BD31-4B8C-83A1-F6EECF244321}">
                <p14:modId xmlns:p14="http://schemas.microsoft.com/office/powerpoint/2010/main" val="906004387"/>
              </p:ext>
            </p:extLst>
          </p:nvPr>
        </p:nvGraphicFramePr>
        <p:xfrm>
          <a:off x="563758" y="913977"/>
          <a:ext cx="8392983" cy="5818853"/>
        </p:xfrm>
        <a:graphic>
          <a:graphicData uri="http://schemas.openxmlformats.org/drawingml/2006/table">
            <a:tbl>
              <a:tblPr firstRow="1" firstCol="1" bandRow="1"/>
              <a:tblGrid>
                <a:gridCol w="1134740">
                  <a:extLst>
                    <a:ext uri="{9D8B030D-6E8A-4147-A177-3AD203B41FA5}">
                      <a16:colId xmlns:a16="http://schemas.microsoft.com/office/drawing/2014/main" val="3894066889"/>
                    </a:ext>
                  </a:extLst>
                </a:gridCol>
                <a:gridCol w="1100078">
                  <a:extLst>
                    <a:ext uri="{9D8B030D-6E8A-4147-A177-3AD203B41FA5}">
                      <a16:colId xmlns:a16="http://schemas.microsoft.com/office/drawing/2014/main" val="3897282279"/>
                    </a:ext>
                  </a:extLst>
                </a:gridCol>
                <a:gridCol w="1191902">
                  <a:extLst>
                    <a:ext uri="{9D8B030D-6E8A-4147-A177-3AD203B41FA5}">
                      <a16:colId xmlns:a16="http://schemas.microsoft.com/office/drawing/2014/main" val="912967038"/>
                    </a:ext>
                  </a:extLst>
                </a:gridCol>
                <a:gridCol w="1175349">
                  <a:extLst>
                    <a:ext uri="{9D8B030D-6E8A-4147-A177-3AD203B41FA5}">
                      <a16:colId xmlns:a16="http://schemas.microsoft.com/office/drawing/2014/main" val="2182094732"/>
                    </a:ext>
                  </a:extLst>
                </a:gridCol>
                <a:gridCol w="1241566">
                  <a:extLst>
                    <a:ext uri="{9D8B030D-6E8A-4147-A177-3AD203B41FA5}">
                      <a16:colId xmlns:a16="http://schemas.microsoft.com/office/drawing/2014/main" val="2948504023"/>
                    </a:ext>
                  </a:extLst>
                </a:gridCol>
                <a:gridCol w="1307782">
                  <a:extLst>
                    <a:ext uri="{9D8B030D-6E8A-4147-A177-3AD203B41FA5}">
                      <a16:colId xmlns:a16="http://schemas.microsoft.com/office/drawing/2014/main" val="3388895431"/>
                    </a:ext>
                  </a:extLst>
                </a:gridCol>
                <a:gridCol w="1241566">
                  <a:extLst>
                    <a:ext uri="{9D8B030D-6E8A-4147-A177-3AD203B41FA5}">
                      <a16:colId xmlns:a16="http://schemas.microsoft.com/office/drawing/2014/main" val="2282974530"/>
                    </a:ext>
                  </a:extLst>
                </a:gridCol>
              </a:tblGrid>
              <a:tr h="490039">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Equipment</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Tag</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Controlled Variable</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Control element</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Manipulated Variable</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Disturbances</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Control Logic</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extLst>
                  <a:ext uri="{0D108BD9-81ED-4DB2-BD59-A6C34878D82A}">
                    <a16:rowId xmlns:a16="http://schemas.microsoft.com/office/drawing/2014/main" val="4260161552"/>
                  </a:ext>
                </a:extLst>
              </a:tr>
              <a:tr h="417899">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rowSpan="5">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Valve on reboiler steam stream</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5">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Reboiler steam flow rate</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5">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Drop in reboiler steam pressure</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Feedforward</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1322273109"/>
                  </a:ext>
                </a:extLst>
              </a:tr>
              <a:tr h="399857">
                <a:tc rowSpan="2">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rowSpan="2">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rowSpan="2">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Temperature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Control</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4038893202"/>
                  </a:ext>
                </a:extLst>
              </a:tr>
              <a:tr h="217932">
                <a:tc vMerge="1">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vMerge="1">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vMerge="1">
                  <a:txBody>
                    <a:bodyPr/>
                    <a:lstStyle/>
                    <a:p>
                      <a:pPr algn="ctr">
                        <a:lnSpc>
                          <a:spcPct val="107000"/>
                        </a:lnSpc>
                      </a:pPr>
                      <a:endParaRPr lang="en-US" sz="1600">
                        <a:solidFill>
                          <a:schemeClr val="tx2"/>
                        </a:solidFill>
                        <a:effectLst/>
                        <a:latin typeface="Times New Roman" panose="02020603050405020304" pitchFamily="18"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1019106093"/>
                  </a:ext>
                </a:extLst>
              </a:tr>
              <a:tr h="0">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a:lnSpc>
                          <a:spcPct val="107000"/>
                        </a:lnSpc>
                      </a:pPr>
                      <a:endParaRPr lang="en-US" sz="1600">
                        <a:solidFill>
                          <a:schemeClr val="tx2"/>
                        </a:solidFill>
                        <a:effectLst/>
                        <a:latin typeface="Times New Roman" panose="02020603050405020304" pitchFamily="18"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marL="0" marR="0" algn="ctr">
                        <a:lnSpc>
                          <a:spcPct val="107000"/>
                        </a:lnSpc>
                        <a:spcBef>
                          <a:spcPts val="0"/>
                        </a:spcBef>
                        <a:spcAft>
                          <a:spcPts val="0"/>
                        </a:spcAft>
                      </a:pP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2092682975"/>
                  </a:ext>
                </a:extLst>
              </a:tr>
              <a:tr h="244107">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834593058"/>
                  </a:ext>
                </a:extLst>
              </a:tr>
              <a:tr h="490039">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Methanol Column</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T-201</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rowSpan="4">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Valve on bottom stream</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4">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Flow rate of bottom stream</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4">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Feed flowrates</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Feedback</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3377560735"/>
                  </a:ext>
                </a:extLst>
              </a:tr>
              <a:tr h="238800">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Level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Control</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2136743092"/>
                  </a:ext>
                </a:extLst>
              </a:tr>
              <a:tr h="238800">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a:lnSpc>
                          <a:spcPct val="107000"/>
                        </a:lnSpc>
                      </a:pPr>
                      <a:endParaRPr lang="en-US" sz="1600">
                        <a:solidFill>
                          <a:schemeClr val="tx2"/>
                        </a:solidFill>
                        <a:effectLst/>
                        <a:latin typeface="Times New Roman" panose="02020603050405020304" pitchFamily="18"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3107394712"/>
                  </a:ext>
                </a:extLst>
              </a:tr>
              <a:tr h="244107">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924711763"/>
                  </a:ext>
                </a:extLst>
              </a:tr>
              <a:tr h="353557">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rowSpan="3">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Valve on Condenser CW stream</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3">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Condenser Cooling water flow rate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3">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Column pressure drop</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Feedback</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2608678346"/>
                  </a:ext>
                </a:extLst>
              </a:tr>
              <a:tr h="238800">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Pressure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Control</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4179978022"/>
                  </a:ext>
                </a:extLst>
              </a:tr>
              <a:tr h="404814">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3827756912"/>
                  </a:ext>
                </a:extLst>
              </a:tr>
              <a:tr h="238800">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rowSpan="2">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Valve on reflux stream</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2">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Reflux flow rate</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2">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Feed composition upsets</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Cascade</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4150662520"/>
                  </a:ext>
                </a:extLst>
              </a:tr>
              <a:tr h="504804">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Composition</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Control</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3852104443"/>
                  </a:ext>
                </a:extLst>
              </a:tr>
              <a:tr h="383407">
                <a:tc rowSpan="2">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Column Reflux</a:t>
                      </a:r>
                    </a:p>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Drum</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D-202</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Level</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rowSpan="2">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Valve on Distillate Stream</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Distillate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rowSpan="2">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Feed flowrates</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Feedback</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3540015156"/>
                  </a:ext>
                </a:extLst>
              </a:tr>
              <a:tr h="360197">
                <a:tc vMerge="1">
                  <a:txBody>
                    <a:bodyPr/>
                    <a:lstStyle/>
                    <a:p>
                      <a:endParaRPr lang="en-US"/>
                    </a:p>
                  </a:txBody>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a:lnSpc>
                          <a:spcPct val="107000"/>
                        </a:lnSpc>
                      </a:pPr>
                      <a:endParaRPr lang="en-US" sz="1600">
                        <a:solidFill>
                          <a:schemeClr val="tx2"/>
                        </a:solidFill>
                        <a:effectLst/>
                        <a:latin typeface="Times New Roman" panose="02020603050405020304" pitchFamily="18"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vMerge="1">
                  <a:txBody>
                    <a:bodyPr/>
                    <a:lstStyle/>
                    <a:p>
                      <a:endParaRPr lang="en-US"/>
                    </a:p>
                  </a:txBody>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Flow rate </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vMerge="1">
                  <a:txBody>
                    <a:bodyPr/>
                    <a:lstStyle/>
                    <a:p>
                      <a:endParaRPr lang="en-US"/>
                    </a:p>
                  </a:txBody>
                  <a:tcPr/>
                </a:tc>
                <a:tc>
                  <a:txBody>
                    <a:bodyPr/>
                    <a:lstStyle/>
                    <a:p>
                      <a:pPr marL="0" marR="0" algn="ctr">
                        <a:lnSpc>
                          <a:spcPct val="107000"/>
                        </a:lnSpc>
                        <a:spcBef>
                          <a:spcPts val="0"/>
                        </a:spcBef>
                        <a:spcAft>
                          <a:spcPts val="0"/>
                        </a:spcAft>
                      </a:pPr>
                      <a:r>
                        <a:rPr lang="en-US" sz="1600">
                          <a:solidFill>
                            <a:schemeClr val="tx2"/>
                          </a:solidFill>
                          <a:effectLst/>
                          <a:latin typeface="Times New Roman" panose="02020603050405020304" pitchFamily="18" charset="0"/>
                          <a:ea typeface="Times New Roman" panose="02020603050405020304" pitchFamily="18" charset="0"/>
                          <a:cs typeface="Times New Roman" panose="02020603050405020304" pitchFamily="18" charset="0"/>
                        </a:rPr>
                        <a:t>Control</a:t>
                      </a:r>
                      <a:endParaRPr lang="en-US" sz="1600">
                        <a:solidFill>
                          <a:schemeClr val="tx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993" marR="55993" marT="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3526073946"/>
                  </a:ext>
                </a:extLst>
              </a:tr>
            </a:tbl>
          </a:graphicData>
        </a:graphic>
      </p:graphicFrame>
    </p:spTree>
    <p:extLst>
      <p:ext uri="{BB962C8B-B14F-4D97-AF65-F5344CB8AC3E}">
        <p14:creationId xmlns:p14="http://schemas.microsoft.com/office/powerpoint/2010/main" val="3028111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B92DC-47BD-4F3B-9983-C5039FE362AC}"/>
              </a:ext>
            </a:extLst>
          </p:cNvPr>
          <p:cNvSpPr>
            <a:spLocks noGrp="1"/>
          </p:cNvSpPr>
          <p:nvPr>
            <p:ph type="title"/>
          </p:nvPr>
        </p:nvSpPr>
        <p:spPr>
          <a:xfrm>
            <a:off x="726320" y="92528"/>
            <a:ext cx="8596668" cy="566057"/>
          </a:xfrm>
        </p:spPr>
        <p:txBody>
          <a:bodyPr>
            <a:normAutofit fontScale="90000"/>
          </a:bodyPr>
          <a:lstStyle/>
          <a:p>
            <a:r>
              <a:rPr lang="en-US" sz="3200"/>
              <a:t>Process Control Scheme before HAZOP</a:t>
            </a:r>
          </a:p>
        </p:txBody>
      </p:sp>
      <p:sp>
        <p:nvSpPr>
          <p:cNvPr id="4" name="Slide Number Placeholder 3">
            <a:extLst>
              <a:ext uri="{FF2B5EF4-FFF2-40B4-BE49-F238E27FC236}">
                <a16:creationId xmlns:a16="http://schemas.microsoft.com/office/drawing/2014/main" id="{FDADE49C-0331-4CD9-B054-951581E65B56}"/>
              </a:ext>
            </a:extLst>
          </p:cNvPr>
          <p:cNvSpPr>
            <a:spLocks noGrp="1"/>
          </p:cNvSpPr>
          <p:nvPr>
            <p:ph type="sldNum" sz="quarter" idx="12"/>
          </p:nvPr>
        </p:nvSpPr>
        <p:spPr/>
        <p:txBody>
          <a:bodyPr/>
          <a:lstStyle/>
          <a:p>
            <a:fld id="{34B7E4EF-A1BD-40F4-AB7B-04F084DD991D}" type="slidenum">
              <a:rPr lang="en-US" smtClean="0"/>
              <a:pPr/>
              <a:t>10</a:t>
            </a:fld>
            <a:endParaRPr lang="en-US"/>
          </a:p>
        </p:txBody>
      </p:sp>
      <p:pic>
        <p:nvPicPr>
          <p:cNvPr id="5" name="Content Placeholder 4">
            <a:extLst>
              <a:ext uri="{FF2B5EF4-FFF2-40B4-BE49-F238E27FC236}">
                <a16:creationId xmlns:a16="http://schemas.microsoft.com/office/drawing/2014/main" id="{AFD9AB23-FD43-4D73-8E14-26A1C196D7BD}"/>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69587" y="759157"/>
            <a:ext cx="7909099" cy="5821257"/>
          </a:xfrm>
          <a:prstGeom prst="rect">
            <a:avLst/>
          </a:prstGeom>
          <a:noFill/>
          <a:ln>
            <a:noFill/>
          </a:ln>
        </p:spPr>
      </p:pic>
    </p:spTree>
    <p:extLst>
      <p:ext uri="{BB962C8B-B14F-4D97-AF65-F5344CB8AC3E}">
        <p14:creationId xmlns:p14="http://schemas.microsoft.com/office/powerpoint/2010/main" val="3959514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52BD6-103B-405A-B0B2-26F6D0CEEE17}"/>
              </a:ext>
            </a:extLst>
          </p:cNvPr>
          <p:cNvSpPr>
            <a:spLocks noGrp="1"/>
          </p:cNvSpPr>
          <p:nvPr>
            <p:ph type="title"/>
          </p:nvPr>
        </p:nvSpPr>
        <p:spPr>
          <a:xfrm>
            <a:off x="656190" y="152400"/>
            <a:ext cx="8596668" cy="1320800"/>
          </a:xfrm>
        </p:spPr>
        <p:txBody>
          <a:bodyPr>
            <a:normAutofit/>
          </a:bodyPr>
          <a:lstStyle/>
          <a:p>
            <a:r>
              <a:rPr lang="en-US" dirty="0"/>
              <a:t>HAZOP ANALYIS</a:t>
            </a:r>
            <a:br>
              <a:rPr lang="en-US" dirty="0"/>
            </a:br>
            <a:r>
              <a:rPr lang="en-US" sz="2000" dirty="0"/>
              <a:t>HAZOP Analysis of Methanol Distillation Column (T-201)</a:t>
            </a:r>
            <a:br>
              <a:rPr lang="en-US" sz="2200" b="1" dirty="0"/>
            </a:br>
            <a:endParaRPr lang="en-US" sz="2200" dirty="0"/>
          </a:p>
        </p:txBody>
      </p:sp>
      <p:sp>
        <p:nvSpPr>
          <p:cNvPr id="4" name="Slide Number Placeholder 3">
            <a:extLst>
              <a:ext uri="{FF2B5EF4-FFF2-40B4-BE49-F238E27FC236}">
                <a16:creationId xmlns:a16="http://schemas.microsoft.com/office/drawing/2014/main" id="{91E4BCC8-D8EA-4ED1-B2BC-6CBBB4CA1E09}"/>
              </a:ext>
            </a:extLst>
          </p:cNvPr>
          <p:cNvSpPr>
            <a:spLocks noGrp="1"/>
          </p:cNvSpPr>
          <p:nvPr>
            <p:ph type="sldNum" sz="quarter" idx="12"/>
          </p:nvPr>
        </p:nvSpPr>
        <p:spPr/>
        <p:txBody>
          <a:bodyPr/>
          <a:lstStyle/>
          <a:p>
            <a:fld id="{34B7E4EF-A1BD-40F4-AB7B-04F084DD991D}" type="slidenum">
              <a:rPr lang="en-US" smtClean="0"/>
              <a:pPr/>
              <a:t>11</a:t>
            </a:fld>
            <a:endParaRPr lang="en-US"/>
          </a:p>
        </p:txBody>
      </p:sp>
      <p:graphicFrame>
        <p:nvGraphicFramePr>
          <p:cNvPr id="3" name="Table 2">
            <a:extLst>
              <a:ext uri="{FF2B5EF4-FFF2-40B4-BE49-F238E27FC236}">
                <a16:creationId xmlns:a16="http://schemas.microsoft.com/office/drawing/2014/main" id="{34AD4ED8-CD6E-4A6F-8118-C45EA8AE9FD6}"/>
              </a:ext>
            </a:extLst>
          </p:cNvPr>
          <p:cNvGraphicFramePr>
            <a:graphicFrameLocks noGrp="1"/>
          </p:cNvGraphicFramePr>
          <p:nvPr>
            <p:extLst>
              <p:ext uri="{D42A27DB-BD31-4B8C-83A1-F6EECF244321}">
                <p14:modId xmlns:p14="http://schemas.microsoft.com/office/powerpoint/2010/main" val="3121907541"/>
              </p:ext>
            </p:extLst>
          </p:nvPr>
        </p:nvGraphicFramePr>
        <p:xfrm>
          <a:off x="596825" y="1097124"/>
          <a:ext cx="8103663" cy="5704333"/>
        </p:xfrm>
        <a:graphic>
          <a:graphicData uri="http://schemas.openxmlformats.org/drawingml/2006/table">
            <a:tbl>
              <a:tblPr/>
              <a:tblGrid>
                <a:gridCol w="1507203">
                  <a:extLst>
                    <a:ext uri="{9D8B030D-6E8A-4147-A177-3AD203B41FA5}">
                      <a16:colId xmlns:a16="http://schemas.microsoft.com/office/drawing/2014/main" val="2928933608"/>
                    </a:ext>
                  </a:extLst>
                </a:gridCol>
                <a:gridCol w="1190763">
                  <a:extLst>
                    <a:ext uri="{9D8B030D-6E8A-4147-A177-3AD203B41FA5}">
                      <a16:colId xmlns:a16="http://schemas.microsoft.com/office/drawing/2014/main" val="1441810739"/>
                    </a:ext>
                  </a:extLst>
                </a:gridCol>
                <a:gridCol w="1776697">
                  <a:extLst>
                    <a:ext uri="{9D8B030D-6E8A-4147-A177-3AD203B41FA5}">
                      <a16:colId xmlns:a16="http://schemas.microsoft.com/office/drawing/2014/main" val="2500000177"/>
                    </a:ext>
                  </a:extLst>
                </a:gridCol>
                <a:gridCol w="1814500">
                  <a:extLst>
                    <a:ext uri="{9D8B030D-6E8A-4147-A177-3AD203B41FA5}">
                      <a16:colId xmlns:a16="http://schemas.microsoft.com/office/drawing/2014/main" val="57911990"/>
                    </a:ext>
                  </a:extLst>
                </a:gridCol>
                <a:gridCol w="1814500">
                  <a:extLst>
                    <a:ext uri="{9D8B030D-6E8A-4147-A177-3AD203B41FA5}">
                      <a16:colId xmlns:a16="http://schemas.microsoft.com/office/drawing/2014/main" val="1983444883"/>
                    </a:ext>
                  </a:extLst>
                </a:gridCol>
              </a:tblGrid>
              <a:tr h="243887">
                <a:tc gridSpan="5">
                  <a:txBody>
                    <a:bodyPr/>
                    <a:lstStyle/>
                    <a:p>
                      <a:pPr algn="l" fontAlgn="ctr"/>
                      <a:r>
                        <a:rPr lang="en-US" sz="1600" b="0" i="1" u="none" strike="noStrike">
                          <a:solidFill>
                            <a:schemeClr val="tx2"/>
                          </a:solidFill>
                          <a:effectLst/>
                          <a:latin typeface="Times New Roman" panose="02020603050405020304" pitchFamily="18" charset="0"/>
                          <a:cs typeface="Times New Roman" panose="02020603050405020304" pitchFamily="18" charset="0"/>
                        </a:rPr>
                        <a:t>Vessel: Methanol Distillation Column(T-201)</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26049364"/>
                  </a:ext>
                </a:extLst>
              </a:tr>
              <a:tr h="243887">
                <a:tc gridSpan="5">
                  <a:txBody>
                    <a:bodyPr/>
                    <a:lstStyle/>
                    <a:p>
                      <a:pPr algn="l" fontAlgn="ctr"/>
                      <a:r>
                        <a:rPr lang="en-US" sz="1600" b="0" i="1" u="none" strike="noStrike">
                          <a:solidFill>
                            <a:schemeClr val="tx2"/>
                          </a:solidFill>
                          <a:effectLst/>
                          <a:latin typeface="Times New Roman" panose="02020603050405020304" pitchFamily="18" charset="0"/>
                          <a:cs typeface="Times New Roman" panose="02020603050405020304" pitchFamily="18" charset="0"/>
                        </a:rPr>
                        <a:t>Intention: Separates a mixture of Methanol and Water at 1.2bar and 102 °C</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11263528"/>
                  </a:ext>
                </a:extLst>
              </a:tr>
              <a:tr h="243887">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Guide Word</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Deviation</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Cause</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Consequences</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Action</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extLst>
                  <a:ext uri="{0D108BD9-81ED-4DB2-BD59-A6C34878D82A}">
                    <a16:rowId xmlns:a16="http://schemas.microsoft.com/office/drawing/2014/main" val="3442925223"/>
                  </a:ext>
                </a:extLst>
              </a:tr>
              <a:tr h="243887">
                <a:tc gridSpan="5">
                  <a:txBody>
                    <a:bodyPr/>
                    <a:lstStyle/>
                    <a:p>
                      <a:pPr algn="l" fontAlgn="ctr"/>
                      <a:r>
                        <a:rPr lang="en-US" sz="1600" b="0" i="1" u="none" strike="noStrike">
                          <a:solidFill>
                            <a:schemeClr val="tx2"/>
                          </a:solidFill>
                          <a:effectLst/>
                          <a:latin typeface="Times New Roman" panose="02020603050405020304" pitchFamily="18" charset="0"/>
                          <a:cs typeface="Times New Roman" panose="02020603050405020304" pitchFamily="18" charset="0"/>
                        </a:rPr>
                        <a:t>Line: Bottoms stream</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53704444"/>
                  </a:ext>
                </a:extLst>
              </a:tr>
              <a:tr h="484574">
                <a:tc rowSpan="3">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NO</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3">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Flow</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Pipe blockage/leakage</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Column dry out</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Install alarms</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2455360339"/>
                  </a:ext>
                </a:extLst>
              </a:tr>
              <a:tr h="484574">
                <a:tc vMerge="1">
                  <a:txBody>
                    <a:bodyPr/>
                    <a:lstStyle/>
                    <a:p>
                      <a:endParaRPr lang="en-US"/>
                    </a:p>
                  </a:txBody>
                  <a:tcPr/>
                </a:tc>
                <a:tc vMerge="1">
                  <a:txBody>
                    <a:bodyPr/>
                    <a:lstStyle/>
                    <a:p>
                      <a:endParaRPr lang="en-US"/>
                    </a:p>
                  </a:txBody>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Control valve closed</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No operation</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Schedule maintenance</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3562472269"/>
                  </a:ext>
                </a:extLst>
              </a:tr>
              <a:tr h="243887">
                <a:tc vMerge="1">
                  <a:txBody>
                    <a:bodyPr/>
                    <a:lstStyle/>
                    <a:p>
                      <a:endParaRPr lang="en-US"/>
                    </a:p>
                  </a:txBody>
                  <a:tcPr/>
                </a:tc>
                <a:tc vMerge="1">
                  <a:txBody>
                    <a:bodyPr/>
                    <a:lstStyle/>
                    <a:p>
                      <a:endParaRPr lang="en-US"/>
                    </a:p>
                  </a:txBody>
                  <a:tcPr/>
                </a:tc>
                <a:tc>
                  <a:txBody>
                    <a:bodyPr/>
                    <a:lstStyle/>
                    <a:p>
                      <a:pPr algn="l" fontAlgn="t"/>
                      <a:r>
                        <a:rPr lang="en-US" sz="1600" b="0" i="0" u="none" strike="noStrike">
                          <a:solidFill>
                            <a:schemeClr val="tx2"/>
                          </a:solidFill>
                          <a:effectLst/>
                          <a:latin typeface="Times New Roman" panose="02020603050405020304" pitchFamily="18" charset="0"/>
                          <a:cs typeface="Times New Roman" panose="02020603050405020304" pitchFamily="18" charset="0"/>
                        </a:rPr>
                        <a:t> </a:t>
                      </a:r>
                    </a:p>
                  </a:txBody>
                  <a:tcPr marL="3242" marR="3242" marT="3242"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No product</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Shut down</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4140142081"/>
                  </a:ext>
                </a:extLst>
              </a:tr>
              <a:tr h="484574">
                <a:tc rowSpan="3">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LESS</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3">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Flow</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Pipe partially plagued</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Column level decreases</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Install low level alarm</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2513369214"/>
                  </a:ext>
                </a:extLst>
              </a:tr>
              <a:tr h="725260">
                <a:tc vMerge="1">
                  <a:txBody>
                    <a:bodyPr/>
                    <a:lstStyle/>
                    <a:p>
                      <a:endParaRPr lang="en-US"/>
                    </a:p>
                  </a:txBody>
                  <a:tcPr/>
                </a:tc>
                <a:tc vMerge="1">
                  <a:txBody>
                    <a:bodyPr/>
                    <a:lstStyle/>
                    <a:p>
                      <a:endParaRPr lang="en-US"/>
                    </a:p>
                  </a:txBody>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Control valves failure</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Column dry out</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Perform maintenance on equipment</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3962526167"/>
                  </a:ext>
                </a:extLst>
              </a:tr>
              <a:tr h="484574">
                <a:tc vMerge="1">
                  <a:txBody>
                    <a:bodyPr/>
                    <a:lstStyle/>
                    <a:p>
                      <a:endParaRPr lang="en-US"/>
                    </a:p>
                  </a:txBody>
                  <a:tcPr/>
                </a:tc>
                <a:tc vMerge="1">
                  <a:txBody>
                    <a:bodyPr/>
                    <a:lstStyle/>
                    <a:p>
                      <a:endParaRPr lang="en-US"/>
                    </a:p>
                  </a:txBody>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 </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Poor product quality</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Adjust flow</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1857964792"/>
                  </a:ext>
                </a:extLst>
              </a:tr>
              <a:tr h="725260">
                <a:tc rowSpan="4">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MORE</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4">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Flow</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Valve is fully open</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Increases in level</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high level alarm Schedule maintenance</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2497783799"/>
                  </a:ext>
                </a:extLst>
              </a:tr>
              <a:tr h="484574">
                <a:tc vMerge="1">
                  <a:txBody>
                    <a:bodyPr/>
                    <a:lstStyle/>
                    <a:p>
                      <a:endParaRPr lang="en-US"/>
                    </a:p>
                  </a:txBody>
                  <a:tcPr/>
                </a:tc>
                <a:tc vMerge="1">
                  <a:txBody>
                    <a:bodyPr/>
                    <a:lstStyle/>
                    <a:p>
                      <a:endParaRPr lang="en-US"/>
                    </a:p>
                  </a:txBody>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Control valves failure</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Column flooding</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Adjust flow</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1991515956"/>
                  </a:ext>
                </a:extLst>
              </a:tr>
              <a:tr h="313557">
                <a:tc vMerge="1">
                  <a:txBody>
                    <a:bodyPr/>
                    <a:lstStyle/>
                    <a:p>
                      <a:endParaRPr lang="en-US"/>
                    </a:p>
                  </a:txBody>
                  <a:tcPr/>
                </a:tc>
                <a:tc vMerge="1">
                  <a:txBody>
                    <a:bodyPr/>
                    <a:lstStyle/>
                    <a:p>
                      <a:endParaRPr lang="en-US"/>
                    </a:p>
                  </a:txBody>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 </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Lower temperature</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l" fontAlgn="t"/>
                      <a:endParaRPr lang="en-US" sz="1600" b="0" i="0" u="none" strike="noStrike">
                        <a:solidFill>
                          <a:schemeClr val="tx2"/>
                        </a:solidFill>
                        <a:effectLst/>
                        <a:latin typeface="Times New Roman" panose="02020603050405020304" pitchFamily="18" charset="0"/>
                        <a:cs typeface="Times New Roman" panose="02020603050405020304" pitchFamily="18" charset="0"/>
                      </a:endParaRPr>
                    </a:p>
                  </a:txBody>
                  <a:tcPr marL="3242" marR="3242" marT="3242"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3574741467"/>
                  </a:ext>
                </a:extLst>
              </a:tr>
              <a:tr h="243887">
                <a:tc vMerge="1">
                  <a:txBody>
                    <a:bodyPr/>
                    <a:lstStyle/>
                    <a:p>
                      <a:endParaRPr lang="en-US"/>
                    </a:p>
                  </a:txBody>
                  <a:tcPr/>
                </a:tc>
                <a:tc vMerge="1">
                  <a:txBody>
                    <a:bodyPr/>
                    <a:lstStyle/>
                    <a:p>
                      <a:endParaRPr lang="en-US"/>
                    </a:p>
                  </a:txBody>
                  <a:tcPr/>
                </a:tc>
                <a:tc>
                  <a:txBody>
                    <a:bodyPr/>
                    <a:lstStyle/>
                    <a:p>
                      <a:pPr algn="l" fontAlgn="t"/>
                      <a:r>
                        <a:rPr lang="en-US" sz="1600" b="0" i="0" u="none" strike="noStrike">
                          <a:solidFill>
                            <a:schemeClr val="tx2"/>
                          </a:solidFill>
                          <a:effectLst/>
                          <a:latin typeface="Times New Roman" panose="02020603050405020304" pitchFamily="18" charset="0"/>
                          <a:cs typeface="Times New Roman" panose="02020603050405020304" pitchFamily="18" charset="0"/>
                        </a:rPr>
                        <a:t> </a:t>
                      </a:r>
                    </a:p>
                  </a:txBody>
                  <a:tcPr marL="3242" marR="3242" marT="3242"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Poor separation</a:t>
                      </a:r>
                    </a:p>
                  </a:txBody>
                  <a:tcPr marL="3242" marR="3242" marT="324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l" fontAlgn="t"/>
                      <a:r>
                        <a:rPr lang="en-US" sz="1600" b="0" i="0" u="none" strike="noStrike">
                          <a:solidFill>
                            <a:schemeClr val="tx2"/>
                          </a:solidFill>
                          <a:effectLst/>
                          <a:latin typeface="Times New Roman" panose="02020603050405020304" pitchFamily="18" charset="0"/>
                          <a:cs typeface="Times New Roman" panose="02020603050405020304" pitchFamily="18" charset="0"/>
                        </a:rPr>
                        <a:t> </a:t>
                      </a:r>
                    </a:p>
                  </a:txBody>
                  <a:tcPr marL="3242" marR="3242" marT="3242"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1062867075"/>
                  </a:ext>
                </a:extLst>
              </a:tr>
            </a:tbl>
          </a:graphicData>
        </a:graphic>
      </p:graphicFrame>
    </p:spTree>
    <p:extLst>
      <p:ext uri="{BB962C8B-B14F-4D97-AF65-F5344CB8AC3E}">
        <p14:creationId xmlns:p14="http://schemas.microsoft.com/office/powerpoint/2010/main" val="1155633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29C46-D3F9-4BDB-B93B-57E097BED9A4}"/>
              </a:ext>
            </a:extLst>
          </p:cNvPr>
          <p:cNvSpPr>
            <a:spLocks noGrp="1"/>
          </p:cNvSpPr>
          <p:nvPr>
            <p:ph type="title"/>
          </p:nvPr>
        </p:nvSpPr>
        <p:spPr>
          <a:xfrm>
            <a:off x="606576" y="272143"/>
            <a:ext cx="8596668" cy="794657"/>
          </a:xfrm>
        </p:spPr>
        <p:txBody>
          <a:bodyPr/>
          <a:lstStyle/>
          <a:p>
            <a:r>
              <a:rPr lang="en-US"/>
              <a:t>HAZOP ANALYIS (cont.)</a:t>
            </a:r>
          </a:p>
        </p:txBody>
      </p:sp>
      <p:sp>
        <p:nvSpPr>
          <p:cNvPr id="4" name="Slide Number Placeholder 3">
            <a:extLst>
              <a:ext uri="{FF2B5EF4-FFF2-40B4-BE49-F238E27FC236}">
                <a16:creationId xmlns:a16="http://schemas.microsoft.com/office/drawing/2014/main" id="{05CA8B16-7066-4D04-A35C-4F4F5B374400}"/>
              </a:ext>
            </a:extLst>
          </p:cNvPr>
          <p:cNvSpPr>
            <a:spLocks noGrp="1"/>
          </p:cNvSpPr>
          <p:nvPr>
            <p:ph type="sldNum" sz="quarter" idx="12"/>
          </p:nvPr>
        </p:nvSpPr>
        <p:spPr/>
        <p:txBody>
          <a:bodyPr/>
          <a:lstStyle/>
          <a:p>
            <a:fld id="{34B7E4EF-A1BD-40F4-AB7B-04F084DD991D}" type="slidenum">
              <a:rPr lang="en-US" smtClean="0"/>
              <a:pPr/>
              <a:t>12</a:t>
            </a:fld>
            <a:endParaRPr lang="en-US"/>
          </a:p>
        </p:txBody>
      </p:sp>
      <p:graphicFrame>
        <p:nvGraphicFramePr>
          <p:cNvPr id="3" name="Table 2">
            <a:extLst>
              <a:ext uri="{FF2B5EF4-FFF2-40B4-BE49-F238E27FC236}">
                <a16:creationId xmlns:a16="http://schemas.microsoft.com/office/drawing/2014/main" id="{A025CF37-4525-4161-A24F-C25CB6F75A3E}"/>
              </a:ext>
            </a:extLst>
          </p:cNvPr>
          <p:cNvGraphicFramePr>
            <a:graphicFrameLocks noGrp="1"/>
          </p:cNvGraphicFramePr>
          <p:nvPr>
            <p:extLst>
              <p:ext uri="{D42A27DB-BD31-4B8C-83A1-F6EECF244321}">
                <p14:modId xmlns:p14="http://schemas.microsoft.com/office/powerpoint/2010/main" val="862001773"/>
              </p:ext>
            </p:extLst>
          </p:nvPr>
        </p:nvGraphicFramePr>
        <p:xfrm>
          <a:off x="711807" y="978086"/>
          <a:ext cx="8202222" cy="5607771"/>
        </p:xfrm>
        <a:graphic>
          <a:graphicData uri="http://schemas.openxmlformats.org/drawingml/2006/table">
            <a:tbl>
              <a:tblPr/>
              <a:tblGrid>
                <a:gridCol w="1706946">
                  <a:extLst>
                    <a:ext uri="{9D8B030D-6E8A-4147-A177-3AD203B41FA5}">
                      <a16:colId xmlns:a16="http://schemas.microsoft.com/office/drawing/2014/main" val="2310510742"/>
                    </a:ext>
                  </a:extLst>
                </a:gridCol>
                <a:gridCol w="1396596">
                  <a:extLst>
                    <a:ext uri="{9D8B030D-6E8A-4147-A177-3AD203B41FA5}">
                      <a16:colId xmlns:a16="http://schemas.microsoft.com/office/drawing/2014/main" val="1619610643"/>
                    </a:ext>
                  </a:extLst>
                </a:gridCol>
                <a:gridCol w="1729118">
                  <a:extLst>
                    <a:ext uri="{9D8B030D-6E8A-4147-A177-3AD203B41FA5}">
                      <a16:colId xmlns:a16="http://schemas.microsoft.com/office/drawing/2014/main" val="2272350795"/>
                    </a:ext>
                  </a:extLst>
                </a:gridCol>
                <a:gridCol w="1729118">
                  <a:extLst>
                    <a:ext uri="{9D8B030D-6E8A-4147-A177-3AD203B41FA5}">
                      <a16:colId xmlns:a16="http://schemas.microsoft.com/office/drawing/2014/main" val="2168169421"/>
                    </a:ext>
                  </a:extLst>
                </a:gridCol>
                <a:gridCol w="1640444">
                  <a:extLst>
                    <a:ext uri="{9D8B030D-6E8A-4147-A177-3AD203B41FA5}">
                      <a16:colId xmlns:a16="http://schemas.microsoft.com/office/drawing/2014/main" val="907029346"/>
                    </a:ext>
                  </a:extLst>
                </a:gridCol>
              </a:tblGrid>
              <a:tr h="274179">
                <a:tc gridSpan="5">
                  <a:txBody>
                    <a:bodyPr/>
                    <a:lstStyle/>
                    <a:p>
                      <a:pPr algn="l" fontAlgn="ctr"/>
                      <a:r>
                        <a:rPr lang="en-US" sz="1600" b="0" i="1" u="none" strike="noStrike">
                          <a:solidFill>
                            <a:schemeClr val="tx2"/>
                          </a:solidFill>
                          <a:effectLst/>
                          <a:latin typeface="Times New Roman" panose="02020603050405020304" pitchFamily="18" charset="0"/>
                          <a:cs typeface="Times New Roman" panose="02020603050405020304" pitchFamily="18" charset="0"/>
                        </a:rPr>
                        <a:t>Vessel: Condenser (E-205)</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27571449"/>
                  </a:ext>
                </a:extLst>
              </a:tr>
              <a:tr h="310038">
                <a:tc gridSpan="5">
                  <a:txBody>
                    <a:bodyPr/>
                    <a:lstStyle/>
                    <a:p>
                      <a:pPr algn="l" fontAlgn="ctr"/>
                      <a:r>
                        <a:rPr lang="en-US" sz="1600" b="0" i="1" u="none" strike="noStrike">
                          <a:solidFill>
                            <a:schemeClr val="tx2"/>
                          </a:solidFill>
                          <a:effectLst/>
                          <a:latin typeface="Times New Roman" panose="02020603050405020304" pitchFamily="18" charset="0"/>
                          <a:cs typeface="Times New Roman" panose="02020603050405020304" pitchFamily="18" charset="0"/>
                        </a:rPr>
                        <a:t>Intention:  condenses vapor fluid from top</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88963811"/>
                  </a:ext>
                </a:extLst>
              </a:tr>
              <a:tr h="313976">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Guide Word</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Deviation</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Cause</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Consequences</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Action</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extLst>
                  <a:ext uri="{0D108BD9-81ED-4DB2-BD59-A6C34878D82A}">
                    <a16:rowId xmlns:a16="http://schemas.microsoft.com/office/drawing/2014/main" val="3894377845"/>
                  </a:ext>
                </a:extLst>
              </a:tr>
              <a:tr h="313976">
                <a:tc gridSpan="5">
                  <a:txBody>
                    <a:bodyPr/>
                    <a:lstStyle/>
                    <a:p>
                      <a:pPr algn="l" fontAlgn="ctr"/>
                      <a:r>
                        <a:rPr lang="en-US" sz="1600" b="0" i="1" u="none" strike="noStrike">
                          <a:solidFill>
                            <a:schemeClr val="tx2"/>
                          </a:solidFill>
                          <a:effectLst/>
                          <a:latin typeface="Times New Roman" panose="02020603050405020304" pitchFamily="18" charset="0"/>
                          <a:cs typeface="Times New Roman" panose="02020603050405020304" pitchFamily="18" charset="0"/>
                        </a:rPr>
                        <a:t>Line: Coolant stream</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80907100"/>
                  </a:ext>
                </a:extLst>
              </a:tr>
              <a:tr h="620080">
                <a:tc rowSpan="2">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NO</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2">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Coolant Flow</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Valve fully closed</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Loss of pressure control in column</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Install Alarms</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819763045"/>
                  </a:ext>
                </a:extLst>
              </a:tr>
              <a:tr h="545111">
                <a:tc vMerge="1">
                  <a:txBody>
                    <a:bodyPr/>
                    <a:lstStyle/>
                    <a:p>
                      <a:endParaRPr lang="en-US"/>
                    </a:p>
                  </a:txBody>
                  <a:tcPr/>
                </a:tc>
                <a:tc vMerge="1">
                  <a:txBody>
                    <a:bodyPr/>
                    <a:lstStyle/>
                    <a:p>
                      <a:endParaRPr lang="en-US"/>
                    </a:p>
                  </a:txBody>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Pipe burst </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No condensing</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Automatic shut down</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136414618"/>
                  </a:ext>
                </a:extLst>
              </a:tr>
              <a:tr h="816043">
                <a:tc rowSpan="3">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LESS</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3">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Flow</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Coolant Pipe blockage and/or leakage</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Low pressure in column</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Install low alarms</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601056009"/>
                  </a:ext>
                </a:extLst>
              </a:tr>
              <a:tr h="545111">
                <a:tc vMerge="1">
                  <a:txBody>
                    <a:bodyPr/>
                    <a:lstStyle/>
                    <a:p>
                      <a:endParaRPr lang="en-US"/>
                    </a:p>
                  </a:txBody>
                  <a:tcPr/>
                </a:tc>
                <a:tc vMerge="1">
                  <a:txBody>
                    <a:bodyPr/>
                    <a:lstStyle/>
                    <a:p>
                      <a:endParaRPr lang="en-US"/>
                    </a:p>
                  </a:txBody>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Valve partially open</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Ineffective condensing</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Investigate equipment</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2402292175"/>
                  </a:ext>
                </a:extLst>
              </a:tr>
              <a:tr h="545111">
                <a:tc vMerge="1">
                  <a:txBody>
                    <a:bodyPr/>
                    <a:lstStyle/>
                    <a:p>
                      <a:endParaRPr lang="en-US"/>
                    </a:p>
                  </a:txBody>
                  <a:tcPr/>
                </a:tc>
                <a:tc vMerge="1">
                  <a:txBody>
                    <a:bodyPr/>
                    <a:lstStyle/>
                    <a:p>
                      <a:endParaRPr lang="en-US"/>
                    </a:p>
                  </a:txBody>
                  <a:tcPr/>
                </a:tc>
                <a:tc>
                  <a:txBody>
                    <a:bodyPr/>
                    <a:lstStyle/>
                    <a:p>
                      <a:pPr algn="ctr" fontAlgn="t"/>
                      <a:r>
                        <a:rPr lang="en-US" sz="1600" b="0" i="0" u="none" strike="noStrike">
                          <a:solidFill>
                            <a:schemeClr val="tx2"/>
                          </a:solidFill>
                          <a:effectLst/>
                          <a:latin typeface="Times New Roman" panose="02020603050405020304" pitchFamily="18" charset="0"/>
                          <a:cs typeface="Times New Roman" panose="02020603050405020304" pitchFamily="18" charset="0"/>
                        </a:rPr>
                        <a:t> </a:t>
                      </a:r>
                    </a:p>
                  </a:txBody>
                  <a:tcPr marL="2922" marR="2922" marT="2922"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t"/>
                      <a:r>
                        <a:rPr lang="en-US" sz="1600" b="0" i="0" u="none" strike="noStrike">
                          <a:solidFill>
                            <a:schemeClr val="tx2"/>
                          </a:solidFill>
                          <a:effectLst/>
                          <a:latin typeface="Times New Roman" panose="02020603050405020304" pitchFamily="18" charset="0"/>
                          <a:cs typeface="Times New Roman" panose="02020603050405020304" pitchFamily="18" charset="0"/>
                        </a:rPr>
                        <a:t> </a:t>
                      </a:r>
                    </a:p>
                  </a:txBody>
                  <a:tcPr marL="2922" marR="2922" marT="2922"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Increase coolant flow</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2133243737"/>
                  </a:ext>
                </a:extLst>
              </a:tr>
              <a:tr h="545111">
                <a:tc rowSpan="3">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MORE</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3">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Flow</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Control system failure</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High pressure in column</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Install high alarms</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1796860236"/>
                  </a:ext>
                </a:extLst>
              </a:tr>
              <a:tr h="465059">
                <a:tc vMerge="1">
                  <a:txBody>
                    <a:bodyPr/>
                    <a:lstStyle/>
                    <a:p>
                      <a:endParaRPr lang="en-US"/>
                    </a:p>
                  </a:txBody>
                  <a:tcPr/>
                </a:tc>
                <a:tc vMerge="1">
                  <a:txBody>
                    <a:bodyPr/>
                    <a:lstStyle/>
                    <a:p>
                      <a:endParaRPr lang="en-US"/>
                    </a:p>
                  </a:txBody>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Valve fully open</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Condenser damage</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Repair equipment</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1630710893"/>
                  </a:ext>
                </a:extLst>
              </a:tr>
              <a:tr h="313976">
                <a:tc vMerge="1">
                  <a:txBody>
                    <a:bodyPr/>
                    <a:lstStyle/>
                    <a:p>
                      <a:endParaRPr lang="en-US"/>
                    </a:p>
                  </a:txBody>
                  <a:tcPr/>
                </a:tc>
                <a:tc vMerge="1">
                  <a:txBody>
                    <a:bodyPr/>
                    <a:lstStyle/>
                    <a:p>
                      <a:endParaRPr lang="en-US"/>
                    </a:p>
                  </a:txBody>
                  <a:tcPr/>
                </a:tc>
                <a:tc>
                  <a:txBody>
                    <a:bodyPr/>
                    <a:lstStyle/>
                    <a:p>
                      <a:pPr algn="ctr" fontAlgn="t"/>
                      <a:r>
                        <a:rPr lang="en-US" sz="1600" b="0" i="0" u="none" strike="noStrike">
                          <a:solidFill>
                            <a:schemeClr val="tx2"/>
                          </a:solidFill>
                          <a:effectLst/>
                          <a:latin typeface="Times New Roman" panose="02020603050405020304" pitchFamily="18" charset="0"/>
                          <a:cs typeface="Times New Roman" panose="02020603050405020304" pitchFamily="18" charset="0"/>
                        </a:rPr>
                        <a:t> </a:t>
                      </a:r>
                    </a:p>
                  </a:txBody>
                  <a:tcPr marL="2922" marR="2922" marT="2922"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t"/>
                      <a:r>
                        <a:rPr lang="en-US" sz="1600" b="0" i="0" u="none" strike="noStrike">
                          <a:solidFill>
                            <a:schemeClr val="tx2"/>
                          </a:solidFill>
                          <a:effectLst/>
                          <a:latin typeface="Times New Roman" panose="02020603050405020304" pitchFamily="18" charset="0"/>
                          <a:cs typeface="Times New Roman" panose="02020603050405020304" pitchFamily="18" charset="0"/>
                        </a:rPr>
                        <a:t> </a:t>
                      </a:r>
                    </a:p>
                  </a:txBody>
                  <a:tcPr marL="2922" marR="2922" marT="2922"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Adjust flow</a:t>
                      </a:r>
                    </a:p>
                  </a:txBody>
                  <a:tcPr marL="2922" marR="2922" marT="2922"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725132941"/>
                  </a:ext>
                </a:extLst>
              </a:tr>
            </a:tbl>
          </a:graphicData>
        </a:graphic>
      </p:graphicFrame>
    </p:spTree>
    <p:extLst>
      <p:ext uri="{BB962C8B-B14F-4D97-AF65-F5344CB8AC3E}">
        <p14:creationId xmlns:p14="http://schemas.microsoft.com/office/powerpoint/2010/main" val="823560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7AFD1-CEFD-4E5D-8475-A5AE31B6CD5A}"/>
              </a:ext>
            </a:extLst>
          </p:cNvPr>
          <p:cNvSpPr>
            <a:spLocks noGrp="1"/>
          </p:cNvSpPr>
          <p:nvPr>
            <p:ph type="title"/>
          </p:nvPr>
        </p:nvSpPr>
        <p:spPr>
          <a:xfrm>
            <a:off x="807963" y="179615"/>
            <a:ext cx="8596668" cy="1320800"/>
          </a:xfrm>
        </p:spPr>
        <p:txBody>
          <a:bodyPr/>
          <a:lstStyle/>
          <a:p>
            <a:r>
              <a:rPr lang="en-US"/>
              <a:t>HAZOP ANALYIS (cont.)</a:t>
            </a:r>
          </a:p>
        </p:txBody>
      </p:sp>
      <p:sp>
        <p:nvSpPr>
          <p:cNvPr id="4" name="Slide Number Placeholder 3">
            <a:extLst>
              <a:ext uri="{FF2B5EF4-FFF2-40B4-BE49-F238E27FC236}">
                <a16:creationId xmlns:a16="http://schemas.microsoft.com/office/drawing/2014/main" id="{BC404531-E827-4C85-84E9-00F3C633FDCF}"/>
              </a:ext>
            </a:extLst>
          </p:cNvPr>
          <p:cNvSpPr>
            <a:spLocks noGrp="1"/>
          </p:cNvSpPr>
          <p:nvPr>
            <p:ph type="sldNum" sz="quarter" idx="12"/>
          </p:nvPr>
        </p:nvSpPr>
        <p:spPr/>
        <p:txBody>
          <a:bodyPr/>
          <a:lstStyle/>
          <a:p>
            <a:fld id="{34B7E4EF-A1BD-40F4-AB7B-04F084DD991D}" type="slidenum">
              <a:rPr lang="en-US" smtClean="0"/>
              <a:pPr/>
              <a:t>13</a:t>
            </a:fld>
            <a:endParaRPr lang="en-US"/>
          </a:p>
        </p:txBody>
      </p:sp>
      <p:graphicFrame>
        <p:nvGraphicFramePr>
          <p:cNvPr id="3" name="Table 2">
            <a:extLst>
              <a:ext uri="{FF2B5EF4-FFF2-40B4-BE49-F238E27FC236}">
                <a16:creationId xmlns:a16="http://schemas.microsoft.com/office/drawing/2014/main" id="{491EEE3F-60F9-4C4E-A801-592EACA8A746}"/>
              </a:ext>
            </a:extLst>
          </p:cNvPr>
          <p:cNvGraphicFramePr>
            <a:graphicFrameLocks noGrp="1"/>
          </p:cNvGraphicFramePr>
          <p:nvPr>
            <p:extLst>
              <p:ext uri="{D42A27DB-BD31-4B8C-83A1-F6EECF244321}">
                <p14:modId xmlns:p14="http://schemas.microsoft.com/office/powerpoint/2010/main" val="2236067764"/>
              </p:ext>
            </p:extLst>
          </p:nvPr>
        </p:nvGraphicFramePr>
        <p:xfrm>
          <a:off x="514693" y="795776"/>
          <a:ext cx="8415764" cy="5900837"/>
        </p:xfrm>
        <a:graphic>
          <a:graphicData uri="http://schemas.openxmlformats.org/drawingml/2006/table">
            <a:tbl>
              <a:tblPr/>
              <a:tblGrid>
                <a:gridCol w="1314107">
                  <a:extLst>
                    <a:ext uri="{9D8B030D-6E8A-4147-A177-3AD203B41FA5}">
                      <a16:colId xmlns:a16="http://schemas.microsoft.com/office/drawing/2014/main" val="582358323"/>
                    </a:ext>
                  </a:extLst>
                </a:gridCol>
                <a:gridCol w="641069">
                  <a:extLst>
                    <a:ext uri="{9D8B030D-6E8A-4147-A177-3AD203B41FA5}">
                      <a16:colId xmlns:a16="http://schemas.microsoft.com/office/drawing/2014/main" val="2434945870"/>
                    </a:ext>
                  </a:extLst>
                </a:gridCol>
                <a:gridCol w="788023">
                  <a:extLst>
                    <a:ext uri="{9D8B030D-6E8A-4147-A177-3AD203B41FA5}">
                      <a16:colId xmlns:a16="http://schemas.microsoft.com/office/drawing/2014/main" val="2325440718"/>
                    </a:ext>
                  </a:extLst>
                </a:gridCol>
                <a:gridCol w="550848">
                  <a:extLst>
                    <a:ext uri="{9D8B030D-6E8A-4147-A177-3AD203B41FA5}">
                      <a16:colId xmlns:a16="http://schemas.microsoft.com/office/drawing/2014/main" val="3839029553"/>
                    </a:ext>
                  </a:extLst>
                </a:gridCol>
                <a:gridCol w="1491495">
                  <a:extLst>
                    <a:ext uri="{9D8B030D-6E8A-4147-A177-3AD203B41FA5}">
                      <a16:colId xmlns:a16="http://schemas.microsoft.com/office/drawing/2014/main" val="2883411211"/>
                    </a:ext>
                  </a:extLst>
                </a:gridCol>
                <a:gridCol w="463681">
                  <a:extLst>
                    <a:ext uri="{9D8B030D-6E8A-4147-A177-3AD203B41FA5}">
                      <a16:colId xmlns:a16="http://schemas.microsoft.com/office/drawing/2014/main" val="2948779637"/>
                    </a:ext>
                  </a:extLst>
                </a:gridCol>
                <a:gridCol w="1370594">
                  <a:extLst>
                    <a:ext uri="{9D8B030D-6E8A-4147-A177-3AD203B41FA5}">
                      <a16:colId xmlns:a16="http://schemas.microsoft.com/office/drawing/2014/main" val="2946717394"/>
                    </a:ext>
                  </a:extLst>
                </a:gridCol>
                <a:gridCol w="457073">
                  <a:extLst>
                    <a:ext uri="{9D8B030D-6E8A-4147-A177-3AD203B41FA5}">
                      <a16:colId xmlns:a16="http://schemas.microsoft.com/office/drawing/2014/main" val="2602196474"/>
                    </a:ext>
                  </a:extLst>
                </a:gridCol>
                <a:gridCol w="1338874">
                  <a:extLst>
                    <a:ext uri="{9D8B030D-6E8A-4147-A177-3AD203B41FA5}">
                      <a16:colId xmlns:a16="http://schemas.microsoft.com/office/drawing/2014/main" val="4008856918"/>
                    </a:ext>
                  </a:extLst>
                </a:gridCol>
              </a:tblGrid>
              <a:tr h="236171">
                <a:tc gridSpan="9">
                  <a:txBody>
                    <a:bodyPr/>
                    <a:lstStyle/>
                    <a:p>
                      <a:pPr algn="l" fontAlgn="ctr"/>
                      <a:r>
                        <a:rPr lang="en-US" sz="1600" b="0" i="1" u="none" strike="noStrike">
                          <a:solidFill>
                            <a:schemeClr val="tx2"/>
                          </a:solidFill>
                          <a:effectLst/>
                          <a:latin typeface="Times New Roman" panose="02020603050405020304" pitchFamily="18" charset="0"/>
                          <a:cs typeface="Times New Roman" panose="02020603050405020304" pitchFamily="18" charset="0"/>
                        </a:rPr>
                        <a:t>Vessel: Reflux drum (D-202)</a:t>
                      </a:r>
                    </a:p>
                  </a:txBody>
                  <a:tcPr marL="3011" marR="3011" marT="30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50531851"/>
                  </a:ext>
                </a:extLst>
              </a:tr>
              <a:tr h="236171">
                <a:tc gridSpan="9">
                  <a:txBody>
                    <a:bodyPr/>
                    <a:lstStyle/>
                    <a:p>
                      <a:pPr algn="l" fontAlgn="ctr"/>
                      <a:r>
                        <a:rPr lang="en-US" sz="1600" b="0" i="1" u="none" strike="noStrike">
                          <a:solidFill>
                            <a:schemeClr val="tx2"/>
                          </a:solidFill>
                          <a:effectLst/>
                          <a:latin typeface="Times New Roman" panose="02020603050405020304" pitchFamily="18" charset="0"/>
                          <a:cs typeface="Times New Roman" panose="02020603050405020304" pitchFamily="18" charset="0"/>
                        </a:rPr>
                        <a:t>Intention:  Separates the reflux and distillate streams</a:t>
                      </a:r>
                    </a:p>
                  </a:txBody>
                  <a:tcPr marL="3011" marR="3011" marT="30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54533935"/>
                  </a:ext>
                </a:extLst>
              </a:tr>
              <a:tr h="236171">
                <a:tc gridSpan="2">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Guide Word</a:t>
                      </a:r>
                    </a:p>
                  </a:txBody>
                  <a:tcPr marL="3011" marR="3011" marT="3011" marB="0" anchor="ctr">
                    <a:lnL w="12700" cap="flat" cmpd="sng" algn="ctr">
                      <a:solidFill>
                        <a:srgbClr val="000000"/>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hMerge="1">
                  <a:txBody>
                    <a:bodyPr/>
                    <a:lstStyle/>
                    <a:p>
                      <a:pPr algn="ctr" fontAlgn="ctr"/>
                      <a:endParaRPr lang="en-US" sz="1600" b="0" i="0" u="none" strike="noStrike">
                        <a:solidFill>
                          <a:schemeClr val="tx2"/>
                        </a:solidFill>
                        <a:effectLst/>
                        <a:latin typeface="Times New Roman" panose="02020603050405020304" pitchFamily="18" charset="0"/>
                        <a:cs typeface="Times New Roman" panose="02020603050405020304" pitchFamily="18" charset="0"/>
                      </a:endParaRP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gridSpan="2">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Deviation</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hMerge="1">
                  <a:txBody>
                    <a:bodyPr/>
                    <a:lstStyle/>
                    <a:p>
                      <a:pPr algn="ctr" fontAlgn="ctr"/>
                      <a:endParaRPr lang="en-US" sz="1600" b="0" i="0" u="none" strike="noStrike">
                        <a:solidFill>
                          <a:schemeClr val="tx2"/>
                        </a:solidFill>
                        <a:effectLst/>
                        <a:latin typeface="Times New Roman" panose="02020603050405020304" pitchFamily="18" charset="0"/>
                        <a:cs typeface="Times New Roman" panose="02020603050405020304" pitchFamily="18" charset="0"/>
                      </a:endParaRP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gridSpan="2">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Cause</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hMerge="1">
                  <a:txBody>
                    <a:bodyPr/>
                    <a:lstStyle/>
                    <a:p>
                      <a:pPr algn="ctr" fontAlgn="ctr"/>
                      <a:endParaRPr lang="en-US" sz="1600" b="0" i="0" u="none" strike="noStrike">
                        <a:solidFill>
                          <a:schemeClr val="tx2"/>
                        </a:solidFill>
                        <a:effectLst/>
                        <a:latin typeface="Times New Roman" panose="02020603050405020304" pitchFamily="18" charset="0"/>
                        <a:cs typeface="Times New Roman" panose="02020603050405020304" pitchFamily="18" charset="0"/>
                      </a:endParaRP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gridSpan="2">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Consequences</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hMerge="1">
                  <a:txBody>
                    <a:bodyPr/>
                    <a:lstStyle/>
                    <a:p>
                      <a:pPr algn="ctr" fontAlgn="ctr"/>
                      <a:endParaRPr lang="en-US" sz="1600" b="0" i="0" u="none" strike="noStrike">
                        <a:solidFill>
                          <a:schemeClr val="tx2"/>
                        </a:solidFill>
                        <a:effectLst/>
                        <a:latin typeface="Times New Roman" panose="02020603050405020304" pitchFamily="18" charset="0"/>
                        <a:cs typeface="Times New Roman" panose="02020603050405020304" pitchFamily="18" charset="0"/>
                      </a:endParaRP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Action</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extLst>
                  <a:ext uri="{0D108BD9-81ED-4DB2-BD59-A6C34878D82A}">
                    <a16:rowId xmlns:a16="http://schemas.microsoft.com/office/drawing/2014/main" val="4154121045"/>
                  </a:ext>
                </a:extLst>
              </a:tr>
              <a:tr h="236171">
                <a:tc gridSpan="9">
                  <a:txBody>
                    <a:bodyPr/>
                    <a:lstStyle/>
                    <a:p>
                      <a:pPr algn="l" fontAlgn="ctr"/>
                      <a:r>
                        <a:rPr lang="en-US" sz="1600" b="0" i="1" u="none" strike="noStrike">
                          <a:solidFill>
                            <a:schemeClr val="tx2"/>
                          </a:solidFill>
                          <a:effectLst/>
                          <a:latin typeface="Times New Roman" panose="02020603050405020304" pitchFamily="18" charset="0"/>
                          <a:cs typeface="Times New Roman" panose="02020603050405020304" pitchFamily="18" charset="0"/>
                        </a:rPr>
                        <a:t>Line: Distillate stream </a:t>
                      </a:r>
                    </a:p>
                  </a:txBody>
                  <a:tcPr marL="3011" marR="3011" marT="301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01858092"/>
                  </a:ext>
                </a:extLst>
              </a:tr>
              <a:tr h="343491">
                <a:tc rowSpan="2">
                  <a:txBody>
                    <a:bodyPr/>
                    <a:lstStyle/>
                    <a:p>
                      <a:pPr algn="ctr" fontAlgn="ctr"/>
                      <a:r>
                        <a:rPr lang="en-US" sz="1500" b="0" i="0" u="none" strike="noStrike">
                          <a:solidFill>
                            <a:schemeClr val="tx2"/>
                          </a:solidFill>
                          <a:effectLst/>
                          <a:latin typeface="Times New Roman" panose="02020603050405020304" pitchFamily="18" charset="0"/>
                          <a:cs typeface="Times New Roman" panose="02020603050405020304" pitchFamily="18" charset="0"/>
                        </a:rPr>
                        <a:t>NO</a:t>
                      </a:r>
                    </a:p>
                  </a:txBody>
                  <a:tcPr marL="3011" marR="3011" marT="3011" marB="0" anchor="ctr">
                    <a:lnL w="12700" cap="flat" cmpd="sng" algn="ctr">
                      <a:solidFill>
                        <a:srgbClr val="000000"/>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2" gridSpan="2">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Flow</a:t>
                      </a:r>
                      <a:endParaRPr lang="en-US" sz="1500" b="0" i="0" u="none" strike="noStrike">
                        <a:solidFill>
                          <a:schemeClr val="tx2"/>
                        </a:solidFill>
                        <a:effectLst/>
                        <a:latin typeface="Times New Roman" panose="02020603050405020304" pitchFamily="18" charset="0"/>
                        <a:cs typeface="Times New Roman" panose="02020603050405020304" pitchFamily="18" charset="0"/>
                      </a:endParaRP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2"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Flow</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gridSpan="2">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Control valve fail</a:t>
                      </a:r>
                      <a:endParaRPr lang="en-US" sz="1500" b="0" i="0" u="none" strike="noStrike">
                        <a:solidFill>
                          <a:schemeClr val="tx2"/>
                        </a:solidFill>
                        <a:effectLst/>
                        <a:latin typeface="Times New Roman" panose="02020603050405020304" pitchFamily="18" charset="0"/>
                        <a:cs typeface="Times New Roman" panose="02020603050405020304" pitchFamily="18" charset="0"/>
                      </a:endParaRP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Control valve fail</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rowSpan="2" gridSpan="2">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Loss of pressure control in column</a:t>
                      </a:r>
                      <a:endParaRPr lang="en-US" sz="1500" b="0" i="0" u="none" strike="noStrike">
                        <a:solidFill>
                          <a:schemeClr val="tx2"/>
                        </a:solidFill>
                        <a:effectLst/>
                        <a:latin typeface="Times New Roman" panose="02020603050405020304" pitchFamily="18" charset="0"/>
                        <a:cs typeface="Times New Roman" panose="02020603050405020304" pitchFamily="18" charset="0"/>
                      </a:endParaRP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2"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Loss of pressure control in column</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gridSpan="2">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Install Alarms</a:t>
                      </a:r>
                      <a:endParaRPr lang="en-US" sz="1500" b="0" i="0" u="none" strike="noStrike">
                        <a:solidFill>
                          <a:schemeClr val="tx2"/>
                        </a:solidFill>
                        <a:effectLst/>
                        <a:latin typeface="Times New Roman" panose="02020603050405020304" pitchFamily="18" charset="0"/>
                        <a:cs typeface="Times New Roman" panose="02020603050405020304" pitchFamily="18" charset="0"/>
                      </a:endParaRP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Install Alarms</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2996095315"/>
                  </a:ext>
                </a:extLst>
              </a:tr>
              <a:tr h="440301">
                <a:tc vMerge="1">
                  <a:txBody>
                    <a:bodyPr/>
                    <a:lstStyle/>
                    <a:p>
                      <a:endParaRPr lang="en-US"/>
                    </a:p>
                  </a:txBody>
                  <a:tcPr/>
                </a:tc>
                <a:tc gridSpan="2" vMerge="1">
                  <a:txBody>
                    <a:bodyPr/>
                    <a:lstStyle/>
                    <a:p>
                      <a:endParaRPr lang="en-US"/>
                    </a:p>
                  </a:txBody>
                  <a:tcPr/>
                </a:tc>
                <a:tc hMerge="1" vMerge="1">
                  <a:txBody>
                    <a:bodyPr/>
                    <a:lstStyle/>
                    <a:p>
                      <a:endParaRPr lang="en-US"/>
                    </a:p>
                  </a:txBody>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Pipe burst </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Pipe burst </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gridSpan="2" vMerge="1">
                  <a:txBody>
                    <a:bodyPr/>
                    <a:lstStyle/>
                    <a:p>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hMerge="1" vMerge="1">
                  <a:txBody>
                    <a:bodyPr/>
                    <a:lstStyle/>
                    <a:p>
                      <a:endParaRPr lang="en-US"/>
                    </a:p>
                  </a:txBody>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Automatic shut down</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Automatic shut down</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517216475"/>
                  </a:ext>
                </a:extLst>
              </a:tr>
              <a:tr h="440301">
                <a:tc rowSpan="3">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LESS</a:t>
                      </a:r>
                    </a:p>
                  </a:txBody>
                  <a:tcPr marL="3011" marR="3011" marT="3011" marB="0" anchor="ctr">
                    <a:lnL w="12700" cap="flat" cmpd="sng" algn="ctr">
                      <a:solidFill>
                        <a:srgbClr val="000000"/>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3" gridSpan="2">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Flow</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3"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Flow</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gridSpan="2">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Valve partially open</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Valve partially open</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gridSpan="2">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Low drum level</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Low drum level</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gridSpan="2">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Install low level alarms</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Install low level alarms</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2394428991"/>
                  </a:ext>
                </a:extLst>
              </a:tr>
              <a:tr h="440301">
                <a:tc vMerge="1">
                  <a:txBody>
                    <a:bodyPr/>
                    <a:lstStyle/>
                    <a:p>
                      <a:endParaRPr lang="en-US"/>
                    </a:p>
                  </a:txBody>
                  <a:tcPr/>
                </a:tc>
                <a:tc gridSpan="2" vMerge="1">
                  <a:txBody>
                    <a:bodyPr/>
                    <a:lstStyle/>
                    <a:p>
                      <a:endParaRPr lang="en-US"/>
                    </a:p>
                  </a:txBody>
                  <a:tcPr/>
                </a:tc>
                <a:tc hMerge="1" vMerge="1">
                  <a:txBody>
                    <a:bodyPr/>
                    <a:lstStyle/>
                    <a:p>
                      <a:endParaRPr lang="en-US"/>
                    </a:p>
                  </a:txBody>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Pipe blockage and/or leakage</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Pipe blockage and/or leakage</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Reflux drum dry out</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Reflux drum dry out</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Schedule maintenance</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Schedule maintenance</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842344127"/>
                  </a:ext>
                </a:extLst>
              </a:tr>
              <a:tr h="343491">
                <a:tc vMerge="1">
                  <a:txBody>
                    <a:bodyPr/>
                    <a:lstStyle/>
                    <a:p>
                      <a:endParaRPr lang="en-US"/>
                    </a:p>
                  </a:txBody>
                  <a:tcPr/>
                </a:tc>
                <a:tc gridSpan="2" vMerge="1">
                  <a:txBody>
                    <a:bodyPr/>
                    <a:lstStyle/>
                    <a:p>
                      <a:endParaRPr lang="en-US"/>
                    </a:p>
                  </a:txBody>
                  <a:tcPr/>
                </a:tc>
                <a:tc hMerge="1" vMerge="1">
                  <a:txBody>
                    <a:bodyPr/>
                    <a:lstStyle/>
                    <a:p>
                      <a:endParaRPr lang="en-US"/>
                    </a:p>
                  </a:txBody>
                  <a:tcPr/>
                </a:tc>
                <a:tc gridSpan="2">
                  <a:txBody>
                    <a:bodyPr/>
                    <a:lstStyle/>
                    <a:p>
                      <a:pPr algn="ctr"/>
                      <a:r>
                        <a:rPr lang="en-US" sz="1500" b="0" i="0" u="none" strike="noStrike">
                          <a:solidFill>
                            <a:srgbClr val="000000"/>
                          </a:solidFill>
                          <a:effectLst/>
                          <a:latin typeface="Times New Roman" panose="02020603050405020304" pitchFamily="18" charset="0"/>
                          <a:cs typeface="Times New Roman" panose="02020603050405020304" pitchFamily="18" charset="0"/>
                        </a:rPr>
                        <a:t> </a:t>
                      </a:r>
                      <a:endParaRPr lang="en-US"/>
                    </a:p>
                  </a:txBody>
                  <a:tcPr marL="3011" marR="3011" marT="3011"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hMerge="1">
                  <a:txBody>
                    <a:bodyPr/>
                    <a:lstStyle/>
                    <a:p>
                      <a:pPr algn="ctr" fontAlgn="t"/>
                      <a:r>
                        <a:rPr lang="en-US" sz="1500" b="0" i="0" u="none" strike="noStrike">
                          <a:solidFill>
                            <a:srgbClr val="000000"/>
                          </a:solidFill>
                          <a:effectLst/>
                          <a:latin typeface="Times New Roman" panose="02020603050405020304" pitchFamily="18" charset="0"/>
                          <a:cs typeface="Times New Roman" panose="02020603050405020304" pitchFamily="18" charset="0"/>
                        </a:rPr>
                        <a:t> </a:t>
                      </a:r>
                    </a:p>
                  </a:txBody>
                  <a:tcPr marL="3011" marR="3011" marT="3011"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Low quality product</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Low quality product</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Increase flow</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Increase flow</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1813724411"/>
                  </a:ext>
                </a:extLst>
              </a:tr>
              <a:tr h="440301">
                <a:tc rowSpan="3">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MORE</a:t>
                      </a:r>
                    </a:p>
                  </a:txBody>
                  <a:tcPr marL="3011" marR="3011" marT="3011" marB="0" anchor="ctr">
                    <a:lnL w="12700" cap="flat" cmpd="sng" algn="ctr">
                      <a:solidFill>
                        <a:srgbClr val="000000"/>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3" gridSpan="2">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Flow</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3"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Flow</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gridSpan="2">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Valve close fails </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Valve close fails </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gridSpan="2">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High drum level</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High drum level</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gridSpan="2">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Install high level alarms</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Install high level alarms</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1032746928"/>
                  </a:ext>
                </a:extLst>
              </a:tr>
              <a:tr h="440301">
                <a:tc vMerge="1">
                  <a:txBody>
                    <a:bodyPr/>
                    <a:lstStyle/>
                    <a:p>
                      <a:endParaRPr lang="en-US"/>
                    </a:p>
                  </a:txBody>
                  <a:tcPr/>
                </a:tc>
                <a:tc gridSpan="2" vMerge="1">
                  <a:txBody>
                    <a:bodyPr/>
                    <a:lstStyle/>
                    <a:p>
                      <a:endParaRPr lang="en-US"/>
                    </a:p>
                  </a:txBody>
                  <a:tcPr/>
                </a:tc>
                <a:tc hMerge="1" vMerge="1">
                  <a:txBody>
                    <a:bodyPr/>
                    <a:lstStyle/>
                    <a:p>
                      <a:endParaRPr lang="en-US"/>
                    </a:p>
                  </a:txBody>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Control system failure</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Control system failure</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Reflux drum overfill</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Reflux drum overfill</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Schedule maintenance</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Schedule maintenance</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88257210"/>
                  </a:ext>
                </a:extLst>
              </a:tr>
              <a:tr h="343491">
                <a:tc vMerge="1">
                  <a:txBody>
                    <a:bodyPr/>
                    <a:lstStyle/>
                    <a:p>
                      <a:endParaRPr lang="en-US"/>
                    </a:p>
                  </a:txBody>
                  <a:tcPr/>
                </a:tc>
                <a:tc gridSpan="2" vMerge="1">
                  <a:txBody>
                    <a:bodyPr/>
                    <a:lstStyle/>
                    <a:p>
                      <a:endParaRPr lang="en-US"/>
                    </a:p>
                  </a:txBody>
                  <a:tcPr/>
                </a:tc>
                <a:tc hMerge="1" vMerge="1">
                  <a:txBody>
                    <a:bodyPr/>
                    <a:lstStyle/>
                    <a:p>
                      <a:endParaRPr lang="en-US"/>
                    </a:p>
                  </a:txBody>
                  <a:tcPr/>
                </a:tc>
                <a:tc gridSpan="2">
                  <a:txBody>
                    <a:bodyPr/>
                    <a:lstStyle/>
                    <a:p>
                      <a:pPr algn="ctr"/>
                      <a:r>
                        <a:rPr lang="en-US" sz="1500" b="0" i="0" u="none" strike="noStrike">
                          <a:solidFill>
                            <a:srgbClr val="000000"/>
                          </a:solidFill>
                          <a:effectLst/>
                          <a:latin typeface="Times New Roman" panose="02020603050405020304" pitchFamily="18" charset="0"/>
                          <a:cs typeface="Times New Roman" panose="02020603050405020304" pitchFamily="18" charset="0"/>
                        </a:rPr>
                        <a:t> </a:t>
                      </a:r>
                      <a:endParaRPr lang="en-US"/>
                    </a:p>
                  </a:txBody>
                  <a:tcPr marL="3011" marR="3011" marT="3011"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hMerge="1">
                  <a:txBody>
                    <a:bodyPr/>
                    <a:lstStyle/>
                    <a:p>
                      <a:pPr algn="ctr" fontAlgn="t"/>
                      <a:r>
                        <a:rPr lang="en-US" sz="1500" b="0" i="0" u="none" strike="noStrike">
                          <a:solidFill>
                            <a:srgbClr val="000000"/>
                          </a:solidFill>
                          <a:effectLst/>
                          <a:latin typeface="Times New Roman" panose="02020603050405020304" pitchFamily="18" charset="0"/>
                          <a:cs typeface="Times New Roman" panose="02020603050405020304" pitchFamily="18" charset="0"/>
                        </a:rPr>
                        <a:t> </a:t>
                      </a:r>
                    </a:p>
                  </a:txBody>
                  <a:tcPr marL="3011" marR="3011" marT="3011"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Off specs. product</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Off specs. product</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Decrease flow</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Decrease flow</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2617957979"/>
                  </a:ext>
                </a:extLst>
              </a:tr>
              <a:tr h="440301">
                <a:tc rowSpan="4">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REVERSE</a:t>
                      </a:r>
                    </a:p>
                  </a:txBody>
                  <a:tcPr marL="3011" marR="3011" marT="3011" marB="0" anchor="ctr">
                    <a:lnL w="12700" cap="flat" cmpd="sng" algn="ctr">
                      <a:solidFill>
                        <a:srgbClr val="000000"/>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rowSpan="4" gridSpan="2">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Flow</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rowSpan="4"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Flow</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gridSpan="2">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Pipe blockage</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Pipe blockage</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gridSpan="2">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Backflow of fluid</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Backflow of fluid</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gridSpan="2">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Install flow alarms</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Install flow alarms</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3840194823"/>
                  </a:ext>
                </a:extLst>
              </a:tr>
              <a:tr h="514182">
                <a:tc vMerge="1">
                  <a:txBody>
                    <a:bodyPr/>
                    <a:lstStyle/>
                    <a:p>
                      <a:endParaRPr lang="en-US"/>
                    </a:p>
                  </a:txBody>
                  <a:tcPr/>
                </a:tc>
                <a:tc gridSpan="2" vMerge="1">
                  <a:txBody>
                    <a:bodyPr/>
                    <a:lstStyle/>
                    <a:p>
                      <a:endParaRPr lang="en-US"/>
                    </a:p>
                  </a:txBody>
                  <a:tcPr/>
                </a:tc>
                <a:tc hMerge="1" vMerge="1">
                  <a:txBody>
                    <a:bodyPr/>
                    <a:lstStyle/>
                    <a:p>
                      <a:endParaRPr lang="en-US"/>
                    </a:p>
                  </a:txBody>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Reflux/Distillate control valve failure</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Reflux/Distillate control valve failure</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Reflux drum damage</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Reflux drum damage</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Check valves</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Check valves</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2450625632"/>
                  </a:ext>
                </a:extLst>
              </a:tr>
              <a:tr h="440301">
                <a:tc vMerge="1">
                  <a:txBody>
                    <a:bodyPr/>
                    <a:lstStyle/>
                    <a:p>
                      <a:endParaRPr lang="en-US"/>
                    </a:p>
                  </a:txBody>
                  <a:tcPr/>
                </a:tc>
                <a:tc gridSpan="2" vMerge="1">
                  <a:txBody>
                    <a:bodyPr/>
                    <a:lstStyle/>
                    <a:p>
                      <a:endParaRPr lang="en-US"/>
                    </a:p>
                  </a:txBody>
                  <a:tcPr/>
                </a:tc>
                <a:tc hMerge="1" vMerge="1">
                  <a:txBody>
                    <a:bodyPr/>
                    <a:lstStyle/>
                    <a:p>
                      <a:endParaRPr lang="en-US"/>
                    </a:p>
                  </a:txBody>
                  <a:tcPr/>
                </a:tc>
                <a:tc gridSpan="2">
                  <a:txBody>
                    <a:bodyPr/>
                    <a:lstStyle/>
                    <a:p>
                      <a:pPr algn="ctr"/>
                      <a:r>
                        <a:rPr lang="en-US" sz="1500" b="0" i="0" u="none" strike="noStrike">
                          <a:solidFill>
                            <a:srgbClr val="000000"/>
                          </a:solidFill>
                          <a:effectLst/>
                          <a:latin typeface="Times New Roman" panose="02020603050405020304" pitchFamily="18" charset="0"/>
                          <a:cs typeface="Times New Roman" panose="02020603050405020304" pitchFamily="18" charset="0"/>
                        </a:rPr>
                        <a:t> </a:t>
                      </a:r>
                      <a:endParaRPr lang="en-US"/>
                    </a:p>
                  </a:txBody>
                  <a:tcPr marL="3011" marR="3011" marT="3011"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hMerge="1">
                  <a:txBody>
                    <a:bodyPr/>
                    <a:lstStyle/>
                    <a:p>
                      <a:pPr algn="ctr" fontAlgn="t"/>
                      <a:r>
                        <a:rPr lang="en-US" sz="1500" b="0" i="0" u="none" strike="noStrike">
                          <a:solidFill>
                            <a:srgbClr val="000000"/>
                          </a:solidFill>
                          <a:effectLst/>
                          <a:latin typeface="Times New Roman" panose="02020603050405020304" pitchFamily="18" charset="0"/>
                          <a:cs typeface="Times New Roman" panose="02020603050405020304" pitchFamily="18" charset="0"/>
                        </a:rPr>
                        <a:t> </a:t>
                      </a:r>
                    </a:p>
                  </a:txBody>
                  <a:tcPr marL="3011" marR="3011" marT="3011"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Poor composition</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Poor composition</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gridSpan="2">
                  <a:txBody>
                    <a:bodyPr/>
                    <a:lstStyle/>
                    <a:p>
                      <a:pPr algn="ctr"/>
                      <a:r>
                        <a:rPr lang="en-US" sz="1500" b="0" i="0" u="none" strike="noStrike">
                          <a:solidFill>
                            <a:srgbClr val="082A75"/>
                          </a:solidFill>
                          <a:effectLst/>
                          <a:latin typeface="Times New Roman" panose="02020603050405020304" pitchFamily="18" charset="0"/>
                          <a:cs typeface="Times New Roman" panose="02020603050405020304" pitchFamily="18" charset="0"/>
                        </a:rPr>
                        <a:t>Schedule maintenance</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hMerge="1">
                  <a:txBody>
                    <a:bodyPr/>
                    <a:lstStyle/>
                    <a:p>
                      <a:pPr algn="ctr" fontAlgn="ctr"/>
                      <a:r>
                        <a:rPr lang="en-US" sz="1500" b="0" i="0" u="none" strike="noStrike">
                          <a:solidFill>
                            <a:srgbClr val="082A75"/>
                          </a:solidFill>
                          <a:effectLst/>
                          <a:latin typeface="Times New Roman" panose="02020603050405020304" pitchFamily="18" charset="0"/>
                          <a:cs typeface="Times New Roman" panose="02020603050405020304" pitchFamily="18" charset="0"/>
                        </a:rPr>
                        <a:t>Schedule maintenance</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2437808836"/>
                  </a:ext>
                </a:extLst>
              </a:tr>
              <a:tr h="236171">
                <a:tc vMerge="1">
                  <a:txBody>
                    <a:bodyPr/>
                    <a:lstStyle/>
                    <a:p>
                      <a:endParaRPr lang="en-US"/>
                    </a:p>
                  </a:txBody>
                  <a:tcPr/>
                </a:tc>
                <a:tc gridSpan="2" vMerge="1">
                  <a:txBody>
                    <a:bodyPr/>
                    <a:lstStyle/>
                    <a:p>
                      <a:endParaRPr lang="en-US"/>
                    </a:p>
                  </a:txBody>
                  <a:tcPr/>
                </a:tc>
                <a:tc hMerge="1" vMerge="1">
                  <a:txBody>
                    <a:bodyPr/>
                    <a:lstStyle/>
                    <a:p>
                      <a:endParaRPr lang="en-US"/>
                    </a:p>
                  </a:txBody>
                  <a:tcPr/>
                </a:tc>
                <a:tc gridSpan="2">
                  <a:txBody>
                    <a:bodyPr/>
                    <a:lstStyle/>
                    <a:p>
                      <a:pPr algn="ctr"/>
                      <a:r>
                        <a:rPr lang="en-US" sz="1600" b="0" i="0" u="none" strike="noStrike">
                          <a:solidFill>
                            <a:srgbClr val="000000"/>
                          </a:solidFill>
                          <a:effectLst/>
                          <a:latin typeface="Times New Roman" panose="02020603050405020304" pitchFamily="18" charset="0"/>
                          <a:cs typeface="Times New Roman" panose="02020603050405020304" pitchFamily="18" charset="0"/>
                        </a:rPr>
                        <a:t> </a:t>
                      </a:r>
                      <a:endParaRPr lang="en-US"/>
                    </a:p>
                  </a:txBody>
                  <a:tcPr marL="3011" marR="3011" marT="3011"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2CC"/>
                    </a:solidFill>
                  </a:tcPr>
                </a:tc>
                <a:tc hMerge="1">
                  <a:txBody>
                    <a:bodyPr/>
                    <a:lstStyle/>
                    <a:p>
                      <a:pPr algn="ctr" fontAlgn="t"/>
                      <a:r>
                        <a:rPr lang="en-US" sz="1600" b="0" i="0" u="none" strike="noStrike">
                          <a:solidFill>
                            <a:srgbClr val="000000"/>
                          </a:solidFill>
                          <a:effectLst/>
                          <a:latin typeface="Times New Roman" panose="02020603050405020304" pitchFamily="18" charset="0"/>
                          <a:cs typeface="Times New Roman" panose="02020603050405020304" pitchFamily="18" charset="0"/>
                        </a:rPr>
                        <a:t> </a:t>
                      </a:r>
                    </a:p>
                  </a:txBody>
                  <a:tcPr marL="3011" marR="3011" marT="3011"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2CC"/>
                    </a:solidFill>
                  </a:tcPr>
                </a:tc>
                <a:tc gridSpan="2">
                  <a:txBody>
                    <a:bodyPr/>
                    <a:lstStyle/>
                    <a:p>
                      <a:pPr algn="ctr"/>
                      <a:r>
                        <a:rPr lang="en-US" sz="1600" b="0" i="0" u="none" strike="noStrike">
                          <a:solidFill>
                            <a:srgbClr val="000000"/>
                          </a:solidFill>
                          <a:effectLst/>
                          <a:latin typeface="Times New Roman" panose="02020603050405020304" pitchFamily="18" charset="0"/>
                          <a:cs typeface="Times New Roman" panose="02020603050405020304" pitchFamily="18" charset="0"/>
                        </a:rPr>
                        <a:t> </a:t>
                      </a:r>
                      <a:endParaRPr lang="en-US"/>
                    </a:p>
                  </a:txBody>
                  <a:tcPr marL="3011" marR="3011" marT="3011"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2CC"/>
                    </a:solidFill>
                  </a:tcPr>
                </a:tc>
                <a:tc hMerge="1">
                  <a:txBody>
                    <a:bodyPr/>
                    <a:lstStyle/>
                    <a:p>
                      <a:pPr algn="ctr" fontAlgn="t"/>
                      <a:r>
                        <a:rPr lang="en-US" sz="1600" b="0" i="0" u="none" strike="noStrike">
                          <a:solidFill>
                            <a:srgbClr val="000000"/>
                          </a:solidFill>
                          <a:effectLst/>
                          <a:latin typeface="Times New Roman" panose="02020603050405020304" pitchFamily="18" charset="0"/>
                          <a:cs typeface="Times New Roman" panose="02020603050405020304" pitchFamily="18" charset="0"/>
                        </a:rPr>
                        <a:t> </a:t>
                      </a:r>
                    </a:p>
                  </a:txBody>
                  <a:tcPr marL="3011" marR="3011" marT="3011"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2CC"/>
                    </a:solidFill>
                  </a:tcPr>
                </a:tc>
                <a:tc gridSpan="2">
                  <a:txBody>
                    <a:bodyPr/>
                    <a:lstStyle/>
                    <a:p>
                      <a:pPr algn="ctr"/>
                      <a:r>
                        <a:rPr lang="en-US" sz="1600" b="0" i="0" u="none" strike="noStrike">
                          <a:solidFill>
                            <a:srgbClr val="082A75"/>
                          </a:solidFill>
                          <a:effectLst/>
                          <a:latin typeface="Times New Roman" panose="02020603050405020304" pitchFamily="18" charset="0"/>
                          <a:cs typeface="Times New Roman" panose="02020603050405020304" pitchFamily="18" charset="0"/>
                        </a:rPr>
                        <a:t>Shut down</a:t>
                      </a:r>
                      <a:endParaRPr lang="en-US"/>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2CC"/>
                    </a:solidFill>
                  </a:tcPr>
                </a:tc>
                <a:tc hMerge="1">
                  <a:txBody>
                    <a:bodyPr/>
                    <a:lstStyle/>
                    <a:p>
                      <a:pPr algn="ctr" fontAlgn="ctr"/>
                      <a:r>
                        <a:rPr lang="en-US" sz="1600" b="0" i="0" u="none" strike="noStrike">
                          <a:solidFill>
                            <a:srgbClr val="082A75"/>
                          </a:solidFill>
                          <a:effectLst/>
                          <a:latin typeface="Times New Roman" panose="02020603050405020304" pitchFamily="18" charset="0"/>
                          <a:cs typeface="Times New Roman" panose="02020603050405020304" pitchFamily="18" charset="0"/>
                        </a:rPr>
                        <a:t>Shut down</a:t>
                      </a:r>
                    </a:p>
                  </a:txBody>
                  <a:tcPr marL="3011" marR="3011" marT="3011" marB="0" anchor="ctr">
                    <a:lnL w="12700" cap="flat" cmpd="sng" algn="ctr">
                      <a:solidFill>
                        <a:srgbClr val="024F75"/>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85845742"/>
                  </a:ext>
                </a:extLst>
              </a:tr>
            </a:tbl>
          </a:graphicData>
        </a:graphic>
      </p:graphicFrame>
    </p:spTree>
    <p:extLst>
      <p:ext uri="{BB962C8B-B14F-4D97-AF65-F5344CB8AC3E}">
        <p14:creationId xmlns:p14="http://schemas.microsoft.com/office/powerpoint/2010/main" val="3398426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7749C-954F-46C9-A0A2-F6E92E471E48}"/>
              </a:ext>
            </a:extLst>
          </p:cNvPr>
          <p:cNvSpPr>
            <a:spLocks noGrp="1"/>
          </p:cNvSpPr>
          <p:nvPr>
            <p:ph type="title"/>
          </p:nvPr>
        </p:nvSpPr>
        <p:spPr>
          <a:xfrm>
            <a:off x="728436" y="163286"/>
            <a:ext cx="8596668" cy="1320800"/>
          </a:xfrm>
        </p:spPr>
        <p:txBody>
          <a:bodyPr/>
          <a:lstStyle/>
          <a:p>
            <a:r>
              <a:rPr lang="en-US"/>
              <a:t>HAZOP ANALYIS (cont.)</a:t>
            </a:r>
          </a:p>
        </p:txBody>
      </p:sp>
      <p:sp>
        <p:nvSpPr>
          <p:cNvPr id="4" name="Slide Number Placeholder 3">
            <a:extLst>
              <a:ext uri="{FF2B5EF4-FFF2-40B4-BE49-F238E27FC236}">
                <a16:creationId xmlns:a16="http://schemas.microsoft.com/office/drawing/2014/main" id="{6F885B53-90CA-4B5D-8893-24B82271F1AA}"/>
              </a:ext>
            </a:extLst>
          </p:cNvPr>
          <p:cNvSpPr>
            <a:spLocks noGrp="1"/>
          </p:cNvSpPr>
          <p:nvPr>
            <p:ph type="sldNum" sz="quarter" idx="12"/>
          </p:nvPr>
        </p:nvSpPr>
        <p:spPr/>
        <p:txBody>
          <a:bodyPr/>
          <a:lstStyle/>
          <a:p>
            <a:fld id="{34B7E4EF-A1BD-40F4-AB7B-04F084DD991D}" type="slidenum">
              <a:rPr lang="en-US" smtClean="0"/>
              <a:pPr/>
              <a:t>14</a:t>
            </a:fld>
            <a:endParaRPr lang="en-US"/>
          </a:p>
        </p:txBody>
      </p:sp>
      <p:graphicFrame>
        <p:nvGraphicFramePr>
          <p:cNvPr id="3" name="Table 2">
            <a:extLst>
              <a:ext uri="{FF2B5EF4-FFF2-40B4-BE49-F238E27FC236}">
                <a16:creationId xmlns:a16="http://schemas.microsoft.com/office/drawing/2014/main" id="{A3219546-2B9C-4766-B735-FA239CF16683}"/>
              </a:ext>
            </a:extLst>
          </p:cNvPr>
          <p:cNvGraphicFramePr>
            <a:graphicFrameLocks noGrp="1"/>
          </p:cNvGraphicFramePr>
          <p:nvPr>
            <p:extLst>
              <p:ext uri="{D42A27DB-BD31-4B8C-83A1-F6EECF244321}">
                <p14:modId xmlns:p14="http://schemas.microsoft.com/office/powerpoint/2010/main" val="1500127503"/>
              </p:ext>
            </p:extLst>
          </p:nvPr>
        </p:nvGraphicFramePr>
        <p:xfrm>
          <a:off x="782987" y="852245"/>
          <a:ext cx="8065337" cy="5554242"/>
        </p:xfrm>
        <a:graphic>
          <a:graphicData uri="http://schemas.openxmlformats.org/drawingml/2006/table">
            <a:tbl>
              <a:tblPr/>
              <a:tblGrid>
                <a:gridCol w="1778509">
                  <a:extLst>
                    <a:ext uri="{9D8B030D-6E8A-4147-A177-3AD203B41FA5}">
                      <a16:colId xmlns:a16="http://schemas.microsoft.com/office/drawing/2014/main" val="971408409"/>
                    </a:ext>
                  </a:extLst>
                </a:gridCol>
                <a:gridCol w="1302863">
                  <a:extLst>
                    <a:ext uri="{9D8B030D-6E8A-4147-A177-3AD203B41FA5}">
                      <a16:colId xmlns:a16="http://schemas.microsoft.com/office/drawing/2014/main" val="2648758912"/>
                    </a:ext>
                  </a:extLst>
                </a:gridCol>
                <a:gridCol w="1778509">
                  <a:extLst>
                    <a:ext uri="{9D8B030D-6E8A-4147-A177-3AD203B41FA5}">
                      <a16:colId xmlns:a16="http://schemas.microsoft.com/office/drawing/2014/main" val="501989461"/>
                    </a:ext>
                  </a:extLst>
                </a:gridCol>
                <a:gridCol w="1695789">
                  <a:extLst>
                    <a:ext uri="{9D8B030D-6E8A-4147-A177-3AD203B41FA5}">
                      <a16:colId xmlns:a16="http://schemas.microsoft.com/office/drawing/2014/main" val="2357356648"/>
                    </a:ext>
                  </a:extLst>
                </a:gridCol>
                <a:gridCol w="1509667">
                  <a:extLst>
                    <a:ext uri="{9D8B030D-6E8A-4147-A177-3AD203B41FA5}">
                      <a16:colId xmlns:a16="http://schemas.microsoft.com/office/drawing/2014/main" val="2806821828"/>
                    </a:ext>
                  </a:extLst>
                </a:gridCol>
              </a:tblGrid>
              <a:tr h="274515">
                <a:tc gridSpan="5">
                  <a:txBody>
                    <a:bodyPr/>
                    <a:lstStyle/>
                    <a:p>
                      <a:pPr algn="l" fontAlgn="ctr"/>
                      <a:r>
                        <a:rPr lang="en-US" sz="1600" b="0" i="1" u="none" strike="noStrike">
                          <a:solidFill>
                            <a:schemeClr val="tx2"/>
                          </a:solidFill>
                          <a:effectLst/>
                          <a:latin typeface="Times New Roman" panose="02020603050405020304" pitchFamily="18" charset="0"/>
                          <a:cs typeface="Times New Roman" panose="02020603050405020304" pitchFamily="18" charset="0"/>
                        </a:rPr>
                        <a:t>Vessel: Reboiler (E-206)</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08419256"/>
                  </a:ext>
                </a:extLst>
              </a:tr>
              <a:tr h="274515">
                <a:tc gridSpan="5">
                  <a:txBody>
                    <a:bodyPr/>
                    <a:lstStyle/>
                    <a:p>
                      <a:pPr algn="l" fontAlgn="ctr"/>
                      <a:r>
                        <a:rPr lang="en-US" sz="1600" b="0" i="1" u="none" strike="noStrike">
                          <a:solidFill>
                            <a:schemeClr val="tx2"/>
                          </a:solidFill>
                          <a:effectLst/>
                          <a:latin typeface="Times New Roman" panose="02020603050405020304" pitchFamily="18" charset="0"/>
                          <a:cs typeface="Times New Roman" panose="02020603050405020304" pitchFamily="18" charset="0"/>
                        </a:rPr>
                        <a:t>Intention: Boils fluid mixture at the bottom of column </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7344858"/>
                  </a:ext>
                </a:extLst>
              </a:tr>
              <a:tr h="274515">
                <a:tc>
                  <a:txBody>
                    <a:bodyPr/>
                    <a:lstStyle/>
                    <a:p>
                      <a:pPr algn="l"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Guide Word</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Deviation</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Cause</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Consequences</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Action</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extLst>
                  <a:ext uri="{0D108BD9-81ED-4DB2-BD59-A6C34878D82A}">
                    <a16:rowId xmlns:a16="http://schemas.microsoft.com/office/drawing/2014/main" val="3116934450"/>
                  </a:ext>
                </a:extLst>
              </a:tr>
              <a:tr h="274515">
                <a:tc gridSpan="5">
                  <a:txBody>
                    <a:bodyPr/>
                    <a:lstStyle/>
                    <a:p>
                      <a:pPr algn="l" fontAlgn="ctr"/>
                      <a:r>
                        <a:rPr lang="en-US" sz="1600" b="0" i="1" u="none" strike="noStrike">
                          <a:solidFill>
                            <a:schemeClr val="tx2"/>
                          </a:solidFill>
                          <a:effectLst/>
                          <a:latin typeface="Times New Roman" panose="02020603050405020304" pitchFamily="18" charset="0"/>
                          <a:cs typeface="Times New Roman" panose="02020603050405020304" pitchFamily="18" charset="0"/>
                        </a:rPr>
                        <a:t>Line: Hot fluid stream (steam)</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24475199"/>
                  </a:ext>
                </a:extLst>
              </a:tr>
              <a:tr h="525057">
                <a:tc rowSpan="2">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NO</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2">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Steam Flow</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Pipe clogged or burst</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No Bottoms</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Install alarms and sensors</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4022464080"/>
                  </a:ext>
                </a:extLst>
              </a:tr>
              <a:tr h="785318">
                <a:tc vMerge="1">
                  <a:txBody>
                    <a:bodyPr/>
                    <a:lstStyle/>
                    <a:p>
                      <a:endParaRPr lang="en-US"/>
                    </a:p>
                  </a:txBody>
                  <a:tcPr/>
                </a:tc>
                <a:tc vMerge="1">
                  <a:txBody>
                    <a:bodyPr/>
                    <a:lstStyle/>
                    <a:p>
                      <a:endParaRPr lang="en-US"/>
                    </a:p>
                  </a:txBody>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Control valve failure</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Loss of temperature control</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Automatic shut down</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3606257067"/>
                  </a:ext>
                </a:extLst>
              </a:tr>
              <a:tr h="785318">
                <a:tc rowSpan="3">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LESS</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3">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Steam Flow</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Pipe partially clogged/leaked</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Low temperature in column</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Install low alarms and sensors</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3073533612"/>
                  </a:ext>
                </a:extLst>
              </a:tr>
              <a:tr h="525057">
                <a:tc vMerge="1">
                  <a:txBody>
                    <a:bodyPr/>
                    <a:lstStyle/>
                    <a:p>
                      <a:endParaRPr lang="en-US"/>
                    </a:p>
                  </a:txBody>
                  <a:tcPr/>
                </a:tc>
                <a:tc vMerge="1">
                  <a:txBody>
                    <a:bodyPr/>
                    <a:lstStyle/>
                    <a:p>
                      <a:endParaRPr lang="en-US"/>
                    </a:p>
                  </a:txBody>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Valve open fail</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Poor separation</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Repair equipment</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1305747298"/>
                  </a:ext>
                </a:extLst>
              </a:tr>
              <a:tr h="525057">
                <a:tc vMerge="1">
                  <a:txBody>
                    <a:bodyPr/>
                    <a:lstStyle/>
                    <a:p>
                      <a:endParaRPr lang="en-US"/>
                    </a:p>
                  </a:txBody>
                  <a:tcPr/>
                </a:tc>
                <a:tc vMerge="1">
                  <a:txBody>
                    <a:bodyPr/>
                    <a:lstStyle/>
                    <a:p>
                      <a:endParaRPr lang="en-US"/>
                    </a:p>
                  </a:txBody>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Less steam pressure</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 </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 More steam pressure</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2228505969"/>
                  </a:ext>
                </a:extLst>
              </a:tr>
              <a:tr h="785318">
                <a:tc rowSpan="2">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MORE</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rowSpan="2">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Steam Flow</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Valve fully open</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High column temperature</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Install high alarms and sensors</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3490021147"/>
                  </a:ext>
                </a:extLst>
              </a:tr>
              <a:tr h="525057">
                <a:tc vMerge="1">
                  <a:txBody>
                    <a:bodyPr/>
                    <a:lstStyle/>
                    <a:p>
                      <a:endParaRPr lang="en-US"/>
                    </a:p>
                  </a:txBody>
                  <a:tcPr/>
                </a:tc>
                <a:tc vMerge="1">
                  <a:txBody>
                    <a:bodyPr/>
                    <a:lstStyle/>
                    <a:p>
                      <a:endParaRPr lang="en-US"/>
                    </a:p>
                  </a:txBody>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More steam pressure</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Reboiler damage</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600" b="0" i="0" u="none" strike="noStrike">
                          <a:solidFill>
                            <a:schemeClr val="tx2"/>
                          </a:solidFill>
                          <a:effectLst/>
                          <a:latin typeface="Times New Roman" panose="02020603050405020304" pitchFamily="18" charset="0"/>
                          <a:cs typeface="Times New Roman" panose="02020603050405020304" pitchFamily="18" charset="0"/>
                        </a:rPr>
                        <a:t>Shut down and repair </a:t>
                      </a:r>
                    </a:p>
                  </a:txBody>
                  <a:tcPr marL="4250" marR="4250" marT="4250"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1615530528"/>
                  </a:ext>
                </a:extLst>
              </a:tr>
            </a:tbl>
          </a:graphicData>
        </a:graphic>
      </p:graphicFrame>
    </p:spTree>
    <p:extLst>
      <p:ext uri="{BB962C8B-B14F-4D97-AF65-F5344CB8AC3E}">
        <p14:creationId xmlns:p14="http://schemas.microsoft.com/office/powerpoint/2010/main" val="2243919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64AF7-4788-4B05-ACA6-AD4BEF238E86}"/>
              </a:ext>
            </a:extLst>
          </p:cNvPr>
          <p:cNvSpPr>
            <a:spLocks noGrp="1"/>
          </p:cNvSpPr>
          <p:nvPr>
            <p:ph type="title"/>
          </p:nvPr>
        </p:nvSpPr>
        <p:spPr>
          <a:xfrm>
            <a:off x="841598" y="73006"/>
            <a:ext cx="8149090" cy="770213"/>
          </a:xfrm>
        </p:spPr>
        <p:txBody>
          <a:bodyPr/>
          <a:lstStyle/>
          <a:p>
            <a:r>
              <a:rPr lang="en-US"/>
              <a:t>Process Control Scheme after HAZOP</a:t>
            </a:r>
          </a:p>
        </p:txBody>
      </p:sp>
      <p:sp>
        <p:nvSpPr>
          <p:cNvPr id="4" name="Slide Number Placeholder 3">
            <a:extLst>
              <a:ext uri="{FF2B5EF4-FFF2-40B4-BE49-F238E27FC236}">
                <a16:creationId xmlns:a16="http://schemas.microsoft.com/office/drawing/2014/main" id="{D98D83B1-3AEA-4A6E-A2D9-A436B8F9DB3A}"/>
              </a:ext>
            </a:extLst>
          </p:cNvPr>
          <p:cNvSpPr>
            <a:spLocks noGrp="1"/>
          </p:cNvSpPr>
          <p:nvPr>
            <p:ph type="sldNum" sz="quarter" idx="12"/>
          </p:nvPr>
        </p:nvSpPr>
        <p:spPr/>
        <p:txBody>
          <a:bodyPr/>
          <a:lstStyle/>
          <a:p>
            <a:fld id="{34B7E4EF-A1BD-40F4-AB7B-04F084DD991D}" type="slidenum">
              <a:rPr lang="en-US" smtClean="0"/>
              <a:pPr/>
              <a:t>15</a:t>
            </a:fld>
            <a:endParaRPr lang="en-US"/>
          </a:p>
        </p:txBody>
      </p:sp>
      <p:graphicFrame>
        <p:nvGraphicFramePr>
          <p:cNvPr id="6" name="Table 5">
            <a:extLst>
              <a:ext uri="{FF2B5EF4-FFF2-40B4-BE49-F238E27FC236}">
                <a16:creationId xmlns:a16="http://schemas.microsoft.com/office/drawing/2014/main" id="{3F388954-168D-43DA-A25D-EDFCF72C5CA4}"/>
              </a:ext>
            </a:extLst>
          </p:cNvPr>
          <p:cNvGraphicFramePr>
            <a:graphicFrameLocks noGrp="1"/>
          </p:cNvGraphicFramePr>
          <p:nvPr>
            <p:extLst>
              <p:ext uri="{D42A27DB-BD31-4B8C-83A1-F6EECF244321}">
                <p14:modId xmlns:p14="http://schemas.microsoft.com/office/powerpoint/2010/main" val="2133237739"/>
              </p:ext>
            </p:extLst>
          </p:nvPr>
        </p:nvGraphicFramePr>
        <p:xfrm>
          <a:off x="6159610" y="1572826"/>
          <a:ext cx="6032390" cy="3772171"/>
        </p:xfrm>
        <a:graphic>
          <a:graphicData uri="http://schemas.openxmlformats.org/drawingml/2006/table">
            <a:tbl>
              <a:tblPr/>
              <a:tblGrid>
                <a:gridCol w="756938">
                  <a:extLst>
                    <a:ext uri="{9D8B030D-6E8A-4147-A177-3AD203B41FA5}">
                      <a16:colId xmlns:a16="http://schemas.microsoft.com/office/drawing/2014/main" val="2898316679"/>
                    </a:ext>
                  </a:extLst>
                </a:gridCol>
                <a:gridCol w="1217772">
                  <a:extLst>
                    <a:ext uri="{9D8B030D-6E8A-4147-A177-3AD203B41FA5}">
                      <a16:colId xmlns:a16="http://schemas.microsoft.com/office/drawing/2014/main" val="2478803955"/>
                    </a:ext>
                  </a:extLst>
                </a:gridCol>
                <a:gridCol w="795107">
                  <a:extLst>
                    <a:ext uri="{9D8B030D-6E8A-4147-A177-3AD203B41FA5}">
                      <a16:colId xmlns:a16="http://schemas.microsoft.com/office/drawing/2014/main" val="54766608"/>
                    </a:ext>
                  </a:extLst>
                </a:gridCol>
                <a:gridCol w="908334">
                  <a:extLst>
                    <a:ext uri="{9D8B030D-6E8A-4147-A177-3AD203B41FA5}">
                      <a16:colId xmlns:a16="http://schemas.microsoft.com/office/drawing/2014/main" val="2939458811"/>
                    </a:ext>
                  </a:extLst>
                </a:gridCol>
                <a:gridCol w="903256">
                  <a:extLst>
                    <a:ext uri="{9D8B030D-6E8A-4147-A177-3AD203B41FA5}">
                      <a16:colId xmlns:a16="http://schemas.microsoft.com/office/drawing/2014/main" val="1982695708"/>
                    </a:ext>
                  </a:extLst>
                </a:gridCol>
                <a:gridCol w="1450983">
                  <a:extLst>
                    <a:ext uri="{9D8B030D-6E8A-4147-A177-3AD203B41FA5}">
                      <a16:colId xmlns:a16="http://schemas.microsoft.com/office/drawing/2014/main" val="1544379301"/>
                    </a:ext>
                  </a:extLst>
                </a:gridCol>
              </a:tblGrid>
              <a:tr h="690141">
                <a:tc>
                  <a:txBody>
                    <a:bodyPr/>
                    <a:lstStyle/>
                    <a:p>
                      <a:pPr algn="ctr" fontAlgn="ctr"/>
                      <a:r>
                        <a:rPr lang="en-US" sz="1200" b="0" i="0" u="none" strike="noStrike">
                          <a:solidFill>
                            <a:srgbClr val="082A75"/>
                          </a:solidFill>
                          <a:effectLst/>
                          <a:latin typeface="Calibri" panose="020F0502020204030204" pitchFamily="34" charset="0"/>
                        </a:rPr>
                        <a:t>Tag</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200" b="0" i="0" u="none" strike="noStrike" dirty="0">
                          <a:solidFill>
                            <a:srgbClr val="082A75"/>
                          </a:solidFill>
                          <a:effectLst/>
                          <a:latin typeface="Calibri" panose="020F0502020204030204" pitchFamily="34" charset="0"/>
                        </a:rPr>
                        <a:t>Controlled Variable </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200" b="0" i="0" u="none" strike="noStrike">
                          <a:solidFill>
                            <a:srgbClr val="082A75"/>
                          </a:solidFill>
                          <a:effectLst/>
                          <a:latin typeface="Calibri" panose="020F0502020204030204" pitchFamily="34" charset="0"/>
                        </a:rPr>
                        <a:t>Set Point</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200" b="0" i="0" u="none" strike="noStrike">
                          <a:solidFill>
                            <a:srgbClr val="082A75"/>
                          </a:solidFill>
                          <a:effectLst/>
                          <a:latin typeface="Calibri" panose="020F0502020204030204" pitchFamily="34" charset="0"/>
                        </a:rPr>
                        <a:t>Lower Limit</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200" b="0" i="0" u="none" strike="noStrike">
                          <a:solidFill>
                            <a:srgbClr val="082A75"/>
                          </a:solidFill>
                          <a:effectLst/>
                          <a:latin typeface="Calibri" panose="020F0502020204030204" pitchFamily="34" charset="0"/>
                        </a:rPr>
                        <a:t>Upper Limit</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tc>
                  <a:txBody>
                    <a:bodyPr/>
                    <a:lstStyle/>
                    <a:p>
                      <a:pPr algn="ctr" fontAlgn="ctr"/>
                      <a:r>
                        <a:rPr lang="en-US" sz="1200" b="0" i="0" u="none" strike="noStrike">
                          <a:solidFill>
                            <a:srgbClr val="082A75"/>
                          </a:solidFill>
                          <a:effectLst/>
                          <a:latin typeface="Calibri" panose="020F0502020204030204" pitchFamily="34" charset="0"/>
                        </a:rPr>
                        <a:t>Manipulated Variable</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9BC2E6"/>
                    </a:solidFill>
                  </a:tcPr>
                </a:tc>
                <a:extLst>
                  <a:ext uri="{0D108BD9-81ED-4DB2-BD59-A6C34878D82A}">
                    <a16:rowId xmlns:a16="http://schemas.microsoft.com/office/drawing/2014/main" val="817810558"/>
                  </a:ext>
                </a:extLst>
              </a:tr>
              <a:tr h="640125">
                <a:tc>
                  <a:txBody>
                    <a:bodyPr/>
                    <a:lstStyle/>
                    <a:p>
                      <a:pPr algn="ctr" fontAlgn="ctr"/>
                      <a:r>
                        <a:rPr lang="en-US" sz="1200" b="0" i="0" u="none" strike="noStrike">
                          <a:solidFill>
                            <a:srgbClr val="082A75"/>
                          </a:solidFill>
                          <a:effectLst/>
                          <a:latin typeface="Calibri" panose="020F0502020204030204" pitchFamily="34" charset="0"/>
                        </a:rPr>
                        <a:t> </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a:noFill/>
                    </a:lnB>
                    <a:solidFill>
                      <a:srgbClr val="FFF2CC"/>
                    </a:solidFill>
                  </a:tcPr>
                </a:tc>
                <a:tc>
                  <a:txBody>
                    <a:bodyPr/>
                    <a:lstStyle/>
                    <a:p>
                      <a:pPr algn="ctr" fontAlgn="ctr"/>
                      <a:r>
                        <a:rPr lang="en-US" sz="1200" b="0" i="0" u="none" strike="noStrike" dirty="0">
                          <a:solidFill>
                            <a:srgbClr val="082A75"/>
                          </a:solidFill>
                          <a:effectLst/>
                          <a:latin typeface="Calibri" panose="020F0502020204030204" pitchFamily="34" charset="0"/>
                        </a:rPr>
                        <a:t>Level</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80%  by volume</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30% by volume</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90% by volume</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Bottoms flowrate</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3923851197"/>
                  </a:ext>
                </a:extLst>
              </a:tr>
              <a:tr h="566622">
                <a:tc>
                  <a:txBody>
                    <a:bodyPr/>
                    <a:lstStyle/>
                    <a:p>
                      <a:pPr algn="ctr" fontAlgn="ctr"/>
                      <a:r>
                        <a:rPr lang="en-US" sz="1200" b="0" i="0" u="none" strike="noStrike">
                          <a:solidFill>
                            <a:srgbClr val="082A75"/>
                          </a:solidFill>
                          <a:effectLst/>
                          <a:latin typeface="Calibri" panose="020F0502020204030204" pitchFamily="34" charset="0"/>
                        </a:rPr>
                        <a:t> </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Temperature</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102 °C</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90 °C</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110 °C</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Steam flowrate</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2582554337"/>
                  </a:ext>
                </a:extLst>
              </a:tr>
              <a:tr h="566622">
                <a:tc>
                  <a:txBody>
                    <a:bodyPr/>
                    <a:lstStyle/>
                    <a:p>
                      <a:pPr algn="ctr" fontAlgn="ctr"/>
                      <a:r>
                        <a:rPr lang="en-US" sz="1200" b="0" i="0" u="none" strike="noStrike">
                          <a:solidFill>
                            <a:srgbClr val="082A75"/>
                          </a:solidFill>
                          <a:effectLst/>
                          <a:latin typeface="Calibri" panose="020F0502020204030204" pitchFamily="34" charset="0"/>
                        </a:rPr>
                        <a:t>T-201</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a:noFill/>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Pressure</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1.5 bars</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1 bar</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2 bars</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Coolant flowrate</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464284256"/>
                  </a:ext>
                </a:extLst>
              </a:tr>
              <a:tr h="566622">
                <a:tc>
                  <a:txBody>
                    <a:bodyPr/>
                    <a:lstStyle/>
                    <a:p>
                      <a:pPr algn="ctr" fontAlgn="t"/>
                      <a:r>
                        <a:rPr lang="en-US" sz="1400" b="0" i="0" u="none" strike="noStrike">
                          <a:solidFill>
                            <a:srgbClr val="000000"/>
                          </a:solidFill>
                          <a:effectLst/>
                          <a:latin typeface="Calibri" panose="020F0502020204030204" pitchFamily="34" charset="0"/>
                        </a:rPr>
                        <a:t> </a:t>
                      </a:r>
                    </a:p>
                  </a:txBody>
                  <a:tcPr marL="4763" marR="4763" marT="4763" marB="0">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a:noFill/>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Composition</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99%</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98%</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100%</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Reflux flowrate</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2445888672"/>
                  </a:ext>
                </a:extLst>
              </a:tr>
              <a:tr h="742039">
                <a:tc>
                  <a:txBody>
                    <a:bodyPr/>
                    <a:lstStyle/>
                    <a:p>
                      <a:pPr algn="ctr" fontAlgn="ctr"/>
                      <a:r>
                        <a:rPr lang="en-US" sz="1200" b="0" i="0" u="none" strike="noStrike">
                          <a:solidFill>
                            <a:srgbClr val="082A75"/>
                          </a:solidFill>
                          <a:effectLst/>
                          <a:latin typeface="Calibri" panose="020F0502020204030204" pitchFamily="34" charset="0"/>
                        </a:rPr>
                        <a:t>D-202</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Level</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70% by volume</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20% by volume</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a:solidFill>
                            <a:srgbClr val="082A75"/>
                          </a:solidFill>
                          <a:effectLst/>
                          <a:latin typeface="Calibri" panose="020F0502020204030204" pitchFamily="34" charset="0"/>
                        </a:rPr>
                        <a:t>80% by volume</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tc>
                  <a:txBody>
                    <a:bodyPr/>
                    <a:lstStyle/>
                    <a:p>
                      <a:pPr algn="ctr" fontAlgn="ctr"/>
                      <a:r>
                        <a:rPr lang="en-US" sz="1200" b="0" i="0" u="none" strike="noStrike" dirty="0">
                          <a:solidFill>
                            <a:srgbClr val="082A75"/>
                          </a:solidFill>
                          <a:effectLst/>
                          <a:latin typeface="Calibri" panose="020F0502020204030204" pitchFamily="34" charset="0"/>
                        </a:rPr>
                        <a:t>Distillate flowrate</a:t>
                      </a:r>
                    </a:p>
                  </a:txBody>
                  <a:tcPr marL="4763" marR="4763" marT="4763" marB="0" anchor="ctr">
                    <a:lnL w="12700" cap="flat" cmpd="sng" algn="ctr">
                      <a:solidFill>
                        <a:srgbClr val="024F75"/>
                      </a:solidFill>
                      <a:prstDash val="solid"/>
                      <a:round/>
                      <a:headEnd type="none" w="med" len="med"/>
                      <a:tailEnd type="none" w="med" len="med"/>
                    </a:lnL>
                    <a:lnR w="12700" cap="flat" cmpd="sng" algn="ctr">
                      <a:solidFill>
                        <a:srgbClr val="024F75"/>
                      </a:solidFill>
                      <a:prstDash val="solid"/>
                      <a:round/>
                      <a:headEnd type="none" w="med" len="med"/>
                      <a:tailEnd type="none" w="med" len="med"/>
                    </a:lnR>
                    <a:lnT w="12700" cap="flat" cmpd="sng" algn="ctr">
                      <a:solidFill>
                        <a:srgbClr val="024F75"/>
                      </a:solidFill>
                      <a:prstDash val="solid"/>
                      <a:round/>
                      <a:headEnd type="none" w="med" len="med"/>
                      <a:tailEnd type="none" w="med" len="med"/>
                    </a:lnT>
                    <a:lnB w="12700" cap="flat" cmpd="sng" algn="ctr">
                      <a:solidFill>
                        <a:srgbClr val="024F75"/>
                      </a:solidFill>
                      <a:prstDash val="solid"/>
                      <a:round/>
                      <a:headEnd type="none" w="med" len="med"/>
                      <a:tailEnd type="none" w="med" len="med"/>
                    </a:lnB>
                    <a:solidFill>
                      <a:srgbClr val="FFF2CC"/>
                    </a:solidFill>
                  </a:tcPr>
                </a:tc>
                <a:extLst>
                  <a:ext uri="{0D108BD9-81ED-4DB2-BD59-A6C34878D82A}">
                    <a16:rowId xmlns:a16="http://schemas.microsoft.com/office/drawing/2014/main" val="2055518506"/>
                  </a:ext>
                </a:extLst>
              </a:tr>
            </a:tbl>
          </a:graphicData>
        </a:graphic>
      </p:graphicFrame>
      <p:pic>
        <p:nvPicPr>
          <p:cNvPr id="8" name="图片 8" descr="地图上有字&#10;&#10;已生成高可信度的说明">
            <a:extLst>
              <a:ext uri="{FF2B5EF4-FFF2-40B4-BE49-F238E27FC236}">
                <a16:creationId xmlns:a16="http://schemas.microsoft.com/office/drawing/2014/main" id="{90B08E0B-E306-451D-B860-EBC452061024}"/>
              </a:ext>
            </a:extLst>
          </p:cNvPr>
          <p:cNvPicPr>
            <a:picLocks noGrp="1" noChangeAspect="1"/>
          </p:cNvPicPr>
          <p:nvPr>
            <p:ph idx="1"/>
          </p:nvPr>
        </p:nvPicPr>
        <p:blipFill>
          <a:blip r:embed="rId2"/>
          <a:stretch>
            <a:fillRect/>
          </a:stretch>
        </p:blipFill>
        <p:spPr>
          <a:xfrm>
            <a:off x="271842" y="1572826"/>
            <a:ext cx="5824158" cy="4227754"/>
          </a:xfrm>
        </p:spPr>
      </p:pic>
    </p:spTree>
    <p:extLst>
      <p:ext uri="{BB962C8B-B14F-4D97-AF65-F5344CB8AC3E}">
        <p14:creationId xmlns:p14="http://schemas.microsoft.com/office/powerpoint/2010/main" val="4048677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D068F-272C-40C9-9088-983FCFA62FA3}"/>
              </a:ext>
            </a:extLst>
          </p:cNvPr>
          <p:cNvSpPr>
            <a:spLocks noGrp="1"/>
          </p:cNvSpPr>
          <p:nvPr>
            <p:ph type="title"/>
          </p:nvPr>
        </p:nvSpPr>
        <p:spPr>
          <a:xfrm>
            <a:off x="3440047" y="69780"/>
            <a:ext cx="6424440" cy="1320800"/>
          </a:xfrm>
        </p:spPr>
        <p:txBody>
          <a:bodyPr>
            <a:normAutofit/>
          </a:bodyPr>
          <a:lstStyle/>
          <a:p>
            <a:r>
              <a:rPr lang="en-US" dirty="0"/>
              <a:t>Economic Analysis</a:t>
            </a:r>
          </a:p>
        </p:txBody>
      </p:sp>
      <p:pic>
        <p:nvPicPr>
          <p:cNvPr id="1026" name="Picture 2" descr="Money Cartoon">
            <a:extLst>
              <a:ext uri="{FF2B5EF4-FFF2-40B4-BE49-F238E27FC236}">
                <a16:creationId xmlns:a16="http://schemas.microsoft.com/office/drawing/2014/main" id="{0B8ED937-B42F-4576-AE09-2B84F034EC2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794" r="29586" b="5896"/>
          <a:stretch/>
        </p:blipFill>
        <p:spPr bwMode="auto">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a:noFill/>
          <a:extLst>
            <a:ext uri="{909E8E84-426E-40DD-AFC4-6F175D3DCCD1}">
              <a14:hiddenFill xmlns:a14="http://schemas.microsoft.com/office/drawing/2010/main">
                <a:solidFill>
                  <a:srgbClr val="FFFFFF"/>
                </a:solidFill>
              </a14:hiddenFill>
            </a:ext>
          </a:extLst>
        </p:spPr>
      </p:pic>
      <p:sp>
        <p:nvSpPr>
          <p:cNvPr id="1030" name="Isosceles Triangle 70">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4" name="Slide Number Placeholder 3">
            <a:extLst>
              <a:ext uri="{FF2B5EF4-FFF2-40B4-BE49-F238E27FC236}">
                <a16:creationId xmlns:a16="http://schemas.microsoft.com/office/drawing/2014/main" id="{2CADCAC0-DB09-4605-ACD6-0DA9FAF49793}"/>
              </a:ext>
            </a:extLst>
          </p:cNvPr>
          <p:cNvSpPr>
            <a:spLocks noGrp="1"/>
          </p:cNvSpPr>
          <p:nvPr>
            <p:ph type="sldNum" sz="quarter" idx="12"/>
          </p:nvPr>
        </p:nvSpPr>
        <p:spPr>
          <a:xfrm>
            <a:off x="8590663" y="6041362"/>
            <a:ext cx="683339" cy="365125"/>
          </a:xfrm>
        </p:spPr>
        <p:txBody>
          <a:bodyPr>
            <a:normAutofit/>
          </a:bodyPr>
          <a:lstStyle/>
          <a:p>
            <a:pPr>
              <a:lnSpc>
                <a:spcPct val="90000"/>
              </a:lnSpc>
              <a:spcAft>
                <a:spcPts val="600"/>
              </a:spcAft>
            </a:pPr>
            <a:fld id="{34B7E4EF-A1BD-40F4-AB7B-04F084DD991D}" type="slidenum">
              <a:rPr lang="en-US" sz="1900" smtClean="0"/>
              <a:pPr>
                <a:lnSpc>
                  <a:spcPct val="90000"/>
                </a:lnSpc>
                <a:spcAft>
                  <a:spcPts val="600"/>
                </a:spcAft>
              </a:pPr>
              <a:t>16</a:t>
            </a:fld>
            <a:endParaRPr lang="en-US" sz="1900"/>
          </a:p>
        </p:txBody>
      </p:sp>
      <p:graphicFrame>
        <p:nvGraphicFramePr>
          <p:cNvPr id="8" name="Diagram 7">
            <a:extLst>
              <a:ext uri="{FF2B5EF4-FFF2-40B4-BE49-F238E27FC236}">
                <a16:creationId xmlns:a16="http://schemas.microsoft.com/office/drawing/2014/main" id="{7DFB1E37-BD20-4F7C-AA40-FC2EA6259E09}"/>
              </a:ext>
            </a:extLst>
          </p:cNvPr>
          <p:cNvGraphicFramePr/>
          <p:nvPr>
            <p:extLst>
              <p:ext uri="{D42A27DB-BD31-4B8C-83A1-F6EECF244321}">
                <p14:modId xmlns:p14="http://schemas.microsoft.com/office/powerpoint/2010/main" val="695833461"/>
              </p:ext>
            </p:extLst>
          </p:nvPr>
        </p:nvGraphicFramePr>
        <p:xfrm>
          <a:off x="90040" y="732157"/>
          <a:ext cx="9915094" cy="59850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5782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6FAF8-6AE7-4E3F-BAFB-1854BA2258F3}"/>
              </a:ext>
            </a:extLst>
          </p:cNvPr>
          <p:cNvSpPr>
            <a:spLocks noGrp="1"/>
          </p:cNvSpPr>
          <p:nvPr>
            <p:ph type="title"/>
          </p:nvPr>
        </p:nvSpPr>
        <p:spPr>
          <a:xfrm>
            <a:off x="1556224" y="1303430"/>
            <a:ext cx="7747574" cy="571130"/>
          </a:xfrm>
        </p:spPr>
        <p:txBody>
          <a:bodyPr>
            <a:normAutofit fontScale="90000"/>
          </a:bodyPr>
          <a:lstStyle/>
          <a:p>
            <a:r>
              <a:rPr lang="en-US" dirty="0"/>
              <a:t>Total Capital Cost Estimates</a:t>
            </a:r>
          </a:p>
        </p:txBody>
      </p:sp>
      <p:graphicFrame>
        <p:nvGraphicFramePr>
          <p:cNvPr id="5" name="Table 5">
            <a:extLst>
              <a:ext uri="{FF2B5EF4-FFF2-40B4-BE49-F238E27FC236}">
                <a16:creationId xmlns:a16="http://schemas.microsoft.com/office/drawing/2014/main" id="{A14E0ACC-CEF0-4799-8C94-B207244D9629}"/>
              </a:ext>
            </a:extLst>
          </p:cNvPr>
          <p:cNvGraphicFramePr>
            <a:graphicFrameLocks noGrp="1"/>
          </p:cNvGraphicFramePr>
          <p:nvPr>
            <p:ph idx="1"/>
            <p:extLst>
              <p:ext uri="{D42A27DB-BD31-4B8C-83A1-F6EECF244321}">
                <p14:modId xmlns:p14="http://schemas.microsoft.com/office/powerpoint/2010/main" val="3149681980"/>
              </p:ext>
            </p:extLst>
          </p:nvPr>
        </p:nvGraphicFramePr>
        <p:xfrm>
          <a:off x="979704" y="2373651"/>
          <a:ext cx="8596311" cy="2600654"/>
        </p:xfrm>
        <a:graphic>
          <a:graphicData uri="http://schemas.openxmlformats.org/drawingml/2006/table">
            <a:tbl>
              <a:tblPr firstRow="1" bandRow="1">
                <a:tableStyleId>{5C22544A-7EE6-4342-B048-85BDC9FD1C3A}</a:tableStyleId>
              </a:tblPr>
              <a:tblGrid>
                <a:gridCol w="3201679">
                  <a:extLst>
                    <a:ext uri="{9D8B030D-6E8A-4147-A177-3AD203B41FA5}">
                      <a16:colId xmlns:a16="http://schemas.microsoft.com/office/drawing/2014/main" val="3576247811"/>
                    </a:ext>
                  </a:extLst>
                </a:gridCol>
                <a:gridCol w="2529195">
                  <a:extLst>
                    <a:ext uri="{9D8B030D-6E8A-4147-A177-3AD203B41FA5}">
                      <a16:colId xmlns:a16="http://schemas.microsoft.com/office/drawing/2014/main" val="693837328"/>
                    </a:ext>
                  </a:extLst>
                </a:gridCol>
                <a:gridCol w="2865437">
                  <a:extLst>
                    <a:ext uri="{9D8B030D-6E8A-4147-A177-3AD203B41FA5}">
                      <a16:colId xmlns:a16="http://schemas.microsoft.com/office/drawing/2014/main" val="2837513258"/>
                    </a:ext>
                  </a:extLst>
                </a:gridCol>
              </a:tblGrid>
              <a:tr h="370840">
                <a:tc gridSpan="3">
                  <a:txBody>
                    <a:bodyPr/>
                    <a:lstStyle/>
                    <a:p>
                      <a:r>
                        <a:rPr lang="en-US" dirty="0"/>
                        <a:t>              Costs                           Percentages of ISBL                   $MM        </a:t>
                      </a:r>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17513220"/>
                  </a:ext>
                </a:extLst>
              </a:tr>
              <a:tr h="370840">
                <a:tc>
                  <a:txBody>
                    <a:bodyPr/>
                    <a:lstStyle/>
                    <a:p>
                      <a:pPr algn="ctr"/>
                      <a:r>
                        <a:rPr lang="en-US"/>
                        <a:t>ISBL Capital Cost</a:t>
                      </a:r>
                    </a:p>
                  </a:txBody>
                  <a:tcPr/>
                </a:tc>
                <a:tc>
                  <a:txBody>
                    <a:bodyPr/>
                    <a:lstStyle/>
                    <a:p>
                      <a:pPr algn="ctr"/>
                      <a:r>
                        <a:rPr lang="en-US"/>
                        <a:t>-</a:t>
                      </a:r>
                    </a:p>
                  </a:txBody>
                  <a:tcPr/>
                </a:tc>
                <a:tc>
                  <a:txBody>
                    <a:bodyPr/>
                    <a:lstStyle/>
                    <a:p>
                      <a:pPr algn="ctr"/>
                      <a:r>
                        <a:rPr lang="en-US"/>
                        <a:t>38.28</a:t>
                      </a:r>
                    </a:p>
                  </a:txBody>
                  <a:tcPr/>
                </a:tc>
                <a:extLst>
                  <a:ext uri="{0D108BD9-81ED-4DB2-BD59-A6C34878D82A}">
                    <a16:rowId xmlns:a16="http://schemas.microsoft.com/office/drawing/2014/main" val="1015062097"/>
                  </a:ext>
                </a:extLst>
              </a:tr>
              <a:tr h="370840">
                <a:tc>
                  <a:txBody>
                    <a:bodyPr/>
                    <a:lstStyle/>
                    <a:p>
                      <a:pPr algn="ctr"/>
                      <a:r>
                        <a:rPr lang="en-US"/>
                        <a:t>OSBL Capital Cost</a:t>
                      </a:r>
                    </a:p>
                  </a:txBody>
                  <a:tcPr/>
                </a:tc>
                <a:tc>
                  <a:txBody>
                    <a:bodyPr/>
                    <a:lstStyle/>
                    <a:p>
                      <a:pPr algn="ctr"/>
                      <a:r>
                        <a:rPr lang="en-US"/>
                        <a:t>40</a:t>
                      </a:r>
                    </a:p>
                  </a:txBody>
                  <a:tcPr/>
                </a:tc>
                <a:tc>
                  <a:txBody>
                    <a:bodyPr/>
                    <a:lstStyle/>
                    <a:p>
                      <a:pPr algn="ctr"/>
                      <a:r>
                        <a:rPr lang="en-US"/>
                        <a:t>15.31</a:t>
                      </a:r>
                    </a:p>
                  </a:txBody>
                  <a:tcPr/>
                </a:tc>
                <a:extLst>
                  <a:ext uri="{0D108BD9-81ED-4DB2-BD59-A6C34878D82A}">
                    <a16:rowId xmlns:a16="http://schemas.microsoft.com/office/drawing/2014/main" val="2414565872"/>
                  </a:ext>
                </a:extLst>
              </a:tr>
              <a:tr h="375614">
                <a:tc>
                  <a:txBody>
                    <a:bodyPr/>
                    <a:lstStyle/>
                    <a:p>
                      <a:pPr algn="ctr"/>
                      <a:r>
                        <a:rPr lang="en-US"/>
                        <a:t>Engineering Cost</a:t>
                      </a:r>
                    </a:p>
                  </a:txBody>
                  <a:tcPr/>
                </a:tc>
                <a:tc>
                  <a:txBody>
                    <a:bodyPr/>
                    <a:lstStyle/>
                    <a:p>
                      <a:pPr algn="ctr"/>
                      <a:r>
                        <a:rPr lang="en-US"/>
                        <a:t>20</a:t>
                      </a:r>
                    </a:p>
                  </a:txBody>
                  <a:tcPr/>
                </a:tc>
                <a:tc>
                  <a:txBody>
                    <a:bodyPr/>
                    <a:lstStyle/>
                    <a:p>
                      <a:pPr algn="ctr"/>
                      <a:r>
                        <a:rPr lang="en-US"/>
                        <a:t>7.66</a:t>
                      </a:r>
                    </a:p>
                  </a:txBody>
                  <a:tcPr/>
                </a:tc>
                <a:extLst>
                  <a:ext uri="{0D108BD9-81ED-4DB2-BD59-A6C34878D82A}">
                    <a16:rowId xmlns:a16="http://schemas.microsoft.com/office/drawing/2014/main" val="1731295040"/>
                  </a:ext>
                </a:extLst>
              </a:tr>
              <a:tr h="370840">
                <a:tc>
                  <a:txBody>
                    <a:bodyPr/>
                    <a:lstStyle/>
                    <a:p>
                      <a:pPr algn="ctr"/>
                      <a:r>
                        <a:rPr lang="en-US"/>
                        <a:t>Contingency</a:t>
                      </a:r>
                    </a:p>
                  </a:txBody>
                  <a:tcPr/>
                </a:tc>
                <a:tc>
                  <a:txBody>
                    <a:bodyPr/>
                    <a:lstStyle/>
                    <a:p>
                      <a:pPr algn="ctr"/>
                      <a:r>
                        <a:rPr lang="en-US"/>
                        <a:t>30</a:t>
                      </a:r>
                    </a:p>
                  </a:txBody>
                  <a:tcPr/>
                </a:tc>
                <a:tc>
                  <a:txBody>
                    <a:bodyPr/>
                    <a:lstStyle/>
                    <a:p>
                      <a:pPr algn="ctr"/>
                      <a:r>
                        <a:rPr lang="en-US"/>
                        <a:t>11.48</a:t>
                      </a:r>
                    </a:p>
                  </a:txBody>
                  <a:tcPr/>
                </a:tc>
                <a:extLst>
                  <a:ext uri="{0D108BD9-81ED-4DB2-BD59-A6C34878D82A}">
                    <a16:rowId xmlns:a16="http://schemas.microsoft.com/office/drawing/2014/main" val="854808719"/>
                  </a:ext>
                </a:extLst>
              </a:tr>
              <a:tr h="370840">
                <a:tc>
                  <a:txBody>
                    <a:bodyPr/>
                    <a:lstStyle/>
                    <a:p>
                      <a:pPr algn="ctr"/>
                      <a:r>
                        <a:rPr lang="en-US"/>
                        <a:t>Working Capital</a:t>
                      </a:r>
                    </a:p>
                  </a:txBody>
                  <a:tcPr/>
                </a:tc>
                <a:tc>
                  <a:txBody>
                    <a:bodyPr/>
                    <a:lstStyle/>
                    <a:p>
                      <a:pPr algn="ctr"/>
                      <a:r>
                        <a:rPr lang="en-US"/>
                        <a:t>15</a:t>
                      </a:r>
                    </a:p>
                  </a:txBody>
                  <a:tcPr/>
                </a:tc>
                <a:tc>
                  <a:txBody>
                    <a:bodyPr/>
                    <a:lstStyle/>
                    <a:p>
                      <a:pPr algn="ctr"/>
                      <a:r>
                        <a:rPr lang="en-US"/>
                        <a:t>5.74</a:t>
                      </a:r>
                    </a:p>
                  </a:txBody>
                  <a:tcPr/>
                </a:tc>
                <a:extLst>
                  <a:ext uri="{0D108BD9-81ED-4DB2-BD59-A6C34878D82A}">
                    <a16:rowId xmlns:a16="http://schemas.microsoft.com/office/drawing/2014/main" val="1598012353"/>
                  </a:ext>
                </a:extLst>
              </a:tr>
              <a:tr h="370840">
                <a:tc>
                  <a:txBody>
                    <a:bodyPr/>
                    <a:lstStyle/>
                    <a:p>
                      <a:pPr algn="ctr"/>
                      <a:r>
                        <a:rPr lang="en-US"/>
                        <a:t>Total Fixed Capital Cost</a:t>
                      </a:r>
                    </a:p>
                  </a:txBody>
                  <a:tcPr>
                    <a:solidFill>
                      <a:schemeClr val="accent2">
                        <a:lumMod val="60000"/>
                        <a:lumOff val="40000"/>
                      </a:schemeClr>
                    </a:solidFill>
                  </a:tcPr>
                </a:tc>
                <a:tc>
                  <a:txBody>
                    <a:bodyPr/>
                    <a:lstStyle/>
                    <a:p>
                      <a:pPr algn="ctr"/>
                      <a:r>
                        <a:rPr lang="en-US"/>
                        <a:t>-</a:t>
                      </a:r>
                    </a:p>
                  </a:txBody>
                  <a:tcPr>
                    <a:solidFill>
                      <a:schemeClr val="accent2">
                        <a:lumMod val="60000"/>
                        <a:lumOff val="40000"/>
                      </a:schemeClr>
                    </a:solidFill>
                  </a:tcPr>
                </a:tc>
                <a:tc>
                  <a:txBody>
                    <a:bodyPr/>
                    <a:lstStyle/>
                    <a:p>
                      <a:pPr algn="ctr"/>
                      <a:r>
                        <a:rPr lang="en-US" dirty="0"/>
                        <a:t>78.48</a:t>
                      </a:r>
                    </a:p>
                  </a:txBody>
                  <a:tcPr>
                    <a:solidFill>
                      <a:schemeClr val="accent2">
                        <a:lumMod val="60000"/>
                        <a:lumOff val="40000"/>
                      </a:schemeClr>
                    </a:solidFill>
                  </a:tcPr>
                </a:tc>
                <a:extLst>
                  <a:ext uri="{0D108BD9-81ED-4DB2-BD59-A6C34878D82A}">
                    <a16:rowId xmlns:a16="http://schemas.microsoft.com/office/drawing/2014/main" val="2633468875"/>
                  </a:ext>
                </a:extLst>
              </a:tr>
            </a:tbl>
          </a:graphicData>
        </a:graphic>
      </p:graphicFrame>
      <p:sp>
        <p:nvSpPr>
          <p:cNvPr id="4" name="Slide Number Placeholder 3">
            <a:extLst>
              <a:ext uri="{FF2B5EF4-FFF2-40B4-BE49-F238E27FC236}">
                <a16:creationId xmlns:a16="http://schemas.microsoft.com/office/drawing/2014/main" id="{4E02BE8C-E89B-4DEF-9E82-A4E7BA0001D9}"/>
              </a:ext>
            </a:extLst>
          </p:cNvPr>
          <p:cNvSpPr>
            <a:spLocks noGrp="1"/>
          </p:cNvSpPr>
          <p:nvPr>
            <p:ph type="sldNum" sz="quarter" idx="12"/>
          </p:nvPr>
        </p:nvSpPr>
        <p:spPr/>
        <p:txBody>
          <a:bodyPr/>
          <a:lstStyle/>
          <a:p>
            <a:fld id="{34B7E4EF-A1BD-40F4-AB7B-04F084DD991D}" type="slidenum">
              <a:rPr lang="en-US" smtClean="0"/>
              <a:pPr/>
              <a:t>17</a:t>
            </a:fld>
            <a:endParaRPr lang="en-US"/>
          </a:p>
        </p:txBody>
      </p:sp>
    </p:spTree>
    <p:extLst>
      <p:ext uri="{BB962C8B-B14F-4D97-AF65-F5344CB8AC3E}">
        <p14:creationId xmlns:p14="http://schemas.microsoft.com/office/powerpoint/2010/main" val="2478898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33538-FAA4-4B6F-B161-25F1CB6A1ACE}"/>
              </a:ext>
            </a:extLst>
          </p:cNvPr>
          <p:cNvSpPr>
            <a:spLocks noGrp="1"/>
          </p:cNvSpPr>
          <p:nvPr>
            <p:ph type="title"/>
          </p:nvPr>
        </p:nvSpPr>
        <p:spPr>
          <a:xfrm>
            <a:off x="3298054" y="432046"/>
            <a:ext cx="3637214" cy="571130"/>
          </a:xfrm>
        </p:spPr>
        <p:txBody>
          <a:bodyPr>
            <a:normAutofit fontScale="90000"/>
          </a:bodyPr>
          <a:lstStyle/>
          <a:p>
            <a:r>
              <a:rPr lang="en-US"/>
              <a:t>ISBL Distribution</a:t>
            </a:r>
          </a:p>
        </p:txBody>
      </p:sp>
      <p:graphicFrame>
        <p:nvGraphicFramePr>
          <p:cNvPr id="7" name="Content Placeholder 6">
            <a:extLst>
              <a:ext uri="{FF2B5EF4-FFF2-40B4-BE49-F238E27FC236}">
                <a16:creationId xmlns:a16="http://schemas.microsoft.com/office/drawing/2014/main" id="{08D79EE3-C781-4EF4-B680-C80EB45585AA}"/>
              </a:ext>
            </a:extLst>
          </p:cNvPr>
          <p:cNvGraphicFramePr>
            <a:graphicFrameLocks noGrp="1"/>
          </p:cNvGraphicFramePr>
          <p:nvPr>
            <p:ph idx="1"/>
            <p:extLst>
              <p:ext uri="{D42A27DB-BD31-4B8C-83A1-F6EECF244321}">
                <p14:modId xmlns:p14="http://schemas.microsoft.com/office/powerpoint/2010/main" val="2692523317"/>
              </p:ext>
            </p:extLst>
          </p:nvPr>
        </p:nvGraphicFramePr>
        <p:xfrm>
          <a:off x="-150921" y="599483"/>
          <a:ext cx="10783738" cy="4887697"/>
        </p:xfrm>
        <a:graphic>
          <a:graphicData uri="http://schemas.openxmlformats.org/drawingml/2006/chart">
            <c:chart xmlns:c="http://schemas.openxmlformats.org/drawingml/2006/chart" xmlns:r="http://schemas.openxmlformats.org/officeDocument/2006/relationships" r:id="rId3"/>
          </a:graphicData>
        </a:graphic>
      </p:graphicFrame>
      <p:sp>
        <p:nvSpPr>
          <p:cNvPr id="4" name="Slide Number Placeholder 3">
            <a:extLst>
              <a:ext uri="{FF2B5EF4-FFF2-40B4-BE49-F238E27FC236}">
                <a16:creationId xmlns:a16="http://schemas.microsoft.com/office/drawing/2014/main" id="{13496226-4B33-4D45-B824-CA6F482AF40A}"/>
              </a:ext>
            </a:extLst>
          </p:cNvPr>
          <p:cNvSpPr>
            <a:spLocks noGrp="1"/>
          </p:cNvSpPr>
          <p:nvPr>
            <p:ph type="sldNum" sz="quarter" idx="12"/>
          </p:nvPr>
        </p:nvSpPr>
        <p:spPr/>
        <p:txBody>
          <a:bodyPr/>
          <a:lstStyle/>
          <a:p>
            <a:fld id="{34B7E4EF-A1BD-40F4-AB7B-04F084DD991D}" type="slidenum">
              <a:rPr lang="en-US" sz="2800" smtClean="0"/>
              <a:pPr/>
              <a:t>18</a:t>
            </a:fld>
            <a:endParaRPr lang="en-US" sz="2800"/>
          </a:p>
        </p:txBody>
      </p:sp>
      <p:sp>
        <p:nvSpPr>
          <p:cNvPr id="3" name="TextBox 2">
            <a:extLst>
              <a:ext uri="{FF2B5EF4-FFF2-40B4-BE49-F238E27FC236}">
                <a16:creationId xmlns:a16="http://schemas.microsoft.com/office/drawing/2014/main" id="{84C0DC35-1897-4F9A-9243-A03946765B06}"/>
              </a:ext>
            </a:extLst>
          </p:cNvPr>
          <p:cNvSpPr txBox="1"/>
          <p:nvPr/>
        </p:nvSpPr>
        <p:spPr>
          <a:xfrm>
            <a:off x="2630868" y="5853050"/>
            <a:ext cx="5903650" cy="738664"/>
          </a:xfrm>
          <a:prstGeom prst="rect">
            <a:avLst/>
          </a:prstGeom>
          <a:noFill/>
        </p:spPr>
        <p:txBody>
          <a:bodyPr wrap="square" rtlCol="0">
            <a:spAutoFit/>
          </a:bodyPr>
          <a:lstStyle/>
          <a:p>
            <a:r>
              <a:rPr lang="en-US" sz="1400" dirty="0">
                <a:solidFill>
                  <a:schemeClr val="accent1"/>
                </a:solidFill>
              </a:rPr>
              <a:t>*High costs for the benzene section come from the benzene tower being the biggest in the process at 50 sieve trays at a diameter of 18.5 meters. </a:t>
            </a:r>
          </a:p>
        </p:txBody>
      </p:sp>
    </p:spTree>
    <p:extLst>
      <p:ext uri="{BB962C8B-B14F-4D97-AF65-F5344CB8AC3E}">
        <p14:creationId xmlns:p14="http://schemas.microsoft.com/office/powerpoint/2010/main" val="1329665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09CE5-C6B5-4351-B0EC-2A346E62FBD8}"/>
              </a:ext>
            </a:extLst>
          </p:cNvPr>
          <p:cNvSpPr>
            <a:spLocks noGrp="1"/>
          </p:cNvSpPr>
          <p:nvPr>
            <p:ph type="title"/>
          </p:nvPr>
        </p:nvSpPr>
        <p:spPr>
          <a:xfrm>
            <a:off x="1955677" y="450538"/>
            <a:ext cx="7765330" cy="1130423"/>
          </a:xfrm>
        </p:spPr>
        <p:txBody>
          <a:bodyPr>
            <a:normAutofit fontScale="90000"/>
          </a:bodyPr>
          <a:lstStyle/>
          <a:p>
            <a:r>
              <a:rPr lang="en-US" dirty="0"/>
              <a:t>Variable Costs of Production</a:t>
            </a:r>
            <a:br>
              <a:rPr lang="en-US" dirty="0"/>
            </a:br>
            <a:endParaRPr lang="en-US" dirty="0"/>
          </a:p>
        </p:txBody>
      </p:sp>
      <p:sp>
        <p:nvSpPr>
          <p:cNvPr id="4" name="Slide Number Placeholder 3">
            <a:extLst>
              <a:ext uri="{FF2B5EF4-FFF2-40B4-BE49-F238E27FC236}">
                <a16:creationId xmlns:a16="http://schemas.microsoft.com/office/drawing/2014/main" id="{9EDF197B-1595-47C6-B348-12FD35D5C840}"/>
              </a:ext>
            </a:extLst>
          </p:cNvPr>
          <p:cNvSpPr>
            <a:spLocks noGrp="1"/>
          </p:cNvSpPr>
          <p:nvPr>
            <p:ph type="sldNum" sz="quarter" idx="12"/>
          </p:nvPr>
        </p:nvSpPr>
        <p:spPr/>
        <p:txBody>
          <a:bodyPr/>
          <a:lstStyle/>
          <a:p>
            <a:fld id="{34B7E4EF-A1BD-40F4-AB7B-04F084DD991D}" type="slidenum">
              <a:rPr lang="en-US" smtClean="0"/>
              <a:pPr/>
              <a:t>19</a:t>
            </a:fld>
            <a:endParaRPr lang="en-US"/>
          </a:p>
        </p:txBody>
      </p:sp>
      <p:graphicFrame>
        <p:nvGraphicFramePr>
          <p:cNvPr id="5" name="Table 7">
            <a:extLst>
              <a:ext uri="{FF2B5EF4-FFF2-40B4-BE49-F238E27FC236}">
                <a16:creationId xmlns:a16="http://schemas.microsoft.com/office/drawing/2014/main" id="{E114DDCE-5C12-47D5-86C8-1CBE4A310C45}"/>
              </a:ext>
            </a:extLst>
          </p:cNvPr>
          <p:cNvGraphicFramePr>
            <a:graphicFrameLocks noGrp="1"/>
          </p:cNvGraphicFramePr>
          <p:nvPr>
            <p:extLst>
              <p:ext uri="{D42A27DB-BD31-4B8C-83A1-F6EECF244321}">
                <p14:modId xmlns:p14="http://schemas.microsoft.com/office/powerpoint/2010/main" val="296412614"/>
              </p:ext>
            </p:extLst>
          </p:nvPr>
        </p:nvGraphicFramePr>
        <p:xfrm>
          <a:off x="1864608" y="1322803"/>
          <a:ext cx="5896165" cy="2257851"/>
        </p:xfrm>
        <a:graphic>
          <a:graphicData uri="http://schemas.openxmlformats.org/drawingml/2006/table">
            <a:tbl>
              <a:tblPr firstRow="1" bandRow="1">
                <a:tableStyleId>{5C22544A-7EE6-4342-B048-85BDC9FD1C3A}</a:tableStyleId>
              </a:tblPr>
              <a:tblGrid>
                <a:gridCol w="3030728">
                  <a:extLst>
                    <a:ext uri="{9D8B030D-6E8A-4147-A177-3AD203B41FA5}">
                      <a16:colId xmlns:a16="http://schemas.microsoft.com/office/drawing/2014/main" val="1867664047"/>
                    </a:ext>
                  </a:extLst>
                </a:gridCol>
                <a:gridCol w="2865437">
                  <a:extLst>
                    <a:ext uri="{9D8B030D-6E8A-4147-A177-3AD203B41FA5}">
                      <a16:colId xmlns:a16="http://schemas.microsoft.com/office/drawing/2014/main" val="3282882930"/>
                    </a:ext>
                  </a:extLst>
                </a:gridCol>
              </a:tblGrid>
              <a:tr h="370840">
                <a:tc>
                  <a:txBody>
                    <a:bodyPr/>
                    <a:lstStyle/>
                    <a:p>
                      <a:pPr algn="ctr"/>
                      <a:r>
                        <a:rPr lang="en-US"/>
                        <a:t>Costs</a:t>
                      </a:r>
                    </a:p>
                  </a:txBody>
                  <a:tcPr/>
                </a:tc>
                <a:tc>
                  <a:txBody>
                    <a:bodyPr/>
                    <a:lstStyle/>
                    <a:p>
                      <a:pPr algn="ctr"/>
                      <a:r>
                        <a:rPr lang="en-US"/>
                        <a:t>$MM/yr</a:t>
                      </a:r>
                    </a:p>
                  </a:txBody>
                  <a:tcPr/>
                </a:tc>
                <a:extLst>
                  <a:ext uri="{0D108BD9-81ED-4DB2-BD59-A6C34878D82A}">
                    <a16:rowId xmlns:a16="http://schemas.microsoft.com/office/drawing/2014/main" val="556666915"/>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By-products</a:t>
                      </a:r>
                    </a:p>
                  </a:txBody>
                  <a:tcPr/>
                </a:tc>
                <a:tc>
                  <a:txBody>
                    <a:bodyPr/>
                    <a:lstStyle/>
                    <a:p>
                      <a:pPr algn="ctr"/>
                      <a:r>
                        <a:rPr lang="en-US" dirty="0"/>
                        <a:t>42.13</a:t>
                      </a:r>
                    </a:p>
                  </a:txBody>
                  <a:tcPr/>
                </a:tc>
                <a:extLst>
                  <a:ext uri="{0D108BD9-81ED-4DB2-BD59-A6C34878D82A}">
                    <a16:rowId xmlns:a16="http://schemas.microsoft.com/office/drawing/2014/main" val="3725132560"/>
                  </a:ext>
                </a:extLst>
              </a:tr>
              <a:tr h="403651">
                <a:tc>
                  <a:txBody>
                    <a:bodyPr/>
                    <a:lstStyle/>
                    <a:p>
                      <a:pPr algn="ctr"/>
                      <a:r>
                        <a:rPr lang="en-US" dirty="0"/>
                        <a:t>Total Raw Materials</a:t>
                      </a:r>
                    </a:p>
                  </a:txBody>
                  <a:tcPr/>
                </a:tc>
                <a:tc>
                  <a:txBody>
                    <a:bodyPr/>
                    <a:lstStyle/>
                    <a:p>
                      <a:pPr algn="ctr"/>
                      <a:r>
                        <a:rPr lang="en-US"/>
                        <a:t>2019.68</a:t>
                      </a:r>
                    </a:p>
                  </a:txBody>
                  <a:tcPr/>
                </a:tc>
                <a:extLst>
                  <a:ext uri="{0D108BD9-81ED-4DB2-BD59-A6C34878D82A}">
                    <a16:rowId xmlns:a16="http://schemas.microsoft.com/office/drawing/2014/main" val="2757500197"/>
                  </a:ext>
                </a:extLst>
              </a:tr>
              <a:tr h="370840">
                <a:tc>
                  <a:txBody>
                    <a:bodyPr/>
                    <a:lstStyle/>
                    <a:p>
                      <a:pPr algn="ctr"/>
                      <a:r>
                        <a:rPr lang="en-US"/>
                        <a:t>Consumables</a:t>
                      </a:r>
                    </a:p>
                  </a:txBody>
                  <a:tcPr/>
                </a:tc>
                <a:tc>
                  <a:txBody>
                    <a:bodyPr/>
                    <a:lstStyle/>
                    <a:p>
                      <a:pPr algn="ctr"/>
                      <a:r>
                        <a:rPr lang="en-US"/>
                        <a:t>2.58</a:t>
                      </a:r>
                    </a:p>
                  </a:txBody>
                  <a:tcPr/>
                </a:tc>
                <a:extLst>
                  <a:ext uri="{0D108BD9-81ED-4DB2-BD59-A6C34878D82A}">
                    <a16:rowId xmlns:a16="http://schemas.microsoft.com/office/drawing/2014/main" val="3785299692"/>
                  </a:ext>
                </a:extLst>
              </a:tr>
              <a:tr h="370840">
                <a:tc>
                  <a:txBody>
                    <a:bodyPr/>
                    <a:lstStyle/>
                    <a:p>
                      <a:pPr algn="ctr"/>
                      <a:r>
                        <a:rPr lang="en-US"/>
                        <a:t>Utilities</a:t>
                      </a:r>
                    </a:p>
                  </a:txBody>
                  <a:tcPr/>
                </a:tc>
                <a:tc>
                  <a:txBody>
                    <a:bodyPr/>
                    <a:lstStyle/>
                    <a:p>
                      <a:pPr algn="ctr"/>
                      <a:r>
                        <a:rPr lang="en-US"/>
                        <a:t>79.55</a:t>
                      </a:r>
                    </a:p>
                  </a:txBody>
                  <a:tcPr/>
                </a:tc>
                <a:extLst>
                  <a:ext uri="{0D108BD9-81ED-4DB2-BD59-A6C34878D82A}">
                    <a16:rowId xmlns:a16="http://schemas.microsoft.com/office/drawing/2014/main" val="2962277433"/>
                  </a:ext>
                </a:extLst>
              </a:tr>
              <a:tr h="370840">
                <a:tc>
                  <a:txBody>
                    <a:bodyPr/>
                    <a:lstStyle/>
                    <a:p>
                      <a:pPr algn="ctr"/>
                      <a:r>
                        <a:rPr lang="en-US"/>
                        <a:t>Variable Cost of Production</a:t>
                      </a:r>
                    </a:p>
                  </a:txBody>
                  <a:tcPr>
                    <a:solidFill>
                      <a:schemeClr val="accent2">
                        <a:lumMod val="60000"/>
                        <a:lumOff val="40000"/>
                      </a:schemeClr>
                    </a:solidFill>
                  </a:tcPr>
                </a:tc>
                <a:tc>
                  <a:txBody>
                    <a:bodyPr/>
                    <a:lstStyle/>
                    <a:p>
                      <a:pPr algn="ctr"/>
                      <a:r>
                        <a:rPr lang="en-US" dirty="0"/>
                        <a:t>2,057.09</a:t>
                      </a:r>
                    </a:p>
                  </a:txBody>
                  <a:tcPr>
                    <a:solidFill>
                      <a:schemeClr val="accent2">
                        <a:lumMod val="60000"/>
                        <a:lumOff val="40000"/>
                      </a:schemeClr>
                    </a:solidFill>
                  </a:tcPr>
                </a:tc>
                <a:extLst>
                  <a:ext uri="{0D108BD9-81ED-4DB2-BD59-A6C34878D82A}">
                    <a16:rowId xmlns:a16="http://schemas.microsoft.com/office/drawing/2014/main" val="2208481338"/>
                  </a:ext>
                </a:extLst>
              </a:tr>
            </a:tbl>
          </a:graphicData>
        </a:graphic>
      </p:graphicFrame>
      <p:graphicFrame>
        <p:nvGraphicFramePr>
          <p:cNvPr id="3" name="Diagram 2">
            <a:extLst>
              <a:ext uri="{FF2B5EF4-FFF2-40B4-BE49-F238E27FC236}">
                <a16:creationId xmlns:a16="http://schemas.microsoft.com/office/drawing/2014/main" id="{688E565C-8E50-4453-AE52-BD0B3D0894D4}"/>
              </a:ext>
            </a:extLst>
          </p:cNvPr>
          <p:cNvGraphicFramePr/>
          <p:nvPr>
            <p:extLst>
              <p:ext uri="{D42A27DB-BD31-4B8C-83A1-F6EECF244321}">
                <p14:modId xmlns:p14="http://schemas.microsoft.com/office/powerpoint/2010/main" val="4164362831"/>
              </p:ext>
            </p:extLst>
          </p:nvPr>
        </p:nvGraphicFramePr>
        <p:xfrm>
          <a:off x="1141756" y="3850341"/>
          <a:ext cx="5896166" cy="30720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9" name="Group 8">
            <a:extLst>
              <a:ext uri="{FF2B5EF4-FFF2-40B4-BE49-F238E27FC236}">
                <a16:creationId xmlns:a16="http://schemas.microsoft.com/office/drawing/2014/main" id="{45E16377-DC75-47C8-AFEA-539C20FA60B7}"/>
              </a:ext>
            </a:extLst>
          </p:cNvPr>
          <p:cNvGrpSpPr/>
          <p:nvPr/>
        </p:nvGrpSpPr>
        <p:grpSpPr>
          <a:xfrm>
            <a:off x="4233823" y="3692762"/>
            <a:ext cx="2051470" cy="1055106"/>
            <a:chOff x="4003093" y="183503"/>
            <a:chExt cx="2051470" cy="1055106"/>
          </a:xfrm>
        </p:grpSpPr>
        <p:sp>
          <p:nvSpPr>
            <p:cNvPr id="10" name="Rectangle 9">
              <a:extLst>
                <a:ext uri="{FF2B5EF4-FFF2-40B4-BE49-F238E27FC236}">
                  <a16:creationId xmlns:a16="http://schemas.microsoft.com/office/drawing/2014/main" id="{BFDA0AE9-099E-4CAB-86F3-32B1E09F4E12}"/>
                </a:ext>
              </a:extLst>
            </p:cNvPr>
            <p:cNvSpPr/>
            <p:nvPr/>
          </p:nvSpPr>
          <p:spPr>
            <a:xfrm>
              <a:off x="4003093" y="183503"/>
              <a:ext cx="1472602" cy="48262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1" name="TextBox 10">
              <a:extLst>
                <a:ext uri="{FF2B5EF4-FFF2-40B4-BE49-F238E27FC236}">
                  <a16:creationId xmlns:a16="http://schemas.microsoft.com/office/drawing/2014/main" id="{66E7ED5C-1373-4A8D-ABA0-44368170172B}"/>
                </a:ext>
              </a:extLst>
            </p:cNvPr>
            <p:cNvSpPr txBox="1"/>
            <p:nvPr/>
          </p:nvSpPr>
          <p:spPr>
            <a:xfrm>
              <a:off x="4581961" y="755984"/>
              <a:ext cx="1472602" cy="48262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6680" tIns="38100" rIns="106680" bIns="38100" numCol="1" spcCol="1270" anchor="ctr" anchorCtr="0">
              <a:noAutofit/>
            </a:bodyPr>
            <a:lstStyle/>
            <a:p>
              <a:pPr marL="0" lvl="0" indent="0" algn="r" defTabSz="666750">
                <a:lnSpc>
                  <a:spcPct val="90000"/>
                </a:lnSpc>
                <a:spcBef>
                  <a:spcPct val="0"/>
                </a:spcBef>
                <a:spcAft>
                  <a:spcPct val="35000"/>
                </a:spcAft>
                <a:buNone/>
              </a:pPr>
              <a:r>
                <a:rPr lang="en-US" sz="1400" kern="1200" dirty="0"/>
                <a:t>Benzene, OX</a:t>
              </a:r>
            </a:p>
          </p:txBody>
        </p:sp>
      </p:grpSp>
      <p:grpSp>
        <p:nvGrpSpPr>
          <p:cNvPr id="12" name="Group 11">
            <a:extLst>
              <a:ext uri="{FF2B5EF4-FFF2-40B4-BE49-F238E27FC236}">
                <a16:creationId xmlns:a16="http://schemas.microsoft.com/office/drawing/2014/main" id="{34A47184-87C5-4AE3-AC3E-1E73E61C4582}"/>
              </a:ext>
            </a:extLst>
          </p:cNvPr>
          <p:cNvGrpSpPr/>
          <p:nvPr/>
        </p:nvGrpSpPr>
        <p:grpSpPr>
          <a:xfrm>
            <a:off x="4970124" y="3215316"/>
            <a:ext cx="2188418" cy="2653684"/>
            <a:chOff x="3287277" y="183503"/>
            <a:chExt cx="2188418" cy="2653684"/>
          </a:xfrm>
        </p:grpSpPr>
        <p:sp>
          <p:nvSpPr>
            <p:cNvPr id="13" name="Rectangle 12">
              <a:extLst>
                <a:ext uri="{FF2B5EF4-FFF2-40B4-BE49-F238E27FC236}">
                  <a16:creationId xmlns:a16="http://schemas.microsoft.com/office/drawing/2014/main" id="{F40DD9CF-ECC8-4B05-90D2-095B10D83478}"/>
                </a:ext>
              </a:extLst>
            </p:cNvPr>
            <p:cNvSpPr/>
            <p:nvPr/>
          </p:nvSpPr>
          <p:spPr>
            <a:xfrm>
              <a:off x="4003093" y="183503"/>
              <a:ext cx="1472602" cy="48262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4" name="TextBox 13">
              <a:extLst>
                <a:ext uri="{FF2B5EF4-FFF2-40B4-BE49-F238E27FC236}">
                  <a16:creationId xmlns:a16="http://schemas.microsoft.com/office/drawing/2014/main" id="{DA153341-D418-4C8C-A7E8-9A80C87BD9A4}"/>
                </a:ext>
              </a:extLst>
            </p:cNvPr>
            <p:cNvSpPr txBox="1"/>
            <p:nvPr/>
          </p:nvSpPr>
          <p:spPr>
            <a:xfrm>
              <a:off x="3287277" y="2354562"/>
              <a:ext cx="1806057" cy="48262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6680" tIns="38100" rIns="106680" bIns="38100" numCol="1" spcCol="1270" anchor="ctr" anchorCtr="0">
              <a:noAutofit/>
            </a:bodyPr>
            <a:lstStyle/>
            <a:p>
              <a:pPr lvl="0"/>
              <a:r>
                <a:rPr lang="en-US" sz="1400" dirty="0"/>
                <a:t>DTBB, TBB</a:t>
              </a:r>
            </a:p>
          </p:txBody>
        </p:sp>
      </p:grpSp>
      <p:grpSp>
        <p:nvGrpSpPr>
          <p:cNvPr id="15" name="Group 14">
            <a:extLst>
              <a:ext uri="{FF2B5EF4-FFF2-40B4-BE49-F238E27FC236}">
                <a16:creationId xmlns:a16="http://schemas.microsoft.com/office/drawing/2014/main" id="{3F19887C-53E5-49B1-85ED-AB64423182BD}"/>
              </a:ext>
            </a:extLst>
          </p:cNvPr>
          <p:cNvGrpSpPr/>
          <p:nvPr/>
        </p:nvGrpSpPr>
        <p:grpSpPr>
          <a:xfrm>
            <a:off x="4970124" y="3367716"/>
            <a:ext cx="2866628" cy="3071511"/>
            <a:chOff x="3363315" y="183503"/>
            <a:chExt cx="2112380" cy="2941544"/>
          </a:xfrm>
        </p:grpSpPr>
        <p:sp>
          <p:nvSpPr>
            <p:cNvPr id="16" name="Rectangle 15">
              <a:extLst>
                <a:ext uri="{FF2B5EF4-FFF2-40B4-BE49-F238E27FC236}">
                  <a16:creationId xmlns:a16="http://schemas.microsoft.com/office/drawing/2014/main" id="{961AAB1D-8DAF-4ACD-87F7-328A5FFAE20C}"/>
                </a:ext>
              </a:extLst>
            </p:cNvPr>
            <p:cNvSpPr/>
            <p:nvPr/>
          </p:nvSpPr>
          <p:spPr>
            <a:xfrm>
              <a:off x="4003093" y="183503"/>
              <a:ext cx="1472602" cy="48262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7" name="TextBox 16">
              <a:extLst>
                <a:ext uri="{FF2B5EF4-FFF2-40B4-BE49-F238E27FC236}">
                  <a16:creationId xmlns:a16="http://schemas.microsoft.com/office/drawing/2014/main" id="{02179515-4D04-49FB-87B6-E1689129809E}"/>
                </a:ext>
              </a:extLst>
            </p:cNvPr>
            <p:cNvSpPr txBox="1"/>
            <p:nvPr/>
          </p:nvSpPr>
          <p:spPr>
            <a:xfrm>
              <a:off x="3363315" y="2642422"/>
              <a:ext cx="1862734" cy="48262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6680" tIns="38100" rIns="106680" bIns="38100" numCol="1" spcCol="1270" anchor="ctr" anchorCtr="0">
              <a:noAutofit/>
            </a:bodyPr>
            <a:lstStyle/>
            <a:p>
              <a:pPr lvl="0"/>
              <a:r>
                <a:rPr lang="en-US" sz="1400" dirty="0"/>
                <a:t>LP/MP Steam (76$MM) , Cooling Water (3 $MM), Electricity (0.1 $MM)</a:t>
              </a:r>
            </a:p>
          </p:txBody>
        </p:sp>
      </p:grpSp>
      <p:grpSp>
        <p:nvGrpSpPr>
          <p:cNvPr id="18" name="Group 17">
            <a:extLst>
              <a:ext uri="{FF2B5EF4-FFF2-40B4-BE49-F238E27FC236}">
                <a16:creationId xmlns:a16="http://schemas.microsoft.com/office/drawing/2014/main" id="{93031CAF-456A-473D-A6CC-E19841A3288B}"/>
              </a:ext>
            </a:extLst>
          </p:cNvPr>
          <p:cNvGrpSpPr/>
          <p:nvPr/>
        </p:nvGrpSpPr>
        <p:grpSpPr>
          <a:xfrm>
            <a:off x="5031489" y="4629104"/>
            <a:ext cx="1806058" cy="503949"/>
            <a:chOff x="4000874" y="183503"/>
            <a:chExt cx="2200167" cy="848596"/>
          </a:xfrm>
        </p:grpSpPr>
        <p:sp>
          <p:nvSpPr>
            <p:cNvPr id="19" name="Rectangle 18">
              <a:extLst>
                <a:ext uri="{FF2B5EF4-FFF2-40B4-BE49-F238E27FC236}">
                  <a16:creationId xmlns:a16="http://schemas.microsoft.com/office/drawing/2014/main" id="{2F8E2051-45D4-4E36-9B5C-CFE4F85D8896}"/>
                </a:ext>
              </a:extLst>
            </p:cNvPr>
            <p:cNvSpPr/>
            <p:nvPr/>
          </p:nvSpPr>
          <p:spPr>
            <a:xfrm>
              <a:off x="4003093" y="183503"/>
              <a:ext cx="1472602" cy="48262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0" name="TextBox 19">
              <a:extLst>
                <a:ext uri="{FF2B5EF4-FFF2-40B4-BE49-F238E27FC236}">
                  <a16:creationId xmlns:a16="http://schemas.microsoft.com/office/drawing/2014/main" id="{69AF8045-D040-4E94-9396-DD8A5E5B566B}"/>
                </a:ext>
              </a:extLst>
            </p:cNvPr>
            <p:cNvSpPr txBox="1"/>
            <p:nvPr/>
          </p:nvSpPr>
          <p:spPr>
            <a:xfrm>
              <a:off x="4000874" y="549474"/>
              <a:ext cx="2200167" cy="48262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6680" tIns="38100" rIns="106680" bIns="38100" numCol="1" spcCol="1270" anchor="ctr" anchorCtr="0">
              <a:noAutofit/>
            </a:bodyPr>
            <a:lstStyle/>
            <a:p>
              <a:pPr lvl="0"/>
              <a:r>
                <a:rPr lang="en-US" sz="1400" dirty="0"/>
                <a:t>Naphtha, Methanol</a:t>
              </a:r>
            </a:p>
          </p:txBody>
        </p:sp>
      </p:grpSp>
    </p:spTree>
    <p:extLst>
      <p:ext uri="{BB962C8B-B14F-4D97-AF65-F5344CB8AC3E}">
        <p14:creationId xmlns:p14="http://schemas.microsoft.com/office/powerpoint/2010/main" val="35435538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8E6C0B-F9FC-48CD-8B5A-63339356BB16}"/>
              </a:ext>
            </a:extLst>
          </p:cNvPr>
          <p:cNvSpPr>
            <a:spLocks noGrp="1"/>
          </p:cNvSpPr>
          <p:nvPr>
            <p:ph type="sldNum" sz="quarter" idx="12"/>
          </p:nvPr>
        </p:nvSpPr>
        <p:spPr/>
        <p:txBody>
          <a:bodyPr/>
          <a:lstStyle/>
          <a:p>
            <a:fld id="{34B7E4EF-A1BD-40F4-AB7B-04F084DD991D}" type="slidenum">
              <a:rPr lang="en-US" smtClean="0"/>
              <a:pPr/>
              <a:t>20</a:t>
            </a:fld>
            <a:endParaRPr lang="en-US"/>
          </a:p>
        </p:txBody>
      </p:sp>
      <p:graphicFrame>
        <p:nvGraphicFramePr>
          <p:cNvPr id="5" name="Chart 4">
            <a:extLst>
              <a:ext uri="{FF2B5EF4-FFF2-40B4-BE49-F238E27FC236}">
                <a16:creationId xmlns:a16="http://schemas.microsoft.com/office/drawing/2014/main" id="{3E0048B7-1861-4D9D-8E3D-0DCDEB4B9F0B}"/>
              </a:ext>
            </a:extLst>
          </p:cNvPr>
          <p:cNvGraphicFramePr/>
          <p:nvPr>
            <p:extLst>
              <p:ext uri="{D42A27DB-BD31-4B8C-83A1-F6EECF244321}">
                <p14:modId xmlns:p14="http://schemas.microsoft.com/office/powerpoint/2010/main" val="522603186"/>
              </p:ext>
            </p:extLst>
          </p:nvPr>
        </p:nvGraphicFramePr>
        <p:xfrm>
          <a:off x="335665" y="323272"/>
          <a:ext cx="9517187" cy="640648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53397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3BB2CD-FC72-4365-B515-1701C085F9A3}"/>
              </a:ext>
            </a:extLst>
          </p:cNvPr>
          <p:cNvSpPr>
            <a:spLocks noGrp="1"/>
          </p:cNvSpPr>
          <p:nvPr>
            <p:ph type="sldNum" sz="quarter" idx="12"/>
          </p:nvPr>
        </p:nvSpPr>
        <p:spPr/>
        <p:txBody>
          <a:bodyPr/>
          <a:lstStyle/>
          <a:p>
            <a:fld id="{34B7E4EF-A1BD-40F4-AB7B-04F084DD991D}" type="slidenum">
              <a:rPr lang="en-US" smtClean="0"/>
              <a:pPr/>
              <a:t>21</a:t>
            </a:fld>
            <a:endParaRPr lang="en-US"/>
          </a:p>
        </p:txBody>
      </p:sp>
      <p:graphicFrame>
        <p:nvGraphicFramePr>
          <p:cNvPr id="5" name="Table 6">
            <a:extLst>
              <a:ext uri="{FF2B5EF4-FFF2-40B4-BE49-F238E27FC236}">
                <a16:creationId xmlns:a16="http://schemas.microsoft.com/office/drawing/2014/main" id="{C7B3AC31-17B7-4289-AF13-EDE33EDB66EB}"/>
              </a:ext>
            </a:extLst>
          </p:cNvPr>
          <p:cNvGraphicFramePr>
            <a:graphicFrameLocks noGrp="1"/>
          </p:cNvGraphicFramePr>
          <p:nvPr>
            <p:extLst>
              <p:ext uri="{D42A27DB-BD31-4B8C-83A1-F6EECF244321}">
                <p14:modId xmlns:p14="http://schemas.microsoft.com/office/powerpoint/2010/main" val="692349038"/>
              </p:ext>
            </p:extLst>
          </p:nvPr>
        </p:nvGraphicFramePr>
        <p:xfrm>
          <a:off x="780086" y="1136917"/>
          <a:ext cx="8128000" cy="1483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532681284"/>
                    </a:ext>
                  </a:extLst>
                </a:gridCol>
                <a:gridCol w="4064000">
                  <a:extLst>
                    <a:ext uri="{9D8B030D-6E8A-4147-A177-3AD203B41FA5}">
                      <a16:colId xmlns:a16="http://schemas.microsoft.com/office/drawing/2014/main" val="869833693"/>
                    </a:ext>
                  </a:extLst>
                </a:gridCol>
              </a:tblGrid>
              <a:tr h="370840">
                <a:tc>
                  <a:txBody>
                    <a:bodyPr/>
                    <a:lstStyle/>
                    <a:p>
                      <a:pPr algn="ctr"/>
                      <a:r>
                        <a:rPr lang="en-US" dirty="0"/>
                        <a:t>Costs</a:t>
                      </a:r>
                    </a:p>
                  </a:txBody>
                  <a:tcPr/>
                </a:tc>
                <a:tc>
                  <a:txBody>
                    <a:bodyPr/>
                    <a:lstStyle/>
                    <a:p>
                      <a:pPr algn="ctr"/>
                      <a:r>
                        <a:rPr lang="en-US" dirty="0"/>
                        <a:t>$M/</a:t>
                      </a:r>
                      <a:r>
                        <a:rPr lang="en-US" dirty="0" err="1"/>
                        <a:t>yr</a:t>
                      </a:r>
                      <a:endParaRPr lang="en-US" dirty="0"/>
                    </a:p>
                  </a:txBody>
                  <a:tcPr/>
                </a:tc>
                <a:extLst>
                  <a:ext uri="{0D108BD9-81ED-4DB2-BD59-A6C34878D82A}">
                    <a16:rowId xmlns:a16="http://schemas.microsoft.com/office/drawing/2014/main" val="907101450"/>
                  </a:ext>
                </a:extLst>
              </a:tr>
              <a:tr h="370840">
                <a:tc>
                  <a:txBody>
                    <a:bodyPr/>
                    <a:lstStyle/>
                    <a:p>
                      <a:pPr algn="ctr"/>
                      <a:r>
                        <a:rPr lang="en-US" dirty="0"/>
                        <a:t>Labor</a:t>
                      </a:r>
                    </a:p>
                  </a:txBody>
                  <a:tcPr/>
                </a:tc>
                <a:tc>
                  <a:txBody>
                    <a:bodyPr/>
                    <a:lstStyle/>
                    <a:p>
                      <a:pPr algn="ctr"/>
                      <a:r>
                        <a:rPr lang="en-US" dirty="0"/>
                        <a:t>432.00</a:t>
                      </a:r>
                    </a:p>
                  </a:txBody>
                  <a:tcPr/>
                </a:tc>
                <a:extLst>
                  <a:ext uri="{0D108BD9-81ED-4DB2-BD59-A6C34878D82A}">
                    <a16:rowId xmlns:a16="http://schemas.microsoft.com/office/drawing/2014/main" val="2434688344"/>
                  </a:ext>
                </a:extLst>
              </a:tr>
              <a:tr h="370840">
                <a:tc>
                  <a:txBody>
                    <a:bodyPr/>
                    <a:lstStyle/>
                    <a:p>
                      <a:pPr algn="ctr"/>
                      <a:r>
                        <a:rPr lang="en-US" dirty="0"/>
                        <a:t>Supervision (25% of labor)</a:t>
                      </a:r>
                    </a:p>
                  </a:txBody>
                  <a:tcPr/>
                </a:tc>
                <a:tc>
                  <a:txBody>
                    <a:bodyPr/>
                    <a:lstStyle/>
                    <a:p>
                      <a:pPr algn="ctr"/>
                      <a:r>
                        <a:rPr lang="en-US" dirty="0"/>
                        <a:t>108.00</a:t>
                      </a:r>
                    </a:p>
                  </a:txBody>
                  <a:tcPr/>
                </a:tc>
                <a:extLst>
                  <a:ext uri="{0D108BD9-81ED-4DB2-BD59-A6C34878D82A}">
                    <a16:rowId xmlns:a16="http://schemas.microsoft.com/office/drawing/2014/main" val="69445151"/>
                  </a:ext>
                </a:extLst>
              </a:tr>
              <a:tr h="370840">
                <a:tc>
                  <a:txBody>
                    <a:bodyPr/>
                    <a:lstStyle/>
                    <a:p>
                      <a:pPr algn="ctr"/>
                      <a:r>
                        <a:rPr lang="en-US" dirty="0"/>
                        <a:t>Direct Overhead (45% of labor)</a:t>
                      </a:r>
                    </a:p>
                  </a:txBody>
                  <a:tcPr/>
                </a:tc>
                <a:tc>
                  <a:txBody>
                    <a:bodyPr/>
                    <a:lstStyle/>
                    <a:p>
                      <a:pPr algn="ctr"/>
                      <a:r>
                        <a:rPr lang="en-US" dirty="0"/>
                        <a:t>243.00</a:t>
                      </a:r>
                    </a:p>
                  </a:txBody>
                  <a:tcPr/>
                </a:tc>
                <a:extLst>
                  <a:ext uri="{0D108BD9-81ED-4DB2-BD59-A6C34878D82A}">
                    <a16:rowId xmlns:a16="http://schemas.microsoft.com/office/drawing/2014/main" val="3847527602"/>
                  </a:ext>
                </a:extLst>
              </a:tr>
            </a:tbl>
          </a:graphicData>
        </a:graphic>
      </p:graphicFrame>
      <p:sp>
        <p:nvSpPr>
          <p:cNvPr id="6" name="TextBox 5">
            <a:extLst>
              <a:ext uri="{FF2B5EF4-FFF2-40B4-BE49-F238E27FC236}">
                <a16:creationId xmlns:a16="http://schemas.microsoft.com/office/drawing/2014/main" id="{0E4DA4E6-2B6C-40E8-B39F-7BC75CD13A32}"/>
              </a:ext>
            </a:extLst>
          </p:cNvPr>
          <p:cNvSpPr txBox="1"/>
          <p:nvPr/>
        </p:nvSpPr>
        <p:spPr>
          <a:xfrm>
            <a:off x="2122850" y="2649423"/>
            <a:ext cx="8128000" cy="276999"/>
          </a:xfrm>
          <a:prstGeom prst="rect">
            <a:avLst/>
          </a:prstGeom>
          <a:noFill/>
        </p:spPr>
        <p:txBody>
          <a:bodyPr wrap="square" rtlCol="0">
            <a:spAutoFit/>
          </a:bodyPr>
          <a:lstStyle/>
          <a:p>
            <a:r>
              <a:rPr lang="en-US" sz="1200" dirty="0"/>
              <a:t>*The labor is calculated at 3 shifts, 4.8 operators per shift, at $30,000/</a:t>
            </a:r>
            <a:r>
              <a:rPr lang="en-US" sz="1200" dirty="0" err="1"/>
              <a:t>yr</a:t>
            </a:r>
            <a:endParaRPr lang="en-US" sz="1200" dirty="0"/>
          </a:p>
        </p:txBody>
      </p:sp>
      <p:sp>
        <p:nvSpPr>
          <p:cNvPr id="7" name="Title 1">
            <a:extLst>
              <a:ext uri="{FF2B5EF4-FFF2-40B4-BE49-F238E27FC236}">
                <a16:creationId xmlns:a16="http://schemas.microsoft.com/office/drawing/2014/main" id="{F3E4B141-893E-4BB7-8F7C-835B840464D5}"/>
              </a:ext>
            </a:extLst>
          </p:cNvPr>
          <p:cNvSpPr>
            <a:spLocks noGrp="1"/>
          </p:cNvSpPr>
          <p:nvPr>
            <p:ph type="title"/>
          </p:nvPr>
        </p:nvSpPr>
        <p:spPr>
          <a:xfrm>
            <a:off x="2213700" y="71244"/>
            <a:ext cx="7946300" cy="890491"/>
          </a:xfrm>
        </p:spPr>
        <p:txBody>
          <a:bodyPr>
            <a:normAutofit fontScale="90000"/>
          </a:bodyPr>
          <a:lstStyle/>
          <a:p>
            <a:r>
              <a:rPr lang="en-US" dirty="0"/>
              <a:t>Fixed Costs of Production</a:t>
            </a:r>
            <a:br>
              <a:rPr lang="en-US" dirty="0"/>
            </a:br>
            <a:endParaRPr lang="en-US" dirty="0"/>
          </a:p>
        </p:txBody>
      </p:sp>
      <p:sp>
        <p:nvSpPr>
          <p:cNvPr id="8" name="Title 1">
            <a:extLst>
              <a:ext uri="{FF2B5EF4-FFF2-40B4-BE49-F238E27FC236}">
                <a16:creationId xmlns:a16="http://schemas.microsoft.com/office/drawing/2014/main" id="{98E95368-551D-4A7D-9769-56295904D91C}"/>
              </a:ext>
            </a:extLst>
          </p:cNvPr>
          <p:cNvSpPr txBox="1">
            <a:spLocks/>
          </p:cNvSpPr>
          <p:nvPr/>
        </p:nvSpPr>
        <p:spPr>
          <a:xfrm>
            <a:off x="3353358" y="713580"/>
            <a:ext cx="4698687" cy="838838"/>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Worker Compensation</a:t>
            </a:r>
          </a:p>
        </p:txBody>
      </p:sp>
      <p:graphicFrame>
        <p:nvGraphicFramePr>
          <p:cNvPr id="10" name="Table 6">
            <a:extLst>
              <a:ext uri="{FF2B5EF4-FFF2-40B4-BE49-F238E27FC236}">
                <a16:creationId xmlns:a16="http://schemas.microsoft.com/office/drawing/2014/main" id="{CC7BFB1E-5310-4EDC-8B06-86EF2B22814C}"/>
              </a:ext>
            </a:extLst>
          </p:cNvPr>
          <p:cNvGraphicFramePr>
            <a:graphicFrameLocks noGrp="1"/>
          </p:cNvGraphicFramePr>
          <p:nvPr>
            <p:extLst>
              <p:ext uri="{D42A27DB-BD31-4B8C-83A1-F6EECF244321}">
                <p14:modId xmlns:p14="http://schemas.microsoft.com/office/powerpoint/2010/main" val="3275891413"/>
              </p:ext>
            </p:extLst>
          </p:nvPr>
        </p:nvGraphicFramePr>
        <p:xfrm>
          <a:off x="780086" y="3429000"/>
          <a:ext cx="8128000" cy="20218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532681284"/>
                    </a:ext>
                  </a:extLst>
                </a:gridCol>
                <a:gridCol w="4064000">
                  <a:extLst>
                    <a:ext uri="{9D8B030D-6E8A-4147-A177-3AD203B41FA5}">
                      <a16:colId xmlns:a16="http://schemas.microsoft.com/office/drawing/2014/main" val="869833693"/>
                    </a:ext>
                  </a:extLst>
                </a:gridCol>
              </a:tblGrid>
              <a:tr h="370840">
                <a:tc>
                  <a:txBody>
                    <a:bodyPr/>
                    <a:lstStyle/>
                    <a:p>
                      <a:pPr algn="ctr"/>
                      <a:r>
                        <a:rPr lang="en-US" dirty="0"/>
                        <a:t>Costs</a:t>
                      </a:r>
                    </a:p>
                  </a:txBody>
                  <a:tcPr/>
                </a:tc>
                <a:tc>
                  <a:txBody>
                    <a:bodyPr/>
                    <a:lstStyle/>
                    <a:p>
                      <a:pPr algn="ctr"/>
                      <a:r>
                        <a:rPr lang="en-US" dirty="0"/>
                        <a:t>$M/</a:t>
                      </a:r>
                      <a:r>
                        <a:rPr lang="en-US" dirty="0" err="1"/>
                        <a:t>yr</a:t>
                      </a:r>
                      <a:endParaRPr lang="en-US" dirty="0"/>
                    </a:p>
                  </a:txBody>
                  <a:tcPr/>
                </a:tc>
                <a:extLst>
                  <a:ext uri="{0D108BD9-81ED-4DB2-BD59-A6C34878D82A}">
                    <a16:rowId xmlns:a16="http://schemas.microsoft.com/office/drawing/2014/main" val="907101450"/>
                  </a:ext>
                </a:extLst>
              </a:tr>
              <a:tr h="370840">
                <a:tc>
                  <a:txBody>
                    <a:bodyPr/>
                    <a:lstStyle/>
                    <a:p>
                      <a:pPr algn="ctr"/>
                      <a:r>
                        <a:rPr lang="en-US" dirty="0"/>
                        <a:t>Maintenance (3% of ISBL)</a:t>
                      </a:r>
                    </a:p>
                  </a:txBody>
                  <a:tcPr/>
                </a:tc>
                <a:tc>
                  <a:txBody>
                    <a:bodyPr/>
                    <a:lstStyle/>
                    <a:p>
                      <a:pPr algn="ctr"/>
                      <a:r>
                        <a:rPr lang="en-US" dirty="0"/>
                        <a:t>2,354.26</a:t>
                      </a:r>
                    </a:p>
                  </a:txBody>
                  <a:tcPr/>
                </a:tc>
                <a:extLst>
                  <a:ext uri="{0D108BD9-81ED-4DB2-BD59-A6C34878D82A}">
                    <a16:rowId xmlns:a16="http://schemas.microsoft.com/office/drawing/2014/main" val="2434688344"/>
                  </a:ext>
                </a:extLst>
              </a:tr>
              <a:tr h="370840">
                <a:tc>
                  <a:txBody>
                    <a:bodyPr/>
                    <a:lstStyle/>
                    <a:p>
                      <a:pPr algn="ctr"/>
                      <a:r>
                        <a:rPr lang="en-US" dirty="0"/>
                        <a:t>Plant Overhead (65% of labor and maintenance)</a:t>
                      </a:r>
                    </a:p>
                  </a:txBody>
                  <a:tcPr/>
                </a:tc>
                <a:tc>
                  <a:txBody>
                    <a:bodyPr/>
                    <a:lstStyle/>
                    <a:p>
                      <a:pPr algn="ctr"/>
                      <a:r>
                        <a:rPr lang="en-US" dirty="0"/>
                        <a:t>2,039.22</a:t>
                      </a:r>
                    </a:p>
                  </a:txBody>
                  <a:tcPr/>
                </a:tc>
                <a:extLst>
                  <a:ext uri="{0D108BD9-81ED-4DB2-BD59-A6C34878D82A}">
                    <a16:rowId xmlns:a16="http://schemas.microsoft.com/office/drawing/2014/main" val="69445151"/>
                  </a:ext>
                </a:extLst>
              </a:tr>
              <a:tr h="370840">
                <a:tc>
                  <a:txBody>
                    <a:bodyPr/>
                    <a:lstStyle/>
                    <a:p>
                      <a:pPr algn="ctr"/>
                      <a:r>
                        <a:rPr lang="en-US" dirty="0"/>
                        <a:t>Tax and Insurance (2% of fixed capital)</a:t>
                      </a:r>
                    </a:p>
                  </a:txBody>
                  <a:tcPr/>
                </a:tc>
                <a:tc>
                  <a:txBody>
                    <a:bodyPr/>
                    <a:lstStyle/>
                    <a:p>
                      <a:pPr algn="ctr"/>
                      <a:r>
                        <a:rPr lang="en-US" dirty="0"/>
                        <a:t>1,569.51</a:t>
                      </a:r>
                    </a:p>
                  </a:txBody>
                  <a:tcPr/>
                </a:tc>
                <a:extLst>
                  <a:ext uri="{0D108BD9-81ED-4DB2-BD59-A6C34878D82A}">
                    <a16:rowId xmlns:a16="http://schemas.microsoft.com/office/drawing/2014/main" val="3847527602"/>
                  </a:ext>
                </a:extLst>
              </a:tr>
            </a:tbl>
          </a:graphicData>
        </a:graphic>
      </p:graphicFrame>
      <p:sp>
        <p:nvSpPr>
          <p:cNvPr id="11" name="Title 1">
            <a:extLst>
              <a:ext uri="{FF2B5EF4-FFF2-40B4-BE49-F238E27FC236}">
                <a16:creationId xmlns:a16="http://schemas.microsoft.com/office/drawing/2014/main" id="{92A78A81-7B29-402B-80C4-9471D87F371D}"/>
              </a:ext>
            </a:extLst>
          </p:cNvPr>
          <p:cNvSpPr txBox="1">
            <a:spLocks/>
          </p:cNvSpPr>
          <p:nvPr/>
        </p:nvSpPr>
        <p:spPr>
          <a:xfrm>
            <a:off x="2574641" y="3071682"/>
            <a:ext cx="4698687" cy="838838"/>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Maintenance and Overhead Expense</a:t>
            </a:r>
          </a:p>
        </p:txBody>
      </p:sp>
      <p:graphicFrame>
        <p:nvGraphicFramePr>
          <p:cNvPr id="12" name="Table 12">
            <a:extLst>
              <a:ext uri="{FF2B5EF4-FFF2-40B4-BE49-F238E27FC236}">
                <a16:creationId xmlns:a16="http://schemas.microsoft.com/office/drawing/2014/main" id="{63E8ECDB-B8ED-47EA-AA1C-4AEACA06071F}"/>
              </a:ext>
            </a:extLst>
          </p:cNvPr>
          <p:cNvGraphicFramePr>
            <a:graphicFrameLocks noGrp="1"/>
          </p:cNvGraphicFramePr>
          <p:nvPr>
            <p:extLst>
              <p:ext uri="{D42A27DB-BD31-4B8C-83A1-F6EECF244321}">
                <p14:modId xmlns:p14="http://schemas.microsoft.com/office/powerpoint/2010/main" val="3608066642"/>
              </p:ext>
            </p:extLst>
          </p:nvPr>
        </p:nvGraphicFramePr>
        <p:xfrm>
          <a:off x="780086" y="6144420"/>
          <a:ext cx="8128000" cy="3708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758674762"/>
                    </a:ext>
                  </a:extLst>
                </a:gridCol>
                <a:gridCol w="4064000">
                  <a:extLst>
                    <a:ext uri="{9D8B030D-6E8A-4147-A177-3AD203B41FA5}">
                      <a16:colId xmlns:a16="http://schemas.microsoft.com/office/drawing/2014/main" val="2741415515"/>
                    </a:ext>
                  </a:extLst>
                </a:gridCol>
              </a:tblGrid>
              <a:tr h="370840">
                <a:tc>
                  <a:txBody>
                    <a:bodyPr/>
                    <a:lstStyle/>
                    <a:p>
                      <a:pPr algn="ctr"/>
                      <a:r>
                        <a:rPr lang="en-US" dirty="0"/>
                        <a:t>Total Fixed Cost of Production</a:t>
                      </a:r>
                    </a:p>
                  </a:txBody>
                  <a:tcPr>
                    <a:solidFill>
                      <a:schemeClr val="accent2"/>
                    </a:solidFill>
                  </a:tcPr>
                </a:tc>
                <a:tc>
                  <a:txBody>
                    <a:bodyPr/>
                    <a:lstStyle/>
                    <a:p>
                      <a:pPr algn="ctr"/>
                      <a:r>
                        <a:rPr lang="en-US" dirty="0"/>
                        <a:t>6,745.99 ($M/</a:t>
                      </a:r>
                      <a:r>
                        <a:rPr lang="en-US" dirty="0" err="1"/>
                        <a:t>yr</a:t>
                      </a:r>
                      <a:r>
                        <a:rPr lang="en-US" dirty="0"/>
                        <a:t>) or 6.75 ($MM/</a:t>
                      </a:r>
                      <a:r>
                        <a:rPr lang="en-US" dirty="0" err="1"/>
                        <a:t>yr</a:t>
                      </a:r>
                      <a:r>
                        <a:rPr lang="en-US" dirty="0"/>
                        <a:t>)</a:t>
                      </a:r>
                    </a:p>
                  </a:txBody>
                  <a:tcPr>
                    <a:solidFill>
                      <a:schemeClr val="accent2"/>
                    </a:solidFill>
                  </a:tcPr>
                </a:tc>
                <a:extLst>
                  <a:ext uri="{0D108BD9-81ED-4DB2-BD59-A6C34878D82A}">
                    <a16:rowId xmlns:a16="http://schemas.microsoft.com/office/drawing/2014/main" val="3652129048"/>
                  </a:ext>
                </a:extLst>
              </a:tr>
            </a:tbl>
          </a:graphicData>
        </a:graphic>
      </p:graphicFrame>
    </p:spTree>
    <p:extLst>
      <p:ext uri="{BB962C8B-B14F-4D97-AF65-F5344CB8AC3E}">
        <p14:creationId xmlns:p14="http://schemas.microsoft.com/office/powerpoint/2010/main" val="320541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32F7354-3EC6-410F-B8FE-A2C2B1376A1F}"/>
              </a:ext>
            </a:extLst>
          </p:cNvPr>
          <p:cNvSpPr>
            <a:spLocks noGrp="1"/>
          </p:cNvSpPr>
          <p:nvPr>
            <p:ph type="sldNum" sz="quarter" idx="12"/>
          </p:nvPr>
        </p:nvSpPr>
        <p:spPr/>
        <p:txBody>
          <a:bodyPr/>
          <a:lstStyle/>
          <a:p>
            <a:fld id="{34B7E4EF-A1BD-40F4-AB7B-04F084DD991D}" type="slidenum">
              <a:rPr lang="en-US" smtClean="0"/>
              <a:pPr/>
              <a:t>22</a:t>
            </a:fld>
            <a:endParaRPr lang="en-US"/>
          </a:p>
        </p:txBody>
      </p:sp>
      <p:graphicFrame>
        <p:nvGraphicFramePr>
          <p:cNvPr id="7" name="Chart 6">
            <a:extLst>
              <a:ext uri="{FF2B5EF4-FFF2-40B4-BE49-F238E27FC236}">
                <a16:creationId xmlns:a16="http://schemas.microsoft.com/office/drawing/2014/main" id="{CAE4E3B6-AA1B-46A2-BB61-11BD6CF32A0C}"/>
              </a:ext>
            </a:extLst>
          </p:cNvPr>
          <p:cNvGraphicFramePr/>
          <p:nvPr>
            <p:extLst>
              <p:ext uri="{D42A27DB-BD31-4B8C-83A1-F6EECF244321}">
                <p14:modId xmlns:p14="http://schemas.microsoft.com/office/powerpoint/2010/main" val="2358903170"/>
              </p:ext>
            </p:extLst>
          </p:nvPr>
        </p:nvGraphicFramePr>
        <p:xfrm>
          <a:off x="406399" y="332509"/>
          <a:ext cx="9411855" cy="614218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90934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71B2F-FF74-4D0A-A4B4-F4ABA80826CF}"/>
              </a:ext>
            </a:extLst>
          </p:cNvPr>
          <p:cNvSpPr>
            <a:spLocks noGrp="1"/>
          </p:cNvSpPr>
          <p:nvPr>
            <p:ph type="title"/>
          </p:nvPr>
        </p:nvSpPr>
        <p:spPr>
          <a:xfrm>
            <a:off x="446515" y="729514"/>
            <a:ext cx="8596668" cy="3283193"/>
          </a:xfrm>
        </p:spPr>
        <p:txBody>
          <a:bodyPr>
            <a:noAutofit/>
          </a:bodyPr>
          <a:lstStyle/>
          <a:p>
            <a:r>
              <a:rPr lang="en-US" sz="1800" dirty="0"/>
              <a:t>-  7-year MACRS recovery term</a:t>
            </a:r>
            <a:br>
              <a:rPr lang="en-US" sz="1800" dirty="0"/>
            </a:br>
            <a:br>
              <a:rPr lang="en-US" sz="1800" dirty="0"/>
            </a:br>
            <a:r>
              <a:rPr lang="en-US" sz="1800" dirty="0"/>
              <a:t>-  2 Year construction period</a:t>
            </a:r>
            <a:br>
              <a:rPr lang="en-US" sz="1800" dirty="0"/>
            </a:br>
            <a:br>
              <a:rPr lang="en-US" sz="1800" dirty="0"/>
            </a:br>
            <a:r>
              <a:rPr lang="en-US" sz="1800" dirty="0"/>
              <a:t>-  20-year plant life</a:t>
            </a:r>
            <a:br>
              <a:rPr lang="en-US" sz="1800" dirty="0"/>
            </a:br>
            <a:br>
              <a:rPr lang="en-US" sz="1800" dirty="0"/>
            </a:br>
            <a:r>
              <a:rPr lang="en-US" sz="1800" dirty="0"/>
              <a:t>-  Interest Rate 8%</a:t>
            </a:r>
            <a:br>
              <a:rPr lang="en-US" sz="1800" dirty="0"/>
            </a:br>
            <a:br>
              <a:rPr lang="en-US" sz="1800" dirty="0"/>
            </a:br>
            <a:r>
              <a:rPr lang="en-US" sz="1800" dirty="0"/>
              <a:t>-  Tax Rate 25%</a:t>
            </a:r>
            <a:br>
              <a:rPr lang="en-US" sz="1800" dirty="0"/>
            </a:br>
            <a:br>
              <a:rPr lang="en-US" sz="1800" dirty="0"/>
            </a:br>
            <a:r>
              <a:rPr lang="en-US" sz="1800" dirty="0"/>
              <a:t>-  DCFROR = 99%</a:t>
            </a:r>
            <a:br>
              <a:rPr lang="en-US" sz="1800" dirty="0"/>
            </a:br>
            <a:br>
              <a:rPr lang="en-US" sz="1800" dirty="0"/>
            </a:br>
            <a:br>
              <a:rPr lang="en-US" sz="1800" dirty="0"/>
            </a:br>
            <a:br>
              <a:rPr lang="en-US" sz="1800" dirty="0"/>
            </a:br>
            <a:br>
              <a:rPr lang="en-US" sz="1800" dirty="0"/>
            </a:br>
            <a:br>
              <a:rPr lang="en-US" sz="1800" dirty="0"/>
            </a:br>
            <a:endParaRPr lang="en-US" sz="1800" dirty="0"/>
          </a:p>
        </p:txBody>
      </p:sp>
      <p:sp>
        <p:nvSpPr>
          <p:cNvPr id="4" name="Slide Number Placeholder 3">
            <a:extLst>
              <a:ext uri="{FF2B5EF4-FFF2-40B4-BE49-F238E27FC236}">
                <a16:creationId xmlns:a16="http://schemas.microsoft.com/office/drawing/2014/main" id="{087445AA-04B1-4DEF-8D90-FE588020113C}"/>
              </a:ext>
            </a:extLst>
          </p:cNvPr>
          <p:cNvSpPr>
            <a:spLocks noGrp="1"/>
          </p:cNvSpPr>
          <p:nvPr>
            <p:ph type="sldNum" sz="quarter" idx="12"/>
          </p:nvPr>
        </p:nvSpPr>
        <p:spPr/>
        <p:txBody>
          <a:bodyPr/>
          <a:lstStyle/>
          <a:p>
            <a:fld id="{34B7E4EF-A1BD-40F4-AB7B-04F084DD991D}" type="slidenum">
              <a:rPr lang="en-US" smtClean="0"/>
              <a:pPr/>
              <a:t>23</a:t>
            </a:fld>
            <a:endParaRPr lang="en-US"/>
          </a:p>
        </p:txBody>
      </p:sp>
      <p:sp>
        <p:nvSpPr>
          <p:cNvPr id="5" name="TextBox 4">
            <a:extLst>
              <a:ext uri="{FF2B5EF4-FFF2-40B4-BE49-F238E27FC236}">
                <a16:creationId xmlns:a16="http://schemas.microsoft.com/office/drawing/2014/main" id="{0F207FD0-A14E-4F45-BF73-7390F7B1BD9B}"/>
              </a:ext>
            </a:extLst>
          </p:cNvPr>
          <p:cNvSpPr txBox="1"/>
          <p:nvPr/>
        </p:nvSpPr>
        <p:spPr>
          <a:xfrm>
            <a:off x="4216894" y="114162"/>
            <a:ext cx="1287262" cy="763479"/>
          </a:xfrm>
          <a:prstGeom prst="rect">
            <a:avLst/>
          </a:prstGeom>
          <a:noFill/>
        </p:spPr>
        <p:txBody>
          <a:bodyPr wrap="square" rtlCol="0">
            <a:spAutoFit/>
          </a:bodyPr>
          <a:lstStyle/>
          <a:p>
            <a:r>
              <a:rPr lang="en-US" sz="4400" dirty="0">
                <a:solidFill>
                  <a:srgbClr val="4F81BD"/>
                </a:solidFill>
                <a:ea typeface="+mj-ea"/>
                <a:cs typeface="+mj-cs"/>
              </a:rPr>
              <a:t>NPV</a:t>
            </a:r>
            <a:endParaRPr lang="en-US" sz="2800" dirty="0"/>
          </a:p>
        </p:txBody>
      </p:sp>
      <p:graphicFrame>
        <p:nvGraphicFramePr>
          <p:cNvPr id="6" name="Diagram 5">
            <a:extLst>
              <a:ext uri="{FF2B5EF4-FFF2-40B4-BE49-F238E27FC236}">
                <a16:creationId xmlns:a16="http://schemas.microsoft.com/office/drawing/2014/main" id="{9C93AD49-9C61-4424-B5C7-4E3095C3D8FB}"/>
              </a:ext>
            </a:extLst>
          </p:cNvPr>
          <p:cNvGraphicFramePr/>
          <p:nvPr>
            <p:extLst>
              <p:ext uri="{D42A27DB-BD31-4B8C-83A1-F6EECF244321}">
                <p14:modId xmlns:p14="http://schemas.microsoft.com/office/powerpoint/2010/main" val="301118955"/>
              </p:ext>
            </p:extLst>
          </p:nvPr>
        </p:nvGraphicFramePr>
        <p:xfrm>
          <a:off x="2449250" y="3904465"/>
          <a:ext cx="5460753" cy="26449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82535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EC02ED-ED18-40D8-8D8A-A942ACE91D26}"/>
              </a:ext>
            </a:extLst>
          </p:cNvPr>
          <p:cNvSpPr>
            <a:spLocks noGrp="1"/>
          </p:cNvSpPr>
          <p:nvPr>
            <p:ph type="sldNum" sz="quarter" idx="12"/>
          </p:nvPr>
        </p:nvSpPr>
        <p:spPr/>
        <p:txBody>
          <a:bodyPr/>
          <a:lstStyle/>
          <a:p>
            <a:fld id="{34B7E4EF-A1BD-40F4-AB7B-04F084DD991D}" type="slidenum">
              <a:rPr lang="en-US" smtClean="0"/>
              <a:pPr/>
              <a:t>24</a:t>
            </a:fld>
            <a:endParaRPr lang="en-US"/>
          </a:p>
        </p:txBody>
      </p:sp>
      <p:graphicFrame>
        <p:nvGraphicFramePr>
          <p:cNvPr id="10" name="Chart 9">
            <a:extLst>
              <a:ext uri="{FF2B5EF4-FFF2-40B4-BE49-F238E27FC236}">
                <a16:creationId xmlns:a16="http://schemas.microsoft.com/office/drawing/2014/main" id="{86D0D52E-BD06-4281-ACEB-7308E99CBFFA}"/>
              </a:ext>
            </a:extLst>
          </p:cNvPr>
          <p:cNvGraphicFramePr>
            <a:graphicFrameLocks/>
          </p:cNvGraphicFramePr>
          <p:nvPr>
            <p:extLst>
              <p:ext uri="{D42A27DB-BD31-4B8C-83A1-F6EECF244321}">
                <p14:modId xmlns:p14="http://schemas.microsoft.com/office/powerpoint/2010/main" val="3722755531"/>
              </p:ext>
            </p:extLst>
          </p:nvPr>
        </p:nvGraphicFramePr>
        <p:xfrm>
          <a:off x="1155576" y="707994"/>
          <a:ext cx="8236997" cy="5928064"/>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46521530-59D5-4E33-968D-59A5ADDD836D}"/>
              </a:ext>
            </a:extLst>
          </p:cNvPr>
          <p:cNvSpPr txBox="1"/>
          <p:nvPr/>
        </p:nvSpPr>
        <p:spPr>
          <a:xfrm>
            <a:off x="2370337" y="221942"/>
            <a:ext cx="6604986" cy="369332"/>
          </a:xfrm>
          <a:prstGeom prst="rect">
            <a:avLst/>
          </a:prstGeom>
          <a:noFill/>
        </p:spPr>
        <p:txBody>
          <a:bodyPr wrap="square" rtlCol="0">
            <a:spAutoFit/>
          </a:bodyPr>
          <a:lstStyle/>
          <a:p>
            <a:r>
              <a:rPr lang="en-US" dirty="0">
                <a:solidFill>
                  <a:schemeClr val="accent1"/>
                </a:solidFill>
              </a:rPr>
              <a:t>Net Present Value for 7-year MACRS Recovery Term</a:t>
            </a:r>
          </a:p>
        </p:txBody>
      </p:sp>
    </p:spTree>
    <p:extLst>
      <p:ext uri="{BB962C8B-B14F-4D97-AF65-F5344CB8AC3E}">
        <p14:creationId xmlns:p14="http://schemas.microsoft.com/office/powerpoint/2010/main" val="13353505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30E2F-F0FC-4E3A-9DE8-07AB3D511F6C}"/>
              </a:ext>
            </a:extLst>
          </p:cNvPr>
          <p:cNvSpPr>
            <a:spLocks noGrp="1"/>
          </p:cNvSpPr>
          <p:nvPr>
            <p:ph type="title"/>
          </p:nvPr>
        </p:nvSpPr>
        <p:spPr>
          <a:xfrm>
            <a:off x="3669108" y="0"/>
            <a:ext cx="4196507" cy="828583"/>
          </a:xfrm>
        </p:spPr>
        <p:txBody>
          <a:bodyPr/>
          <a:lstStyle/>
          <a:p>
            <a:r>
              <a:rPr lang="en-US" dirty="0"/>
              <a:t>Sensitivity Analysis</a:t>
            </a:r>
          </a:p>
        </p:txBody>
      </p:sp>
      <p:sp>
        <p:nvSpPr>
          <p:cNvPr id="4" name="Slide Number Placeholder 3">
            <a:extLst>
              <a:ext uri="{FF2B5EF4-FFF2-40B4-BE49-F238E27FC236}">
                <a16:creationId xmlns:a16="http://schemas.microsoft.com/office/drawing/2014/main" id="{7A53F709-D685-4C50-8765-459E00880E4F}"/>
              </a:ext>
            </a:extLst>
          </p:cNvPr>
          <p:cNvSpPr>
            <a:spLocks noGrp="1"/>
          </p:cNvSpPr>
          <p:nvPr>
            <p:ph type="sldNum" sz="quarter" idx="12"/>
          </p:nvPr>
        </p:nvSpPr>
        <p:spPr/>
        <p:txBody>
          <a:bodyPr/>
          <a:lstStyle/>
          <a:p>
            <a:fld id="{34B7E4EF-A1BD-40F4-AB7B-04F084DD991D}" type="slidenum">
              <a:rPr lang="en-US" smtClean="0"/>
              <a:pPr/>
              <a:t>25</a:t>
            </a:fld>
            <a:endParaRPr lang="en-US"/>
          </a:p>
        </p:txBody>
      </p:sp>
      <p:graphicFrame>
        <p:nvGraphicFramePr>
          <p:cNvPr id="6" name="Chart 5">
            <a:extLst>
              <a:ext uri="{FF2B5EF4-FFF2-40B4-BE49-F238E27FC236}">
                <a16:creationId xmlns:a16="http://schemas.microsoft.com/office/drawing/2014/main" id="{C9FD74E7-C4AF-4859-88A6-C364F1A875CA}"/>
              </a:ext>
            </a:extLst>
          </p:cNvPr>
          <p:cNvGraphicFramePr>
            <a:graphicFrameLocks/>
          </p:cNvGraphicFramePr>
          <p:nvPr>
            <p:extLst>
              <p:ext uri="{D42A27DB-BD31-4B8C-83A1-F6EECF244321}">
                <p14:modId xmlns:p14="http://schemas.microsoft.com/office/powerpoint/2010/main" val="1247951507"/>
              </p:ext>
            </p:extLst>
          </p:nvPr>
        </p:nvGraphicFramePr>
        <p:xfrm>
          <a:off x="29263" y="583884"/>
          <a:ext cx="10171180" cy="598559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028716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A1D1D46-42C3-49EA-BA38-C1058D847A1B}"/>
              </a:ext>
            </a:extLst>
          </p:cNvPr>
          <p:cNvSpPr>
            <a:spLocks noGrp="1"/>
          </p:cNvSpPr>
          <p:nvPr>
            <p:ph type="sldNum" sz="quarter" idx="12"/>
          </p:nvPr>
        </p:nvSpPr>
        <p:spPr/>
        <p:txBody>
          <a:bodyPr/>
          <a:lstStyle/>
          <a:p>
            <a:fld id="{34B7E4EF-A1BD-40F4-AB7B-04F084DD991D}" type="slidenum">
              <a:rPr lang="en-US" smtClean="0"/>
              <a:pPr/>
              <a:t>26</a:t>
            </a:fld>
            <a:endParaRPr lang="en-US"/>
          </a:p>
        </p:txBody>
      </p:sp>
      <p:graphicFrame>
        <p:nvGraphicFramePr>
          <p:cNvPr id="6" name="Chart 5">
            <a:extLst>
              <a:ext uri="{FF2B5EF4-FFF2-40B4-BE49-F238E27FC236}">
                <a16:creationId xmlns:a16="http://schemas.microsoft.com/office/drawing/2014/main" id="{5715BA6F-83D8-4E44-8C97-A1C694F4C89A}"/>
              </a:ext>
            </a:extLst>
          </p:cNvPr>
          <p:cNvGraphicFramePr>
            <a:graphicFrameLocks/>
          </p:cNvGraphicFramePr>
          <p:nvPr>
            <p:extLst>
              <p:ext uri="{D42A27DB-BD31-4B8C-83A1-F6EECF244321}">
                <p14:modId xmlns:p14="http://schemas.microsoft.com/office/powerpoint/2010/main" val="1652563079"/>
              </p:ext>
            </p:extLst>
          </p:nvPr>
        </p:nvGraphicFramePr>
        <p:xfrm>
          <a:off x="161277" y="619218"/>
          <a:ext cx="9213542" cy="5941380"/>
        </p:xfrm>
        <a:graphic>
          <a:graphicData uri="http://schemas.openxmlformats.org/drawingml/2006/chart">
            <c:chart xmlns:c="http://schemas.openxmlformats.org/drawingml/2006/chart" xmlns:r="http://schemas.openxmlformats.org/officeDocument/2006/relationships" r:id="rId2"/>
          </a:graphicData>
        </a:graphic>
      </p:graphicFrame>
      <p:sp>
        <p:nvSpPr>
          <p:cNvPr id="9" name="Title 1">
            <a:extLst>
              <a:ext uri="{FF2B5EF4-FFF2-40B4-BE49-F238E27FC236}">
                <a16:creationId xmlns:a16="http://schemas.microsoft.com/office/drawing/2014/main" id="{30563B88-4AC9-4293-BD84-8C468B48CD04}"/>
              </a:ext>
            </a:extLst>
          </p:cNvPr>
          <p:cNvSpPr>
            <a:spLocks noGrp="1"/>
          </p:cNvSpPr>
          <p:nvPr>
            <p:ph type="title"/>
          </p:nvPr>
        </p:nvSpPr>
        <p:spPr>
          <a:xfrm>
            <a:off x="3669108" y="0"/>
            <a:ext cx="4196507" cy="828583"/>
          </a:xfrm>
        </p:spPr>
        <p:txBody>
          <a:bodyPr/>
          <a:lstStyle/>
          <a:p>
            <a:r>
              <a:rPr lang="en-US" dirty="0"/>
              <a:t>Sensitivity Analysis</a:t>
            </a:r>
          </a:p>
        </p:txBody>
      </p:sp>
    </p:spTree>
    <p:extLst>
      <p:ext uri="{BB962C8B-B14F-4D97-AF65-F5344CB8AC3E}">
        <p14:creationId xmlns:p14="http://schemas.microsoft.com/office/powerpoint/2010/main" val="11781420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F9930F-5A90-47DB-A365-F9897FACCAF9}"/>
              </a:ext>
            </a:extLst>
          </p:cNvPr>
          <p:cNvSpPr>
            <a:spLocks noGrp="1"/>
          </p:cNvSpPr>
          <p:nvPr>
            <p:ph type="sldNum" sz="quarter" idx="12"/>
          </p:nvPr>
        </p:nvSpPr>
        <p:spPr/>
        <p:txBody>
          <a:bodyPr/>
          <a:lstStyle/>
          <a:p>
            <a:fld id="{34B7E4EF-A1BD-40F4-AB7B-04F084DD991D}" type="slidenum">
              <a:rPr lang="en-US" smtClean="0"/>
              <a:pPr/>
              <a:t>27</a:t>
            </a:fld>
            <a:endParaRPr lang="en-US"/>
          </a:p>
        </p:txBody>
      </p:sp>
      <p:sp>
        <p:nvSpPr>
          <p:cNvPr id="8" name="Title 1">
            <a:extLst>
              <a:ext uri="{FF2B5EF4-FFF2-40B4-BE49-F238E27FC236}">
                <a16:creationId xmlns:a16="http://schemas.microsoft.com/office/drawing/2014/main" id="{6EF9A40E-D5DE-46FB-904B-F32678701882}"/>
              </a:ext>
            </a:extLst>
          </p:cNvPr>
          <p:cNvSpPr>
            <a:spLocks noGrp="1"/>
          </p:cNvSpPr>
          <p:nvPr>
            <p:ph type="title"/>
          </p:nvPr>
        </p:nvSpPr>
        <p:spPr>
          <a:xfrm>
            <a:off x="3669108" y="0"/>
            <a:ext cx="4196507" cy="828583"/>
          </a:xfrm>
        </p:spPr>
        <p:txBody>
          <a:bodyPr/>
          <a:lstStyle/>
          <a:p>
            <a:r>
              <a:rPr lang="en-US" dirty="0"/>
              <a:t>Sensitivity Analysis</a:t>
            </a:r>
          </a:p>
        </p:txBody>
      </p:sp>
      <p:graphicFrame>
        <p:nvGraphicFramePr>
          <p:cNvPr id="9" name="Chart 8">
            <a:extLst>
              <a:ext uri="{FF2B5EF4-FFF2-40B4-BE49-F238E27FC236}">
                <a16:creationId xmlns:a16="http://schemas.microsoft.com/office/drawing/2014/main" id="{B755E839-D81E-4396-A155-C775448596AF}"/>
              </a:ext>
            </a:extLst>
          </p:cNvPr>
          <p:cNvGraphicFramePr>
            <a:graphicFrameLocks/>
          </p:cNvGraphicFramePr>
          <p:nvPr>
            <p:extLst>
              <p:ext uri="{D42A27DB-BD31-4B8C-83A1-F6EECF244321}">
                <p14:modId xmlns:p14="http://schemas.microsoft.com/office/powerpoint/2010/main" val="2695350671"/>
              </p:ext>
            </p:extLst>
          </p:nvPr>
        </p:nvGraphicFramePr>
        <p:xfrm>
          <a:off x="116888" y="521563"/>
          <a:ext cx="9391095" cy="595913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061326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BB0F1-0BA0-4AB4-9C36-210DF74F5CB6}"/>
              </a:ext>
            </a:extLst>
          </p:cNvPr>
          <p:cNvSpPr>
            <a:spLocks noGrp="1"/>
          </p:cNvSpPr>
          <p:nvPr>
            <p:ph type="title"/>
          </p:nvPr>
        </p:nvSpPr>
        <p:spPr/>
        <p:txBody>
          <a:bodyPr/>
          <a:lstStyle/>
          <a:p>
            <a:r>
              <a:rPr lang="en-US" dirty="0"/>
              <a:t>ROI and Simple Payback Period</a:t>
            </a:r>
          </a:p>
        </p:txBody>
      </p:sp>
      <p:sp>
        <p:nvSpPr>
          <p:cNvPr id="3" name="Content Placeholder 2">
            <a:extLst>
              <a:ext uri="{FF2B5EF4-FFF2-40B4-BE49-F238E27FC236}">
                <a16:creationId xmlns:a16="http://schemas.microsoft.com/office/drawing/2014/main" id="{8E5E51BB-A7D3-4BC6-9282-8B1499999A5F}"/>
              </a:ext>
            </a:extLst>
          </p:cNvPr>
          <p:cNvSpPr>
            <a:spLocks noGrp="1"/>
          </p:cNvSpPr>
          <p:nvPr>
            <p:ph idx="1"/>
          </p:nvPr>
        </p:nvSpPr>
        <p:spPr/>
        <p:txBody>
          <a:bodyPr/>
          <a:lstStyle/>
          <a:p>
            <a:r>
              <a:rPr lang="en-US" dirty="0">
                <a:solidFill>
                  <a:schemeClr val="accent1"/>
                </a:solidFill>
              </a:rPr>
              <a:t>Total ROI = 1,391%</a:t>
            </a:r>
          </a:p>
          <a:p>
            <a:endParaRPr lang="en-US" dirty="0">
              <a:solidFill>
                <a:schemeClr val="accent1"/>
              </a:solidFill>
            </a:endParaRPr>
          </a:p>
          <a:p>
            <a:r>
              <a:rPr lang="en-US" dirty="0">
                <a:solidFill>
                  <a:schemeClr val="accent1"/>
                </a:solidFill>
              </a:rPr>
              <a:t>Simple Payback Period: 0.1 years</a:t>
            </a:r>
          </a:p>
        </p:txBody>
      </p:sp>
      <p:sp>
        <p:nvSpPr>
          <p:cNvPr id="4" name="Slide Number Placeholder 3">
            <a:extLst>
              <a:ext uri="{FF2B5EF4-FFF2-40B4-BE49-F238E27FC236}">
                <a16:creationId xmlns:a16="http://schemas.microsoft.com/office/drawing/2014/main" id="{DB0339C0-41C0-433B-96C9-7D73096E2367}"/>
              </a:ext>
            </a:extLst>
          </p:cNvPr>
          <p:cNvSpPr>
            <a:spLocks noGrp="1"/>
          </p:cNvSpPr>
          <p:nvPr>
            <p:ph type="sldNum" sz="quarter" idx="12"/>
          </p:nvPr>
        </p:nvSpPr>
        <p:spPr/>
        <p:txBody>
          <a:bodyPr/>
          <a:lstStyle/>
          <a:p>
            <a:fld id="{34B7E4EF-A1BD-40F4-AB7B-04F084DD991D}" type="slidenum">
              <a:rPr lang="en-US" smtClean="0"/>
              <a:pPr/>
              <a:t>28</a:t>
            </a:fld>
            <a:endParaRPr lang="en-US"/>
          </a:p>
        </p:txBody>
      </p:sp>
    </p:spTree>
    <p:extLst>
      <p:ext uri="{BB962C8B-B14F-4D97-AF65-F5344CB8AC3E}">
        <p14:creationId xmlns:p14="http://schemas.microsoft.com/office/powerpoint/2010/main" val="1669450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96503-FCFA-433B-BED0-510416BFA4F1}"/>
              </a:ext>
            </a:extLst>
          </p:cNvPr>
          <p:cNvSpPr>
            <a:spLocks noGrp="1"/>
          </p:cNvSpPr>
          <p:nvPr>
            <p:ph type="title"/>
          </p:nvPr>
        </p:nvSpPr>
        <p:spPr>
          <a:xfrm>
            <a:off x="2541644" y="227753"/>
            <a:ext cx="5208561" cy="588885"/>
          </a:xfrm>
        </p:spPr>
        <p:txBody>
          <a:bodyPr>
            <a:normAutofit fontScale="90000"/>
          </a:bodyPr>
          <a:lstStyle/>
          <a:p>
            <a:r>
              <a:rPr lang="en-US" dirty="0"/>
              <a:t>Revenues and Profits</a:t>
            </a:r>
            <a:br>
              <a:rPr lang="en-US" dirty="0"/>
            </a:br>
            <a:endParaRPr lang="en-US" dirty="0"/>
          </a:p>
        </p:txBody>
      </p:sp>
      <p:sp>
        <p:nvSpPr>
          <p:cNvPr id="4" name="Slide Number Placeholder 3">
            <a:extLst>
              <a:ext uri="{FF2B5EF4-FFF2-40B4-BE49-F238E27FC236}">
                <a16:creationId xmlns:a16="http://schemas.microsoft.com/office/drawing/2014/main" id="{C8C139DA-BC20-4E22-808F-C5ED0815B2F8}"/>
              </a:ext>
            </a:extLst>
          </p:cNvPr>
          <p:cNvSpPr>
            <a:spLocks noGrp="1"/>
          </p:cNvSpPr>
          <p:nvPr>
            <p:ph type="sldNum" sz="quarter" idx="12"/>
          </p:nvPr>
        </p:nvSpPr>
        <p:spPr/>
        <p:txBody>
          <a:bodyPr/>
          <a:lstStyle/>
          <a:p>
            <a:fld id="{34B7E4EF-A1BD-40F4-AB7B-04F084DD991D}" type="slidenum">
              <a:rPr lang="en-US" smtClean="0"/>
              <a:pPr/>
              <a:t>29</a:t>
            </a:fld>
            <a:endParaRPr lang="en-US"/>
          </a:p>
        </p:txBody>
      </p:sp>
      <p:graphicFrame>
        <p:nvGraphicFramePr>
          <p:cNvPr id="8" name="Diagram 7">
            <a:extLst>
              <a:ext uri="{FF2B5EF4-FFF2-40B4-BE49-F238E27FC236}">
                <a16:creationId xmlns:a16="http://schemas.microsoft.com/office/drawing/2014/main" id="{CC950193-4C72-4E55-AB1A-5FA093B241C6}"/>
              </a:ext>
            </a:extLst>
          </p:cNvPr>
          <p:cNvGraphicFramePr/>
          <p:nvPr>
            <p:extLst>
              <p:ext uri="{D42A27DB-BD31-4B8C-83A1-F6EECF244321}">
                <p14:modId xmlns:p14="http://schemas.microsoft.com/office/powerpoint/2010/main" val="3893072320"/>
              </p:ext>
            </p:extLst>
          </p:nvPr>
        </p:nvGraphicFramePr>
        <p:xfrm>
          <a:off x="180184" y="789897"/>
          <a:ext cx="9179511" cy="59747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39972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D068F-272C-40C9-9088-983FCFA62FA3}"/>
              </a:ext>
            </a:extLst>
          </p:cNvPr>
          <p:cNvSpPr>
            <a:spLocks noGrp="1"/>
          </p:cNvSpPr>
          <p:nvPr>
            <p:ph type="title"/>
          </p:nvPr>
        </p:nvSpPr>
        <p:spPr>
          <a:xfrm>
            <a:off x="3440047" y="69780"/>
            <a:ext cx="6424440" cy="1320800"/>
          </a:xfrm>
        </p:spPr>
        <p:txBody>
          <a:bodyPr>
            <a:normAutofit/>
          </a:bodyPr>
          <a:lstStyle/>
          <a:p>
            <a:r>
              <a:rPr lang="en-US" dirty="0"/>
              <a:t>Economic Summary</a:t>
            </a:r>
          </a:p>
        </p:txBody>
      </p:sp>
      <p:pic>
        <p:nvPicPr>
          <p:cNvPr id="1026" name="Picture 2" descr="Money Cartoon">
            <a:extLst>
              <a:ext uri="{FF2B5EF4-FFF2-40B4-BE49-F238E27FC236}">
                <a16:creationId xmlns:a16="http://schemas.microsoft.com/office/drawing/2014/main" id="{0B8ED937-B42F-4576-AE09-2B84F034EC2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794" r="29586" b="5896"/>
          <a:stretch/>
        </p:blipFill>
        <p:spPr bwMode="auto">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a:noFill/>
          <a:extLst>
            <a:ext uri="{909E8E84-426E-40DD-AFC4-6F175D3DCCD1}">
              <a14:hiddenFill xmlns:a14="http://schemas.microsoft.com/office/drawing/2010/main">
                <a:solidFill>
                  <a:srgbClr val="FFFFFF"/>
                </a:solidFill>
              </a14:hiddenFill>
            </a:ext>
          </a:extLst>
        </p:spPr>
      </p:pic>
      <p:sp>
        <p:nvSpPr>
          <p:cNvPr id="1030" name="Isosceles Triangle 70">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4" name="Slide Number Placeholder 3">
            <a:extLst>
              <a:ext uri="{FF2B5EF4-FFF2-40B4-BE49-F238E27FC236}">
                <a16:creationId xmlns:a16="http://schemas.microsoft.com/office/drawing/2014/main" id="{2CADCAC0-DB09-4605-ACD6-0DA9FAF49793}"/>
              </a:ext>
            </a:extLst>
          </p:cNvPr>
          <p:cNvSpPr>
            <a:spLocks noGrp="1"/>
          </p:cNvSpPr>
          <p:nvPr>
            <p:ph type="sldNum" sz="quarter" idx="12"/>
          </p:nvPr>
        </p:nvSpPr>
        <p:spPr>
          <a:xfrm>
            <a:off x="8590663" y="6041362"/>
            <a:ext cx="683339" cy="365125"/>
          </a:xfrm>
        </p:spPr>
        <p:txBody>
          <a:bodyPr>
            <a:normAutofit/>
          </a:bodyPr>
          <a:lstStyle/>
          <a:p>
            <a:pPr>
              <a:lnSpc>
                <a:spcPct val="90000"/>
              </a:lnSpc>
              <a:spcAft>
                <a:spcPts val="600"/>
              </a:spcAft>
            </a:pPr>
            <a:fld id="{34B7E4EF-A1BD-40F4-AB7B-04F084DD991D}" type="slidenum">
              <a:rPr lang="en-US" sz="1900" smtClean="0"/>
              <a:pPr>
                <a:lnSpc>
                  <a:spcPct val="90000"/>
                </a:lnSpc>
                <a:spcAft>
                  <a:spcPts val="600"/>
                </a:spcAft>
              </a:pPr>
              <a:t>30</a:t>
            </a:fld>
            <a:endParaRPr lang="en-US" sz="1900"/>
          </a:p>
        </p:txBody>
      </p:sp>
      <p:graphicFrame>
        <p:nvGraphicFramePr>
          <p:cNvPr id="8" name="Diagram 7">
            <a:extLst>
              <a:ext uri="{FF2B5EF4-FFF2-40B4-BE49-F238E27FC236}">
                <a16:creationId xmlns:a16="http://schemas.microsoft.com/office/drawing/2014/main" id="{7DFB1E37-BD20-4F7C-AA40-FC2EA6259E09}"/>
              </a:ext>
            </a:extLst>
          </p:cNvPr>
          <p:cNvGraphicFramePr/>
          <p:nvPr>
            <p:extLst>
              <p:ext uri="{D42A27DB-BD31-4B8C-83A1-F6EECF244321}">
                <p14:modId xmlns:p14="http://schemas.microsoft.com/office/powerpoint/2010/main" val="2420403743"/>
              </p:ext>
            </p:extLst>
          </p:nvPr>
        </p:nvGraphicFramePr>
        <p:xfrm>
          <a:off x="-1469637" y="730180"/>
          <a:ext cx="9915094" cy="59850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C9A9F249-E8EF-4317-8F2B-0D148F24534A}"/>
              </a:ext>
            </a:extLst>
          </p:cNvPr>
          <p:cNvSpPr txBox="1"/>
          <p:nvPr/>
        </p:nvSpPr>
        <p:spPr>
          <a:xfrm>
            <a:off x="4455110" y="1936084"/>
            <a:ext cx="1846556" cy="369332"/>
          </a:xfrm>
          <a:prstGeom prst="rect">
            <a:avLst/>
          </a:prstGeom>
          <a:noFill/>
        </p:spPr>
        <p:txBody>
          <a:bodyPr wrap="square" rtlCol="0">
            <a:spAutoFit/>
          </a:bodyPr>
          <a:lstStyle/>
          <a:p>
            <a:r>
              <a:rPr lang="en-US" dirty="0"/>
              <a:t>78.48 $MM</a:t>
            </a:r>
          </a:p>
        </p:txBody>
      </p:sp>
      <p:sp>
        <p:nvSpPr>
          <p:cNvPr id="9" name="TextBox 8">
            <a:extLst>
              <a:ext uri="{FF2B5EF4-FFF2-40B4-BE49-F238E27FC236}">
                <a16:creationId xmlns:a16="http://schemas.microsoft.com/office/drawing/2014/main" id="{83C44F2B-BB22-4941-85A5-0A37D43B37D2}"/>
              </a:ext>
            </a:extLst>
          </p:cNvPr>
          <p:cNvSpPr txBox="1"/>
          <p:nvPr/>
        </p:nvSpPr>
        <p:spPr>
          <a:xfrm>
            <a:off x="4455110" y="2986720"/>
            <a:ext cx="2291918" cy="369332"/>
          </a:xfrm>
          <a:prstGeom prst="rect">
            <a:avLst/>
          </a:prstGeom>
          <a:noFill/>
        </p:spPr>
        <p:txBody>
          <a:bodyPr wrap="square" rtlCol="0">
            <a:spAutoFit/>
          </a:bodyPr>
          <a:lstStyle/>
          <a:p>
            <a:r>
              <a:rPr lang="en-US" dirty="0"/>
              <a:t>2,057.09 $MM/</a:t>
            </a:r>
            <a:r>
              <a:rPr lang="en-US" dirty="0" err="1"/>
              <a:t>yr</a:t>
            </a:r>
            <a:endParaRPr lang="en-US" dirty="0"/>
          </a:p>
        </p:txBody>
      </p:sp>
      <p:sp>
        <p:nvSpPr>
          <p:cNvPr id="10" name="TextBox 9">
            <a:extLst>
              <a:ext uri="{FF2B5EF4-FFF2-40B4-BE49-F238E27FC236}">
                <a16:creationId xmlns:a16="http://schemas.microsoft.com/office/drawing/2014/main" id="{829ACFFE-E92F-4938-91A7-66104BFD3779}"/>
              </a:ext>
            </a:extLst>
          </p:cNvPr>
          <p:cNvSpPr txBox="1"/>
          <p:nvPr/>
        </p:nvSpPr>
        <p:spPr>
          <a:xfrm>
            <a:off x="4462508" y="4041228"/>
            <a:ext cx="1846556" cy="369332"/>
          </a:xfrm>
          <a:prstGeom prst="rect">
            <a:avLst/>
          </a:prstGeom>
          <a:noFill/>
        </p:spPr>
        <p:txBody>
          <a:bodyPr wrap="square" rtlCol="0">
            <a:spAutoFit/>
          </a:bodyPr>
          <a:lstStyle/>
          <a:p>
            <a:r>
              <a:rPr lang="en-US" dirty="0"/>
              <a:t>6.75 $MM/</a:t>
            </a:r>
            <a:r>
              <a:rPr lang="en-US" dirty="0" err="1"/>
              <a:t>yr</a:t>
            </a:r>
            <a:endParaRPr lang="en-US" dirty="0"/>
          </a:p>
        </p:txBody>
      </p:sp>
      <p:sp>
        <p:nvSpPr>
          <p:cNvPr id="11" name="TextBox 10">
            <a:extLst>
              <a:ext uri="{FF2B5EF4-FFF2-40B4-BE49-F238E27FC236}">
                <a16:creationId xmlns:a16="http://schemas.microsoft.com/office/drawing/2014/main" id="{88AF1E83-B68B-4EFC-B692-4C5A58BC1360}"/>
              </a:ext>
            </a:extLst>
          </p:cNvPr>
          <p:cNvSpPr txBox="1"/>
          <p:nvPr/>
        </p:nvSpPr>
        <p:spPr>
          <a:xfrm>
            <a:off x="4455110" y="5004490"/>
            <a:ext cx="3703468" cy="646331"/>
          </a:xfrm>
          <a:prstGeom prst="rect">
            <a:avLst/>
          </a:prstGeom>
          <a:noFill/>
        </p:spPr>
        <p:txBody>
          <a:bodyPr wrap="square" rtlCol="0">
            <a:spAutoFit/>
          </a:bodyPr>
          <a:lstStyle/>
          <a:p>
            <a:pPr lvl="0"/>
            <a:r>
              <a:rPr lang="en-US" dirty="0"/>
              <a:t>20-year NPV = 3,467.30 $MM/</a:t>
            </a:r>
            <a:r>
              <a:rPr lang="en-US" dirty="0" err="1"/>
              <a:t>yr</a:t>
            </a:r>
            <a:endParaRPr lang="en-US" dirty="0"/>
          </a:p>
          <a:p>
            <a:r>
              <a:rPr lang="en-US" dirty="0"/>
              <a:t>Simple Payback Period = 0.1 years </a:t>
            </a:r>
          </a:p>
        </p:txBody>
      </p:sp>
      <p:sp>
        <p:nvSpPr>
          <p:cNvPr id="12" name="TextBox 11">
            <a:extLst>
              <a:ext uri="{FF2B5EF4-FFF2-40B4-BE49-F238E27FC236}">
                <a16:creationId xmlns:a16="http://schemas.microsoft.com/office/drawing/2014/main" id="{FD5906EC-E8D9-4B07-B871-0A3E51EF3586}"/>
              </a:ext>
            </a:extLst>
          </p:cNvPr>
          <p:cNvSpPr txBox="1"/>
          <p:nvPr/>
        </p:nvSpPr>
        <p:spPr>
          <a:xfrm>
            <a:off x="4455109" y="6058852"/>
            <a:ext cx="3898777" cy="646331"/>
          </a:xfrm>
          <a:prstGeom prst="rect">
            <a:avLst/>
          </a:prstGeom>
          <a:noFill/>
        </p:spPr>
        <p:txBody>
          <a:bodyPr wrap="square" rtlCol="0">
            <a:spAutoFit/>
          </a:bodyPr>
          <a:lstStyle/>
          <a:p>
            <a:r>
              <a:rPr lang="en-US" dirty="0"/>
              <a:t>Revenue = 3,158.16 $MM/</a:t>
            </a:r>
            <a:r>
              <a:rPr lang="en-US" dirty="0" err="1"/>
              <a:t>yr</a:t>
            </a:r>
            <a:endParaRPr lang="en-US" dirty="0"/>
          </a:p>
          <a:p>
            <a:r>
              <a:rPr lang="en-US" dirty="0"/>
              <a:t>Gross Profits = 1,091.75 $MM/</a:t>
            </a:r>
            <a:r>
              <a:rPr lang="en-US" dirty="0" err="1"/>
              <a:t>yr</a:t>
            </a:r>
            <a:r>
              <a:rPr lang="en-US" dirty="0"/>
              <a:t>  </a:t>
            </a:r>
          </a:p>
        </p:txBody>
      </p:sp>
    </p:spTree>
    <p:extLst>
      <p:ext uri="{BB962C8B-B14F-4D97-AF65-F5344CB8AC3E}">
        <p14:creationId xmlns:p14="http://schemas.microsoft.com/office/powerpoint/2010/main" val="4650486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B30BD-FB59-4F67-8D45-C7CCBE857CFA}"/>
              </a:ext>
            </a:extLst>
          </p:cNvPr>
          <p:cNvSpPr>
            <a:spLocks noGrp="1"/>
          </p:cNvSpPr>
          <p:nvPr>
            <p:ph type="title"/>
          </p:nvPr>
        </p:nvSpPr>
        <p:spPr/>
        <p:txBody>
          <a:bodyPr/>
          <a:lstStyle/>
          <a:p>
            <a:r>
              <a:rPr lang="en-US"/>
              <a:t>References </a:t>
            </a:r>
          </a:p>
        </p:txBody>
      </p:sp>
      <p:sp>
        <p:nvSpPr>
          <p:cNvPr id="4" name="Slide Number Placeholder 3">
            <a:extLst>
              <a:ext uri="{FF2B5EF4-FFF2-40B4-BE49-F238E27FC236}">
                <a16:creationId xmlns:a16="http://schemas.microsoft.com/office/drawing/2014/main" id="{05ACC62D-0D62-4D7D-93C1-15B33C19E052}"/>
              </a:ext>
            </a:extLst>
          </p:cNvPr>
          <p:cNvSpPr>
            <a:spLocks noGrp="1"/>
          </p:cNvSpPr>
          <p:nvPr>
            <p:ph type="sldNum" sz="quarter" idx="12"/>
          </p:nvPr>
        </p:nvSpPr>
        <p:spPr/>
        <p:txBody>
          <a:bodyPr/>
          <a:lstStyle/>
          <a:p>
            <a:fld id="{34B7E4EF-A1BD-40F4-AB7B-04F084DD991D}" type="slidenum">
              <a:rPr lang="en-US" smtClean="0"/>
              <a:t>31</a:t>
            </a:fld>
            <a:endParaRPr lang="en-US"/>
          </a:p>
        </p:txBody>
      </p:sp>
      <p:sp>
        <p:nvSpPr>
          <p:cNvPr id="5" name="Rectangle 4">
            <a:extLst>
              <a:ext uri="{FF2B5EF4-FFF2-40B4-BE49-F238E27FC236}">
                <a16:creationId xmlns:a16="http://schemas.microsoft.com/office/drawing/2014/main" id="{4F77A565-53C7-4CD5-AC42-FB2E07695AF4}"/>
              </a:ext>
            </a:extLst>
          </p:cNvPr>
          <p:cNvSpPr/>
          <p:nvPr/>
        </p:nvSpPr>
        <p:spPr>
          <a:xfrm>
            <a:off x="565937" y="1386682"/>
            <a:ext cx="8580475" cy="3605859"/>
          </a:xfrm>
          <a:prstGeom prst="rect">
            <a:avLst/>
          </a:prstGeom>
        </p:spPr>
        <p:txBody>
          <a:bodyPr wrap="square">
            <a:spAutoFit/>
          </a:bodyPr>
          <a:lstStyle/>
          <a:p>
            <a:pPr marR="0" lvl="0">
              <a:lnSpc>
                <a:spcPct val="115000"/>
              </a:lnSpc>
              <a:spcBef>
                <a:spcPts val="0"/>
              </a:spcBef>
              <a:spcAft>
                <a:spcPts val="120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a:t>
            </a:r>
            <a:r>
              <a:rPr lang="en-US" sz="1400">
                <a:latin typeface="Times New Roman" panose="02020603050405020304" pitchFamily="18" charset="0"/>
                <a:ea typeface="Times New Roman" panose="02020603050405020304" pitchFamily="18" charset="0"/>
                <a:cs typeface="Times New Roman" panose="02020603050405020304" pitchFamily="18" charset="0"/>
              </a:rPr>
              <a:t>1</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 - “2005 Remediation General Permit Fact Sheet Excerpts.” </a:t>
            </a:r>
            <a:r>
              <a:rPr lang="en-US" sz="1400" i="1" dirty="0">
                <a:latin typeface="Times New Roman" panose="02020603050405020304" pitchFamily="18" charset="0"/>
                <a:ea typeface="Times New Roman" panose="02020603050405020304" pitchFamily="18" charset="0"/>
                <a:cs typeface="Times New Roman" panose="02020603050405020304" pitchFamily="18" charset="0"/>
              </a:rPr>
              <a:t>EPA</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 2005, www3.epa.gov/region1/npdes/remediation/RGP2010_FactSheet_AttachmentA.pdf.</a:t>
            </a:r>
          </a:p>
          <a:p>
            <a:pPr marR="0" lvl="0">
              <a:lnSpc>
                <a:spcPct val="115000"/>
              </a:lnSpc>
              <a:spcBef>
                <a:spcPts val="0"/>
              </a:spcBef>
              <a:spcAft>
                <a:spcPts val="1200"/>
              </a:spcAft>
            </a:pPr>
            <a:r>
              <a:rPr lang="en-US" sz="1600" dirty="0">
                <a:latin typeface="Calibri" panose="020F0502020204030204" pitchFamily="34" charset="0"/>
                <a:ea typeface="MS Mincho" panose="02020609040205080304" pitchFamily="49" charset="-128"/>
                <a:cs typeface="Times New Roman" panose="02020603050405020304" pitchFamily="18" charset="0"/>
              </a:rPr>
              <a:t>[</a:t>
            </a:r>
            <a:r>
              <a:rPr lang="en-US" sz="1600">
                <a:latin typeface="Calibri" panose="020F0502020204030204" pitchFamily="34" charset="0"/>
                <a:ea typeface="MS Mincho" panose="02020609040205080304" pitchFamily="49" charset="-128"/>
                <a:cs typeface="Times New Roman" panose="02020603050405020304" pitchFamily="18" charset="0"/>
              </a:rPr>
              <a:t>2</a:t>
            </a:r>
            <a:r>
              <a:rPr lang="en-US" sz="1600" dirty="0">
                <a:latin typeface="Calibri" panose="020F0502020204030204" pitchFamily="34" charset="0"/>
                <a:ea typeface="MS Mincho" panose="02020609040205080304" pitchFamily="49" charset="-128"/>
                <a:cs typeface="Times New Roman" panose="02020603050405020304" pitchFamily="18" charset="0"/>
              </a:rPr>
              <a:t>] - </a:t>
            </a:r>
            <a:r>
              <a:rPr lang="en-US" sz="1600" dirty="0">
                <a:latin typeface="Calibri" panose="020F0502020204030204" pitchFamily="34" charset="0"/>
                <a:ea typeface="MS Mincho" panose="02020609040205080304" pitchFamily="49" charset="-128"/>
                <a:cs typeface="Times New Roman" panose="02020603050405020304" pitchFamily="18" charset="0"/>
                <a:hlinkClick r:id="rId2"/>
              </a:rPr>
              <a:t>https://www.kindpng.com/picc/m/34-343914_hazard-symbol-warning-sign-clip-art-nuclear-toxic.png</a:t>
            </a:r>
            <a:endParaRPr lang="en-US" sz="1600" dirty="0">
              <a:latin typeface="Calibri" panose="020F0502020204030204" pitchFamily="34" charset="0"/>
              <a:ea typeface="MS Mincho" panose="02020609040205080304" pitchFamily="49" charset="-128"/>
              <a:cs typeface="Times New Roman" panose="02020603050405020304" pitchFamily="18" charset="0"/>
            </a:endParaRPr>
          </a:p>
          <a:p>
            <a:pPr marR="0" lvl="0">
              <a:lnSpc>
                <a:spcPct val="115000"/>
              </a:lnSpc>
              <a:spcBef>
                <a:spcPts val="0"/>
              </a:spcBef>
              <a:spcAft>
                <a:spcPts val="1200"/>
              </a:spcAft>
            </a:pPr>
            <a:r>
              <a:rPr lang="en-US" sz="1600" dirty="0">
                <a:effectLst/>
                <a:latin typeface="Calibri" panose="020F0502020204030204" pitchFamily="34" charset="0"/>
                <a:ea typeface="MS Mincho" panose="02020609040205080304" pitchFamily="49" charset="-128"/>
                <a:cs typeface="Times New Roman" panose="02020603050405020304" pitchFamily="18" charset="0"/>
              </a:rPr>
              <a:t>[</a:t>
            </a:r>
            <a:r>
              <a:rPr lang="en-US" sz="1600">
                <a:effectLst/>
                <a:latin typeface="Calibri" panose="020F0502020204030204" pitchFamily="34" charset="0"/>
                <a:ea typeface="MS Mincho" panose="02020609040205080304" pitchFamily="49" charset="-128"/>
                <a:cs typeface="Times New Roman" panose="02020603050405020304" pitchFamily="18" charset="0"/>
              </a:rPr>
              <a:t>3</a:t>
            </a:r>
            <a:r>
              <a:rPr lang="en-US" sz="1600" dirty="0">
                <a:effectLst/>
                <a:latin typeface="Calibri" panose="020F0502020204030204" pitchFamily="34" charset="0"/>
                <a:ea typeface="MS Mincho" panose="02020609040205080304" pitchFamily="49" charset="-128"/>
                <a:cs typeface="Times New Roman" panose="02020603050405020304" pitchFamily="18" charset="0"/>
              </a:rPr>
              <a:t>] - </a:t>
            </a:r>
            <a:r>
              <a:rPr lang="en-US" sz="1600" dirty="0">
                <a:latin typeface="Calibri" panose="020F0502020204030204" pitchFamily="34" charset="0"/>
                <a:ea typeface="MS Mincho" panose="02020609040205080304" pitchFamily="49" charset="-128"/>
                <a:cs typeface="Times New Roman" panose="02020603050405020304" pitchFamily="18" charset="0"/>
                <a:hlinkClick r:id="rId3"/>
              </a:rPr>
              <a:t>https://us.123rf.com/450wm/arcady31/arcady311410/arcady31141000027/32561215-stock-vector-safety-first-sign.jpg?ver=6</a:t>
            </a:r>
            <a:endParaRPr lang="en-US" sz="1600" dirty="0">
              <a:latin typeface="Calibri" panose="020F0502020204030204" pitchFamily="34" charset="0"/>
              <a:ea typeface="MS Mincho" panose="02020609040205080304" pitchFamily="49" charset="-128"/>
              <a:cs typeface="Times New Roman" panose="02020603050405020304" pitchFamily="18" charset="0"/>
            </a:endParaRPr>
          </a:p>
          <a:p>
            <a:pPr marR="0" lvl="0">
              <a:lnSpc>
                <a:spcPct val="115000"/>
              </a:lnSpc>
              <a:spcBef>
                <a:spcPts val="0"/>
              </a:spcBef>
              <a:spcAft>
                <a:spcPts val="1200"/>
              </a:spcAft>
            </a:pPr>
            <a:r>
              <a:rPr lang="en-US" sz="1600" dirty="0">
                <a:latin typeface="Calibri" panose="020F0502020204030204" pitchFamily="34" charset="0"/>
                <a:ea typeface="MS Mincho" panose="02020609040205080304" pitchFamily="49" charset="-128"/>
                <a:cs typeface="Times New Roman" panose="02020603050405020304" pitchFamily="18" charset="0"/>
              </a:rPr>
              <a:t>[</a:t>
            </a:r>
            <a:r>
              <a:rPr lang="en-US" sz="1600">
                <a:latin typeface="Calibri" panose="020F0502020204030204" pitchFamily="34" charset="0"/>
                <a:ea typeface="MS Mincho" panose="02020609040205080304" pitchFamily="49" charset="-128"/>
                <a:cs typeface="Times New Roman" panose="02020603050405020304" pitchFamily="18" charset="0"/>
              </a:rPr>
              <a:t>4</a:t>
            </a:r>
            <a:r>
              <a:rPr lang="en-US" sz="1600" dirty="0">
                <a:latin typeface="Calibri" panose="020F0502020204030204" pitchFamily="34" charset="0"/>
                <a:ea typeface="MS Mincho" panose="02020609040205080304" pitchFamily="49" charset="-128"/>
                <a:cs typeface="Times New Roman" panose="02020603050405020304" pitchFamily="18" charset="0"/>
              </a:rPr>
              <a:t>] </a:t>
            </a:r>
            <a:r>
              <a:rPr lang="en-US" sz="1600" dirty="0" err="1">
                <a:latin typeface="Calibri" panose="020F0502020204030204" pitchFamily="34" charset="0"/>
                <a:ea typeface="MS Mincho" panose="02020609040205080304" pitchFamily="49" charset="-128"/>
                <a:cs typeface="Times New Roman" panose="02020603050405020304" pitchFamily="18" charset="0"/>
              </a:rPr>
              <a:t>Seborg</a:t>
            </a:r>
            <a:r>
              <a:rPr lang="en-US" sz="1600" dirty="0">
                <a:latin typeface="Calibri" panose="020F0502020204030204" pitchFamily="34" charset="0"/>
                <a:ea typeface="MS Mincho" panose="02020609040205080304" pitchFamily="49" charset="-128"/>
                <a:cs typeface="Times New Roman" panose="02020603050405020304" pitchFamily="18" charset="0"/>
              </a:rPr>
              <a:t>, Dale E. Process Dynamics and Control. John Wiley &amp; Sons, 2011.</a:t>
            </a:r>
          </a:p>
          <a:p>
            <a:pPr marR="0" lvl="0">
              <a:lnSpc>
                <a:spcPct val="115000"/>
              </a:lnSpc>
              <a:spcBef>
                <a:spcPts val="0"/>
              </a:spcBef>
              <a:spcAft>
                <a:spcPts val="1200"/>
              </a:spcAft>
            </a:pPr>
            <a:r>
              <a:rPr lang="en-US" sz="1600" dirty="0">
                <a:latin typeface="Calibri" panose="020F0502020204030204" pitchFamily="34" charset="0"/>
                <a:ea typeface="MS Mincho" panose="02020609040205080304" pitchFamily="49" charset="-128"/>
                <a:cs typeface="Times New Roman" panose="02020603050405020304" pitchFamily="18" charset="0"/>
              </a:rPr>
              <a:t>[</a:t>
            </a:r>
            <a:r>
              <a:rPr lang="en-US" sz="1600">
                <a:latin typeface="Calibri" panose="020F0502020204030204" pitchFamily="34" charset="0"/>
                <a:ea typeface="MS Mincho" panose="02020609040205080304" pitchFamily="49" charset="-128"/>
                <a:cs typeface="Times New Roman" panose="02020603050405020304" pitchFamily="18" charset="0"/>
              </a:rPr>
              <a:t>5</a:t>
            </a:r>
            <a:r>
              <a:rPr lang="en-US" sz="1600" dirty="0">
                <a:latin typeface="Calibri" panose="020F0502020204030204" pitchFamily="34" charset="0"/>
                <a:ea typeface="MS Mincho" panose="02020609040205080304" pitchFamily="49" charset="-128"/>
                <a:cs typeface="Times New Roman" panose="02020603050405020304" pitchFamily="18" charset="0"/>
              </a:rPr>
              <a:t>] </a:t>
            </a:r>
            <a:r>
              <a:rPr lang="en-US" sz="1600" dirty="0" err="1">
                <a:latin typeface="Calibri" panose="020F0502020204030204" pitchFamily="34" charset="0"/>
                <a:ea typeface="MS Mincho" panose="02020609040205080304" pitchFamily="49" charset="-128"/>
                <a:cs typeface="Times New Roman" panose="02020603050405020304" pitchFamily="18" charset="0"/>
              </a:rPr>
              <a:t>Towler</a:t>
            </a:r>
            <a:r>
              <a:rPr lang="en-US" sz="1600" dirty="0">
                <a:latin typeface="Calibri" panose="020F0502020204030204" pitchFamily="34" charset="0"/>
                <a:ea typeface="MS Mincho" panose="02020609040205080304" pitchFamily="49" charset="-128"/>
                <a:cs typeface="Times New Roman" panose="02020603050405020304" pitchFamily="18" charset="0"/>
              </a:rPr>
              <a:t>, Gavin P., and R. K. Sinnott. Chemical Engineering Design: Principles, Practice and          Economics of Plant and Process Design. Butterworth-Heinemann, 2013. </a:t>
            </a:r>
          </a:p>
          <a:p>
            <a:pPr marR="0" lvl="0">
              <a:lnSpc>
                <a:spcPct val="115000"/>
              </a:lnSpc>
              <a:spcBef>
                <a:spcPts val="0"/>
              </a:spcBef>
              <a:spcAft>
                <a:spcPts val="1200"/>
              </a:spcAft>
            </a:pPr>
            <a:endParaRPr lang="en-US" sz="1600" dirty="0">
              <a:effectLst/>
              <a:latin typeface="Calibri" panose="020F050202020403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143763410"/>
      </p:ext>
    </p:extLst>
  </p:cSld>
  <p:clrMapOvr>
    <a:masterClrMapping/>
  </p:clrMapOvr>
</p:sld>
</file>

<file path=ppt/theme/theme1.xml><?xml version="1.0" encoding="utf-8"?>
<a:theme xmlns:a="http://schemas.openxmlformats.org/drawingml/2006/main" name="Facet">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39755d7d-1a86-46c3-8e4c-c6a61d25b3b9">
      <UserInfo>
        <DisplayName>Lin, Rongwei</DisplayName>
        <AccountId>14</AccountId>
        <AccountType/>
      </UserInfo>
      <UserInfo>
        <DisplayName>Fell, James Alexander</DisplayName>
        <AccountId>12</AccountId>
        <AccountType/>
      </UserInfo>
      <UserInfo>
        <DisplayName>Rawson, William L</DisplayName>
        <AccountId>13</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27C2B9CA928DF4597362A25AC5BBBB8" ma:contentTypeVersion="6" ma:contentTypeDescription="Create a new document." ma:contentTypeScope="" ma:versionID="51530a01566d5200c430870a86763763">
  <xsd:schema xmlns:xsd="http://www.w3.org/2001/XMLSchema" xmlns:xs="http://www.w3.org/2001/XMLSchema" xmlns:p="http://schemas.microsoft.com/office/2006/metadata/properties" xmlns:ns2="afd5970a-d6bc-4e02-b1bb-b24585945a02" xmlns:ns3="39755d7d-1a86-46c3-8e4c-c6a61d25b3b9" targetNamespace="http://schemas.microsoft.com/office/2006/metadata/properties" ma:root="true" ma:fieldsID="cd8d8a4703c9755b883b34d3e6dc35c9" ns2:_="" ns3:_="">
    <xsd:import namespace="afd5970a-d6bc-4e02-b1bb-b24585945a02"/>
    <xsd:import namespace="39755d7d-1a86-46c3-8e4c-c6a61d25b3b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d5970a-d6bc-4e02-b1bb-b24585945a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9755d7d-1a86-46c3-8e4c-c6a61d25b3b9"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44A9EA4-C433-4A18-826F-AA2DA00A865C}">
  <ds:schemaRefs>
    <ds:schemaRef ds:uri="http://purl.org/dc/dcmitype/"/>
    <ds:schemaRef ds:uri="http://schemas.microsoft.com/office/infopath/2007/PartnerControls"/>
    <ds:schemaRef ds:uri="http://schemas.openxmlformats.org/package/2006/metadata/core-properties"/>
    <ds:schemaRef ds:uri="http://purl.org/dc/elements/1.1/"/>
    <ds:schemaRef ds:uri="http://www.w3.org/XML/1998/namespace"/>
    <ds:schemaRef ds:uri="http://schemas.microsoft.com/office/2006/documentManagement/types"/>
    <ds:schemaRef ds:uri="afd5970a-d6bc-4e02-b1bb-b24585945a02"/>
    <ds:schemaRef ds:uri="39755d7d-1a86-46c3-8e4c-c6a61d25b3b9"/>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DCF72B2C-7EE5-4DB8-9322-D99F4DF5FECE}">
  <ds:schemaRefs>
    <ds:schemaRef ds:uri="http://schemas.microsoft.com/sharepoint/v3/contenttype/forms"/>
  </ds:schemaRefs>
</ds:datastoreItem>
</file>

<file path=customXml/itemProps3.xml><?xml version="1.0" encoding="utf-8"?>
<ds:datastoreItem xmlns:ds="http://schemas.openxmlformats.org/officeDocument/2006/customXml" ds:itemID="{B5881B87-383A-46BB-975A-3163DB9375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d5970a-d6bc-4e02-b1bb-b24585945a02"/>
    <ds:schemaRef ds:uri="39755d7d-1a86-46c3-8e4c-c6a61d25b3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1311</TotalTime>
  <Words>1992</Words>
  <Application>Microsoft Office PowerPoint</Application>
  <PresentationFormat>Widescreen</PresentationFormat>
  <Paragraphs>564</Paragraphs>
  <Slides>31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Calibri</vt:lpstr>
      <vt:lpstr>Garamond</vt:lpstr>
      <vt:lpstr>Times New Roman</vt:lpstr>
      <vt:lpstr>Trebuchet MS</vt:lpstr>
      <vt:lpstr>Wingdings</vt:lpstr>
      <vt:lpstr>Wingdings 3</vt:lpstr>
      <vt:lpstr>Facet</vt:lpstr>
      <vt:lpstr>Para-xylene Production Through Methylation of Toluene</vt:lpstr>
      <vt:lpstr>Introduction</vt:lpstr>
      <vt:lpstr>Overall Process Outline</vt:lpstr>
      <vt:lpstr>Environmental Analysis</vt:lpstr>
      <vt:lpstr>Safety Analysis</vt:lpstr>
      <vt:lpstr>Process Safety Concerns</vt:lpstr>
      <vt:lpstr>Process Controls</vt:lpstr>
      <vt:lpstr> Process Controls (cont.)</vt:lpstr>
      <vt:lpstr>Methanol Distillation Column Controls</vt:lpstr>
      <vt:lpstr>Process Control Scheme before HAZOP</vt:lpstr>
      <vt:lpstr>HAZOP ANALYIS HAZOP Analysis of Methanol Distillation Column (T-201) </vt:lpstr>
      <vt:lpstr>HAZOP ANALYIS (cont.)</vt:lpstr>
      <vt:lpstr>HAZOP ANALYIS (cont.)</vt:lpstr>
      <vt:lpstr>HAZOP ANALYIS (cont.)</vt:lpstr>
      <vt:lpstr>Process Control Scheme after HAZOP</vt:lpstr>
      <vt:lpstr>Economic Analysis</vt:lpstr>
      <vt:lpstr>Total Capital Cost Estimates</vt:lpstr>
      <vt:lpstr>ISBL Distribution</vt:lpstr>
      <vt:lpstr>Variable Costs of Production </vt:lpstr>
      <vt:lpstr>PowerPoint Presentation</vt:lpstr>
      <vt:lpstr>Fixed Costs of Production </vt:lpstr>
      <vt:lpstr>PowerPoint Presentation</vt:lpstr>
      <vt:lpstr>-  7-year MACRS recovery term  -  2 Year construction period  -  20-year plant life  -  Interest Rate 8%  -  Tax Rate 25%  -  DCFROR = 99%      </vt:lpstr>
      <vt:lpstr>PowerPoint Presentation</vt:lpstr>
      <vt:lpstr>Sensitivity Analysis</vt:lpstr>
      <vt:lpstr>Sensitivity Analysis</vt:lpstr>
      <vt:lpstr>Sensitivity Analysis</vt:lpstr>
      <vt:lpstr>ROI and Simple Payback Period</vt:lpstr>
      <vt:lpstr>Revenues and Profits </vt:lpstr>
      <vt:lpstr>Economic Summary</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Para-xylene Production Through Methylation of Toluene</dc:title>
  <dc:creator>Rawson, William L</dc:creator>
  <cp:lastModifiedBy>Rawson, William L</cp:lastModifiedBy>
  <cp:revision>2</cp:revision>
  <dcterms:created xsi:type="dcterms:W3CDTF">2020-03-30T19:42:36Z</dcterms:created>
  <dcterms:modified xsi:type="dcterms:W3CDTF">2020-03-31T18:03:49Z</dcterms:modified>
</cp:coreProperties>
</file>