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29"/>
  </p:notesMasterIdLst>
  <p:sldIdLst>
    <p:sldId id="256" r:id="rId5"/>
    <p:sldId id="257" r:id="rId6"/>
    <p:sldId id="258" r:id="rId7"/>
    <p:sldId id="259" r:id="rId8"/>
    <p:sldId id="285" r:id="rId9"/>
    <p:sldId id="294" r:id="rId10"/>
    <p:sldId id="269" r:id="rId11"/>
    <p:sldId id="290" r:id="rId12"/>
    <p:sldId id="286" r:id="rId13"/>
    <p:sldId id="270" r:id="rId14"/>
    <p:sldId id="291" r:id="rId15"/>
    <p:sldId id="287" r:id="rId16"/>
    <p:sldId id="271" r:id="rId17"/>
    <p:sldId id="292" r:id="rId18"/>
    <p:sldId id="288" r:id="rId19"/>
    <p:sldId id="289" r:id="rId20"/>
    <p:sldId id="293" r:id="rId21"/>
    <p:sldId id="272" r:id="rId22"/>
    <p:sldId id="296" r:id="rId23"/>
    <p:sldId id="273" r:id="rId24"/>
    <p:sldId id="274" r:id="rId25"/>
    <p:sldId id="275" r:id="rId26"/>
    <p:sldId id="283" r:id="rId27"/>
    <p:sldId id="29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steban Vazquez-Elizondo" initials="EV" lastIdx="3" clrIdx="0">
    <p:extLst>
      <p:ext uri="{19B8F6BF-5375-455C-9EA6-DF929625EA0E}">
        <p15:presenceInfo xmlns:p15="http://schemas.microsoft.com/office/powerpoint/2012/main" userId="Esteban Vazquez-Elizond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259FB-9226-4D7D-A755-91A4389D1C01}" v="166" dt="2020-03-03T18:16:25.343"/>
    <p1510:client id="{666B72FF-DFD1-C544-BF42-197CD5FC3A2E}" v="17" dt="2020-03-03T18:40:06.393"/>
    <p1510:client id="{9C853A82-AD48-44DB-B8AC-FB73419A7F6C}" v="3" dt="2020-03-03T01:41:31.351"/>
    <p1510:client id="{AE730356-197C-4C99-8515-5851D0BB3B71}" v="11" dt="2020-03-03T01:25:04.450"/>
    <p1510:client id="{DB180CD2-F6A5-45A1-A8B4-4F820D0FCFDE}" v="17" dt="2020-03-03T01:49:51.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2"/>
    <p:restoredTop sz="94690"/>
  </p:normalViewPr>
  <p:slideViewPr>
    <p:cSldViewPr snapToGrid="0" snapToObjects="1">
      <p:cViewPr>
        <p:scale>
          <a:sx n="80" d="100"/>
          <a:sy n="80" d="100"/>
        </p:scale>
        <p:origin x="280"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742E38-880C-4351-92AE-2F2D6EDFA6EA}" type="datetimeFigureOut">
              <a:rPr lang="en-US" smtClean="0"/>
              <a:t>3/3/20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4ED231-AF5F-4349-865C-3FF58AFE78B1}" type="slidenum">
              <a:rPr lang="en-US" smtClean="0"/>
              <a:t>‹#›</a:t>
            </a:fld>
            <a:endParaRPr lang="en-US"/>
          </a:p>
        </p:txBody>
      </p:sp>
    </p:spTree>
    <p:extLst>
      <p:ext uri="{BB962C8B-B14F-4D97-AF65-F5344CB8AC3E}">
        <p14:creationId xmlns:p14="http://schemas.microsoft.com/office/powerpoint/2010/main" val="282158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4ED231-AF5F-4349-865C-3FF58AFE78B1}" type="slidenum">
              <a:rPr lang="en-US" smtClean="0"/>
              <a:t>21</a:t>
            </a:fld>
            <a:endParaRPr lang="en-US"/>
          </a:p>
        </p:txBody>
      </p:sp>
    </p:spTree>
    <p:extLst>
      <p:ext uri="{BB962C8B-B14F-4D97-AF65-F5344CB8AC3E}">
        <p14:creationId xmlns:p14="http://schemas.microsoft.com/office/powerpoint/2010/main" val="761299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B1AEFEBF-1AC1-4226-9B0F-7384E0D3AF97}" type="datetime1">
              <a:rPr lang="en-US" smtClean="0"/>
              <a:t>3/3/20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03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25C6D-9A83-4015-A8B2-5C41FFE163E6}" type="datetime1">
              <a:rPr lang="en-US" smtClean="0"/>
              <a:t>3/3/20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76399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61AC49-DF85-4029-AF4D-0408F0BA6756}" type="datetime1">
              <a:rPr lang="en-US" smtClean="0"/>
              <a:t>3/3/20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386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1342BD-CD3C-415A-9404-4CEC6B6D7ABD}" type="datetime1">
              <a:rPr lang="en-US" smtClean="0"/>
              <a:t>3/3/20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9960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50BB2A-FCEF-44EE-BA61-A25A69EA83AE}" type="datetime1">
              <a:rPr lang="en-US" smtClean="0"/>
              <a:t>3/3/20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7857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46D965-0D32-4BC6-9CBB-884E53AD8973}" type="datetime1">
              <a:rPr lang="en-US" smtClean="0"/>
              <a:t>3/3/20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64095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D4E1E91-FAE8-4376-A4E6-9D5F74B84DC3}" type="datetime1">
              <a:rPr lang="en-US" smtClean="0"/>
              <a:t>3/3/20</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2350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A8D5ED1-9A64-4B08-9AF8-78059C3F8D9C}" type="datetime1">
              <a:rPr lang="en-US" smtClean="0"/>
              <a:t>3/3/20</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35998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38ACA9-CDEA-4ED1-B7E8-F597B8215441}" type="datetime1">
              <a:rPr lang="en-US" smtClean="0"/>
              <a:t>3/3/20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52553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804BE0-40A3-47CB-9AEC-AE3F1F473F4E}" type="datetime1">
              <a:rPr lang="en-US" smtClean="0"/>
              <a:t>3/3/20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65869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96B73-87F4-4AAD-9AD4-4C7F7C1F14B4}" type="datetime1">
              <a:rPr lang="en-US" smtClean="0"/>
              <a:t>3/3/20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95147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9E2B110-3D5D-4660-AA63-906852ADF656}" type="datetime1">
              <a:rPr lang="en-US" smtClean="0"/>
              <a:t>3/3/20</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30EA680-D336-4FF7-8B7A-9848BB0A1C3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40052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8">
            <a:extLst>
              <a:ext uri="{FF2B5EF4-FFF2-40B4-BE49-F238E27FC236}">
                <a16:creationId xmlns:a16="http://schemas.microsoft.com/office/drawing/2014/main" id="{2DF7C36B-2A95-4DB1-A402-5367DFD51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10">
            <a:extLst>
              <a:ext uri="{FF2B5EF4-FFF2-40B4-BE49-F238E27FC236}">
                <a16:creationId xmlns:a16="http://schemas.microsoft.com/office/drawing/2014/main" id="{9FCA75FA-F681-4B5D-93C7-49F3DDA1D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6" name="Straight Connector 12">
            <a:extLst>
              <a:ext uri="{FF2B5EF4-FFF2-40B4-BE49-F238E27FC236}">
                <a16:creationId xmlns:a16="http://schemas.microsoft.com/office/drawing/2014/main" id="{834E074C-27C4-4E38-B099-012123B754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14">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8" name="Rectangle 16">
            <a:extLst>
              <a:ext uri="{FF2B5EF4-FFF2-40B4-BE49-F238E27FC236}">
                <a16:creationId xmlns:a16="http://schemas.microsoft.com/office/drawing/2014/main" id="{C4F7E42D-8B5A-4FC8-81CD-9E60171F7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92370" y="516835"/>
            <a:ext cx="3084844" cy="2103875"/>
          </a:xfrm>
        </p:spPr>
        <p:txBody>
          <a:bodyPr vert="horz" lIns="91440" tIns="45720" rIns="91440" bIns="45720" rtlCol="0" anchor="b">
            <a:normAutofit/>
          </a:bodyPr>
          <a:lstStyle/>
          <a:p>
            <a:r>
              <a:rPr lang="en-US" sz="4400" b="1">
                <a:solidFill>
                  <a:srgbClr val="FFFFFF"/>
                </a:solidFill>
                <a:effectLst>
                  <a:outerShdw blurRad="38100" dist="38100" dir="2700000" algn="tl">
                    <a:srgbClr val="000000">
                      <a:alpha val="43137"/>
                    </a:srgbClr>
                  </a:outerShdw>
                </a:effectLst>
              </a:rPr>
              <a:t>Advanced MTO Process in India</a:t>
            </a:r>
          </a:p>
        </p:txBody>
      </p:sp>
      <p:sp>
        <p:nvSpPr>
          <p:cNvPr id="3" name="Subtitle 2"/>
          <p:cNvSpPr>
            <a:spLocks noGrp="1"/>
          </p:cNvSpPr>
          <p:nvPr>
            <p:ph type="subTitle" idx="1"/>
          </p:nvPr>
        </p:nvSpPr>
        <p:spPr>
          <a:xfrm>
            <a:off x="492371" y="2653800"/>
            <a:ext cx="3084844" cy="3335519"/>
          </a:xfrm>
        </p:spPr>
        <p:txBody>
          <a:bodyPr vert="horz" lIns="0" tIns="45720" rIns="0" bIns="45720" rtlCol="0">
            <a:normAutofit/>
          </a:bodyPr>
          <a:lstStyle/>
          <a:p>
            <a:r>
              <a:rPr lang="en-US" sz="1500" b="1" u="sng">
                <a:solidFill>
                  <a:srgbClr val="FFFFFF"/>
                </a:solidFill>
                <a:latin typeface="+mn-lt"/>
              </a:rPr>
              <a:t>Group #10</a:t>
            </a:r>
          </a:p>
          <a:p>
            <a:r>
              <a:rPr lang="en-US" sz="1500">
                <a:solidFill>
                  <a:srgbClr val="FFFFFF"/>
                </a:solidFill>
                <a:latin typeface="+mn-lt"/>
              </a:rPr>
              <a:t>Sinan Masoud</a:t>
            </a:r>
          </a:p>
          <a:p>
            <a:r>
              <a:rPr lang="en-US" sz="1500">
                <a:solidFill>
                  <a:srgbClr val="FFFFFF"/>
                </a:solidFill>
                <a:latin typeface="+mn-lt"/>
              </a:rPr>
              <a:t>Khalil Shehadeh</a:t>
            </a:r>
          </a:p>
          <a:p>
            <a:r>
              <a:rPr lang="en-US" sz="1500">
                <a:solidFill>
                  <a:srgbClr val="FFFFFF"/>
                </a:solidFill>
                <a:latin typeface="+mn-lt"/>
              </a:rPr>
              <a:t>Emily </a:t>
            </a:r>
            <a:r>
              <a:rPr lang="en-US" sz="1500" err="1">
                <a:solidFill>
                  <a:srgbClr val="FFFFFF"/>
                </a:solidFill>
                <a:latin typeface="+mn-lt"/>
              </a:rPr>
              <a:t>Sobie</a:t>
            </a:r>
            <a:endParaRPr lang="en-US" sz="1500">
              <a:solidFill>
                <a:srgbClr val="FFFFFF"/>
              </a:solidFill>
              <a:latin typeface="+mn-lt"/>
            </a:endParaRPr>
          </a:p>
          <a:p>
            <a:r>
              <a:rPr lang="en-US" sz="1500">
                <a:solidFill>
                  <a:srgbClr val="FFFFFF"/>
                </a:solidFill>
                <a:latin typeface="+mn-lt"/>
              </a:rPr>
              <a:t>Esteban Vazquez-Elizondo</a:t>
            </a:r>
          </a:p>
          <a:p>
            <a:r>
              <a:rPr lang="en-US" sz="1500" b="1">
                <a:solidFill>
                  <a:srgbClr val="FFFFFF"/>
                </a:solidFill>
                <a:effectLst>
                  <a:outerShdw blurRad="38100" dist="38100" dir="2700000" algn="tl">
                    <a:srgbClr val="000000">
                      <a:alpha val="43137"/>
                    </a:srgbClr>
                  </a:outerShdw>
                </a:effectLst>
                <a:latin typeface="+mn-lt"/>
              </a:rPr>
              <a:t>Mentor: Bipin Vora</a:t>
            </a:r>
          </a:p>
        </p:txBody>
      </p:sp>
      <p:pic>
        <p:nvPicPr>
          <p:cNvPr id="4" name="Picture 4" descr="A large ship in the background&#10;&#10;Description generated with high confidence">
            <a:extLst>
              <a:ext uri="{FF2B5EF4-FFF2-40B4-BE49-F238E27FC236}">
                <a16:creationId xmlns:a16="http://schemas.microsoft.com/office/drawing/2014/main" id="{2D2E87F4-D015-4614-9A8C-56FF806F6EAD}"/>
              </a:ext>
            </a:extLst>
          </p:cNvPr>
          <p:cNvPicPr>
            <a:picLocks noChangeAspect="1"/>
          </p:cNvPicPr>
          <p:nvPr/>
        </p:nvPicPr>
        <p:blipFill rotWithShape="1">
          <a:blip r:embed="rId2"/>
          <a:srcRect l="13535" r="19936"/>
          <a:stretch/>
        </p:blipFill>
        <p:spPr>
          <a:xfrm>
            <a:off x="4075043" y="10"/>
            <a:ext cx="8111272" cy="6857990"/>
          </a:xfrm>
          <a:prstGeom prst="rect">
            <a:avLst/>
          </a:prstGeom>
        </p:spPr>
      </p:pic>
      <p:sp>
        <p:nvSpPr>
          <p:cNvPr id="29" name="Rectangle 18">
            <a:extLst>
              <a:ext uri="{FF2B5EF4-FFF2-40B4-BE49-F238E27FC236}">
                <a16:creationId xmlns:a16="http://schemas.microsoft.com/office/drawing/2014/main" id="{8C04651D-B9F4-4935-A02D-364153FBD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1486A-BBA4-4431-B057-7CF4AC39E766}"/>
              </a:ext>
            </a:extLst>
          </p:cNvPr>
          <p:cNvSpPr>
            <a:spLocks noGrp="1"/>
          </p:cNvSpPr>
          <p:nvPr>
            <p:ph type="title"/>
          </p:nvPr>
        </p:nvSpPr>
        <p:spPr/>
        <p:txBody>
          <a:bodyPr/>
          <a:lstStyle/>
          <a:p>
            <a:r>
              <a:rPr lang="en-US"/>
              <a:t>Why MTO in India? </a:t>
            </a:r>
          </a:p>
        </p:txBody>
      </p:sp>
      <p:sp>
        <p:nvSpPr>
          <p:cNvPr id="3" name="Content Placeholder 2">
            <a:extLst>
              <a:ext uri="{FF2B5EF4-FFF2-40B4-BE49-F238E27FC236}">
                <a16:creationId xmlns:a16="http://schemas.microsoft.com/office/drawing/2014/main" id="{124BCBA1-2E20-4798-A15B-DD6DC524F133}"/>
              </a:ext>
            </a:extLst>
          </p:cNvPr>
          <p:cNvSpPr>
            <a:spLocks noGrp="1"/>
          </p:cNvSpPr>
          <p:nvPr>
            <p:ph idx="1"/>
          </p:nvPr>
        </p:nvSpPr>
        <p:spPr/>
        <p:txBody>
          <a:bodyPr/>
          <a:lstStyle/>
          <a:p>
            <a:pPr>
              <a:buFont typeface="Arial" panose="020B0604020202020204" pitchFamily="34" charset="0"/>
              <a:buChar char="•"/>
            </a:pPr>
            <a:r>
              <a:rPr lang="en-US"/>
              <a:t>MTO, which stands for methanol-to-olefins, provides the link between the use of coal and natural gas in the petrochemical industry.</a:t>
            </a:r>
          </a:p>
          <a:p>
            <a:pPr>
              <a:buFont typeface="Arial" panose="020B0604020202020204" pitchFamily="34" charset="0"/>
              <a:buChar char="•"/>
            </a:pPr>
            <a:r>
              <a:rPr lang="en-US"/>
              <a:t>The objective in this project is to base the plant in India, which has the highest growing population in the world, and is in dire need of meeting its olefin demand in order to avoid becoming dependent on other countries. </a:t>
            </a:r>
          </a:p>
          <a:p>
            <a:pPr>
              <a:buFont typeface="Arial" panose="020B0604020202020204" pitchFamily="34" charset="0"/>
              <a:buChar char="•"/>
            </a:pPr>
            <a:r>
              <a:rPr lang="en-US"/>
              <a:t>The investment in a methanol plant in Angola, Africa will boost the economy and create new jobs. This could potentially be the initial steps into getting the country out of poverty. </a:t>
            </a:r>
          </a:p>
          <a:p>
            <a:pPr>
              <a:buFont typeface="Arial" panose="020B0604020202020204" pitchFamily="34" charset="0"/>
              <a:buChar char="•"/>
            </a:pPr>
            <a:r>
              <a:rPr lang="en-US"/>
              <a:t>The investment in the methanol plant will provide access to the methanol at a lower price than what India is currently paying the Middle East for methanol. By doing this, MTO process will be economically optimized, due to a lower price of methanol, while also helping meet the increase in demand of ethylene and propylene in India. </a:t>
            </a:r>
          </a:p>
          <a:p>
            <a:pPr>
              <a:buFont typeface="Arial" panose="020B0604020202020204" pitchFamily="34" charset="0"/>
              <a:buChar char="•"/>
            </a:pPr>
            <a:endParaRPr lang="en-US"/>
          </a:p>
          <a:p>
            <a:pPr marL="0" indent="0">
              <a:buNone/>
            </a:pPr>
            <a:endParaRPr lang="en-US"/>
          </a:p>
        </p:txBody>
      </p:sp>
      <p:sp>
        <p:nvSpPr>
          <p:cNvPr id="5" name="Slide Number Placeholder 4">
            <a:extLst>
              <a:ext uri="{FF2B5EF4-FFF2-40B4-BE49-F238E27FC236}">
                <a16:creationId xmlns:a16="http://schemas.microsoft.com/office/drawing/2014/main" id="{1A0445B8-381E-4B62-BC0B-C8334A777C1E}"/>
              </a:ext>
            </a:extLst>
          </p:cNvPr>
          <p:cNvSpPr>
            <a:spLocks noGrp="1"/>
          </p:cNvSpPr>
          <p:nvPr>
            <p:ph type="sldNum" sz="quarter" idx="12"/>
          </p:nvPr>
        </p:nvSpPr>
        <p:spPr/>
        <p:txBody>
          <a:bodyPr/>
          <a:lstStyle/>
          <a:p>
            <a:fld id="{330EA680-D336-4FF7-8B7A-9848BB0A1C32}" type="slidenum">
              <a:rPr lang="en-US" sz="2400" smtClean="0"/>
              <a:t>2</a:t>
            </a:fld>
            <a:endParaRPr lang="en-US" sz="2400"/>
          </a:p>
        </p:txBody>
      </p:sp>
    </p:spTree>
    <p:extLst>
      <p:ext uri="{BB962C8B-B14F-4D97-AF65-F5344CB8AC3E}">
        <p14:creationId xmlns:p14="http://schemas.microsoft.com/office/powerpoint/2010/main" val="148782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F80E-3623-4375-A0A8-B7F39ABACFEA}"/>
              </a:ext>
            </a:extLst>
          </p:cNvPr>
          <p:cNvSpPr>
            <a:spLocks noGrp="1"/>
          </p:cNvSpPr>
          <p:nvPr>
            <p:ph type="title"/>
          </p:nvPr>
        </p:nvSpPr>
        <p:spPr/>
        <p:txBody>
          <a:bodyPr/>
          <a:lstStyle/>
          <a:p>
            <a:r>
              <a:rPr lang="en-US"/>
              <a:t>Design Basis</a:t>
            </a:r>
          </a:p>
        </p:txBody>
      </p:sp>
      <p:sp>
        <p:nvSpPr>
          <p:cNvPr id="3" name="Content Placeholder 2">
            <a:extLst>
              <a:ext uri="{FF2B5EF4-FFF2-40B4-BE49-F238E27FC236}">
                <a16:creationId xmlns:a16="http://schemas.microsoft.com/office/drawing/2014/main" id="{809B04AB-F96E-4522-A8D4-00371BDC8DA2}"/>
              </a:ext>
            </a:extLst>
          </p:cNvPr>
          <p:cNvSpPr>
            <a:spLocks noGrp="1"/>
          </p:cNvSpPr>
          <p:nvPr>
            <p:ph idx="1"/>
          </p:nvPr>
        </p:nvSpPr>
        <p:spPr>
          <a:xfrm>
            <a:off x="1097280" y="1845734"/>
            <a:ext cx="10058400" cy="4023360"/>
          </a:xfrm>
        </p:spPr>
        <p:txBody>
          <a:bodyPr vert="horz" lIns="0" tIns="45720" rIns="0" bIns="45720" rtlCol="0" anchor="t">
            <a:normAutofit/>
          </a:bodyPr>
          <a:lstStyle/>
          <a:p>
            <a:pPr algn="just">
              <a:lnSpc>
                <a:spcPct val="150000"/>
              </a:lnSpc>
              <a:buFont typeface="Arial" panose="020B0604020202020204" pitchFamily="34" charset="0"/>
              <a:buChar char="•"/>
            </a:pPr>
            <a:r>
              <a:rPr lang="en-US" sz="2800"/>
              <a:t>The MTO Plant will be built on the west coast of India, near Mumbai</a:t>
            </a:r>
          </a:p>
          <a:p>
            <a:pPr algn="just">
              <a:lnSpc>
                <a:spcPct val="150000"/>
              </a:lnSpc>
              <a:buFont typeface="Arial" panose="020B0604020202020204" pitchFamily="34" charset="0"/>
              <a:buChar char="•"/>
            </a:pPr>
            <a:r>
              <a:rPr lang="en-US" sz="2800"/>
              <a:t>The plant production total is 667,384 metric tons of olefins per year</a:t>
            </a:r>
          </a:p>
          <a:p>
            <a:pPr algn="just">
              <a:lnSpc>
                <a:spcPct val="150000"/>
              </a:lnSpc>
              <a:buFont typeface="Arial" panose="020B0604020202020204" pitchFamily="34" charset="0"/>
              <a:buChar char="•"/>
            </a:pPr>
            <a:r>
              <a:rPr lang="en-US" sz="2800"/>
              <a:t>Ethylene and propylene will have a 99.4% purity</a:t>
            </a:r>
          </a:p>
          <a:p>
            <a:pPr algn="just">
              <a:buFont typeface="Arial" panose="020B0604020202020204" pitchFamily="34" charset="0"/>
              <a:buChar char="•"/>
            </a:pPr>
            <a:r>
              <a:rPr lang="en-US" sz="2800"/>
              <a:t>The amount of methanol required is 1,623,000 metric tons per year</a:t>
            </a:r>
          </a:p>
          <a:p>
            <a:pPr algn="just">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51B9917E-2301-4089-8D4E-B31929E7856E}"/>
              </a:ext>
            </a:extLst>
          </p:cNvPr>
          <p:cNvSpPr>
            <a:spLocks noGrp="1"/>
          </p:cNvSpPr>
          <p:nvPr>
            <p:ph type="sldNum" sz="quarter" idx="12"/>
          </p:nvPr>
        </p:nvSpPr>
        <p:spPr/>
        <p:txBody>
          <a:bodyPr/>
          <a:lstStyle/>
          <a:p>
            <a:fld id="{03434BB2-24CF-47CA-B620-409B2595BF05}" type="slidenum">
              <a:rPr lang="en-US" sz="2400" smtClean="0"/>
              <a:t>3</a:t>
            </a:fld>
            <a:endParaRPr lang="en-US" sz="2400"/>
          </a:p>
        </p:txBody>
      </p:sp>
    </p:spTree>
    <p:extLst>
      <p:ext uri="{BB962C8B-B14F-4D97-AF65-F5344CB8AC3E}">
        <p14:creationId xmlns:p14="http://schemas.microsoft.com/office/powerpoint/2010/main" val="173388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BFA06-554A-47E2-9B48-78A3EA7F733D}"/>
              </a:ext>
            </a:extLst>
          </p:cNvPr>
          <p:cNvSpPr>
            <a:spLocks noGrp="1"/>
          </p:cNvSpPr>
          <p:nvPr>
            <p:ph type="title"/>
          </p:nvPr>
        </p:nvSpPr>
        <p:spPr>
          <a:xfrm>
            <a:off x="1168827" y="0"/>
            <a:ext cx="10058400" cy="1450757"/>
          </a:xfrm>
        </p:spPr>
        <p:txBody>
          <a:bodyPr/>
          <a:lstStyle/>
          <a:p>
            <a:r>
              <a:rPr lang="en-US"/>
              <a:t>BFD</a:t>
            </a:r>
          </a:p>
        </p:txBody>
      </p:sp>
      <p:sp>
        <p:nvSpPr>
          <p:cNvPr id="4" name="Slide Number Placeholder 3">
            <a:extLst>
              <a:ext uri="{FF2B5EF4-FFF2-40B4-BE49-F238E27FC236}">
                <a16:creationId xmlns:a16="http://schemas.microsoft.com/office/drawing/2014/main" id="{DEFEE4FC-3ED5-4B47-8962-A5F26684C453}"/>
              </a:ext>
            </a:extLst>
          </p:cNvPr>
          <p:cNvSpPr>
            <a:spLocks noGrp="1"/>
          </p:cNvSpPr>
          <p:nvPr>
            <p:ph type="sldNum" sz="quarter" idx="12"/>
          </p:nvPr>
        </p:nvSpPr>
        <p:spPr>
          <a:xfrm>
            <a:off x="10006778" y="6459785"/>
            <a:ext cx="1220449" cy="365125"/>
          </a:xfrm>
        </p:spPr>
        <p:txBody>
          <a:bodyPr/>
          <a:lstStyle/>
          <a:p>
            <a:fld id="{330EA680-D336-4FF7-8B7A-9848BB0A1C32}" type="slidenum">
              <a:rPr lang="en-US" sz="2400" smtClean="0"/>
              <a:t>4</a:t>
            </a:fld>
            <a:endParaRPr lang="en-US" sz="2400"/>
          </a:p>
        </p:txBody>
      </p:sp>
      <p:pic>
        <p:nvPicPr>
          <p:cNvPr id="5" name="Content Placeholder 4">
            <a:extLst>
              <a:ext uri="{FF2B5EF4-FFF2-40B4-BE49-F238E27FC236}">
                <a16:creationId xmlns:a16="http://schemas.microsoft.com/office/drawing/2014/main" id="{C96302D0-12ED-A24B-808A-173245AD6E13}"/>
              </a:ext>
            </a:extLst>
          </p:cNvPr>
          <p:cNvPicPr>
            <a:picLocks noGrp="1"/>
          </p:cNvPicPr>
          <p:nvPr>
            <p:ph idx="1"/>
          </p:nvPr>
        </p:nvPicPr>
        <p:blipFill>
          <a:blip r:embed="rId2">
            <a:extLst>
              <a:ext uri="{28A0092B-C50C-407E-A947-70E740481C1C}">
                <a14:useLocalDpi xmlns:a14="http://schemas.microsoft.com/office/drawing/2010/main" val="0"/>
              </a:ext>
            </a:extLst>
          </a:blip>
          <a:srcRect/>
          <a:stretch/>
        </p:blipFill>
        <p:spPr>
          <a:xfrm>
            <a:off x="1832429" y="1294894"/>
            <a:ext cx="8737173" cy="4942621"/>
          </a:xfrm>
          <a:prstGeom prst="rect">
            <a:avLst/>
          </a:prstGeom>
        </p:spPr>
      </p:pic>
      <p:sp>
        <p:nvSpPr>
          <p:cNvPr id="6" name="Rectangle 5">
            <a:extLst>
              <a:ext uri="{FF2B5EF4-FFF2-40B4-BE49-F238E27FC236}">
                <a16:creationId xmlns:a16="http://schemas.microsoft.com/office/drawing/2014/main" id="{696EF4B0-4FAD-A54F-B14C-46AB21CD706D}"/>
              </a:ext>
            </a:extLst>
          </p:cNvPr>
          <p:cNvSpPr/>
          <p:nvPr/>
        </p:nvSpPr>
        <p:spPr>
          <a:xfrm>
            <a:off x="1038539" y="1450757"/>
            <a:ext cx="1430495" cy="10853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354925E-E3D6-AA46-A34C-3D787905415C}"/>
              </a:ext>
            </a:extLst>
          </p:cNvPr>
          <p:cNvSpPr/>
          <p:nvPr/>
        </p:nvSpPr>
        <p:spPr>
          <a:xfrm>
            <a:off x="10006778" y="1071866"/>
            <a:ext cx="1430495" cy="10853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24FCBEC-BDED-5941-B6CE-E58CA5001338}"/>
              </a:ext>
            </a:extLst>
          </p:cNvPr>
          <p:cNvSpPr/>
          <p:nvPr/>
        </p:nvSpPr>
        <p:spPr>
          <a:xfrm>
            <a:off x="6479601" y="5813754"/>
            <a:ext cx="3777381" cy="369332"/>
          </a:xfrm>
          <a:prstGeom prst="rect">
            <a:avLst/>
          </a:prstGeom>
        </p:spPr>
        <p:txBody>
          <a:bodyPr wrap="none">
            <a:spAutoFit/>
          </a:bodyPr>
          <a:lstStyle/>
          <a:p>
            <a:r>
              <a:rPr lang="en-US"/>
              <a:t>Figure 1 –Advanced MTO Process BFD.</a:t>
            </a:r>
            <a:endParaRPr lang="en-US" baseline="30000"/>
          </a:p>
        </p:txBody>
      </p:sp>
    </p:spTree>
    <p:extLst>
      <p:ext uri="{BB962C8B-B14F-4D97-AF65-F5344CB8AC3E}">
        <p14:creationId xmlns:p14="http://schemas.microsoft.com/office/powerpoint/2010/main" val="1588128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D03AD-7004-8143-9BAA-D564F38A5857}"/>
              </a:ext>
            </a:extLst>
          </p:cNvPr>
          <p:cNvSpPr>
            <a:spLocks noGrp="1"/>
          </p:cNvSpPr>
          <p:nvPr>
            <p:ph type="title"/>
          </p:nvPr>
        </p:nvSpPr>
        <p:spPr>
          <a:xfrm>
            <a:off x="781050" y="112821"/>
            <a:ext cx="10058400" cy="1450757"/>
          </a:xfrm>
        </p:spPr>
        <p:txBody>
          <a:bodyPr/>
          <a:lstStyle/>
          <a:p>
            <a:r>
              <a:rPr lang="en-US"/>
              <a:t>PFD</a:t>
            </a:r>
          </a:p>
        </p:txBody>
      </p:sp>
      <p:sp>
        <p:nvSpPr>
          <p:cNvPr id="4" name="Slide Number Placeholder 3">
            <a:extLst>
              <a:ext uri="{FF2B5EF4-FFF2-40B4-BE49-F238E27FC236}">
                <a16:creationId xmlns:a16="http://schemas.microsoft.com/office/drawing/2014/main" id="{5D54811C-E5C3-DC4E-84BD-D21C9A52BA89}"/>
              </a:ext>
            </a:extLst>
          </p:cNvPr>
          <p:cNvSpPr>
            <a:spLocks noGrp="1"/>
          </p:cNvSpPr>
          <p:nvPr>
            <p:ph type="sldNum" sz="quarter" idx="12"/>
          </p:nvPr>
        </p:nvSpPr>
        <p:spPr/>
        <p:txBody>
          <a:bodyPr/>
          <a:lstStyle/>
          <a:p>
            <a:fld id="{330EA680-D336-4FF7-8B7A-9848BB0A1C32}" type="slidenum">
              <a:rPr lang="en-US" sz="2400" smtClean="0"/>
              <a:t>5</a:t>
            </a:fld>
            <a:endParaRPr lang="en-US" sz="2400"/>
          </a:p>
        </p:txBody>
      </p:sp>
      <p:pic>
        <p:nvPicPr>
          <p:cNvPr id="5" name="Content Placeholder 4">
            <a:extLst>
              <a:ext uri="{FF2B5EF4-FFF2-40B4-BE49-F238E27FC236}">
                <a16:creationId xmlns:a16="http://schemas.microsoft.com/office/drawing/2014/main" id="{A7084123-F137-4F4E-9CDE-1C9752BC9DC6}"/>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531306" y="1509485"/>
            <a:ext cx="8553450" cy="4722586"/>
          </a:xfrm>
          <a:prstGeom prst="rect">
            <a:avLst/>
          </a:prstGeom>
        </p:spPr>
      </p:pic>
      <p:sp>
        <p:nvSpPr>
          <p:cNvPr id="6" name="Rectangle 5">
            <a:extLst>
              <a:ext uri="{FF2B5EF4-FFF2-40B4-BE49-F238E27FC236}">
                <a16:creationId xmlns:a16="http://schemas.microsoft.com/office/drawing/2014/main" id="{27BF832C-9426-9F4D-8961-04A0E410B5C9}"/>
              </a:ext>
            </a:extLst>
          </p:cNvPr>
          <p:cNvSpPr/>
          <p:nvPr/>
        </p:nvSpPr>
        <p:spPr>
          <a:xfrm>
            <a:off x="676788" y="1563578"/>
            <a:ext cx="1430495" cy="10853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41E0C3-3FCC-FD4C-8038-83C47A15CC2C}"/>
              </a:ext>
            </a:extLst>
          </p:cNvPr>
          <p:cNvSpPr/>
          <p:nvPr/>
        </p:nvSpPr>
        <p:spPr>
          <a:xfrm>
            <a:off x="10452207" y="1299835"/>
            <a:ext cx="1430495" cy="10853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1F73515-6A48-D44A-A70E-EEDD42CA56E6}"/>
              </a:ext>
            </a:extLst>
          </p:cNvPr>
          <p:cNvSpPr/>
          <p:nvPr/>
        </p:nvSpPr>
        <p:spPr>
          <a:xfrm>
            <a:off x="2107283" y="5917168"/>
            <a:ext cx="2746778" cy="369332"/>
          </a:xfrm>
          <a:prstGeom prst="rect">
            <a:avLst/>
          </a:prstGeom>
        </p:spPr>
        <p:txBody>
          <a:bodyPr wrap="none">
            <a:spAutoFit/>
          </a:bodyPr>
          <a:lstStyle/>
          <a:p>
            <a:r>
              <a:rPr lang="en-US"/>
              <a:t>Figure 2 –Overall MTO PFD</a:t>
            </a:r>
            <a:endParaRPr lang="en-US" baseline="30000"/>
          </a:p>
        </p:txBody>
      </p:sp>
    </p:spTree>
    <p:extLst>
      <p:ext uri="{BB962C8B-B14F-4D97-AF65-F5344CB8AC3E}">
        <p14:creationId xmlns:p14="http://schemas.microsoft.com/office/powerpoint/2010/main" val="2588758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2CF20-E6A4-4366-89C4-83C817D3E8F8}"/>
              </a:ext>
            </a:extLst>
          </p:cNvPr>
          <p:cNvSpPr>
            <a:spLocks noGrp="1"/>
          </p:cNvSpPr>
          <p:nvPr>
            <p:ph type="title"/>
          </p:nvPr>
        </p:nvSpPr>
        <p:spPr/>
        <p:txBody>
          <a:bodyPr/>
          <a:lstStyle/>
          <a:p>
            <a:r>
              <a:rPr lang="en-US">
                <a:cs typeface="Calibri Light"/>
              </a:rPr>
              <a:t>Aspen Simulation PFD</a:t>
            </a:r>
            <a:endParaRPr lang="en-US"/>
          </a:p>
        </p:txBody>
      </p:sp>
      <p:sp>
        <p:nvSpPr>
          <p:cNvPr id="4" name="Slide Number Placeholder 3">
            <a:extLst>
              <a:ext uri="{FF2B5EF4-FFF2-40B4-BE49-F238E27FC236}">
                <a16:creationId xmlns:a16="http://schemas.microsoft.com/office/drawing/2014/main" id="{9437DF3F-99A2-4BA0-8A99-31068D6DD42F}"/>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Content Placeholder 5">
            <a:extLst>
              <a:ext uri="{FF2B5EF4-FFF2-40B4-BE49-F238E27FC236}">
                <a16:creationId xmlns:a16="http://schemas.microsoft.com/office/drawing/2014/main" id="{445E73B6-E09D-4FF4-AD20-90A07A966C9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24DADAD-DD75-49AC-8AE9-CFEE0B38C955}"/>
              </a:ext>
            </a:extLst>
          </p:cNvPr>
          <p:cNvPicPr/>
          <p:nvPr/>
        </p:nvPicPr>
        <p:blipFill>
          <a:blip r:embed="rId2"/>
          <a:stretch>
            <a:fillRect/>
          </a:stretch>
        </p:blipFill>
        <p:spPr>
          <a:xfrm>
            <a:off x="1185988" y="1845734"/>
            <a:ext cx="9820023" cy="3665655"/>
          </a:xfrm>
          <a:prstGeom prst="rect">
            <a:avLst/>
          </a:prstGeom>
        </p:spPr>
      </p:pic>
    </p:spTree>
    <p:extLst>
      <p:ext uri="{BB962C8B-B14F-4D97-AF65-F5344CB8AC3E}">
        <p14:creationId xmlns:p14="http://schemas.microsoft.com/office/powerpoint/2010/main" val="1403467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6EA84E9-2161-455D-B328-8B586167537A}"/>
              </a:ext>
            </a:extLst>
          </p:cNvPr>
          <p:cNvSpPr>
            <a:spLocks noGrp="1"/>
          </p:cNvSpPr>
          <p:nvPr>
            <p:ph type="title"/>
          </p:nvPr>
        </p:nvSpPr>
        <p:spPr>
          <a:xfrm>
            <a:off x="492370" y="516835"/>
            <a:ext cx="3084844" cy="2103875"/>
          </a:xfrm>
        </p:spPr>
        <p:txBody>
          <a:bodyPr>
            <a:normAutofit/>
          </a:bodyPr>
          <a:lstStyle/>
          <a:p>
            <a:r>
              <a:rPr lang="en-US" sz="3600">
                <a:solidFill>
                  <a:srgbClr val="FFFFFF"/>
                </a:solidFill>
                <a:cs typeface="Calibri Light"/>
              </a:rPr>
              <a:t>Process Flow Diagram: Reactor Hierarchy</a:t>
            </a:r>
          </a:p>
        </p:txBody>
      </p:sp>
      <p:sp>
        <p:nvSpPr>
          <p:cNvPr id="3" name="Content Placeholder 2">
            <a:extLst>
              <a:ext uri="{FF2B5EF4-FFF2-40B4-BE49-F238E27FC236}">
                <a16:creationId xmlns:a16="http://schemas.microsoft.com/office/drawing/2014/main" id="{D31F359C-5FB1-4B0E-8E97-6172E39DE184}"/>
              </a:ext>
            </a:extLst>
          </p:cNvPr>
          <p:cNvSpPr>
            <a:spLocks noGrp="1"/>
          </p:cNvSpPr>
          <p:nvPr>
            <p:ph idx="1"/>
          </p:nvPr>
        </p:nvSpPr>
        <p:spPr>
          <a:xfrm>
            <a:off x="492371" y="2653800"/>
            <a:ext cx="3084844" cy="3335519"/>
          </a:xfrm>
        </p:spPr>
        <p:txBody>
          <a:bodyPr vert="horz" lIns="0" tIns="45720" rIns="0" bIns="45720" rtlCol="0" anchor="t">
            <a:normAutofit/>
          </a:bodyPr>
          <a:lstStyle/>
          <a:p>
            <a:pPr>
              <a:buFont typeface="Arial" panose="020F0502020204030204" pitchFamily="34" charset="0"/>
              <a:buChar char="•"/>
            </a:pPr>
            <a:r>
              <a:rPr lang="en-US" sz="1500">
                <a:solidFill>
                  <a:srgbClr val="FFFFFF"/>
                </a:solidFill>
                <a:cs typeface="Times New Roman"/>
              </a:rPr>
              <a:t>The first stage of the process flow diagram is the reactor stage</a:t>
            </a:r>
          </a:p>
          <a:p>
            <a:pPr>
              <a:buFont typeface="Arial" panose="020F0502020204030204" pitchFamily="34" charset="0"/>
              <a:buChar char="•"/>
            </a:pPr>
            <a:r>
              <a:rPr lang="en-US" sz="1500">
                <a:solidFill>
                  <a:srgbClr val="FFFFFF"/>
                </a:solidFill>
                <a:cs typeface="Times New Roman"/>
              </a:rPr>
              <a:t>The methanol enters through a heat exchangers before going to the reactor. </a:t>
            </a:r>
            <a:endParaRPr lang="en-US" sz="1500">
              <a:solidFill>
                <a:srgbClr val="FFFFFF"/>
              </a:solidFill>
              <a:cs typeface="Times New Roman" panose="02020603050405020304" pitchFamily="18" charset="0"/>
            </a:endParaRPr>
          </a:p>
        </p:txBody>
      </p:sp>
      <p:sp>
        <p:nvSpPr>
          <p:cNvPr id="23" name="Rectangle 22">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5" descr="A screenshot of a cell phone&#10;&#10;Description generated with very high confidence">
            <a:extLst>
              <a:ext uri="{FF2B5EF4-FFF2-40B4-BE49-F238E27FC236}">
                <a16:creationId xmlns:a16="http://schemas.microsoft.com/office/drawing/2014/main" id="{9F42A697-707D-484E-B66A-6706439EEA49}"/>
              </a:ext>
            </a:extLst>
          </p:cNvPr>
          <p:cNvPicPr>
            <a:picLocks noChangeAspect="1"/>
          </p:cNvPicPr>
          <p:nvPr/>
        </p:nvPicPr>
        <p:blipFill>
          <a:blip r:embed="rId2"/>
          <a:stretch>
            <a:fillRect/>
          </a:stretch>
        </p:blipFill>
        <p:spPr>
          <a:xfrm>
            <a:off x="5623580" y="316117"/>
            <a:ext cx="5041108" cy="3112883"/>
          </a:xfrm>
          <a:prstGeom prst="rect">
            <a:avLst/>
          </a:prstGeom>
        </p:spPr>
      </p:pic>
      <p:sp>
        <p:nvSpPr>
          <p:cNvPr id="4" name="Slide Number Placeholder 3">
            <a:extLst>
              <a:ext uri="{FF2B5EF4-FFF2-40B4-BE49-F238E27FC236}">
                <a16:creationId xmlns:a16="http://schemas.microsoft.com/office/drawing/2014/main" id="{317EA016-3988-4251-B249-B3D818655871}"/>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7</a:t>
            </a:fld>
            <a:endParaRPr lang="en-US">
              <a:solidFill>
                <a:schemeClr val="tx2"/>
              </a:solidFill>
            </a:endParaRPr>
          </a:p>
        </p:txBody>
      </p:sp>
      <p:sp>
        <p:nvSpPr>
          <p:cNvPr id="7" name="TextBox 6">
            <a:extLst>
              <a:ext uri="{FF2B5EF4-FFF2-40B4-BE49-F238E27FC236}">
                <a16:creationId xmlns:a16="http://schemas.microsoft.com/office/drawing/2014/main" id="{E62202D1-17C3-4670-8190-1B4386CA3354}"/>
              </a:ext>
            </a:extLst>
          </p:cNvPr>
          <p:cNvSpPr txBox="1"/>
          <p:nvPr/>
        </p:nvSpPr>
        <p:spPr>
          <a:xfrm>
            <a:off x="6029584" y="6275119"/>
            <a:ext cx="3880538" cy="369332"/>
          </a:xfrm>
          <a:prstGeom prst="rect">
            <a:avLst/>
          </a:prstGeom>
          <a:noFill/>
        </p:spPr>
        <p:txBody>
          <a:bodyPr wrap="square" rtlCol="0" anchor="t">
            <a:spAutoFit/>
          </a:bodyPr>
          <a:lstStyle/>
          <a:p>
            <a:pPr>
              <a:spcAft>
                <a:spcPts val="600"/>
              </a:spcAft>
            </a:pPr>
            <a:r>
              <a:rPr lang="en-US"/>
              <a:t>Figure 3 – Reactor Hierarchy PFD &amp; BFD</a:t>
            </a:r>
            <a:endParaRPr lang="en-US" baseline="30000"/>
          </a:p>
        </p:txBody>
      </p:sp>
      <p:pic>
        <p:nvPicPr>
          <p:cNvPr id="6" name="Picture 5">
            <a:extLst>
              <a:ext uri="{FF2B5EF4-FFF2-40B4-BE49-F238E27FC236}">
                <a16:creationId xmlns:a16="http://schemas.microsoft.com/office/drawing/2014/main" id="{C95CD3D3-2896-47E4-886C-71AA4ED49F83}"/>
              </a:ext>
            </a:extLst>
          </p:cNvPr>
          <p:cNvPicPr>
            <a:picLocks noChangeAspect="1"/>
          </p:cNvPicPr>
          <p:nvPr/>
        </p:nvPicPr>
        <p:blipFill>
          <a:blip r:embed="rId3"/>
          <a:stretch>
            <a:fillRect/>
          </a:stretch>
        </p:blipFill>
        <p:spPr>
          <a:xfrm>
            <a:off x="6454954" y="3401790"/>
            <a:ext cx="3029797" cy="2873329"/>
          </a:xfrm>
          <a:prstGeom prst="rect">
            <a:avLst/>
          </a:prstGeom>
        </p:spPr>
      </p:pic>
    </p:spTree>
    <p:extLst>
      <p:ext uri="{BB962C8B-B14F-4D97-AF65-F5344CB8AC3E}">
        <p14:creationId xmlns:p14="http://schemas.microsoft.com/office/powerpoint/2010/main" val="3436560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EC71ADD-BEB3-2841-83B7-3C4743138C6E}"/>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Reactor Hierarchy: Stream Details</a:t>
            </a:r>
          </a:p>
        </p:txBody>
      </p:sp>
      <p:sp>
        <p:nvSpPr>
          <p:cNvPr id="18" name="Rectangle 17">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7" descr="A close up of text on a white background&#10;&#10;Description generated with very high confidence">
            <a:extLst>
              <a:ext uri="{FF2B5EF4-FFF2-40B4-BE49-F238E27FC236}">
                <a16:creationId xmlns:a16="http://schemas.microsoft.com/office/drawing/2014/main" id="{D098127A-5B1A-4C2A-94F2-5EF93F62E4D1}"/>
              </a:ext>
            </a:extLst>
          </p:cNvPr>
          <p:cNvPicPr>
            <a:picLocks noChangeAspect="1"/>
          </p:cNvPicPr>
          <p:nvPr/>
        </p:nvPicPr>
        <p:blipFill>
          <a:blip r:embed="rId2"/>
          <a:stretch>
            <a:fillRect/>
          </a:stretch>
        </p:blipFill>
        <p:spPr>
          <a:xfrm>
            <a:off x="4982644" y="640080"/>
            <a:ext cx="6316827" cy="5577840"/>
          </a:xfrm>
          <a:prstGeom prst="rect">
            <a:avLst/>
          </a:prstGeom>
        </p:spPr>
      </p:pic>
      <p:sp>
        <p:nvSpPr>
          <p:cNvPr id="4" name="Slide Number Placeholder 3">
            <a:extLst>
              <a:ext uri="{FF2B5EF4-FFF2-40B4-BE49-F238E27FC236}">
                <a16:creationId xmlns:a16="http://schemas.microsoft.com/office/drawing/2014/main" id="{FCB83175-8ADB-3749-8087-EEA6B49A9045}"/>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8</a:t>
            </a:fld>
            <a:endParaRPr lang="en-US">
              <a:solidFill>
                <a:schemeClr val="tx2"/>
              </a:solidFill>
            </a:endParaRPr>
          </a:p>
        </p:txBody>
      </p:sp>
    </p:spTree>
    <p:extLst>
      <p:ext uri="{BB962C8B-B14F-4D97-AF65-F5344CB8AC3E}">
        <p14:creationId xmlns:p14="http://schemas.microsoft.com/office/powerpoint/2010/main" val="138742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97EA4-E4F1-374C-810D-2CC595D3FE9B}"/>
              </a:ext>
            </a:extLst>
          </p:cNvPr>
          <p:cNvSpPr>
            <a:spLocks noGrp="1"/>
          </p:cNvSpPr>
          <p:nvPr>
            <p:ph type="title"/>
          </p:nvPr>
        </p:nvSpPr>
        <p:spPr/>
        <p:txBody>
          <a:bodyPr/>
          <a:lstStyle/>
          <a:p>
            <a:r>
              <a:rPr lang="en-US"/>
              <a:t>Reactor Hierarchy: Equipment Sizing </a:t>
            </a:r>
          </a:p>
        </p:txBody>
      </p:sp>
      <p:sp>
        <p:nvSpPr>
          <p:cNvPr id="4" name="Slide Number Placeholder 3">
            <a:extLst>
              <a:ext uri="{FF2B5EF4-FFF2-40B4-BE49-F238E27FC236}">
                <a16:creationId xmlns:a16="http://schemas.microsoft.com/office/drawing/2014/main" id="{0FFB1BAA-3293-BB46-885F-D00701771783}"/>
              </a:ext>
            </a:extLst>
          </p:cNvPr>
          <p:cNvSpPr>
            <a:spLocks noGrp="1"/>
          </p:cNvSpPr>
          <p:nvPr>
            <p:ph type="sldNum" sz="quarter" idx="12"/>
          </p:nvPr>
        </p:nvSpPr>
        <p:spPr/>
        <p:txBody>
          <a:bodyPr/>
          <a:lstStyle/>
          <a:p>
            <a:fld id="{330EA680-D336-4FF7-8B7A-9848BB0A1C32}" type="slidenum">
              <a:rPr lang="en-US" sz="2400" smtClean="0"/>
              <a:t>9</a:t>
            </a:fld>
            <a:endParaRPr lang="en-US" sz="2400"/>
          </a:p>
        </p:txBody>
      </p:sp>
      <p:graphicFrame>
        <p:nvGraphicFramePr>
          <p:cNvPr id="12" name="Content Placeholder 11">
            <a:extLst>
              <a:ext uri="{FF2B5EF4-FFF2-40B4-BE49-F238E27FC236}">
                <a16:creationId xmlns:a16="http://schemas.microsoft.com/office/drawing/2014/main" id="{76B94E92-6FEA-420D-96EB-75B8A4E25062}"/>
              </a:ext>
            </a:extLst>
          </p:cNvPr>
          <p:cNvGraphicFramePr>
            <a:graphicFrameLocks noGrp="1"/>
          </p:cNvGraphicFramePr>
          <p:nvPr>
            <p:ph idx="1"/>
            <p:extLst>
              <p:ext uri="{D42A27DB-BD31-4B8C-83A1-F6EECF244321}">
                <p14:modId xmlns:p14="http://schemas.microsoft.com/office/powerpoint/2010/main" val="3389227251"/>
              </p:ext>
            </p:extLst>
          </p:nvPr>
        </p:nvGraphicFramePr>
        <p:xfrm>
          <a:off x="1096963" y="1846263"/>
          <a:ext cx="10058395" cy="3482975"/>
        </p:xfrm>
        <a:graphic>
          <a:graphicData uri="http://schemas.openxmlformats.org/drawingml/2006/table">
            <a:tbl>
              <a:tblPr firstRow="1" bandRow="1">
                <a:tableStyleId>{5C22544A-7EE6-4342-B048-85BDC9FD1C3A}</a:tableStyleId>
              </a:tblPr>
              <a:tblGrid>
                <a:gridCol w="1487928">
                  <a:extLst>
                    <a:ext uri="{9D8B030D-6E8A-4147-A177-3AD203B41FA5}">
                      <a16:colId xmlns:a16="http://schemas.microsoft.com/office/drawing/2014/main" val="1807636447"/>
                    </a:ext>
                  </a:extLst>
                </a:gridCol>
                <a:gridCol w="1487928">
                  <a:extLst>
                    <a:ext uri="{9D8B030D-6E8A-4147-A177-3AD203B41FA5}">
                      <a16:colId xmlns:a16="http://schemas.microsoft.com/office/drawing/2014/main" val="3311624871"/>
                    </a:ext>
                  </a:extLst>
                </a:gridCol>
                <a:gridCol w="1666480">
                  <a:extLst>
                    <a:ext uri="{9D8B030D-6E8A-4147-A177-3AD203B41FA5}">
                      <a16:colId xmlns:a16="http://schemas.microsoft.com/office/drawing/2014/main" val="196451531"/>
                    </a:ext>
                  </a:extLst>
                </a:gridCol>
                <a:gridCol w="1487928">
                  <a:extLst>
                    <a:ext uri="{9D8B030D-6E8A-4147-A177-3AD203B41FA5}">
                      <a16:colId xmlns:a16="http://schemas.microsoft.com/office/drawing/2014/main" val="2023131972"/>
                    </a:ext>
                  </a:extLst>
                </a:gridCol>
                <a:gridCol w="2440203">
                  <a:extLst>
                    <a:ext uri="{9D8B030D-6E8A-4147-A177-3AD203B41FA5}">
                      <a16:colId xmlns:a16="http://schemas.microsoft.com/office/drawing/2014/main" val="1306429853"/>
                    </a:ext>
                  </a:extLst>
                </a:gridCol>
                <a:gridCol w="1487928">
                  <a:extLst>
                    <a:ext uri="{9D8B030D-6E8A-4147-A177-3AD203B41FA5}">
                      <a16:colId xmlns:a16="http://schemas.microsoft.com/office/drawing/2014/main" val="3750335134"/>
                    </a:ext>
                  </a:extLst>
                </a:gridCol>
              </a:tblGrid>
              <a:tr h="736600">
                <a:tc gridSpan="6">
                  <a:txBody>
                    <a:bodyPr/>
                    <a:lstStyle/>
                    <a:p>
                      <a:r>
                        <a:rPr lang="en-US">
                          <a:effectLst/>
                        </a:rPr>
                        <a:t>REACTOR Hierarchy Equipment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19306097"/>
                  </a:ext>
                </a:extLst>
              </a:tr>
              <a:tr h="349250">
                <a:tc>
                  <a:txBody>
                    <a:bodyPr/>
                    <a:lstStyle/>
                    <a:p>
                      <a:r>
                        <a:rPr lang="en-US">
                          <a:effectLst/>
                        </a:rPr>
                        <a:t>#</a:t>
                      </a:r>
                    </a:p>
                  </a:txBody>
                  <a:tcPr marL="0" marR="0" marT="0" marB="0" anchor="ctr"/>
                </a:tc>
                <a:tc>
                  <a:txBody>
                    <a:bodyPr/>
                    <a:lstStyle/>
                    <a:p>
                      <a:r>
                        <a:rPr lang="en-US">
                          <a:effectLst/>
                        </a:rPr>
                        <a:t>Aspen ID</a:t>
                      </a:r>
                    </a:p>
                  </a:txBody>
                  <a:tcPr marL="0" marR="0" marT="0" marB="0" anchor="ctr"/>
                </a:tc>
                <a:tc>
                  <a:txBody>
                    <a:bodyPr/>
                    <a:lstStyle/>
                    <a:p>
                      <a:r>
                        <a:rPr lang="en-US">
                          <a:effectLst/>
                        </a:rPr>
                        <a:t>Industry Name</a:t>
                      </a:r>
                    </a:p>
                  </a:txBody>
                  <a:tcPr marL="0" marR="0" marT="0" marB="0" anchor="ctr"/>
                </a:tc>
                <a:tc>
                  <a:txBody>
                    <a:bodyPr/>
                    <a:lstStyle/>
                    <a:p>
                      <a:r>
                        <a:rPr lang="en-US">
                          <a:effectLst/>
                        </a:rPr>
                        <a:t>Duty (kW)</a:t>
                      </a:r>
                    </a:p>
                  </a:txBody>
                  <a:tcPr marL="0" marR="0" marT="0" marB="0" anchor="ctr"/>
                </a:tc>
                <a:tc>
                  <a:txBody>
                    <a:bodyPr/>
                    <a:lstStyle/>
                    <a:p>
                      <a:r>
                        <a:rPr lang="en-US">
                          <a:effectLst/>
                        </a:rPr>
                        <a:t>Specifications</a:t>
                      </a:r>
                    </a:p>
                  </a:txBody>
                  <a:tcPr marL="0" marR="0" marT="0" marB="0" anchor="ctr"/>
                </a:tc>
                <a:tc>
                  <a:txBody>
                    <a:bodyPr/>
                    <a:lstStyle/>
                    <a:p>
                      <a:r>
                        <a:rPr lang="en-US">
                          <a:effectLst/>
                        </a:rPr>
                        <a:t>Material</a:t>
                      </a:r>
                    </a:p>
                  </a:txBody>
                  <a:tcPr marL="0" marR="0" marT="0" marB="0" anchor="ctr"/>
                </a:tc>
                <a:extLst>
                  <a:ext uri="{0D108BD9-81ED-4DB2-BD59-A6C34878D82A}">
                    <a16:rowId xmlns:a16="http://schemas.microsoft.com/office/drawing/2014/main" val="284658991"/>
                  </a:ext>
                </a:extLst>
              </a:tr>
              <a:tr h="1076325">
                <a:tc>
                  <a:txBody>
                    <a:bodyPr/>
                    <a:lstStyle/>
                    <a:p>
                      <a:r>
                        <a:rPr lang="en-US">
                          <a:effectLst/>
                        </a:rPr>
                        <a:t>1</a:t>
                      </a:r>
                    </a:p>
                  </a:txBody>
                  <a:tcPr marL="0" marR="0" marT="0" marB="0" anchor="ctr"/>
                </a:tc>
                <a:tc>
                  <a:txBody>
                    <a:bodyPr/>
                    <a:lstStyle/>
                    <a:p>
                      <a:r>
                        <a:rPr lang="en-US">
                          <a:effectLst/>
                        </a:rPr>
                        <a:t>R-100</a:t>
                      </a:r>
                    </a:p>
                  </a:txBody>
                  <a:tcPr marL="0" marR="0" marT="0" marB="0" anchor="ctr"/>
                </a:tc>
                <a:tc>
                  <a:txBody>
                    <a:bodyPr/>
                    <a:lstStyle/>
                    <a:p>
                      <a:r>
                        <a:rPr lang="en-US">
                          <a:effectLst/>
                        </a:rPr>
                        <a:t>R-Yield Reactor</a:t>
                      </a:r>
                    </a:p>
                  </a:txBody>
                  <a:tcPr marL="0" marR="0" marT="0" marB="0" anchor="ctr"/>
                </a:tc>
                <a:tc>
                  <a:txBody>
                    <a:bodyPr/>
                    <a:lstStyle/>
                    <a:p>
                      <a:r>
                        <a:rPr lang="en-US">
                          <a:effectLst/>
                        </a:rPr>
                        <a:t>56245.6</a:t>
                      </a:r>
                    </a:p>
                  </a:txBody>
                  <a:tcPr marL="0" marR="0" marT="0" marB="0" anchor="ctr"/>
                </a:tc>
                <a:tc>
                  <a:txBody>
                    <a:bodyPr/>
                    <a:lstStyle/>
                    <a:p>
                      <a:r>
                        <a:rPr lang="en-US">
                          <a:effectLst/>
                        </a:rPr>
                        <a:t>1016.3 K, 2 bar, Diameter= 0.457m, Height= 2.591m</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2343518626"/>
                  </a:ext>
                </a:extLst>
              </a:tr>
              <a:tr h="1320800">
                <a:tc>
                  <a:txBody>
                    <a:bodyPr/>
                    <a:lstStyle/>
                    <a:p>
                      <a:r>
                        <a:rPr lang="en-US">
                          <a:effectLst/>
                        </a:rPr>
                        <a:t>2</a:t>
                      </a:r>
                    </a:p>
                  </a:txBody>
                  <a:tcPr marL="0" marR="0" marT="0" marB="0" anchor="ctr"/>
                </a:tc>
                <a:tc>
                  <a:txBody>
                    <a:bodyPr/>
                    <a:lstStyle/>
                    <a:p>
                      <a:r>
                        <a:rPr lang="en-US">
                          <a:effectLst/>
                        </a:rPr>
                        <a:t>H-100</a:t>
                      </a:r>
                    </a:p>
                  </a:txBody>
                  <a:tcPr marL="0" marR="0" marT="0" marB="0" anchor="ctr"/>
                </a:tc>
                <a:tc>
                  <a:txBody>
                    <a:bodyPr/>
                    <a:lstStyle/>
                    <a:p>
                      <a:r>
                        <a:rPr lang="en-US" err="1">
                          <a:effectLst/>
                        </a:rPr>
                        <a:t>Shell&amp;Tube</a:t>
                      </a:r>
                      <a:r>
                        <a:rPr lang="en-US">
                          <a:effectLst/>
                        </a:rPr>
                        <a:t> Heat Exchanger</a:t>
                      </a:r>
                    </a:p>
                  </a:txBody>
                  <a:tcPr marL="0" marR="0" marT="0" marB="0" anchor="ctr"/>
                </a:tc>
                <a:tc>
                  <a:txBody>
                    <a:bodyPr/>
                    <a:lstStyle/>
                    <a:p>
                      <a:r>
                        <a:rPr lang="en-US">
                          <a:effectLst/>
                        </a:rPr>
                        <a:t>38146.3</a:t>
                      </a:r>
                    </a:p>
                  </a:txBody>
                  <a:tcPr marL="0" marR="0" marT="0" marB="0" anchor="ctr"/>
                </a:tc>
                <a:tc>
                  <a:txBody>
                    <a:bodyPr/>
                    <a:lstStyle/>
                    <a:p>
                      <a:r>
                        <a:rPr lang="en-US">
                          <a:effectLst/>
                        </a:rPr>
                        <a:t>Inlet: Thot=387.25 K </a:t>
                      </a:r>
                      <a:r>
                        <a:rPr lang="en-US" err="1">
                          <a:effectLst/>
                        </a:rPr>
                        <a:t>Tcold</a:t>
                      </a:r>
                      <a:r>
                        <a:rPr lang="en-US">
                          <a:effectLst/>
                        </a:rPr>
                        <a:t>=298.15 K Outlet: Thot=378.45 K </a:t>
                      </a:r>
                      <a:r>
                        <a:rPr lang="en-US" err="1">
                          <a:effectLst/>
                        </a:rPr>
                        <a:t>Tcold</a:t>
                      </a:r>
                      <a:r>
                        <a:rPr lang="en-US">
                          <a:effectLst/>
                        </a:rPr>
                        <a:t>=300.139 K</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2558308923"/>
                  </a:ext>
                </a:extLst>
              </a:tr>
            </a:tbl>
          </a:graphicData>
        </a:graphic>
      </p:graphicFrame>
    </p:spTree>
    <p:extLst>
      <p:ext uri="{BB962C8B-B14F-4D97-AF65-F5344CB8AC3E}">
        <p14:creationId xmlns:p14="http://schemas.microsoft.com/office/powerpoint/2010/main" val="2595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F542A84-16CD-43F6-8030-5C1F305EBDF5}"/>
              </a:ext>
            </a:extLst>
          </p:cNvPr>
          <p:cNvSpPr>
            <a:spLocks noGrp="1"/>
          </p:cNvSpPr>
          <p:nvPr>
            <p:ph type="title"/>
          </p:nvPr>
        </p:nvSpPr>
        <p:spPr>
          <a:xfrm>
            <a:off x="492370" y="516835"/>
            <a:ext cx="3084844" cy="2103875"/>
          </a:xfrm>
        </p:spPr>
        <p:txBody>
          <a:bodyPr>
            <a:normAutofit/>
          </a:bodyPr>
          <a:lstStyle/>
          <a:p>
            <a:r>
              <a:rPr lang="en-US" sz="3600">
                <a:solidFill>
                  <a:srgbClr val="FFFFFF"/>
                </a:solidFill>
                <a:cs typeface="Calibri Light"/>
              </a:rPr>
              <a:t>Process Flow Diagram: Quench Hierarchy</a:t>
            </a:r>
          </a:p>
        </p:txBody>
      </p:sp>
      <p:sp>
        <p:nvSpPr>
          <p:cNvPr id="3" name="Content Placeholder 2">
            <a:extLst>
              <a:ext uri="{FF2B5EF4-FFF2-40B4-BE49-F238E27FC236}">
                <a16:creationId xmlns:a16="http://schemas.microsoft.com/office/drawing/2014/main" id="{BCAFF217-33D1-4098-AD94-7EFE44D22A3D}"/>
              </a:ext>
            </a:extLst>
          </p:cNvPr>
          <p:cNvSpPr>
            <a:spLocks noGrp="1"/>
          </p:cNvSpPr>
          <p:nvPr>
            <p:ph idx="1"/>
          </p:nvPr>
        </p:nvSpPr>
        <p:spPr>
          <a:xfrm>
            <a:off x="492371" y="2653800"/>
            <a:ext cx="3084844" cy="3335519"/>
          </a:xfrm>
        </p:spPr>
        <p:txBody>
          <a:bodyPr vert="horz" lIns="0" tIns="45720" rIns="0" bIns="45720" rtlCol="0" anchor="t">
            <a:normAutofit/>
          </a:bodyPr>
          <a:lstStyle/>
          <a:p>
            <a:pPr>
              <a:buFont typeface="Arial" panose="020F0502020204030204" pitchFamily="34" charset="0"/>
              <a:buChar char="•"/>
            </a:pPr>
            <a:r>
              <a:rPr lang="en-US" sz="1500">
                <a:solidFill>
                  <a:srgbClr val="FFFFFF"/>
                </a:solidFill>
                <a:ea typeface="+mn-lt"/>
                <a:cs typeface="+mn-lt"/>
              </a:rPr>
              <a:t>This stage of the process has the product stream of the reactor going through a Seperator/quencher, where the water is separated out.</a:t>
            </a:r>
          </a:p>
          <a:p>
            <a:pPr>
              <a:buFont typeface="Arial" panose="020F0502020204030204" pitchFamily="34" charset="0"/>
              <a:buChar char="•"/>
            </a:pPr>
            <a:r>
              <a:rPr lang="en-US" sz="1500">
                <a:solidFill>
                  <a:srgbClr val="FFFFFF"/>
                </a:solidFill>
                <a:ea typeface="+mn-lt"/>
                <a:cs typeface="+mn-lt"/>
              </a:rPr>
              <a:t>After the Seperator, the top product stream goes through a heat exchanger.</a:t>
            </a:r>
          </a:p>
          <a:p>
            <a:pPr>
              <a:buFont typeface="Arial" panose="020F0502020204030204" pitchFamily="34" charset="0"/>
              <a:buChar char="•"/>
            </a:pPr>
            <a:r>
              <a:rPr lang="en-US" sz="1500">
                <a:solidFill>
                  <a:srgbClr val="FFFFFF"/>
                </a:solidFill>
                <a:cs typeface="Calibri" panose="020F0502020204030204"/>
              </a:rPr>
              <a:t>Methanol enters with this product stream into the heat exchanger and the third effluent stream goes out to the next stage.</a:t>
            </a:r>
          </a:p>
        </p:txBody>
      </p:sp>
      <p:sp>
        <p:nvSpPr>
          <p:cNvPr id="37" name="Rectangle 36">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9" name="Picture 9" descr="A screenshot of a cell phone&#10;&#10;Description generated with very high confidence">
            <a:extLst>
              <a:ext uri="{FF2B5EF4-FFF2-40B4-BE49-F238E27FC236}">
                <a16:creationId xmlns:a16="http://schemas.microsoft.com/office/drawing/2014/main" id="{CAEABF2A-8EBF-4F18-9DD5-DA62894DCF0D}"/>
              </a:ext>
            </a:extLst>
          </p:cNvPr>
          <p:cNvPicPr>
            <a:picLocks noChangeAspect="1"/>
          </p:cNvPicPr>
          <p:nvPr/>
        </p:nvPicPr>
        <p:blipFill>
          <a:blip r:embed="rId2"/>
          <a:stretch>
            <a:fillRect/>
          </a:stretch>
        </p:blipFill>
        <p:spPr>
          <a:xfrm>
            <a:off x="5494279" y="249748"/>
            <a:ext cx="5187288" cy="3229086"/>
          </a:xfrm>
          <a:prstGeom prst="rect">
            <a:avLst/>
          </a:prstGeom>
        </p:spPr>
      </p:pic>
      <p:sp>
        <p:nvSpPr>
          <p:cNvPr id="4" name="Slide Number Placeholder 3">
            <a:extLst>
              <a:ext uri="{FF2B5EF4-FFF2-40B4-BE49-F238E27FC236}">
                <a16:creationId xmlns:a16="http://schemas.microsoft.com/office/drawing/2014/main" id="{7B6FA47B-520E-4C62-BD70-E90FA9C110EF}"/>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10</a:t>
            </a:fld>
            <a:endParaRPr lang="en-US">
              <a:solidFill>
                <a:schemeClr val="tx2"/>
              </a:solidFill>
            </a:endParaRPr>
          </a:p>
        </p:txBody>
      </p:sp>
      <p:sp>
        <p:nvSpPr>
          <p:cNvPr id="8" name="TextBox 7">
            <a:extLst>
              <a:ext uri="{FF2B5EF4-FFF2-40B4-BE49-F238E27FC236}">
                <a16:creationId xmlns:a16="http://schemas.microsoft.com/office/drawing/2014/main" id="{3EA16630-64AB-4825-85D0-FD3CD5002347}"/>
              </a:ext>
            </a:extLst>
          </p:cNvPr>
          <p:cNvSpPr txBox="1"/>
          <p:nvPr/>
        </p:nvSpPr>
        <p:spPr>
          <a:xfrm>
            <a:off x="6092174" y="6399216"/>
            <a:ext cx="4211942" cy="369332"/>
          </a:xfrm>
          <a:prstGeom prst="rect">
            <a:avLst/>
          </a:prstGeom>
          <a:noFill/>
        </p:spPr>
        <p:txBody>
          <a:bodyPr wrap="square" rtlCol="0" anchor="t">
            <a:spAutoFit/>
          </a:bodyPr>
          <a:lstStyle/>
          <a:p>
            <a:pPr>
              <a:spcAft>
                <a:spcPts val="600"/>
              </a:spcAft>
            </a:pPr>
            <a:r>
              <a:rPr lang="en-US"/>
              <a:t>Figure 4 – Quenching Hierarchy PFD &amp; BFD</a:t>
            </a:r>
            <a:endParaRPr lang="en-US" baseline="30000"/>
          </a:p>
        </p:txBody>
      </p:sp>
      <p:pic>
        <p:nvPicPr>
          <p:cNvPr id="5" name="Picture 4">
            <a:extLst>
              <a:ext uri="{FF2B5EF4-FFF2-40B4-BE49-F238E27FC236}">
                <a16:creationId xmlns:a16="http://schemas.microsoft.com/office/drawing/2014/main" id="{779187C3-EBEC-4613-AEF7-AE2A2053A2D7}"/>
              </a:ext>
            </a:extLst>
          </p:cNvPr>
          <p:cNvPicPr>
            <a:picLocks noChangeAspect="1"/>
          </p:cNvPicPr>
          <p:nvPr/>
        </p:nvPicPr>
        <p:blipFill>
          <a:blip r:embed="rId3"/>
          <a:stretch>
            <a:fillRect/>
          </a:stretch>
        </p:blipFill>
        <p:spPr>
          <a:xfrm>
            <a:off x="5860846" y="3672510"/>
            <a:ext cx="4666449" cy="2676878"/>
          </a:xfrm>
          <a:prstGeom prst="rect">
            <a:avLst/>
          </a:prstGeom>
        </p:spPr>
      </p:pic>
    </p:spTree>
    <p:extLst>
      <p:ext uri="{BB962C8B-B14F-4D97-AF65-F5344CB8AC3E}">
        <p14:creationId xmlns:p14="http://schemas.microsoft.com/office/powerpoint/2010/main" val="1388245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8CEC34E-E5B1-E945-89A3-433C0740F090}"/>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Quench Hierarchy: Stream Details</a:t>
            </a:r>
          </a:p>
        </p:txBody>
      </p:sp>
      <p:sp>
        <p:nvSpPr>
          <p:cNvPr id="18" name="Rectangle 17">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7" descr="A screenshot of a cell phone&#10;&#10;Description generated with very high confidence">
            <a:extLst>
              <a:ext uri="{FF2B5EF4-FFF2-40B4-BE49-F238E27FC236}">
                <a16:creationId xmlns:a16="http://schemas.microsoft.com/office/drawing/2014/main" id="{51A4CF1D-4F47-486D-966C-37EB09DC7FDE}"/>
              </a:ext>
            </a:extLst>
          </p:cNvPr>
          <p:cNvPicPr>
            <a:picLocks noChangeAspect="1"/>
          </p:cNvPicPr>
          <p:nvPr/>
        </p:nvPicPr>
        <p:blipFill>
          <a:blip r:embed="rId2"/>
          <a:stretch>
            <a:fillRect/>
          </a:stretch>
        </p:blipFill>
        <p:spPr>
          <a:xfrm>
            <a:off x="5527954" y="640080"/>
            <a:ext cx="5108278" cy="5577840"/>
          </a:xfrm>
          <a:prstGeom prst="rect">
            <a:avLst/>
          </a:prstGeom>
        </p:spPr>
      </p:pic>
      <p:sp>
        <p:nvSpPr>
          <p:cNvPr id="4" name="Slide Number Placeholder 3">
            <a:extLst>
              <a:ext uri="{FF2B5EF4-FFF2-40B4-BE49-F238E27FC236}">
                <a16:creationId xmlns:a16="http://schemas.microsoft.com/office/drawing/2014/main" id="{E04C9F6A-3B2A-B84C-B4D1-F6614F3FE6B9}"/>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11</a:t>
            </a:fld>
            <a:endParaRPr lang="en-US">
              <a:solidFill>
                <a:schemeClr val="tx2"/>
              </a:solidFill>
            </a:endParaRPr>
          </a:p>
        </p:txBody>
      </p:sp>
    </p:spTree>
    <p:extLst>
      <p:ext uri="{BB962C8B-B14F-4D97-AF65-F5344CB8AC3E}">
        <p14:creationId xmlns:p14="http://schemas.microsoft.com/office/powerpoint/2010/main" val="667162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98F2-A620-8A4D-96C7-725DA1F7DB30}"/>
              </a:ext>
            </a:extLst>
          </p:cNvPr>
          <p:cNvSpPr>
            <a:spLocks noGrp="1"/>
          </p:cNvSpPr>
          <p:nvPr>
            <p:ph type="title"/>
          </p:nvPr>
        </p:nvSpPr>
        <p:spPr/>
        <p:txBody>
          <a:bodyPr/>
          <a:lstStyle/>
          <a:p>
            <a:r>
              <a:rPr lang="en-US"/>
              <a:t>Quench Hierarchy: Equipment Sizing</a:t>
            </a:r>
          </a:p>
        </p:txBody>
      </p:sp>
      <p:sp>
        <p:nvSpPr>
          <p:cNvPr id="4" name="Slide Number Placeholder 3">
            <a:extLst>
              <a:ext uri="{FF2B5EF4-FFF2-40B4-BE49-F238E27FC236}">
                <a16:creationId xmlns:a16="http://schemas.microsoft.com/office/drawing/2014/main" id="{DCEABA2B-0434-274E-A6D3-D6F98D5F01C7}"/>
              </a:ext>
            </a:extLst>
          </p:cNvPr>
          <p:cNvSpPr>
            <a:spLocks noGrp="1"/>
          </p:cNvSpPr>
          <p:nvPr>
            <p:ph type="sldNum" sz="quarter" idx="12"/>
          </p:nvPr>
        </p:nvSpPr>
        <p:spPr/>
        <p:txBody>
          <a:bodyPr/>
          <a:lstStyle/>
          <a:p>
            <a:fld id="{330EA680-D336-4FF7-8B7A-9848BB0A1C32}" type="slidenum">
              <a:rPr lang="en-US" sz="2400" smtClean="0"/>
              <a:t>12</a:t>
            </a:fld>
            <a:endParaRPr lang="en-US" sz="2400"/>
          </a:p>
        </p:txBody>
      </p:sp>
      <p:sp>
        <p:nvSpPr>
          <p:cNvPr id="7" name="Content Placeholder 6">
            <a:extLst>
              <a:ext uri="{FF2B5EF4-FFF2-40B4-BE49-F238E27FC236}">
                <a16:creationId xmlns:a16="http://schemas.microsoft.com/office/drawing/2014/main" id="{D3844D31-CF29-944B-9841-A1F2729A96E3}"/>
              </a:ext>
            </a:extLst>
          </p:cNvPr>
          <p:cNvSpPr>
            <a:spLocks noGrp="1"/>
          </p:cNvSpPr>
          <p:nvPr>
            <p:ph idx="1"/>
          </p:nvPr>
        </p:nvSpPr>
        <p:spPr/>
        <p:txBody>
          <a:bodyPr/>
          <a:lstStyle/>
          <a:p>
            <a:r>
              <a:rPr lang="en-US"/>
              <a:t> </a:t>
            </a:r>
          </a:p>
        </p:txBody>
      </p:sp>
      <p:graphicFrame>
        <p:nvGraphicFramePr>
          <p:cNvPr id="5" name="Table 4">
            <a:extLst>
              <a:ext uri="{FF2B5EF4-FFF2-40B4-BE49-F238E27FC236}">
                <a16:creationId xmlns:a16="http://schemas.microsoft.com/office/drawing/2014/main" id="{3AF675BD-F89F-4EBD-85DB-C15C2DDE2F81}"/>
              </a:ext>
            </a:extLst>
          </p:cNvPr>
          <p:cNvGraphicFramePr>
            <a:graphicFrameLocks noGrp="1"/>
          </p:cNvGraphicFramePr>
          <p:nvPr>
            <p:extLst>
              <p:ext uri="{D42A27DB-BD31-4B8C-83A1-F6EECF244321}">
                <p14:modId xmlns:p14="http://schemas.microsoft.com/office/powerpoint/2010/main" val="2231472682"/>
              </p:ext>
            </p:extLst>
          </p:nvPr>
        </p:nvGraphicFramePr>
        <p:xfrm>
          <a:off x="2530928" y="2122713"/>
          <a:ext cx="6228067" cy="3205480"/>
        </p:xfrm>
        <a:graphic>
          <a:graphicData uri="http://schemas.openxmlformats.org/drawingml/2006/table">
            <a:tbl>
              <a:tblPr firstRow="1" bandRow="1">
                <a:tableStyleId>{5C22544A-7EE6-4342-B048-85BDC9FD1C3A}</a:tableStyleId>
              </a:tblPr>
              <a:tblGrid>
                <a:gridCol w="887189">
                  <a:extLst>
                    <a:ext uri="{9D8B030D-6E8A-4147-A177-3AD203B41FA5}">
                      <a16:colId xmlns:a16="http://schemas.microsoft.com/office/drawing/2014/main" val="579894183"/>
                    </a:ext>
                  </a:extLst>
                </a:gridCol>
                <a:gridCol w="887189">
                  <a:extLst>
                    <a:ext uri="{9D8B030D-6E8A-4147-A177-3AD203B41FA5}">
                      <a16:colId xmlns:a16="http://schemas.microsoft.com/office/drawing/2014/main" val="4040677721"/>
                    </a:ext>
                  </a:extLst>
                </a:gridCol>
                <a:gridCol w="1242065">
                  <a:extLst>
                    <a:ext uri="{9D8B030D-6E8A-4147-A177-3AD203B41FA5}">
                      <a16:colId xmlns:a16="http://schemas.microsoft.com/office/drawing/2014/main" val="1388491423"/>
                    </a:ext>
                  </a:extLst>
                </a:gridCol>
                <a:gridCol w="887189">
                  <a:extLst>
                    <a:ext uri="{9D8B030D-6E8A-4147-A177-3AD203B41FA5}">
                      <a16:colId xmlns:a16="http://schemas.microsoft.com/office/drawing/2014/main" val="338495994"/>
                    </a:ext>
                  </a:extLst>
                </a:gridCol>
                <a:gridCol w="1437246">
                  <a:extLst>
                    <a:ext uri="{9D8B030D-6E8A-4147-A177-3AD203B41FA5}">
                      <a16:colId xmlns:a16="http://schemas.microsoft.com/office/drawing/2014/main" val="3695577300"/>
                    </a:ext>
                  </a:extLst>
                </a:gridCol>
                <a:gridCol w="887189">
                  <a:extLst>
                    <a:ext uri="{9D8B030D-6E8A-4147-A177-3AD203B41FA5}">
                      <a16:colId xmlns:a16="http://schemas.microsoft.com/office/drawing/2014/main" val="1520086063"/>
                    </a:ext>
                  </a:extLst>
                </a:gridCol>
              </a:tblGrid>
              <a:tr h="736600">
                <a:tc gridSpan="6">
                  <a:txBody>
                    <a:bodyPr/>
                    <a:lstStyle/>
                    <a:p>
                      <a:r>
                        <a:rPr lang="en-US">
                          <a:effectLst/>
                        </a:rPr>
                        <a:t>QUENCH Hierarchy Equipment</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61314725"/>
                  </a:ext>
                </a:extLst>
              </a:tr>
              <a:tr h="349250">
                <a:tc>
                  <a:txBody>
                    <a:bodyPr/>
                    <a:lstStyle/>
                    <a:p>
                      <a:r>
                        <a:rPr lang="en-US">
                          <a:effectLst/>
                        </a:rPr>
                        <a:t>#</a:t>
                      </a:r>
                    </a:p>
                  </a:txBody>
                  <a:tcPr marL="0" marR="0" marT="0" marB="0" anchor="ctr"/>
                </a:tc>
                <a:tc>
                  <a:txBody>
                    <a:bodyPr/>
                    <a:lstStyle/>
                    <a:p>
                      <a:r>
                        <a:rPr lang="en-US">
                          <a:effectLst/>
                        </a:rPr>
                        <a:t>Aspen ID</a:t>
                      </a:r>
                    </a:p>
                  </a:txBody>
                  <a:tcPr marL="0" marR="0" marT="0" marB="0" anchor="ctr"/>
                </a:tc>
                <a:tc>
                  <a:txBody>
                    <a:bodyPr/>
                    <a:lstStyle/>
                    <a:p>
                      <a:r>
                        <a:rPr lang="en-US">
                          <a:effectLst/>
                        </a:rPr>
                        <a:t>Industry Name</a:t>
                      </a:r>
                    </a:p>
                  </a:txBody>
                  <a:tcPr marL="0" marR="0" marT="0" marB="0" anchor="ctr"/>
                </a:tc>
                <a:tc>
                  <a:txBody>
                    <a:bodyPr/>
                    <a:lstStyle/>
                    <a:p>
                      <a:r>
                        <a:rPr lang="en-US">
                          <a:effectLst/>
                        </a:rPr>
                        <a:t>Duty (kW)</a:t>
                      </a:r>
                    </a:p>
                  </a:txBody>
                  <a:tcPr marL="0" marR="0" marT="0" marB="0" anchor="ctr"/>
                </a:tc>
                <a:tc>
                  <a:txBody>
                    <a:bodyPr/>
                    <a:lstStyle/>
                    <a:p>
                      <a:r>
                        <a:rPr lang="en-US">
                          <a:effectLst/>
                        </a:rPr>
                        <a:t>Specifications</a:t>
                      </a:r>
                    </a:p>
                  </a:txBody>
                  <a:tcPr marL="0" marR="0" marT="0" marB="0" anchor="ctr"/>
                </a:tc>
                <a:tc>
                  <a:txBody>
                    <a:bodyPr/>
                    <a:lstStyle/>
                    <a:p>
                      <a:r>
                        <a:rPr lang="en-US">
                          <a:effectLst/>
                        </a:rPr>
                        <a:t>Material</a:t>
                      </a:r>
                    </a:p>
                  </a:txBody>
                  <a:tcPr marL="0" marR="0" marT="0" marB="0" anchor="ctr"/>
                </a:tc>
                <a:extLst>
                  <a:ext uri="{0D108BD9-81ED-4DB2-BD59-A6C34878D82A}">
                    <a16:rowId xmlns:a16="http://schemas.microsoft.com/office/drawing/2014/main" val="3440964910"/>
                  </a:ext>
                </a:extLst>
              </a:tr>
              <a:tr h="1076325">
                <a:tc>
                  <a:txBody>
                    <a:bodyPr/>
                    <a:lstStyle/>
                    <a:p>
                      <a:r>
                        <a:rPr lang="en-US">
                          <a:effectLst/>
                        </a:rPr>
                        <a:t>1</a:t>
                      </a:r>
                    </a:p>
                  </a:txBody>
                  <a:tcPr marL="0" marR="0" marT="0" marB="0" anchor="ctr"/>
                </a:tc>
                <a:tc>
                  <a:txBody>
                    <a:bodyPr/>
                    <a:lstStyle/>
                    <a:p>
                      <a:r>
                        <a:rPr lang="en-US">
                          <a:effectLst/>
                        </a:rPr>
                        <a:t>H-100</a:t>
                      </a:r>
                    </a:p>
                  </a:txBody>
                  <a:tcPr marL="0" marR="0" marT="0" marB="0" anchor="ctr"/>
                </a:tc>
                <a:tc>
                  <a:txBody>
                    <a:bodyPr/>
                    <a:lstStyle/>
                    <a:p>
                      <a:r>
                        <a:rPr lang="en-US">
                          <a:effectLst/>
                        </a:rPr>
                        <a:t>Shell &amp;Tube Heat Exchanger</a:t>
                      </a:r>
                    </a:p>
                  </a:txBody>
                  <a:tcPr marL="0" marR="0" marT="0" marB="0" anchor="ctr"/>
                </a:tc>
                <a:tc>
                  <a:txBody>
                    <a:bodyPr/>
                    <a:lstStyle/>
                    <a:p>
                      <a:r>
                        <a:rPr lang="en-US">
                          <a:effectLst/>
                        </a:rPr>
                        <a:t>546.578</a:t>
                      </a:r>
                    </a:p>
                  </a:txBody>
                  <a:tcPr marL="0" marR="0" marT="0" marB="0" anchor="ctr"/>
                </a:tc>
                <a:tc>
                  <a:txBody>
                    <a:bodyPr/>
                    <a:lstStyle/>
                    <a:p>
                      <a:r>
                        <a:rPr lang="en-US">
                          <a:effectLst/>
                        </a:rPr>
                        <a:t>Inlet: Thot=387.25 K </a:t>
                      </a:r>
                      <a:r>
                        <a:rPr lang="en-US" err="1">
                          <a:effectLst/>
                        </a:rPr>
                        <a:t>Tcold</a:t>
                      </a:r>
                      <a:r>
                        <a:rPr lang="en-US">
                          <a:effectLst/>
                        </a:rPr>
                        <a:t>=298.15 K Outlet: Thot=378.45 K </a:t>
                      </a:r>
                      <a:r>
                        <a:rPr lang="en-US" err="1">
                          <a:effectLst/>
                        </a:rPr>
                        <a:t>Tcold</a:t>
                      </a:r>
                      <a:r>
                        <a:rPr lang="en-US">
                          <a:effectLst/>
                        </a:rPr>
                        <a:t>=300.139 K</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2920733371"/>
                  </a:ext>
                </a:extLst>
              </a:tr>
            </a:tbl>
          </a:graphicData>
        </a:graphic>
      </p:graphicFrame>
    </p:spTree>
    <p:extLst>
      <p:ext uri="{BB962C8B-B14F-4D97-AF65-F5344CB8AC3E}">
        <p14:creationId xmlns:p14="http://schemas.microsoft.com/office/powerpoint/2010/main" val="750094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4D995A9-AE59-4FA3-8E80-BBE2C2C32B5D}"/>
              </a:ext>
            </a:extLst>
          </p:cNvPr>
          <p:cNvSpPr>
            <a:spLocks noGrp="1"/>
          </p:cNvSpPr>
          <p:nvPr>
            <p:ph type="title"/>
          </p:nvPr>
        </p:nvSpPr>
        <p:spPr>
          <a:xfrm>
            <a:off x="492370" y="516835"/>
            <a:ext cx="3356986" cy="2094804"/>
          </a:xfrm>
        </p:spPr>
        <p:txBody>
          <a:bodyPr>
            <a:normAutofit/>
          </a:bodyPr>
          <a:lstStyle/>
          <a:p>
            <a:r>
              <a:rPr lang="en-US" sz="3600">
                <a:solidFill>
                  <a:srgbClr val="FFFFFF"/>
                </a:solidFill>
                <a:cs typeface="Calibri Light"/>
              </a:rPr>
              <a:t>Process Flow Diagram: </a:t>
            </a:r>
            <a:br>
              <a:rPr lang="en-US" sz="3600">
                <a:solidFill>
                  <a:schemeClr val="bg1"/>
                </a:solidFill>
                <a:ea typeface="+mj-lt"/>
                <a:cs typeface="+mj-lt"/>
              </a:rPr>
            </a:br>
            <a:r>
              <a:rPr lang="en-US" sz="3600">
                <a:solidFill>
                  <a:schemeClr val="bg1"/>
                </a:solidFill>
                <a:ea typeface="+mj-lt"/>
                <a:cs typeface="+mj-lt"/>
              </a:rPr>
              <a:t>Scrubbing/Drying Hierarchy </a:t>
            </a:r>
            <a:endParaRPr lang="en-US" sz="3600">
              <a:solidFill>
                <a:schemeClr val="bg1"/>
              </a:solidFill>
              <a:cs typeface="Calibri Light"/>
            </a:endParaRPr>
          </a:p>
        </p:txBody>
      </p:sp>
      <p:sp>
        <p:nvSpPr>
          <p:cNvPr id="3" name="Content Placeholder 2">
            <a:extLst>
              <a:ext uri="{FF2B5EF4-FFF2-40B4-BE49-F238E27FC236}">
                <a16:creationId xmlns:a16="http://schemas.microsoft.com/office/drawing/2014/main" id="{7160055E-C906-47B8-9AC0-38BB884E001E}"/>
              </a:ext>
            </a:extLst>
          </p:cNvPr>
          <p:cNvSpPr>
            <a:spLocks noGrp="1"/>
          </p:cNvSpPr>
          <p:nvPr>
            <p:ph idx="1"/>
          </p:nvPr>
        </p:nvSpPr>
        <p:spPr>
          <a:xfrm>
            <a:off x="492371" y="2653800"/>
            <a:ext cx="3084844" cy="3335519"/>
          </a:xfrm>
        </p:spPr>
        <p:txBody>
          <a:bodyPr vert="horz" lIns="0" tIns="45720" rIns="0" bIns="45720" rtlCol="0" anchor="t">
            <a:normAutofit/>
          </a:bodyPr>
          <a:lstStyle/>
          <a:p>
            <a:pPr>
              <a:buFont typeface="Arial" panose="020F0502020204030204" pitchFamily="34" charset="0"/>
              <a:buChar char="•"/>
            </a:pPr>
            <a:r>
              <a:rPr lang="en-US" sz="1500">
                <a:solidFill>
                  <a:srgbClr val="FFFFFF"/>
                </a:solidFill>
                <a:ea typeface="+mn-lt"/>
                <a:cs typeface="+mn-lt"/>
              </a:rPr>
              <a:t>This stage of the process is where the water is scrubbed off from the effluent stream and the C2-C3 hydrocarbons are separated out.</a:t>
            </a:r>
          </a:p>
        </p:txBody>
      </p:sp>
      <p:sp>
        <p:nvSpPr>
          <p:cNvPr id="24" name="Rectangle 23">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5" descr="A screenshot of a cell phone&#10;&#10;Description generated with high confidence">
            <a:extLst>
              <a:ext uri="{FF2B5EF4-FFF2-40B4-BE49-F238E27FC236}">
                <a16:creationId xmlns:a16="http://schemas.microsoft.com/office/drawing/2014/main" id="{7ED4EEE7-08CF-4D77-8DCB-C4EAB447A74E}"/>
              </a:ext>
            </a:extLst>
          </p:cNvPr>
          <p:cNvPicPr>
            <a:picLocks noChangeAspect="1"/>
          </p:cNvPicPr>
          <p:nvPr/>
        </p:nvPicPr>
        <p:blipFill>
          <a:blip r:embed="rId2"/>
          <a:stretch>
            <a:fillRect/>
          </a:stretch>
        </p:blipFill>
        <p:spPr>
          <a:xfrm>
            <a:off x="5663452" y="195147"/>
            <a:ext cx="4961364" cy="2866105"/>
          </a:xfrm>
          <a:prstGeom prst="rect">
            <a:avLst/>
          </a:prstGeom>
        </p:spPr>
      </p:pic>
      <p:sp>
        <p:nvSpPr>
          <p:cNvPr id="4" name="Slide Number Placeholder 3">
            <a:extLst>
              <a:ext uri="{FF2B5EF4-FFF2-40B4-BE49-F238E27FC236}">
                <a16:creationId xmlns:a16="http://schemas.microsoft.com/office/drawing/2014/main" id="{3D2A7288-5912-4A47-B49C-E79F7C59FEE9}"/>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13</a:t>
            </a:fld>
            <a:endParaRPr lang="en-US">
              <a:solidFill>
                <a:schemeClr val="tx2"/>
              </a:solidFill>
            </a:endParaRPr>
          </a:p>
        </p:txBody>
      </p:sp>
      <p:sp>
        <p:nvSpPr>
          <p:cNvPr id="7" name="TextBox 6">
            <a:extLst>
              <a:ext uri="{FF2B5EF4-FFF2-40B4-BE49-F238E27FC236}">
                <a16:creationId xmlns:a16="http://schemas.microsoft.com/office/drawing/2014/main" id="{759814C3-6AB3-4728-B726-A245DB440422}"/>
              </a:ext>
            </a:extLst>
          </p:cNvPr>
          <p:cNvSpPr txBox="1"/>
          <p:nvPr/>
        </p:nvSpPr>
        <p:spPr>
          <a:xfrm>
            <a:off x="5676746" y="6426695"/>
            <a:ext cx="5271206" cy="369332"/>
          </a:xfrm>
          <a:prstGeom prst="rect">
            <a:avLst/>
          </a:prstGeom>
          <a:noFill/>
        </p:spPr>
        <p:txBody>
          <a:bodyPr wrap="square" rtlCol="0" anchor="t">
            <a:spAutoFit/>
          </a:bodyPr>
          <a:lstStyle/>
          <a:p>
            <a:pPr>
              <a:spcAft>
                <a:spcPts val="600"/>
              </a:spcAft>
            </a:pPr>
            <a:r>
              <a:rPr lang="en-US"/>
              <a:t>Figure 5 – Scrubbing and Drying Hierarchy PFD &amp; BFD</a:t>
            </a:r>
            <a:endParaRPr lang="en-US" baseline="30000"/>
          </a:p>
        </p:txBody>
      </p:sp>
      <p:pic>
        <p:nvPicPr>
          <p:cNvPr id="6" name="Picture 5">
            <a:extLst>
              <a:ext uri="{FF2B5EF4-FFF2-40B4-BE49-F238E27FC236}">
                <a16:creationId xmlns:a16="http://schemas.microsoft.com/office/drawing/2014/main" id="{17D5DF86-D526-4D2F-AE97-6CC5F4C96C4D}"/>
              </a:ext>
            </a:extLst>
          </p:cNvPr>
          <p:cNvPicPr>
            <a:picLocks noChangeAspect="1"/>
          </p:cNvPicPr>
          <p:nvPr/>
        </p:nvPicPr>
        <p:blipFill>
          <a:blip r:embed="rId3"/>
          <a:stretch>
            <a:fillRect/>
          </a:stretch>
        </p:blipFill>
        <p:spPr>
          <a:xfrm>
            <a:off x="6652143" y="2961371"/>
            <a:ext cx="2986107" cy="3465324"/>
          </a:xfrm>
          <a:prstGeom prst="rect">
            <a:avLst/>
          </a:prstGeom>
        </p:spPr>
      </p:pic>
    </p:spTree>
    <p:extLst>
      <p:ext uri="{BB962C8B-B14F-4D97-AF65-F5344CB8AC3E}">
        <p14:creationId xmlns:p14="http://schemas.microsoft.com/office/powerpoint/2010/main" val="7760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8C9FB34-13D1-8E44-9F33-4578A4868A87}"/>
              </a:ext>
            </a:extLst>
          </p:cNvPr>
          <p:cNvSpPr>
            <a:spLocks noGrp="1"/>
          </p:cNvSpPr>
          <p:nvPr>
            <p:ph type="title"/>
          </p:nvPr>
        </p:nvSpPr>
        <p:spPr>
          <a:xfrm>
            <a:off x="483299" y="54192"/>
            <a:ext cx="3347915" cy="2103875"/>
          </a:xfrm>
        </p:spPr>
        <p:txBody>
          <a:bodyPr>
            <a:normAutofit/>
          </a:bodyPr>
          <a:lstStyle/>
          <a:p>
            <a:r>
              <a:rPr lang="en-US" sz="3600">
                <a:solidFill>
                  <a:srgbClr val="FFFFFF"/>
                </a:solidFill>
                <a:ea typeface="+mj-lt"/>
                <a:cs typeface="+mj-lt"/>
              </a:rPr>
              <a:t>Scrubbing/Drying Hierarchy </a:t>
            </a:r>
            <a:r>
              <a:rPr lang="en-US" sz="3600">
                <a:solidFill>
                  <a:srgbClr val="FFFFFF"/>
                </a:solidFill>
              </a:rPr>
              <a:t>: Stream Details</a:t>
            </a:r>
          </a:p>
        </p:txBody>
      </p:sp>
      <p:sp>
        <p:nvSpPr>
          <p:cNvPr id="18" name="Rectangle 17">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7" descr="A close up of text on a white background&#10;&#10;Description generated with very high confidence">
            <a:extLst>
              <a:ext uri="{FF2B5EF4-FFF2-40B4-BE49-F238E27FC236}">
                <a16:creationId xmlns:a16="http://schemas.microsoft.com/office/drawing/2014/main" id="{2B54194B-9820-454A-ACC7-1CFD39AAB302}"/>
              </a:ext>
            </a:extLst>
          </p:cNvPr>
          <p:cNvPicPr>
            <a:picLocks noChangeAspect="1"/>
          </p:cNvPicPr>
          <p:nvPr/>
        </p:nvPicPr>
        <p:blipFill>
          <a:blip r:embed="rId2"/>
          <a:stretch>
            <a:fillRect/>
          </a:stretch>
        </p:blipFill>
        <p:spPr>
          <a:xfrm>
            <a:off x="4976901" y="640080"/>
            <a:ext cx="6328313" cy="5840911"/>
          </a:xfrm>
          <a:prstGeom prst="rect">
            <a:avLst/>
          </a:prstGeom>
        </p:spPr>
      </p:pic>
      <p:sp>
        <p:nvSpPr>
          <p:cNvPr id="4" name="Slide Number Placeholder 3">
            <a:extLst>
              <a:ext uri="{FF2B5EF4-FFF2-40B4-BE49-F238E27FC236}">
                <a16:creationId xmlns:a16="http://schemas.microsoft.com/office/drawing/2014/main" id="{1931E48F-41B3-EE40-9C76-99BDBFB8953B}"/>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14</a:t>
            </a:fld>
            <a:endParaRPr lang="en-US">
              <a:solidFill>
                <a:schemeClr val="tx2"/>
              </a:solidFill>
            </a:endParaRPr>
          </a:p>
        </p:txBody>
      </p:sp>
    </p:spTree>
    <p:extLst>
      <p:ext uri="{BB962C8B-B14F-4D97-AF65-F5344CB8AC3E}">
        <p14:creationId xmlns:p14="http://schemas.microsoft.com/office/powerpoint/2010/main" val="3846603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9171F-4E08-8442-A12A-25FAE0A5901F}"/>
              </a:ext>
            </a:extLst>
          </p:cNvPr>
          <p:cNvSpPr>
            <a:spLocks noGrp="1"/>
          </p:cNvSpPr>
          <p:nvPr>
            <p:ph type="title"/>
          </p:nvPr>
        </p:nvSpPr>
        <p:spPr/>
        <p:txBody>
          <a:bodyPr/>
          <a:lstStyle/>
          <a:p>
            <a:r>
              <a:rPr lang="en-US"/>
              <a:t>Scrubbing/Drying Hierarchy: Equipment Sizing</a:t>
            </a:r>
          </a:p>
        </p:txBody>
      </p:sp>
      <p:sp>
        <p:nvSpPr>
          <p:cNvPr id="4" name="Slide Number Placeholder 3">
            <a:extLst>
              <a:ext uri="{FF2B5EF4-FFF2-40B4-BE49-F238E27FC236}">
                <a16:creationId xmlns:a16="http://schemas.microsoft.com/office/drawing/2014/main" id="{2F2CD5D1-3E62-6744-A9E6-35E63B742736}"/>
              </a:ext>
            </a:extLst>
          </p:cNvPr>
          <p:cNvSpPr>
            <a:spLocks noGrp="1"/>
          </p:cNvSpPr>
          <p:nvPr>
            <p:ph type="sldNum" sz="quarter" idx="12"/>
          </p:nvPr>
        </p:nvSpPr>
        <p:spPr/>
        <p:txBody>
          <a:bodyPr/>
          <a:lstStyle/>
          <a:p>
            <a:fld id="{330EA680-D336-4FF7-8B7A-9848BB0A1C32}" type="slidenum">
              <a:rPr lang="en-US" sz="2400" smtClean="0"/>
              <a:t>15</a:t>
            </a:fld>
            <a:endParaRPr lang="en-US"/>
          </a:p>
        </p:txBody>
      </p:sp>
      <p:graphicFrame>
        <p:nvGraphicFramePr>
          <p:cNvPr id="8" name="Content Placeholder 7">
            <a:extLst>
              <a:ext uri="{FF2B5EF4-FFF2-40B4-BE49-F238E27FC236}">
                <a16:creationId xmlns:a16="http://schemas.microsoft.com/office/drawing/2014/main" id="{1208A0B8-C0E4-4E58-BDF1-C135062DE649}"/>
              </a:ext>
            </a:extLst>
          </p:cNvPr>
          <p:cNvGraphicFramePr>
            <a:graphicFrameLocks noGrp="1"/>
          </p:cNvGraphicFramePr>
          <p:nvPr>
            <p:ph idx="1"/>
            <p:extLst>
              <p:ext uri="{D42A27DB-BD31-4B8C-83A1-F6EECF244321}">
                <p14:modId xmlns:p14="http://schemas.microsoft.com/office/powerpoint/2010/main" val="2687426150"/>
              </p:ext>
            </p:extLst>
          </p:nvPr>
        </p:nvGraphicFramePr>
        <p:xfrm>
          <a:off x="1096963" y="1846263"/>
          <a:ext cx="10058396" cy="4305935"/>
        </p:xfrm>
        <a:graphic>
          <a:graphicData uri="http://schemas.openxmlformats.org/drawingml/2006/table">
            <a:tbl>
              <a:tblPr firstRow="1" bandRow="1">
                <a:tableStyleId>{5C22544A-7EE6-4342-B048-85BDC9FD1C3A}</a:tableStyleId>
              </a:tblPr>
              <a:tblGrid>
                <a:gridCol w="1389281">
                  <a:extLst>
                    <a:ext uri="{9D8B030D-6E8A-4147-A177-3AD203B41FA5}">
                      <a16:colId xmlns:a16="http://schemas.microsoft.com/office/drawing/2014/main" val="178193968"/>
                    </a:ext>
                  </a:extLst>
                </a:gridCol>
                <a:gridCol w="1389281">
                  <a:extLst>
                    <a:ext uri="{9D8B030D-6E8A-4147-A177-3AD203B41FA5}">
                      <a16:colId xmlns:a16="http://schemas.microsoft.com/office/drawing/2014/main" val="3085357925"/>
                    </a:ext>
                  </a:extLst>
                </a:gridCol>
                <a:gridCol w="2028351">
                  <a:extLst>
                    <a:ext uri="{9D8B030D-6E8A-4147-A177-3AD203B41FA5}">
                      <a16:colId xmlns:a16="http://schemas.microsoft.com/office/drawing/2014/main" val="3376711218"/>
                    </a:ext>
                  </a:extLst>
                </a:gridCol>
                <a:gridCol w="1389281">
                  <a:extLst>
                    <a:ext uri="{9D8B030D-6E8A-4147-A177-3AD203B41FA5}">
                      <a16:colId xmlns:a16="http://schemas.microsoft.com/office/drawing/2014/main" val="875153124"/>
                    </a:ext>
                  </a:extLst>
                </a:gridCol>
                <a:gridCol w="2472921">
                  <a:extLst>
                    <a:ext uri="{9D8B030D-6E8A-4147-A177-3AD203B41FA5}">
                      <a16:colId xmlns:a16="http://schemas.microsoft.com/office/drawing/2014/main" val="3853267991"/>
                    </a:ext>
                  </a:extLst>
                </a:gridCol>
                <a:gridCol w="1389281">
                  <a:extLst>
                    <a:ext uri="{9D8B030D-6E8A-4147-A177-3AD203B41FA5}">
                      <a16:colId xmlns:a16="http://schemas.microsoft.com/office/drawing/2014/main" val="995321402"/>
                    </a:ext>
                  </a:extLst>
                </a:gridCol>
              </a:tblGrid>
              <a:tr h="736600">
                <a:tc gridSpan="6">
                  <a:txBody>
                    <a:bodyPr/>
                    <a:lstStyle/>
                    <a:p>
                      <a:r>
                        <a:rPr lang="en-US">
                          <a:effectLst/>
                        </a:rPr>
                        <a:t>SCR/DRY Hierarchy Equipment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31251521"/>
                  </a:ext>
                </a:extLst>
              </a:tr>
              <a:tr h="349250">
                <a:tc>
                  <a:txBody>
                    <a:bodyPr/>
                    <a:lstStyle/>
                    <a:p>
                      <a:r>
                        <a:rPr lang="en-US">
                          <a:effectLst/>
                        </a:rPr>
                        <a:t>#</a:t>
                      </a:r>
                    </a:p>
                  </a:txBody>
                  <a:tcPr marL="0" marR="0" marT="0" marB="0" anchor="ctr"/>
                </a:tc>
                <a:tc>
                  <a:txBody>
                    <a:bodyPr/>
                    <a:lstStyle/>
                    <a:p>
                      <a:r>
                        <a:rPr lang="en-US">
                          <a:effectLst/>
                        </a:rPr>
                        <a:t>Aspen ID</a:t>
                      </a:r>
                    </a:p>
                  </a:txBody>
                  <a:tcPr marL="0" marR="0" marT="0" marB="0" anchor="ctr"/>
                </a:tc>
                <a:tc>
                  <a:txBody>
                    <a:bodyPr/>
                    <a:lstStyle/>
                    <a:p>
                      <a:r>
                        <a:rPr lang="en-US">
                          <a:effectLst/>
                        </a:rPr>
                        <a:t>Industry Name</a:t>
                      </a:r>
                    </a:p>
                  </a:txBody>
                  <a:tcPr marL="0" marR="0" marT="0" marB="0" anchor="ctr"/>
                </a:tc>
                <a:tc>
                  <a:txBody>
                    <a:bodyPr/>
                    <a:lstStyle/>
                    <a:p>
                      <a:r>
                        <a:rPr lang="en-US">
                          <a:effectLst/>
                        </a:rPr>
                        <a:t>Duty (kW)</a:t>
                      </a:r>
                    </a:p>
                  </a:txBody>
                  <a:tcPr marL="0" marR="0" marT="0" marB="0" anchor="ctr"/>
                </a:tc>
                <a:tc>
                  <a:txBody>
                    <a:bodyPr/>
                    <a:lstStyle/>
                    <a:p>
                      <a:r>
                        <a:rPr lang="en-US">
                          <a:effectLst/>
                        </a:rPr>
                        <a:t>Specifications</a:t>
                      </a:r>
                    </a:p>
                  </a:txBody>
                  <a:tcPr marL="0" marR="0" marT="0" marB="0" anchor="ctr"/>
                </a:tc>
                <a:tc>
                  <a:txBody>
                    <a:bodyPr/>
                    <a:lstStyle/>
                    <a:p>
                      <a:r>
                        <a:rPr lang="en-US">
                          <a:effectLst/>
                        </a:rPr>
                        <a:t>Material</a:t>
                      </a:r>
                    </a:p>
                  </a:txBody>
                  <a:tcPr marL="0" marR="0" marT="0" marB="0" anchor="ctr"/>
                </a:tc>
                <a:extLst>
                  <a:ext uri="{0D108BD9-81ED-4DB2-BD59-A6C34878D82A}">
                    <a16:rowId xmlns:a16="http://schemas.microsoft.com/office/drawing/2014/main" val="1855743669"/>
                  </a:ext>
                </a:extLst>
              </a:tr>
              <a:tr h="1076325">
                <a:tc>
                  <a:txBody>
                    <a:bodyPr/>
                    <a:lstStyle/>
                    <a:p>
                      <a:r>
                        <a:rPr lang="en-US">
                          <a:effectLst/>
                        </a:rPr>
                        <a:t>1</a:t>
                      </a:r>
                    </a:p>
                  </a:txBody>
                  <a:tcPr marL="0" marR="0" marT="0" marB="0" anchor="ctr"/>
                </a:tc>
                <a:tc>
                  <a:txBody>
                    <a:bodyPr/>
                    <a:lstStyle/>
                    <a:p>
                      <a:r>
                        <a:rPr lang="en-US">
                          <a:effectLst/>
                        </a:rPr>
                        <a:t>C-300</a:t>
                      </a:r>
                    </a:p>
                  </a:txBody>
                  <a:tcPr marL="0" marR="0" marT="0" marB="0" anchor="ctr"/>
                </a:tc>
                <a:tc>
                  <a:txBody>
                    <a:bodyPr/>
                    <a:lstStyle/>
                    <a:p>
                      <a:r>
                        <a:rPr lang="en-US">
                          <a:effectLst/>
                        </a:rPr>
                        <a:t>Isentropic Compressor</a:t>
                      </a:r>
                    </a:p>
                  </a:txBody>
                  <a:tcPr marL="0" marR="0" marT="0" marB="0" anchor="ctr"/>
                </a:tc>
                <a:tc>
                  <a:txBody>
                    <a:bodyPr/>
                    <a:lstStyle/>
                    <a:p>
                      <a:r>
                        <a:rPr lang="en-US">
                          <a:effectLst/>
                        </a:rPr>
                        <a:t>56245.6</a:t>
                      </a:r>
                    </a:p>
                  </a:txBody>
                  <a:tcPr marL="0" marR="0" marT="0" marB="0" anchor="ctr"/>
                </a:tc>
                <a:tc>
                  <a:txBody>
                    <a:bodyPr/>
                    <a:lstStyle/>
                    <a:p>
                      <a:r>
                        <a:rPr lang="en-US">
                          <a:effectLst/>
                        </a:rPr>
                        <a:t>1016.3 K, 2 bar</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4199137432"/>
                  </a:ext>
                </a:extLst>
              </a:tr>
              <a:tr h="1320800">
                <a:tc>
                  <a:txBody>
                    <a:bodyPr/>
                    <a:lstStyle/>
                    <a:p>
                      <a:r>
                        <a:rPr lang="en-US">
                          <a:effectLst/>
                        </a:rPr>
                        <a:t>2</a:t>
                      </a:r>
                    </a:p>
                  </a:txBody>
                  <a:tcPr marL="0" marR="0" marT="0" marB="0" anchor="ctr"/>
                </a:tc>
                <a:tc>
                  <a:txBody>
                    <a:bodyPr/>
                    <a:lstStyle/>
                    <a:p>
                      <a:r>
                        <a:rPr lang="en-US">
                          <a:effectLst/>
                        </a:rPr>
                        <a:t>H-300</a:t>
                      </a:r>
                    </a:p>
                  </a:txBody>
                  <a:tcPr marL="0" marR="0" marT="0" marB="0" anchor="ctr"/>
                </a:tc>
                <a:tc>
                  <a:txBody>
                    <a:bodyPr/>
                    <a:lstStyle/>
                    <a:p>
                      <a:r>
                        <a:rPr lang="en-US">
                          <a:effectLst/>
                        </a:rPr>
                        <a:t>Shell &amp; Tube Heat Exchanger</a:t>
                      </a:r>
                    </a:p>
                  </a:txBody>
                  <a:tcPr marL="0" marR="0" marT="0" marB="0" anchor="ctr"/>
                </a:tc>
                <a:tc>
                  <a:txBody>
                    <a:bodyPr/>
                    <a:lstStyle/>
                    <a:p>
                      <a:r>
                        <a:rPr lang="en-US">
                          <a:effectLst/>
                        </a:rPr>
                        <a:t>38146.3</a:t>
                      </a:r>
                    </a:p>
                  </a:txBody>
                  <a:tcPr marL="0" marR="0" marT="0" marB="0" anchor="ctr"/>
                </a:tc>
                <a:tc>
                  <a:txBody>
                    <a:bodyPr/>
                    <a:lstStyle/>
                    <a:p>
                      <a:r>
                        <a:rPr lang="en-US">
                          <a:effectLst/>
                        </a:rPr>
                        <a:t>Inlet: Thot=387.25 K Tcold=298.15 K Outlet: Thot=378.45 K Tcold=300.139 K</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1632911357"/>
                  </a:ext>
                </a:extLst>
              </a:tr>
              <a:tr h="774700">
                <a:tc>
                  <a:txBody>
                    <a:bodyPr/>
                    <a:lstStyle/>
                    <a:p>
                      <a:r>
                        <a:rPr lang="en-US">
                          <a:effectLst/>
                        </a:rPr>
                        <a:t>3</a:t>
                      </a:r>
                    </a:p>
                  </a:txBody>
                  <a:tcPr marL="0" marR="0" marT="0" marB="0" anchor="ctr"/>
                </a:tc>
                <a:tc>
                  <a:txBody>
                    <a:bodyPr/>
                    <a:lstStyle/>
                    <a:p>
                      <a:r>
                        <a:rPr lang="en-US">
                          <a:effectLst/>
                        </a:rPr>
                        <a:t>S-302</a:t>
                      </a:r>
                    </a:p>
                  </a:txBody>
                  <a:tcPr marL="0" marR="0" marT="0" marB="0" anchor="ctr"/>
                </a:tc>
                <a:tc>
                  <a:txBody>
                    <a:bodyPr/>
                    <a:lstStyle/>
                    <a:p>
                      <a:r>
                        <a:rPr lang="en-US">
                          <a:effectLst/>
                        </a:rPr>
                        <a:t>Demethanizer - Kettle Reboiler</a:t>
                      </a:r>
                    </a:p>
                  </a:txBody>
                  <a:tcPr marL="0" marR="0" marT="0" marB="0" anchor="ctr"/>
                </a:tc>
                <a:tc>
                  <a:txBody>
                    <a:bodyPr/>
                    <a:lstStyle/>
                    <a:p>
                      <a:r>
                        <a:rPr lang="en-US">
                          <a:effectLst/>
                        </a:rPr>
                        <a:t>310.1</a:t>
                      </a:r>
                    </a:p>
                  </a:txBody>
                  <a:tcPr marL="0" marR="0" marT="0" marB="0" anchor="ctr"/>
                </a:tc>
                <a:tc>
                  <a:txBody>
                    <a:bodyPr/>
                    <a:lstStyle/>
                    <a:p>
                      <a:r>
                        <a:rPr lang="en-US">
                          <a:effectLst/>
                        </a:rPr>
                        <a:t>34 trays, 30 bar, 255.78 K, Diameter=2.133m, Height=6.4m</a:t>
                      </a:r>
                    </a:p>
                  </a:txBody>
                  <a:tcPr marL="0" marR="0" marT="0" marB="0" anchor="ctr"/>
                </a:tc>
                <a:tc>
                  <a:txBody>
                    <a:bodyPr/>
                    <a:lstStyle/>
                    <a:p>
                      <a:r>
                        <a:rPr lang="en-US">
                          <a:effectLst/>
                        </a:rPr>
                        <a:t>Carbon Steel</a:t>
                      </a:r>
                    </a:p>
                  </a:txBody>
                  <a:tcPr marL="0" marR="0" marT="0" marB="0" anchor="ctr"/>
                </a:tc>
                <a:extLst>
                  <a:ext uri="{0D108BD9-81ED-4DB2-BD59-A6C34878D82A}">
                    <a16:rowId xmlns:a16="http://schemas.microsoft.com/office/drawing/2014/main" val="1937455180"/>
                  </a:ext>
                </a:extLst>
              </a:tr>
            </a:tbl>
          </a:graphicData>
        </a:graphic>
      </p:graphicFrame>
    </p:spTree>
    <p:extLst>
      <p:ext uri="{BB962C8B-B14F-4D97-AF65-F5344CB8AC3E}">
        <p14:creationId xmlns:p14="http://schemas.microsoft.com/office/powerpoint/2010/main" val="1816708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21">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 name="Rectangle 23">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E089499-2403-B147-8477-AF799F415184}"/>
              </a:ext>
            </a:extLst>
          </p:cNvPr>
          <p:cNvSpPr>
            <a:spLocks noGrp="1"/>
          </p:cNvSpPr>
          <p:nvPr>
            <p:ph type="title"/>
          </p:nvPr>
        </p:nvSpPr>
        <p:spPr>
          <a:xfrm>
            <a:off x="164287" y="463918"/>
            <a:ext cx="3813581" cy="2127308"/>
          </a:xfrm>
        </p:spPr>
        <p:txBody>
          <a:bodyPr vert="horz" lIns="91440" tIns="45720" rIns="91440" bIns="45720" rtlCol="0" anchor="b">
            <a:normAutofit/>
          </a:bodyPr>
          <a:lstStyle/>
          <a:p>
            <a:r>
              <a:rPr lang="en-US" sz="3600">
                <a:solidFill>
                  <a:srgbClr val="FFFFFF"/>
                </a:solidFill>
              </a:rPr>
              <a:t>Process Flow Diagram: Separation/Cracking Hierarchy</a:t>
            </a:r>
            <a:endParaRPr lang="en-US" sz="3600" err="1">
              <a:solidFill>
                <a:srgbClr val="FFFFFF"/>
              </a:solidFill>
              <a:cs typeface="Calibri Light"/>
            </a:endParaRPr>
          </a:p>
        </p:txBody>
      </p:sp>
      <p:sp>
        <p:nvSpPr>
          <p:cNvPr id="16" name="TextBox 15">
            <a:extLst>
              <a:ext uri="{FF2B5EF4-FFF2-40B4-BE49-F238E27FC236}">
                <a16:creationId xmlns:a16="http://schemas.microsoft.com/office/drawing/2014/main" id="{2119C8F3-5C8A-49D0-8A68-359DFCC18618}"/>
              </a:ext>
            </a:extLst>
          </p:cNvPr>
          <p:cNvSpPr txBox="1"/>
          <p:nvPr/>
        </p:nvSpPr>
        <p:spPr>
          <a:xfrm>
            <a:off x="492371" y="2653800"/>
            <a:ext cx="3084844" cy="3335519"/>
          </a:xfrm>
          <a:prstGeom prst="rect">
            <a:avLst/>
          </a:prstGeom>
        </p:spPr>
        <p:txBody>
          <a:bodyPr rot="0" spcFirstLastPara="0" vertOverflow="overflow" horzOverflow="overflow" vert="horz" lIns="0" tIns="45720" rIns="0" bIns="45720" numCol="1" spcCol="0" rtlCol="0" fromWordArt="0" anchorCtr="0" forceAA="0" compatLnSpc="1">
            <a:prstTxWarp prst="textNoShape">
              <a:avLst/>
            </a:prstTxWarp>
            <a:normAutofit/>
          </a:bodyPr>
          <a:lstStyle/>
          <a:p>
            <a:pPr marL="285750" indent="-285750" defTabSz="914400">
              <a:lnSpc>
                <a:spcPct val="90000"/>
              </a:lnSpc>
              <a:spcAft>
                <a:spcPts val="600"/>
              </a:spcAft>
              <a:buClr>
                <a:schemeClr val="accent1"/>
              </a:buClr>
              <a:buFont typeface="Calibri" panose="020F0502020204030204" pitchFamily="34" charset="0"/>
              <a:buChar char="•"/>
            </a:pPr>
            <a:r>
              <a:rPr lang="en-US" sz="1500">
                <a:solidFill>
                  <a:srgbClr val="FFFFFF"/>
                </a:solidFill>
              </a:rPr>
              <a:t>This stage of the process is where the ethylene and propylene products are separated out.</a:t>
            </a:r>
            <a:endParaRPr lang="en-US" sz="1500">
              <a:solidFill>
                <a:srgbClr val="FFFFFF"/>
              </a:solidFill>
              <a:cs typeface="Calibri"/>
            </a:endParaRPr>
          </a:p>
        </p:txBody>
      </p:sp>
      <p:sp>
        <p:nvSpPr>
          <p:cNvPr id="21" name="Rectangle 25">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7" name="Picture 17" descr="A picture containing text, map&#10;&#10;Description generated with very high confidence">
            <a:extLst>
              <a:ext uri="{FF2B5EF4-FFF2-40B4-BE49-F238E27FC236}">
                <a16:creationId xmlns:a16="http://schemas.microsoft.com/office/drawing/2014/main" id="{6F0519B2-946C-4DDC-8331-4181289849C5}"/>
              </a:ext>
            </a:extLst>
          </p:cNvPr>
          <p:cNvPicPr>
            <a:picLocks noChangeAspect="1"/>
          </p:cNvPicPr>
          <p:nvPr/>
        </p:nvPicPr>
        <p:blipFill>
          <a:blip r:embed="rId2"/>
          <a:stretch>
            <a:fillRect/>
          </a:stretch>
        </p:blipFill>
        <p:spPr>
          <a:xfrm>
            <a:off x="5890498" y="0"/>
            <a:ext cx="4503705" cy="3055531"/>
          </a:xfrm>
          <a:prstGeom prst="rect">
            <a:avLst/>
          </a:prstGeom>
        </p:spPr>
      </p:pic>
      <p:sp>
        <p:nvSpPr>
          <p:cNvPr id="4" name="Slide Number Placeholder 3">
            <a:extLst>
              <a:ext uri="{FF2B5EF4-FFF2-40B4-BE49-F238E27FC236}">
                <a16:creationId xmlns:a16="http://schemas.microsoft.com/office/drawing/2014/main" id="{8B1D88A7-1785-2C45-A245-C51D20CAF95A}"/>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330EA680-D336-4FF7-8B7A-9848BB0A1C32}" type="slidenum">
              <a:rPr lang="en-US">
                <a:solidFill>
                  <a:schemeClr val="tx2"/>
                </a:solidFill>
              </a:rPr>
              <a:pPr defTabSz="914400">
                <a:spcAft>
                  <a:spcPts val="600"/>
                </a:spcAft>
              </a:pPr>
              <a:t>16</a:t>
            </a:fld>
            <a:endParaRPr lang="en-US">
              <a:solidFill>
                <a:schemeClr val="tx2"/>
              </a:solidFill>
            </a:endParaRPr>
          </a:p>
        </p:txBody>
      </p:sp>
      <p:sp>
        <p:nvSpPr>
          <p:cNvPr id="12" name="TextBox 11">
            <a:extLst>
              <a:ext uri="{FF2B5EF4-FFF2-40B4-BE49-F238E27FC236}">
                <a16:creationId xmlns:a16="http://schemas.microsoft.com/office/drawing/2014/main" id="{5E6FC16C-ED1F-C84A-93F4-5099713425AE}"/>
              </a:ext>
            </a:extLst>
          </p:cNvPr>
          <p:cNvSpPr txBox="1"/>
          <p:nvPr/>
        </p:nvSpPr>
        <p:spPr>
          <a:xfrm>
            <a:off x="5598512" y="6426695"/>
            <a:ext cx="5553192" cy="369332"/>
          </a:xfrm>
          <a:prstGeom prst="rect">
            <a:avLst/>
          </a:prstGeom>
          <a:noFill/>
        </p:spPr>
        <p:txBody>
          <a:bodyPr wrap="square" rtlCol="0" anchor="t">
            <a:spAutoFit/>
          </a:bodyPr>
          <a:lstStyle/>
          <a:p>
            <a:pPr>
              <a:spcAft>
                <a:spcPts val="600"/>
              </a:spcAft>
            </a:pPr>
            <a:r>
              <a:rPr lang="en-US"/>
              <a:t>Figure 5 – Separation and Cracking Hierarchy PFD &amp; BFD</a:t>
            </a:r>
            <a:endParaRPr lang="en-US" baseline="30000"/>
          </a:p>
        </p:txBody>
      </p:sp>
      <p:pic>
        <p:nvPicPr>
          <p:cNvPr id="3" name="Picture 2">
            <a:extLst>
              <a:ext uri="{FF2B5EF4-FFF2-40B4-BE49-F238E27FC236}">
                <a16:creationId xmlns:a16="http://schemas.microsoft.com/office/drawing/2014/main" id="{9D3EB46D-A3F1-48C6-9ADB-B4314F8C2D57}"/>
              </a:ext>
            </a:extLst>
          </p:cNvPr>
          <p:cNvPicPr>
            <a:picLocks noChangeAspect="1"/>
          </p:cNvPicPr>
          <p:nvPr/>
        </p:nvPicPr>
        <p:blipFill>
          <a:blip r:embed="rId3"/>
          <a:stretch>
            <a:fillRect/>
          </a:stretch>
        </p:blipFill>
        <p:spPr>
          <a:xfrm>
            <a:off x="5854728" y="3193599"/>
            <a:ext cx="5040759" cy="3171123"/>
          </a:xfrm>
          <a:prstGeom prst="rect">
            <a:avLst/>
          </a:prstGeom>
        </p:spPr>
      </p:pic>
    </p:spTree>
    <p:extLst>
      <p:ext uri="{BB962C8B-B14F-4D97-AF65-F5344CB8AC3E}">
        <p14:creationId xmlns:p14="http://schemas.microsoft.com/office/powerpoint/2010/main" val="410370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A52B12-0826-4A26-ABA2-386F72111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D0DA68-F652-496F-B8B5-9A66255CA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195FED3-4DD9-7843-8A54-CC5B862143B1}"/>
              </a:ext>
            </a:extLst>
          </p:cNvPr>
          <p:cNvSpPr>
            <a:spLocks noGrp="1"/>
          </p:cNvSpPr>
          <p:nvPr>
            <p:ph type="title"/>
          </p:nvPr>
        </p:nvSpPr>
        <p:spPr>
          <a:xfrm>
            <a:off x="289852" y="-686000"/>
            <a:ext cx="3084844" cy="2103875"/>
          </a:xfrm>
        </p:spPr>
        <p:txBody>
          <a:bodyPr>
            <a:normAutofit/>
          </a:bodyPr>
          <a:lstStyle/>
          <a:p>
            <a:r>
              <a:rPr lang="en-US" sz="2800">
                <a:solidFill>
                  <a:srgbClr val="FFFFFF"/>
                </a:solidFill>
              </a:rPr>
              <a:t>Separation/Cracking Hierarchy: Stream Details</a:t>
            </a:r>
          </a:p>
        </p:txBody>
      </p:sp>
      <p:sp>
        <p:nvSpPr>
          <p:cNvPr id="18" name="Rectangle 17">
            <a:extLst>
              <a:ext uri="{FF2B5EF4-FFF2-40B4-BE49-F238E27FC236}">
                <a16:creationId xmlns:a16="http://schemas.microsoft.com/office/drawing/2014/main" id="{DDF50AF6-4E23-4BD9-92C7-45A3E16E41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25EB8808-6D07-EB4F-AAC4-5E722E9A08E7}"/>
              </a:ext>
            </a:extLst>
          </p:cNvPr>
          <p:cNvSpPr>
            <a:spLocks noGrp="1"/>
          </p:cNvSpPr>
          <p:nvPr>
            <p:ph type="sldNum" sz="quarter" idx="12"/>
          </p:nvPr>
        </p:nvSpPr>
        <p:spPr>
          <a:xfrm>
            <a:off x="9900458" y="6459785"/>
            <a:ext cx="1312025" cy="365125"/>
          </a:xfrm>
        </p:spPr>
        <p:txBody>
          <a:bodyPr>
            <a:normAutofit/>
          </a:bodyPr>
          <a:lstStyle/>
          <a:p>
            <a:pPr>
              <a:spcAft>
                <a:spcPts val="600"/>
              </a:spcAft>
            </a:pPr>
            <a:fld id="{330EA680-D336-4FF7-8B7A-9848BB0A1C32}" type="slidenum">
              <a:rPr lang="en-US">
                <a:solidFill>
                  <a:schemeClr val="tx2"/>
                </a:solidFill>
              </a:rPr>
              <a:pPr>
                <a:spcAft>
                  <a:spcPts val="600"/>
                </a:spcAft>
              </a:pPr>
              <a:t>17</a:t>
            </a:fld>
            <a:endParaRPr lang="en-US">
              <a:solidFill>
                <a:schemeClr val="tx2"/>
              </a:solidFill>
            </a:endParaRPr>
          </a:p>
        </p:txBody>
      </p:sp>
      <p:pic>
        <p:nvPicPr>
          <p:cNvPr id="3" name="Picture 2">
            <a:extLst>
              <a:ext uri="{FF2B5EF4-FFF2-40B4-BE49-F238E27FC236}">
                <a16:creationId xmlns:a16="http://schemas.microsoft.com/office/drawing/2014/main" id="{186EDB95-D6E1-4613-B4F6-68A0173B0245}"/>
              </a:ext>
            </a:extLst>
          </p:cNvPr>
          <p:cNvPicPr>
            <a:picLocks noChangeAspect="1"/>
          </p:cNvPicPr>
          <p:nvPr/>
        </p:nvPicPr>
        <p:blipFill>
          <a:blip r:embed="rId2"/>
          <a:stretch>
            <a:fillRect/>
          </a:stretch>
        </p:blipFill>
        <p:spPr>
          <a:xfrm>
            <a:off x="1445094" y="1043342"/>
            <a:ext cx="9190176" cy="5373684"/>
          </a:xfrm>
          <a:prstGeom prst="rect">
            <a:avLst/>
          </a:prstGeom>
        </p:spPr>
      </p:pic>
      <p:sp>
        <p:nvSpPr>
          <p:cNvPr id="5" name="Rectangle 4">
            <a:extLst>
              <a:ext uri="{FF2B5EF4-FFF2-40B4-BE49-F238E27FC236}">
                <a16:creationId xmlns:a16="http://schemas.microsoft.com/office/drawing/2014/main" id="{C0CBCA8D-4CE1-4118-9FBE-4C6A3DF30CD4}"/>
              </a:ext>
            </a:extLst>
          </p:cNvPr>
          <p:cNvSpPr/>
          <p:nvPr/>
        </p:nvSpPr>
        <p:spPr>
          <a:xfrm>
            <a:off x="6272668" y="1025060"/>
            <a:ext cx="564947" cy="539196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EC61D8-E4F3-4862-A82E-01004C491DC9}"/>
              </a:ext>
            </a:extLst>
          </p:cNvPr>
          <p:cNvSpPr/>
          <p:nvPr/>
        </p:nvSpPr>
        <p:spPr>
          <a:xfrm>
            <a:off x="8424755" y="1046440"/>
            <a:ext cx="564947" cy="539196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851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9D068DB-E7E7-4102-9402-EAA049E13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96C8906C-CCD9-4F71-B3DD-BC1331E1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2" name="Straight Connector 21">
            <a:extLst>
              <a:ext uri="{FF2B5EF4-FFF2-40B4-BE49-F238E27FC236}">
                <a16:creationId xmlns:a16="http://schemas.microsoft.com/office/drawing/2014/main" id="{CA0D6F13-628B-4FC4-AD48-A2B64677D0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D7730C1E-9F8B-4D0C-A8A2-BB5275723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F5B444-895E-40EF-9AFE-54B40A95E034}"/>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4200">
                <a:solidFill>
                  <a:schemeClr val="tx1">
                    <a:lumMod val="85000"/>
                    <a:lumOff val="15000"/>
                  </a:schemeClr>
                </a:solidFill>
              </a:rPr>
              <a:t>Separation/Cracking Hierarchy: Equipment Sizing </a:t>
            </a:r>
          </a:p>
        </p:txBody>
      </p:sp>
      <p:cxnSp>
        <p:nvCxnSpPr>
          <p:cNvPr id="26" name="Straight Connector 25">
            <a:extLst>
              <a:ext uri="{FF2B5EF4-FFF2-40B4-BE49-F238E27FC236}">
                <a16:creationId xmlns:a16="http://schemas.microsoft.com/office/drawing/2014/main" id="{6DE349CF-DE2F-4D85-839D-70911995EA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95F48F9-D570-45CC-825D-5BBB79C52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a:extLst>
              <a:ext uri="{FF2B5EF4-FFF2-40B4-BE49-F238E27FC236}">
                <a16:creationId xmlns:a16="http://schemas.microsoft.com/office/drawing/2014/main" id="{4AD93E48-101C-49B1-90F1-3F431679B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08CE4518-BC0C-44EA-A837-425099DEF0F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330EA680-D336-4FF7-8B7A-9848BB0A1C32}" type="slidenum">
              <a:rPr lang="en-US" smtClean="0"/>
              <a:pPr defTabSz="914400">
                <a:spcAft>
                  <a:spcPts val="600"/>
                </a:spcAft>
              </a:pPr>
              <a:t>18</a:t>
            </a:fld>
            <a:endParaRPr lang="en-US"/>
          </a:p>
        </p:txBody>
      </p:sp>
      <p:graphicFrame>
        <p:nvGraphicFramePr>
          <p:cNvPr id="13" name="Table 12">
            <a:extLst>
              <a:ext uri="{FF2B5EF4-FFF2-40B4-BE49-F238E27FC236}">
                <a16:creationId xmlns:a16="http://schemas.microsoft.com/office/drawing/2014/main" id="{99A98CE2-707D-4F91-B013-B62AAEA34B21}"/>
              </a:ext>
            </a:extLst>
          </p:cNvPr>
          <p:cNvGraphicFramePr>
            <a:graphicFrameLocks noGrp="1"/>
          </p:cNvGraphicFramePr>
          <p:nvPr/>
        </p:nvGraphicFramePr>
        <p:xfrm>
          <a:off x="635457" y="867588"/>
          <a:ext cx="10916465" cy="3147722"/>
        </p:xfrm>
        <a:graphic>
          <a:graphicData uri="http://schemas.openxmlformats.org/drawingml/2006/table">
            <a:tbl>
              <a:tblPr firstRow="1" bandRow="1">
                <a:tableStyleId>{5C22544A-7EE6-4342-B048-85BDC9FD1C3A}</a:tableStyleId>
              </a:tblPr>
              <a:tblGrid>
                <a:gridCol w="368501">
                  <a:extLst>
                    <a:ext uri="{9D8B030D-6E8A-4147-A177-3AD203B41FA5}">
                      <a16:colId xmlns:a16="http://schemas.microsoft.com/office/drawing/2014/main" val="3889166495"/>
                    </a:ext>
                  </a:extLst>
                </a:gridCol>
                <a:gridCol w="911613">
                  <a:extLst>
                    <a:ext uri="{9D8B030D-6E8A-4147-A177-3AD203B41FA5}">
                      <a16:colId xmlns:a16="http://schemas.microsoft.com/office/drawing/2014/main" val="2609674912"/>
                    </a:ext>
                  </a:extLst>
                </a:gridCol>
                <a:gridCol w="2808293">
                  <a:extLst>
                    <a:ext uri="{9D8B030D-6E8A-4147-A177-3AD203B41FA5}">
                      <a16:colId xmlns:a16="http://schemas.microsoft.com/office/drawing/2014/main" val="3283855461"/>
                    </a:ext>
                  </a:extLst>
                </a:gridCol>
                <a:gridCol w="1019993">
                  <a:extLst>
                    <a:ext uri="{9D8B030D-6E8A-4147-A177-3AD203B41FA5}">
                      <a16:colId xmlns:a16="http://schemas.microsoft.com/office/drawing/2014/main" val="1297489959"/>
                    </a:ext>
                  </a:extLst>
                </a:gridCol>
                <a:gridCol w="4552323">
                  <a:extLst>
                    <a:ext uri="{9D8B030D-6E8A-4147-A177-3AD203B41FA5}">
                      <a16:colId xmlns:a16="http://schemas.microsoft.com/office/drawing/2014/main" val="184986969"/>
                    </a:ext>
                  </a:extLst>
                </a:gridCol>
                <a:gridCol w="1255742">
                  <a:extLst>
                    <a:ext uri="{9D8B030D-6E8A-4147-A177-3AD203B41FA5}">
                      <a16:colId xmlns:a16="http://schemas.microsoft.com/office/drawing/2014/main" val="1317144308"/>
                    </a:ext>
                  </a:extLst>
                </a:gridCol>
              </a:tblGrid>
              <a:tr h="298946">
                <a:tc gridSpan="6">
                  <a:txBody>
                    <a:bodyPr/>
                    <a:lstStyle/>
                    <a:p>
                      <a:r>
                        <a:rPr lang="en-US" sz="1700">
                          <a:effectLst/>
                        </a:rPr>
                        <a:t>SEP Hiearchy Equipment</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29701207"/>
                  </a:ext>
                </a:extLst>
              </a:tr>
              <a:tr h="562721">
                <a:tc>
                  <a:txBody>
                    <a:bodyPr/>
                    <a:lstStyle/>
                    <a:p>
                      <a:r>
                        <a:rPr lang="en-US" sz="1700">
                          <a:effectLst/>
                        </a:rPr>
                        <a:t>1</a:t>
                      </a:r>
                    </a:p>
                  </a:txBody>
                  <a:tcPr marL="0" marR="0" marT="0" marB="0" anchor="ctr"/>
                </a:tc>
                <a:tc>
                  <a:txBody>
                    <a:bodyPr/>
                    <a:lstStyle/>
                    <a:p>
                      <a:r>
                        <a:rPr lang="en-US" sz="1700">
                          <a:effectLst/>
                        </a:rPr>
                        <a:t>R-400</a:t>
                      </a:r>
                    </a:p>
                  </a:txBody>
                  <a:tcPr marL="0" marR="0" marT="0" marB="0" anchor="ctr"/>
                </a:tc>
                <a:tc>
                  <a:txBody>
                    <a:bodyPr/>
                    <a:lstStyle/>
                    <a:p>
                      <a:r>
                        <a:rPr lang="en-US" sz="1700">
                          <a:effectLst/>
                        </a:rPr>
                        <a:t>R-Yield Reactor</a:t>
                      </a:r>
                    </a:p>
                  </a:txBody>
                  <a:tcPr marL="0" marR="0" marT="0" marB="0" anchor="ctr"/>
                </a:tc>
                <a:tc>
                  <a:txBody>
                    <a:bodyPr/>
                    <a:lstStyle/>
                    <a:p>
                      <a:r>
                        <a:rPr lang="en-US" sz="1700">
                          <a:effectLst/>
                        </a:rPr>
                        <a:t>40991.59</a:t>
                      </a:r>
                    </a:p>
                  </a:txBody>
                  <a:tcPr marL="0" marR="0" marT="0" marB="0" anchor="ctr"/>
                </a:tc>
                <a:tc>
                  <a:txBody>
                    <a:bodyPr/>
                    <a:lstStyle/>
                    <a:p>
                      <a:r>
                        <a:rPr lang="en-US" sz="1700">
                          <a:effectLst/>
                        </a:rPr>
                        <a:t>823.15 K, 2 bar, Diameter= 1.676m, Height= 6.4m</a:t>
                      </a:r>
                    </a:p>
                  </a:txBody>
                  <a:tcPr marL="0" marR="0" marT="0" marB="0" anchor="ctr"/>
                </a:tc>
                <a:tc>
                  <a:txBody>
                    <a:bodyPr/>
                    <a:lstStyle/>
                    <a:p>
                      <a:r>
                        <a:rPr lang="en-US" sz="1700">
                          <a:effectLst/>
                        </a:rPr>
                        <a:t>Carbon Steel</a:t>
                      </a:r>
                    </a:p>
                  </a:txBody>
                  <a:tcPr marL="0" marR="0" marT="0" marB="0" anchor="ctr"/>
                </a:tc>
                <a:extLst>
                  <a:ext uri="{0D108BD9-81ED-4DB2-BD59-A6C34878D82A}">
                    <a16:rowId xmlns:a16="http://schemas.microsoft.com/office/drawing/2014/main" val="404170700"/>
                  </a:ext>
                </a:extLst>
              </a:tr>
              <a:tr h="298946">
                <a:tc gridSpan="6">
                  <a:txBody>
                    <a:bodyPr/>
                    <a:lstStyle/>
                    <a:p>
                      <a:r>
                        <a:rPr lang="en-US" sz="1700">
                          <a:effectLst/>
                        </a:rPr>
                        <a:t>Reboilers</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17686304"/>
                  </a:ext>
                </a:extLst>
              </a:tr>
              <a:tr h="298946">
                <a:tc>
                  <a:txBody>
                    <a:bodyPr/>
                    <a:lstStyle/>
                    <a:p>
                      <a:r>
                        <a:rPr lang="en-US" sz="1700">
                          <a:effectLst/>
                        </a:rPr>
                        <a:t>#</a:t>
                      </a:r>
                    </a:p>
                  </a:txBody>
                  <a:tcPr marL="0" marR="0" marT="0" marB="0" anchor="ctr"/>
                </a:tc>
                <a:tc>
                  <a:txBody>
                    <a:bodyPr/>
                    <a:lstStyle/>
                    <a:p>
                      <a:r>
                        <a:rPr lang="en-US" sz="1700">
                          <a:effectLst/>
                        </a:rPr>
                        <a:t>Aspen ID</a:t>
                      </a:r>
                    </a:p>
                  </a:txBody>
                  <a:tcPr marL="0" marR="0" marT="0" marB="0" anchor="ctr"/>
                </a:tc>
                <a:tc>
                  <a:txBody>
                    <a:bodyPr/>
                    <a:lstStyle/>
                    <a:p>
                      <a:r>
                        <a:rPr lang="en-US" sz="1700">
                          <a:effectLst/>
                        </a:rPr>
                        <a:t>Industry Name</a:t>
                      </a:r>
                    </a:p>
                  </a:txBody>
                  <a:tcPr marL="0" marR="0" marT="0" marB="0" anchor="ctr"/>
                </a:tc>
                <a:tc>
                  <a:txBody>
                    <a:bodyPr/>
                    <a:lstStyle/>
                    <a:p>
                      <a:r>
                        <a:rPr lang="en-US" sz="1700">
                          <a:effectLst/>
                        </a:rPr>
                        <a:t>Duty (kW)</a:t>
                      </a:r>
                    </a:p>
                  </a:txBody>
                  <a:tcPr marL="0" marR="0" marT="0" marB="0" anchor="ctr"/>
                </a:tc>
                <a:tc>
                  <a:txBody>
                    <a:bodyPr/>
                    <a:lstStyle/>
                    <a:p>
                      <a:r>
                        <a:rPr lang="en-US" sz="1700">
                          <a:effectLst/>
                        </a:rPr>
                        <a:t>Specifications</a:t>
                      </a:r>
                    </a:p>
                  </a:txBody>
                  <a:tcPr marL="0" marR="0" marT="0" marB="0" anchor="ctr"/>
                </a:tc>
                <a:tc>
                  <a:txBody>
                    <a:bodyPr/>
                    <a:lstStyle/>
                    <a:p>
                      <a:r>
                        <a:rPr lang="en-US" sz="1700">
                          <a:effectLst/>
                        </a:rPr>
                        <a:t>Material</a:t>
                      </a:r>
                    </a:p>
                  </a:txBody>
                  <a:tcPr marL="0" marR="0" marT="0" marB="0" anchor="ctr"/>
                </a:tc>
                <a:extLst>
                  <a:ext uri="{0D108BD9-81ED-4DB2-BD59-A6C34878D82A}">
                    <a16:rowId xmlns:a16="http://schemas.microsoft.com/office/drawing/2014/main" val="2755312154"/>
                  </a:ext>
                </a:extLst>
              </a:tr>
              <a:tr h="562721">
                <a:tc>
                  <a:txBody>
                    <a:bodyPr/>
                    <a:lstStyle/>
                    <a:p>
                      <a:r>
                        <a:rPr lang="en-US" sz="1700">
                          <a:effectLst/>
                        </a:rPr>
                        <a:t>2</a:t>
                      </a:r>
                    </a:p>
                  </a:txBody>
                  <a:tcPr marL="0" marR="0" marT="0" marB="0" anchor="ctr"/>
                </a:tc>
                <a:tc>
                  <a:txBody>
                    <a:bodyPr/>
                    <a:lstStyle/>
                    <a:p>
                      <a:r>
                        <a:rPr lang="en-US" sz="1700">
                          <a:effectLst/>
                        </a:rPr>
                        <a:t>S-400</a:t>
                      </a:r>
                    </a:p>
                  </a:txBody>
                  <a:tcPr marL="0" marR="0" marT="0" marB="0" anchor="ctr"/>
                </a:tc>
                <a:tc>
                  <a:txBody>
                    <a:bodyPr/>
                    <a:lstStyle/>
                    <a:p>
                      <a:r>
                        <a:rPr lang="en-US" sz="1700">
                          <a:effectLst/>
                        </a:rPr>
                        <a:t>C2-C3 - Kettle Reboiler</a:t>
                      </a:r>
                    </a:p>
                  </a:txBody>
                  <a:tcPr marL="0" marR="0" marT="0" marB="0" anchor="ctr"/>
                </a:tc>
                <a:tc>
                  <a:txBody>
                    <a:bodyPr/>
                    <a:lstStyle/>
                    <a:p>
                      <a:r>
                        <a:rPr lang="en-US" sz="1700">
                          <a:effectLst/>
                        </a:rPr>
                        <a:t>8000</a:t>
                      </a:r>
                    </a:p>
                  </a:txBody>
                  <a:tcPr marL="0" marR="0" marT="0" marB="0" anchor="ctr"/>
                </a:tc>
                <a:tc>
                  <a:txBody>
                    <a:bodyPr/>
                    <a:lstStyle/>
                    <a:p>
                      <a:r>
                        <a:rPr lang="en-US" sz="1700">
                          <a:effectLst/>
                        </a:rPr>
                        <a:t>38 trays, 19 bar, 312.4 K, Diameter=2.9m, Height= 35.36m</a:t>
                      </a:r>
                    </a:p>
                  </a:txBody>
                  <a:tcPr marL="0" marR="0" marT="0" marB="0" anchor="ctr"/>
                </a:tc>
                <a:tc>
                  <a:txBody>
                    <a:bodyPr/>
                    <a:lstStyle/>
                    <a:p>
                      <a:r>
                        <a:rPr lang="en-US" sz="1700">
                          <a:effectLst/>
                        </a:rPr>
                        <a:t>Carbon Steel</a:t>
                      </a:r>
                    </a:p>
                  </a:txBody>
                  <a:tcPr marL="0" marR="0" marT="0" marB="0" anchor="ctr"/>
                </a:tc>
                <a:extLst>
                  <a:ext uri="{0D108BD9-81ED-4DB2-BD59-A6C34878D82A}">
                    <a16:rowId xmlns:a16="http://schemas.microsoft.com/office/drawing/2014/main" val="2087744666"/>
                  </a:ext>
                </a:extLst>
              </a:tr>
              <a:tr h="562721">
                <a:tc>
                  <a:txBody>
                    <a:bodyPr/>
                    <a:lstStyle/>
                    <a:p>
                      <a:r>
                        <a:rPr lang="en-US" sz="1700">
                          <a:effectLst/>
                        </a:rPr>
                        <a:t>3</a:t>
                      </a:r>
                    </a:p>
                  </a:txBody>
                  <a:tcPr marL="0" marR="0" marT="0" marB="0" anchor="ctr"/>
                </a:tc>
                <a:tc>
                  <a:txBody>
                    <a:bodyPr/>
                    <a:lstStyle/>
                    <a:p>
                      <a:r>
                        <a:rPr lang="en-US" sz="1700">
                          <a:effectLst/>
                        </a:rPr>
                        <a:t>S-401</a:t>
                      </a:r>
                    </a:p>
                  </a:txBody>
                  <a:tcPr marL="0" marR="0" marT="0" marB="0" anchor="ctr"/>
                </a:tc>
                <a:tc>
                  <a:txBody>
                    <a:bodyPr/>
                    <a:lstStyle/>
                    <a:p>
                      <a:r>
                        <a:rPr lang="en-US" sz="1700">
                          <a:effectLst/>
                        </a:rPr>
                        <a:t>Deethanizer - Kettle Reboiler</a:t>
                      </a:r>
                    </a:p>
                  </a:txBody>
                  <a:tcPr marL="0" marR="0" marT="0" marB="0" anchor="ctr"/>
                </a:tc>
                <a:tc>
                  <a:txBody>
                    <a:bodyPr/>
                    <a:lstStyle/>
                    <a:p>
                      <a:r>
                        <a:rPr lang="en-US" sz="1700">
                          <a:effectLst/>
                        </a:rPr>
                        <a:t>114.52</a:t>
                      </a:r>
                    </a:p>
                  </a:txBody>
                  <a:tcPr marL="0" marR="0" marT="0" marB="0" anchor="ctr"/>
                </a:tc>
                <a:tc>
                  <a:txBody>
                    <a:bodyPr/>
                    <a:lstStyle/>
                    <a:p>
                      <a:r>
                        <a:rPr lang="en-US" sz="1700">
                          <a:effectLst/>
                        </a:rPr>
                        <a:t>60 trays, 28 bar, 272.52 K, Diameter=1.677m,Height=54.25m</a:t>
                      </a:r>
                    </a:p>
                  </a:txBody>
                  <a:tcPr marL="0" marR="0" marT="0" marB="0" anchor="ctr"/>
                </a:tc>
                <a:tc>
                  <a:txBody>
                    <a:bodyPr/>
                    <a:lstStyle/>
                    <a:p>
                      <a:r>
                        <a:rPr lang="en-US" sz="1700">
                          <a:effectLst/>
                        </a:rPr>
                        <a:t>Carbon Steel</a:t>
                      </a:r>
                    </a:p>
                  </a:txBody>
                  <a:tcPr marL="0" marR="0" marT="0" marB="0" anchor="ctr"/>
                </a:tc>
                <a:extLst>
                  <a:ext uri="{0D108BD9-81ED-4DB2-BD59-A6C34878D82A}">
                    <a16:rowId xmlns:a16="http://schemas.microsoft.com/office/drawing/2014/main" val="1889118589"/>
                  </a:ext>
                </a:extLst>
              </a:tr>
              <a:tr h="562721">
                <a:tc>
                  <a:txBody>
                    <a:bodyPr/>
                    <a:lstStyle/>
                    <a:p>
                      <a:r>
                        <a:rPr lang="en-US" sz="1700">
                          <a:effectLst/>
                        </a:rPr>
                        <a:t>4</a:t>
                      </a:r>
                    </a:p>
                  </a:txBody>
                  <a:tcPr marL="0" marR="0" marT="0" marB="0" anchor="ctr"/>
                </a:tc>
                <a:tc>
                  <a:txBody>
                    <a:bodyPr/>
                    <a:lstStyle/>
                    <a:p>
                      <a:r>
                        <a:rPr lang="en-US" sz="1700">
                          <a:effectLst/>
                        </a:rPr>
                        <a:t>S-402</a:t>
                      </a:r>
                    </a:p>
                  </a:txBody>
                  <a:tcPr marL="0" marR="0" marT="0" marB="0" anchor="ctr"/>
                </a:tc>
                <a:tc>
                  <a:txBody>
                    <a:bodyPr/>
                    <a:lstStyle/>
                    <a:p>
                      <a:r>
                        <a:rPr lang="en-US" sz="1700">
                          <a:effectLst/>
                        </a:rPr>
                        <a:t>Depropanizer - Kettle Reboiler</a:t>
                      </a:r>
                    </a:p>
                  </a:txBody>
                  <a:tcPr marL="0" marR="0" marT="0" marB="0" anchor="ctr"/>
                </a:tc>
                <a:tc>
                  <a:txBody>
                    <a:bodyPr/>
                    <a:lstStyle/>
                    <a:p>
                      <a:r>
                        <a:rPr lang="en-US" sz="1700">
                          <a:effectLst/>
                        </a:rPr>
                        <a:t>2000</a:t>
                      </a:r>
                    </a:p>
                  </a:txBody>
                  <a:tcPr marL="0" marR="0" marT="0" marB="0" anchor="ctr"/>
                </a:tc>
                <a:tc>
                  <a:txBody>
                    <a:bodyPr/>
                    <a:lstStyle/>
                    <a:p>
                      <a:r>
                        <a:rPr lang="en-US" sz="1700">
                          <a:effectLst/>
                        </a:rPr>
                        <a:t>195 trays, 18 bar, 303.17 K, Diameter=1.372m, Height= 171.91m</a:t>
                      </a:r>
                    </a:p>
                  </a:txBody>
                  <a:tcPr marL="0" marR="0" marT="0" marB="0" anchor="ctr"/>
                </a:tc>
                <a:tc>
                  <a:txBody>
                    <a:bodyPr/>
                    <a:lstStyle/>
                    <a:p>
                      <a:r>
                        <a:rPr lang="en-US" sz="1700">
                          <a:effectLst/>
                        </a:rPr>
                        <a:t>Carbon Steel</a:t>
                      </a:r>
                    </a:p>
                  </a:txBody>
                  <a:tcPr marL="0" marR="0" marT="0" marB="0" anchor="ctr"/>
                </a:tc>
                <a:extLst>
                  <a:ext uri="{0D108BD9-81ED-4DB2-BD59-A6C34878D82A}">
                    <a16:rowId xmlns:a16="http://schemas.microsoft.com/office/drawing/2014/main" val="1154134522"/>
                  </a:ext>
                </a:extLst>
              </a:tr>
            </a:tbl>
          </a:graphicData>
        </a:graphic>
      </p:graphicFrame>
    </p:spTree>
    <p:extLst>
      <p:ext uri="{BB962C8B-B14F-4D97-AF65-F5344CB8AC3E}">
        <p14:creationId xmlns:p14="http://schemas.microsoft.com/office/powerpoint/2010/main" val="212447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9D068DB-E7E7-4102-9402-EAA049E13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7" name="Rectangle 36">
            <a:extLst>
              <a:ext uri="{FF2B5EF4-FFF2-40B4-BE49-F238E27FC236}">
                <a16:creationId xmlns:a16="http://schemas.microsoft.com/office/drawing/2014/main" id="{96C8906C-CCD9-4F71-B3DD-BC1331E1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9" name="Straight Connector 38">
            <a:extLst>
              <a:ext uri="{FF2B5EF4-FFF2-40B4-BE49-F238E27FC236}">
                <a16:creationId xmlns:a16="http://schemas.microsoft.com/office/drawing/2014/main" id="{CA0D6F13-628B-4FC4-AD48-A2B64677D0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1" name="Rectangle 40">
            <a:extLst>
              <a:ext uri="{FF2B5EF4-FFF2-40B4-BE49-F238E27FC236}">
                <a16:creationId xmlns:a16="http://schemas.microsoft.com/office/drawing/2014/main" id="{D7730C1E-9F8B-4D0C-A8A2-BB5275723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F5B444-895E-40EF-9AFE-54B40A95E034}"/>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4200">
                <a:solidFill>
                  <a:schemeClr val="tx1">
                    <a:lumMod val="85000"/>
                    <a:lumOff val="15000"/>
                  </a:schemeClr>
                </a:solidFill>
              </a:rPr>
              <a:t>Separation/Cracking Hierarchy: Equipment Sizing </a:t>
            </a:r>
          </a:p>
        </p:txBody>
      </p:sp>
      <p:cxnSp>
        <p:nvCxnSpPr>
          <p:cNvPr id="43" name="Straight Connector 42">
            <a:extLst>
              <a:ext uri="{FF2B5EF4-FFF2-40B4-BE49-F238E27FC236}">
                <a16:creationId xmlns:a16="http://schemas.microsoft.com/office/drawing/2014/main" id="{6DE349CF-DE2F-4D85-839D-70911995EA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495F48F9-D570-45CC-825D-5BBB79C52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7" name="Rectangle 46">
            <a:extLst>
              <a:ext uri="{FF2B5EF4-FFF2-40B4-BE49-F238E27FC236}">
                <a16:creationId xmlns:a16="http://schemas.microsoft.com/office/drawing/2014/main" id="{4AD93E48-101C-49B1-90F1-3F431679B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08CE4518-BC0C-44EA-A837-425099DEF0F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330EA680-D336-4FF7-8B7A-9848BB0A1C32}" type="slidenum">
              <a:rPr lang="en-US" smtClean="0"/>
              <a:pPr defTabSz="914400">
                <a:spcAft>
                  <a:spcPts val="600"/>
                </a:spcAft>
              </a:pPr>
              <a:t>19</a:t>
            </a:fld>
            <a:endParaRPr lang="en-US"/>
          </a:p>
        </p:txBody>
      </p:sp>
      <p:graphicFrame>
        <p:nvGraphicFramePr>
          <p:cNvPr id="5" name="Table 4">
            <a:extLst>
              <a:ext uri="{FF2B5EF4-FFF2-40B4-BE49-F238E27FC236}">
                <a16:creationId xmlns:a16="http://schemas.microsoft.com/office/drawing/2014/main" id="{115930F4-E880-451D-83AD-477640F3DA60}"/>
              </a:ext>
            </a:extLst>
          </p:cNvPr>
          <p:cNvGraphicFramePr>
            <a:graphicFrameLocks noGrp="1"/>
          </p:cNvGraphicFramePr>
          <p:nvPr/>
        </p:nvGraphicFramePr>
        <p:xfrm>
          <a:off x="635457" y="1151683"/>
          <a:ext cx="10916467" cy="2579540"/>
        </p:xfrm>
        <a:graphic>
          <a:graphicData uri="http://schemas.openxmlformats.org/drawingml/2006/table">
            <a:tbl>
              <a:tblPr firstRow="1" bandRow="1">
                <a:tableStyleId>{5C22544A-7EE6-4342-B048-85BDC9FD1C3A}</a:tableStyleId>
              </a:tblPr>
              <a:tblGrid>
                <a:gridCol w="613061">
                  <a:extLst>
                    <a:ext uri="{9D8B030D-6E8A-4147-A177-3AD203B41FA5}">
                      <a16:colId xmlns:a16="http://schemas.microsoft.com/office/drawing/2014/main" val="1523372278"/>
                    </a:ext>
                  </a:extLst>
                </a:gridCol>
                <a:gridCol w="1018357">
                  <a:extLst>
                    <a:ext uri="{9D8B030D-6E8A-4147-A177-3AD203B41FA5}">
                      <a16:colId xmlns:a16="http://schemas.microsoft.com/office/drawing/2014/main" val="1889361164"/>
                    </a:ext>
                  </a:extLst>
                </a:gridCol>
                <a:gridCol w="2945866">
                  <a:extLst>
                    <a:ext uri="{9D8B030D-6E8A-4147-A177-3AD203B41FA5}">
                      <a16:colId xmlns:a16="http://schemas.microsoft.com/office/drawing/2014/main" val="3324302175"/>
                    </a:ext>
                  </a:extLst>
                </a:gridCol>
                <a:gridCol w="1139428">
                  <a:extLst>
                    <a:ext uri="{9D8B030D-6E8A-4147-A177-3AD203B41FA5}">
                      <a16:colId xmlns:a16="http://schemas.microsoft.com/office/drawing/2014/main" val="208802392"/>
                    </a:ext>
                  </a:extLst>
                </a:gridCol>
                <a:gridCol w="3796974">
                  <a:extLst>
                    <a:ext uri="{9D8B030D-6E8A-4147-A177-3AD203B41FA5}">
                      <a16:colId xmlns:a16="http://schemas.microsoft.com/office/drawing/2014/main" val="2231771827"/>
                    </a:ext>
                  </a:extLst>
                </a:gridCol>
                <a:gridCol w="1402781">
                  <a:extLst>
                    <a:ext uri="{9D8B030D-6E8A-4147-A177-3AD203B41FA5}">
                      <a16:colId xmlns:a16="http://schemas.microsoft.com/office/drawing/2014/main" val="1035958844"/>
                    </a:ext>
                  </a:extLst>
                </a:gridCol>
              </a:tblGrid>
              <a:tr h="257954">
                <a:tc gridSpan="6">
                  <a:txBody>
                    <a:bodyPr/>
                    <a:lstStyle/>
                    <a:p>
                      <a:r>
                        <a:rPr lang="en-US" sz="1500">
                          <a:effectLst/>
                        </a:rPr>
                        <a:t>Condensers</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14526800"/>
                  </a:ext>
                </a:extLst>
              </a:tr>
              <a:tr h="257954">
                <a:tc>
                  <a:txBody>
                    <a:bodyPr/>
                    <a:lstStyle/>
                    <a:p>
                      <a:r>
                        <a:rPr lang="en-US" sz="1500">
                          <a:effectLst/>
                        </a:rPr>
                        <a:t>#</a:t>
                      </a:r>
                    </a:p>
                  </a:txBody>
                  <a:tcPr marL="0" marR="0" marT="0" marB="0" anchor="ctr"/>
                </a:tc>
                <a:tc>
                  <a:txBody>
                    <a:bodyPr/>
                    <a:lstStyle/>
                    <a:p>
                      <a:r>
                        <a:rPr lang="en-US" sz="1500">
                          <a:effectLst/>
                        </a:rPr>
                        <a:t>Aspen ID</a:t>
                      </a:r>
                    </a:p>
                  </a:txBody>
                  <a:tcPr marL="0" marR="0" marT="0" marB="0" anchor="ctr"/>
                </a:tc>
                <a:tc>
                  <a:txBody>
                    <a:bodyPr/>
                    <a:lstStyle/>
                    <a:p>
                      <a:r>
                        <a:rPr lang="en-US" sz="1500">
                          <a:effectLst/>
                        </a:rPr>
                        <a:t>Industry Name</a:t>
                      </a:r>
                    </a:p>
                  </a:txBody>
                  <a:tcPr marL="0" marR="0" marT="0" marB="0" anchor="ctr"/>
                </a:tc>
                <a:tc>
                  <a:txBody>
                    <a:bodyPr/>
                    <a:lstStyle/>
                    <a:p>
                      <a:r>
                        <a:rPr lang="en-US" sz="1500">
                          <a:effectLst/>
                        </a:rPr>
                        <a:t>Duty (kW)</a:t>
                      </a:r>
                    </a:p>
                  </a:txBody>
                  <a:tcPr marL="0" marR="0" marT="0" marB="0" anchor="ctr"/>
                </a:tc>
                <a:tc>
                  <a:txBody>
                    <a:bodyPr/>
                    <a:lstStyle/>
                    <a:p>
                      <a:r>
                        <a:rPr lang="en-US" sz="1500">
                          <a:effectLst/>
                        </a:rPr>
                        <a:t>Specifications</a:t>
                      </a:r>
                    </a:p>
                  </a:txBody>
                  <a:tcPr marL="0" marR="0" marT="0" marB="0" anchor="ctr"/>
                </a:tc>
                <a:tc>
                  <a:txBody>
                    <a:bodyPr/>
                    <a:lstStyle/>
                    <a:p>
                      <a:r>
                        <a:rPr lang="en-US" sz="1500">
                          <a:effectLst/>
                        </a:rPr>
                        <a:t>Material</a:t>
                      </a:r>
                    </a:p>
                  </a:txBody>
                  <a:tcPr marL="0" marR="0" marT="0" marB="0" anchor="ctr"/>
                </a:tc>
                <a:extLst>
                  <a:ext uri="{0D108BD9-81ED-4DB2-BD59-A6C34878D82A}">
                    <a16:rowId xmlns:a16="http://schemas.microsoft.com/office/drawing/2014/main" val="2739763595"/>
                  </a:ext>
                </a:extLst>
              </a:tr>
              <a:tr h="257954">
                <a:tc>
                  <a:txBody>
                    <a:bodyPr/>
                    <a:lstStyle/>
                    <a:p>
                      <a:r>
                        <a:rPr lang="en-US" sz="1500">
                          <a:effectLst/>
                        </a:rPr>
                        <a:t>5</a:t>
                      </a:r>
                    </a:p>
                  </a:txBody>
                  <a:tcPr marL="0" marR="0" marT="0" marB="0" anchor="ctr"/>
                </a:tc>
                <a:tc>
                  <a:txBody>
                    <a:bodyPr/>
                    <a:lstStyle/>
                    <a:p>
                      <a:r>
                        <a:rPr lang="en-US" sz="1500">
                          <a:effectLst/>
                        </a:rPr>
                        <a:t>S-400</a:t>
                      </a:r>
                    </a:p>
                  </a:txBody>
                  <a:tcPr marL="0" marR="0" marT="0" marB="0" anchor="ctr"/>
                </a:tc>
                <a:tc>
                  <a:txBody>
                    <a:bodyPr/>
                    <a:lstStyle/>
                    <a:p>
                      <a:r>
                        <a:rPr lang="en-US" sz="1500">
                          <a:effectLst/>
                        </a:rPr>
                        <a:t>C2-C3 - Partial Vapor</a:t>
                      </a:r>
                    </a:p>
                  </a:txBody>
                  <a:tcPr marL="0" marR="0" marT="0" marB="0" anchor="ctr"/>
                </a:tc>
                <a:tc>
                  <a:txBody>
                    <a:bodyPr/>
                    <a:lstStyle/>
                    <a:p>
                      <a:r>
                        <a:rPr lang="en-US" sz="1500">
                          <a:effectLst/>
                        </a:rPr>
                        <a:t>-8000</a:t>
                      </a:r>
                    </a:p>
                  </a:txBody>
                  <a:tcPr marL="0" marR="0" marT="0" marB="0" anchor="ctr"/>
                </a:tc>
                <a:tc>
                  <a:txBody>
                    <a:bodyPr/>
                    <a:lstStyle/>
                    <a:p>
                      <a:r>
                        <a:rPr lang="en-US" sz="1500">
                          <a:effectLst/>
                        </a:rPr>
                        <a:t>38 trays, 19 bar, 258.25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1262929006"/>
                  </a:ext>
                </a:extLst>
              </a:tr>
              <a:tr h="257954">
                <a:tc>
                  <a:txBody>
                    <a:bodyPr/>
                    <a:lstStyle/>
                    <a:p>
                      <a:r>
                        <a:rPr lang="en-US" sz="1500">
                          <a:effectLst/>
                        </a:rPr>
                        <a:t>6</a:t>
                      </a:r>
                    </a:p>
                  </a:txBody>
                  <a:tcPr marL="0" marR="0" marT="0" marB="0" anchor="ctr"/>
                </a:tc>
                <a:tc>
                  <a:txBody>
                    <a:bodyPr/>
                    <a:lstStyle/>
                    <a:p>
                      <a:r>
                        <a:rPr lang="en-US" sz="1500">
                          <a:effectLst/>
                        </a:rPr>
                        <a:t>S-401</a:t>
                      </a:r>
                    </a:p>
                  </a:txBody>
                  <a:tcPr marL="0" marR="0" marT="0" marB="0" anchor="ctr"/>
                </a:tc>
                <a:tc>
                  <a:txBody>
                    <a:bodyPr/>
                    <a:lstStyle/>
                    <a:p>
                      <a:r>
                        <a:rPr lang="en-US" sz="1500">
                          <a:effectLst/>
                        </a:rPr>
                        <a:t>Deethanizer - Partial Vapor</a:t>
                      </a:r>
                    </a:p>
                  </a:txBody>
                  <a:tcPr marL="0" marR="0" marT="0" marB="0" anchor="ctr"/>
                </a:tc>
                <a:tc>
                  <a:txBody>
                    <a:bodyPr/>
                    <a:lstStyle/>
                    <a:p>
                      <a:r>
                        <a:rPr lang="en-US" sz="1500">
                          <a:effectLst/>
                        </a:rPr>
                        <a:t>-1120.6</a:t>
                      </a:r>
                    </a:p>
                  </a:txBody>
                  <a:tcPr marL="0" marR="0" marT="0" marB="0" anchor="ctr"/>
                </a:tc>
                <a:tc>
                  <a:txBody>
                    <a:bodyPr/>
                    <a:lstStyle/>
                    <a:p>
                      <a:r>
                        <a:rPr lang="en-US" sz="1500">
                          <a:effectLst/>
                        </a:rPr>
                        <a:t>60 trays, 28 bar, 256.79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1564621789"/>
                  </a:ext>
                </a:extLst>
              </a:tr>
              <a:tr h="257954">
                <a:tc>
                  <a:txBody>
                    <a:bodyPr/>
                    <a:lstStyle/>
                    <a:p>
                      <a:r>
                        <a:rPr lang="en-US" sz="1500">
                          <a:effectLst/>
                        </a:rPr>
                        <a:t>7</a:t>
                      </a:r>
                    </a:p>
                  </a:txBody>
                  <a:tcPr marL="0" marR="0" marT="0" marB="0" anchor="ctr"/>
                </a:tc>
                <a:tc>
                  <a:txBody>
                    <a:bodyPr/>
                    <a:lstStyle/>
                    <a:p>
                      <a:r>
                        <a:rPr lang="en-US" sz="1500">
                          <a:effectLst/>
                        </a:rPr>
                        <a:t>H-400</a:t>
                      </a:r>
                    </a:p>
                  </a:txBody>
                  <a:tcPr marL="0" marR="0" marT="0" marB="0" anchor="ctr"/>
                </a:tc>
                <a:tc>
                  <a:txBody>
                    <a:bodyPr/>
                    <a:lstStyle/>
                    <a:p>
                      <a:r>
                        <a:rPr lang="en-US" sz="1500">
                          <a:effectLst/>
                        </a:rPr>
                        <a:t>Shell&amp;Tube Heat Exchanger</a:t>
                      </a:r>
                    </a:p>
                  </a:txBody>
                  <a:tcPr marL="0" marR="0" marT="0" marB="0" anchor="ctr"/>
                </a:tc>
                <a:tc>
                  <a:txBody>
                    <a:bodyPr/>
                    <a:lstStyle/>
                    <a:p>
                      <a:r>
                        <a:rPr lang="en-US" sz="1500">
                          <a:effectLst/>
                        </a:rPr>
                        <a:t>-50300</a:t>
                      </a:r>
                    </a:p>
                  </a:txBody>
                  <a:tcPr marL="0" marR="0" marT="0" marB="0" anchor="ctr"/>
                </a:tc>
                <a:tc>
                  <a:txBody>
                    <a:bodyPr/>
                    <a:lstStyle/>
                    <a:p>
                      <a:r>
                        <a:rPr lang="en-US" sz="1500">
                          <a:effectLst/>
                        </a:rPr>
                        <a:t>Inlet: Thot=788 K Outlet: Thot=287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2571232688"/>
                  </a:ext>
                </a:extLst>
              </a:tr>
              <a:tr h="257954">
                <a:tc>
                  <a:txBody>
                    <a:bodyPr/>
                    <a:lstStyle/>
                    <a:p>
                      <a:r>
                        <a:rPr lang="en-US" sz="1500">
                          <a:effectLst/>
                        </a:rPr>
                        <a:t>8</a:t>
                      </a:r>
                    </a:p>
                  </a:txBody>
                  <a:tcPr marL="0" marR="0" marT="0" marB="0" anchor="ctr"/>
                </a:tc>
                <a:tc>
                  <a:txBody>
                    <a:bodyPr/>
                    <a:lstStyle/>
                    <a:p>
                      <a:r>
                        <a:rPr lang="en-US" sz="1500">
                          <a:effectLst/>
                        </a:rPr>
                        <a:t>H-401</a:t>
                      </a:r>
                    </a:p>
                  </a:txBody>
                  <a:tcPr marL="0" marR="0" marT="0" marB="0" anchor="ctr"/>
                </a:tc>
                <a:tc>
                  <a:txBody>
                    <a:bodyPr/>
                    <a:lstStyle/>
                    <a:p>
                      <a:r>
                        <a:rPr lang="en-US" sz="1500">
                          <a:effectLst/>
                        </a:rPr>
                        <a:t>Shell&amp;Tube Heat Exchanger</a:t>
                      </a:r>
                    </a:p>
                  </a:txBody>
                  <a:tcPr marL="0" marR="0" marT="0" marB="0" anchor="ctr"/>
                </a:tc>
                <a:tc>
                  <a:txBody>
                    <a:bodyPr/>
                    <a:lstStyle/>
                    <a:p>
                      <a:r>
                        <a:rPr lang="en-US" sz="1500">
                          <a:effectLst/>
                        </a:rPr>
                        <a:t>-23005</a:t>
                      </a:r>
                    </a:p>
                  </a:txBody>
                  <a:tcPr marL="0" marR="0" marT="0" marB="0" anchor="ctr"/>
                </a:tc>
                <a:tc>
                  <a:txBody>
                    <a:bodyPr/>
                    <a:lstStyle/>
                    <a:p>
                      <a:r>
                        <a:rPr lang="en-US" sz="1500">
                          <a:effectLst/>
                        </a:rPr>
                        <a:t>Inlet: Thot=312 K Outlet: Thot=293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1913962646"/>
                  </a:ext>
                </a:extLst>
              </a:tr>
              <a:tr h="257954">
                <a:tc>
                  <a:txBody>
                    <a:bodyPr/>
                    <a:lstStyle/>
                    <a:p>
                      <a:r>
                        <a:rPr lang="en-US" sz="1500">
                          <a:effectLst/>
                        </a:rPr>
                        <a:t>9</a:t>
                      </a:r>
                    </a:p>
                  </a:txBody>
                  <a:tcPr marL="0" marR="0" marT="0" marB="0" anchor="ctr"/>
                </a:tc>
                <a:tc>
                  <a:txBody>
                    <a:bodyPr/>
                    <a:lstStyle/>
                    <a:p>
                      <a:r>
                        <a:rPr lang="en-US" sz="1500">
                          <a:effectLst/>
                        </a:rPr>
                        <a:t>S-402</a:t>
                      </a:r>
                    </a:p>
                  </a:txBody>
                  <a:tcPr marL="0" marR="0" marT="0" marB="0" anchor="ctr"/>
                </a:tc>
                <a:tc>
                  <a:txBody>
                    <a:bodyPr/>
                    <a:lstStyle/>
                    <a:p>
                      <a:r>
                        <a:rPr lang="en-US" sz="1500">
                          <a:effectLst/>
                        </a:rPr>
                        <a:t>Depropanizer - Partial Vapor</a:t>
                      </a:r>
                    </a:p>
                  </a:txBody>
                  <a:tcPr marL="0" marR="0" marT="0" marB="0" anchor="ctr"/>
                </a:tc>
                <a:tc>
                  <a:txBody>
                    <a:bodyPr/>
                    <a:lstStyle/>
                    <a:p>
                      <a:r>
                        <a:rPr lang="en-US" sz="1500">
                          <a:effectLst/>
                        </a:rPr>
                        <a:t>-2000</a:t>
                      </a:r>
                    </a:p>
                  </a:txBody>
                  <a:tcPr marL="0" marR="0" marT="0" marB="0" anchor="ctr"/>
                </a:tc>
                <a:tc>
                  <a:txBody>
                    <a:bodyPr/>
                    <a:lstStyle/>
                    <a:p>
                      <a:r>
                        <a:rPr lang="en-US" sz="1500">
                          <a:effectLst/>
                        </a:rPr>
                        <a:t>195 trays, 18 bar, 240.18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2724033942"/>
                  </a:ext>
                </a:extLst>
              </a:tr>
              <a:tr h="257954">
                <a:tc gridSpan="6">
                  <a:txBody>
                    <a:bodyPr/>
                    <a:lstStyle/>
                    <a:p>
                      <a:r>
                        <a:rPr lang="en-US" sz="1500">
                          <a:effectLst/>
                        </a:rPr>
                        <a:t>Compressor</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55177172"/>
                  </a:ext>
                </a:extLst>
              </a:tr>
              <a:tr h="257954">
                <a:tc>
                  <a:txBody>
                    <a:bodyPr/>
                    <a:lstStyle/>
                    <a:p>
                      <a:r>
                        <a:rPr lang="en-US" sz="1500">
                          <a:effectLst/>
                        </a:rPr>
                        <a:t>#</a:t>
                      </a:r>
                    </a:p>
                  </a:txBody>
                  <a:tcPr marL="0" marR="0" marT="0" marB="0" anchor="ctr"/>
                </a:tc>
                <a:tc>
                  <a:txBody>
                    <a:bodyPr/>
                    <a:lstStyle/>
                    <a:p>
                      <a:r>
                        <a:rPr lang="en-US" sz="1500">
                          <a:effectLst/>
                        </a:rPr>
                        <a:t>Aspen ID</a:t>
                      </a:r>
                    </a:p>
                  </a:txBody>
                  <a:tcPr marL="0" marR="0" marT="0" marB="0" anchor="ctr"/>
                </a:tc>
                <a:tc>
                  <a:txBody>
                    <a:bodyPr/>
                    <a:lstStyle/>
                    <a:p>
                      <a:r>
                        <a:rPr lang="en-US" sz="1500">
                          <a:effectLst/>
                        </a:rPr>
                        <a:t>Industry Name</a:t>
                      </a:r>
                    </a:p>
                  </a:txBody>
                  <a:tcPr marL="0" marR="0" marT="0" marB="0" anchor="ctr"/>
                </a:tc>
                <a:tc>
                  <a:txBody>
                    <a:bodyPr/>
                    <a:lstStyle/>
                    <a:p>
                      <a:r>
                        <a:rPr lang="en-US" sz="1500">
                          <a:effectLst/>
                        </a:rPr>
                        <a:t>Duty (kW)</a:t>
                      </a:r>
                    </a:p>
                  </a:txBody>
                  <a:tcPr marL="0" marR="0" marT="0" marB="0" anchor="ctr"/>
                </a:tc>
                <a:tc>
                  <a:txBody>
                    <a:bodyPr/>
                    <a:lstStyle/>
                    <a:p>
                      <a:r>
                        <a:rPr lang="en-US" sz="1500">
                          <a:effectLst/>
                        </a:rPr>
                        <a:t>Specifications</a:t>
                      </a:r>
                    </a:p>
                  </a:txBody>
                  <a:tcPr marL="0" marR="0" marT="0" marB="0" anchor="ctr"/>
                </a:tc>
                <a:tc>
                  <a:txBody>
                    <a:bodyPr/>
                    <a:lstStyle/>
                    <a:p>
                      <a:r>
                        <a:rPr lang="en-US" sz="1500">
                          <a:effectLst/>
                        </a:rPr>
                        <a:t>Material</a:t>
                      </a:r>
                    </a:p>
                  </a:txBody>
                  <a:tcPr marL="0" marR="0" marT="0" marB="0" anchor="ctr"/>
                </a:tc>
                <a:extLst>
                  <a:ext uri="{0D108BD9-81ED-4DB2-BD59-A6C34878D82A}">
                    <a16:rowId xmlns:a16="http://schemas.microsoft.com/office/drawing/2014/main" val="536494497"/>
                  </a:ext>
                </a:extLst>
              </a:tr>
              <a:tr h="257954">
                <a:tc>
                  <a:txBody>
                    <a:bodyPr/>
                    <a:lstStyle/>
                    <a:p>
                      <a:r>
                        <a:rPr lang="en-US" sz="1500">
                          <a:effectLst/>
                        </a:rPr>
                        <a:t>10</a:t>
                      </a:r>
                    </a:p>
                  </a:txBody>
                  <a:tcPr marL="0" marR="0" marT="0" marB="0" anchor="ctr"/>
                </a:tc>
                <a:tc>
                  <a:txBody>
                    <a:bodyPr/>
                    <a:lstStyle/>
                    <a:p>
                      <a:r>
                        <a:rPr lang="en-US" sz="1500">
                          <a:effectLst/>
                        </a:rPr>
                        <a:t>C-400</a:t>
                      </a:r>
                    </a:p>
                  </a:txBody>
                  <a:tcPr marL="0" marR="0" marT="0" marB="0" anchor="ctr"/>
                </a:tc>
                <a:tc>
                  <a:txBody>
                    <a:bodyPr/>
                    <a:lstStyle/>
                    <a:p>
                      <a:r>
                        <a:rPr lang="en-US" sz="1500">
                          <a:effectLst/>
                        </a:rPr>
                        <a:t>Isentropic Compressor</a:t>
                      </a:r>
                    </a:p>
                  </a:txBody>
                  <a:tcPr marL="0" marR="0" marT="0" marB="0" anchor="ctr"/>
                </a:tc>
                <a:tc>
                  <a:txBody>
                    <a:bodyPr/>
                    <a:lstStyle/>
                    <a:p>
                      <a:r>
                        <a:rPr lang="en-US" sz="1500">
                          <a:effectLst/>
                        </a:rPr>
                        <a:t>22108</a:t>
                      </a:r>
                    </a:p>
                  </a:txBody>
                  <a:tcPr marL="0" marR="0" marT="0" marB="0" anchor="ctr"/>
                </a:tc>
                <a:tc>
                  <a:txBody>
                    <a:bodyPr/>
                    <a:lstStyle/>
                    <a:p>
                      <a:r>
                        <a:rPr lang="en-US" sz="1500">
                          <a:effectLst/>
                        </a:rPr>
                        <a:t>30.1 bar, 465.21 K</a:t>
                      </a:r>
                    </a:p>
                  </a:txBody>
                  <a:tcPr marL="0" marR="0" marT="0" marB="0" anchor="ctr"/>
                </a:tc>
                <a:tc>
                  <a:txBody>
                    <a:bodyPr/>
                    <a:lstStyle/>
                    <a:p>
                      <a:r>
                        <a:rPr lang="en-US" sz="1500">
                          <a:effectLst/>
                        </a:rPr>
                        <a:t>Carbon Steel</a:t>
                      </a:r>
                    </a:p>
                  </a:txBody>
                  <a:tcPr marL="0" marR="0" marT="0" marB="0" anchor="ctr"/>
                </a:tc>
                <a:extLst>
                  <a:ext uri="{0D108BD9-81ED-4DB2-BD59-A6C34878D82A}">
                    <a16:rowId xmlns:a16="http://schemas.microsoft.com/office/drawing/2014/main" val="1551494615"/>
                  </a:ext>
                </a:extLst>
              </a:tr>
            </a:tbl>
          </a:graphicData>
        </a:graphic>
      </p:graphicFrame>
    </p:spTree>
    <p:extLst>
      <p:ext uri="{BB962C8B-B14F-4D97-AF65-F5344CB8AC3E}">
        <p14:creationId xmlns:p14="http://schemas.microsoft.com/office/powerpoint/2010/main" val="792621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DAD38-8E51-4502-A5FB-65F818E648CD}"/>
              </a:ext>
            </a:extLst>
          </p:cNvPr>
          <p:cNvSpPr>
            <a:spLocks noGrp="1"/>
          </p:cNvSpPr>
          <p:nvPr>
            <p:ph type="title"/>
          </p:nvPr>
        </p:nvSpPr>
        <p:spPr/>
        <p:txBody>
          <a:bodyPr/>
          <a:lstStyle/>
          <a:p>
            <a:r>
              <a:rPr lang="en-US"/>
              <a:t>Hand 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4BC118C-0C4F-443D-99FD-F6BA64D40B5A}"/>
                  </a:ext>
                </a:extLst>
              </p:cNvPr>
              <p:cNvSpPr>
                <a:spLocks noGrp="1"/>
              </p:cNvSpPr>
              <p:nvPr>
                <p:ph idx="1"/>
              </p:nvPr>
            </p:nvSpPr>
            <p:spPr>
              <a:xfrm>
                <a:off x="648393" y="1845734"/>
                <a:ext cx="10972799" cy="4289059"/>
              </a:xfrm>
            </p:spPr>
            <p:txBody>
              <a:bodyPr vert="horz" lIns="0" tIns="45720" rIns="0" bIns="45720" rtlCol="0" anchor="t">
                <a:normAutofit/>
              </a:bodyPr>
              <a:lstStyle/>
              <a:p>
                <a:pPr>
                  <a:buFont typeface="Arial" panose="020F0502020204030204" pitchFamily="34" charset="0"/>
                  <a:buChar char="•"/>
                </a:pPr>
                <a:r>
                  <a:rPr lang="en-US">
                    <a:cs typeface="Calibri" panose="020F0502020204030204"/>
                  </a:rPr>
                  <a:t>The piece of equipment selected to size by hand was one of the distillation columns, the deethanizer. </a:t>
                </a:r>
              </a:p>
              <a:p>
                <a:pPr>
                  <a:buFont typeface="Arial" panose="020F0502020204030204" pitchFamily="34" charset="0"/>
                  <a:buChar char="•"/>
                </a:pPr>
                <a:r>
                  <a:rPr lang="en-US">
                    <a:cs typeface="Calibri" panose="020F0502020204030204"/>
                  </a:rPr>
                  <a:t>To determine the number of stages needed, a McCabe-Thiele Diagram was generated, and the results were verified using the Fenske equation.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𝑙𝑜𝑔</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𝑑</m:t>
                                  </m:r>
                                </m:sub>
                              </m:sSub>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𝑑</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𝑏</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𝑏</m:t>
                                  </m:r>
                                </m:sub>
                              </m:sSub>
                            </m:den>
                          </m:f>
                          <m:r>
                            <a:rPr lang="en-US" i="1">
                              <a:latin typeface="Cambria Math" panose="02040503050406030204" pitchFamily="18" charset="0"/>
                            </a:rPr>
                            <m:t>)]</m:t>
                          </m:r>
                        </m:num>
                        <m:den>
                          <m:r>
                            <a:rPr lang="en-US" i="1">
                              <a:latin typeface="Cambria Math" panose="02040503050406030204" pitchFamily="18" charset="0"/>
                            </a:rPr>
                            <m:t>𝑙𝑜𝑔</m:t>
                          </m:r>
                          <m:r>
                            <a:rPr lang="en-US" i="1">
                              <a:latin typeface="Cambria Math" panose="02040503050406030204" pitchFamily="18" charset="0"/>
                            </a:rPr>
                            <m:t>(∝)</m:t>
                          </m:r>
                        </m:den>
                      </m:f>
                    </m:oMath>
                  </m:oMathPara>
                </a14:m>
                <a:endParaRPr lang="en-US">
                  <a:cs typeface="Calibri" panose="020F0502020204030204"/>
                </a:endParaRPr>
              </a:p>
              <a:p>
                <a:pPr>
                  <a:buFont typeface="Arial" panose="020F0502020204030204" pitchFamily="34" charset="0"/>
                  <a:buChar char="•"/>
                </a:pPr>
                <a:r>
                  <a:rPr lang="en-US">
                    <a:cs typeface="Calibri" panose="020F0502020204030204"/>
                  </a:rPr>
                  <a:t>To determine the diameter of the column, the following two equations were used. </a:t>
                </a:r>
              </a:p>
              <a:p>
                <a:pPr marL="0" indent="0">
                  <a:buNone/>
                </a:pPr>
                <a14:m>
                  <m:oMathPara xmlns:m="http://schemas.openxmlformats.org/officeDocument/2006/math">
                    <m:oMathParaPr>
                      <m:jc m:val="center"/>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û</m:t>
                          </m:r>
                        </m:e>
                        <m:sub>
                          <m:r>
                            <a:rPr lang="en-US" i="1">
                              <a:latin typeface="Cambria Math" panose="02040503050406030204" pitchFamily="18" charset="0"/>
                            </a:rPr>
                            <m:t>𝑣</m:t>
                          </m:r>
                        </m:sub>
                      </m:sSub>
                      <m:r>
                        <a:rPr lang="en-US" b="0" i="1" smtClean="0">
                          <a:latin typeface="Cambria Math" panose="02040503050406030204" pitchFamily="18" charset="0"/>
                        </a:rPr>
                        <m:t> </m:t>
                      </m:r>
                      <m:r>
                        <a:rPr lang="en-US" i="1">
                          <a:latin typeface="Cambria Math" panose="02040503050406030204" pitchFamily="18" charset="0"/>
                        </a:rPr>
                        <m:t>=(−0.171</m:t>
                      </m:r>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𝑡</m:t>
                          </m:r>
                        </m:sub>
                        <m:sup>
                          <m:r>
                            <a:rPr lang="en-US" i="1">
                              <a:latin typeface="Cambria Math" panose="02040503050406030204" pitchFamily="18" charset="0"/>
                            </a:rPr>
                            <m:t>2</m:t>
                          </m:r>
                        </m:sup>
                      </m:sSubSup>
                      <m:r>
                        <a:rPr lang="en-US" i="1">
                          <a:latin typeface="Cambria Math" panose="02040503050406030204" pitchFamily="18" charset="0"/>
                        </a:rPr>
                        <m:t>+0.27</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𝑡</m:t>
                          </m:r>
                        </m:sub>
                      </m:sSub>
                      <m:r>
                        <a:rPr lang="en-US" i="1">
                          <a:latin typeface="Cambria Math" panose="02040503050406030204" pitchFamily="18" charset="0"/>
                        </a:rPr>
                        <m:t>−0.047)[</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𝐿</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𝑉</m:t>
                              </m:r>
                            </m:sub>
                          </m:sSub>
                        </m:num>
                        <m:den>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𝑉</m:t>
                              </m:r>
                            </m:sub>
                          </m:sSub>
                        </m:den>
                      </m:f>
                      <m:sSup>
                        <m:sSupPr>
                          <m:ctrlPr>
                            <a:rPr lang="en-US" i="1">
                              <a:latin typeface="Cambria Math" panose="02040503050406030204" pitchFamily="18" charset="0"/>
                            </a:rPr>
                          </m:ctrlPr>
                        </m:sSupPr>
                        <m:e>
                          <m:r>
                            <a:rPr lang="en-US" i="1">
                              <a:latin typeface="Cambria Math" panose="02040503050406030204" pitchFamily="18" charset="0"/>
                            </a:rPr>
                            <m:t>]</m:t>
                          </m:r>
                        </m:e>
                        <m:sup>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up>
                      </m:sSup>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𝑐</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4</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𝑊</m:t>
                                  </m:r>
                                </m:sub>
                              </m:sSub>
                            </m:num>
                            <m:den>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𝑉</m:t>
                                  </m:r>
                                </m:sub>
                              </m:sSub>
                              <m:sSub>
                                <m:sSubPr>
                                  <m:ctrlPr>
                                    <a:rPr lang="en-US" i="1">
                                      <a:latin typeface="Cambria Math" panose="02040503050406030204" pitchFamily="18" charset="0"/>
                                    </a:rPr>
                                  </m:ctrlPr>
                                </m:sSubPr>
                                <m:e>
                                  <m:r>
                                    <a:rPr lang="en-US" i="1">
                                      <a:latin typeface="Cambria Math" panose="02040503050406030204" pitchFamily="18" charset="0"/>
                                    </a:rPr>
                                    <m:t>û</m:t>
                                  </m:r>
                                </m:e>
                                <m:sub>
                                  <m:r>
                                    <a:rPr lang="en-US" i="1">
                                      <a:latin typeface="Cambria Math" panose="02040503050406030204" pitchFamily="18" charset="0"/>
                                    </a:rPr>
                                    <m:t>𝑣</m:t>
                                  </m:r>
                                </m:sub>
                              </m:sSub>
                            </m:den>
                          </m:f>
                        </m:e>
                      </m:rad>
                    </m:oMath>
                  </m:oMathPara>
                </a14:m>
                <a:endParaRPr lang="en-US">
                  <a:cs typeface="Calibri" panose="020F0502020204030204"/>
                </a:endParaRPr>
              </a:p>
              <a:p>
                <a:pPr>
                  <a:buFont typeface="Arial" panose="020F0502020204030204" pitchFamily="34" charset="0"/>
                  <a:buChar char="•"/>
                </a:pPr>
                <a:r>
                  <a:rPr lang="en-US">
                    <a:cs typeface="Calibri" panose="020F0502020204030204"/>
                  </a:rPr>
                  <a:t>To determine the height of the column, the number of trays were multiplied by the assumed tray spacing. Another 15% of that result was added to account for extra space at the top and bottom for maintenance purposes. </a:t>
                </a:r>
              </a:p>
            </p:txBody>
          </p:sp>
        </mc:Choice>
        <mc:Fallback>
          <p:sp>
            <p:nvSpPr>
              <p:cNvPr id="3" name="Content Placeholder 2">
                <a:extLst>
                  <a:ext uri="{FF2B5EF4-FFF2-40B4-BE49-F238E27FC236}">
                    <a16:creationId xmlns:a16="http://schemas.microsoft.com/office/drawing/2014/main" id="{24BC118C-0C4F-443D-99FD-F6BA64D40B5A}"/>
                  </a:ext>
                </a:extLst>
              </p:cNvPr>
              <p:cNvSpPr>
                <a:spLocks noGrp="1" noRot="1" noChangeAspect="1" noMove="1" noResize="1" noEditPoints="1" noAdjustHandles="1" noChangeArrowheads="1" noChangeShapeType="1" noTextEdit="1"/>
              </p:cNvSpPr>
              <p:nvPr>
                <p:ph idx="1"/>
              </p:nvPr>
            </p:nvSpPr>
            <p:spPr>
              <a:xfrm>
                <a:off x="648393" y="1845734"/>
                <a:ext cx="10972799" cy="4289059"/>
              </a:xfrm>
              <a:blipFill>
                <a:blip r:embed="rId2"/>
                <a:stretch>
                  <a:fillRect l="-1272" t="-1475" r="-1850" b="-29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F5565B9-3273-4FA0-9FEB-BAEF78DB9878}"/>
              </a:ext>
            </a:extLst>
          </p:cNvPr>
          <p:cNvSpPr>
            <a:spLocks noGrp="1"/>
          </p:cNvSpPr>
          <p:nvPr>
            <p:ph type="sldNum" sz="quarter" idx="12"/>
          </p:nvPr>
        </p:nvSpPr>
        <p:spPr/>
        <p:txBody>
          <a:bodyPr/>
          <a:lstStyle/>
          <a:p>
            <a:fld id="{330EA680-D336-4FF7-8B7A-9848BB0A1C32}" type="slidenum">
              <a:rPr lang="en-US" sz="2400" smtClean="0"/>
              <a:t>20</a:t>
            </a:fld>
            <a:endParaRPr lang="en-US" sz="2400"/>
          </a:p>
        </p:txBody>
      </p:sp>
    </p:spTree>
    <p:extLst>
      <p:ext uri="{BB962C8B-B14F-4D97-AF65-F5344CB8AC3E}">
        <p14:creationId xmlns:p14="http://schemas.microsoft.com/office/powerpoint/2010/main" val="3967583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7235-1E19-4EBB-80B3-1F13AFAAD2F7}"/>
              </a:ext>
            </a:extLst>
          </p:cNvPr>
          <p:cNvSpPr>
            <a:spLocks noGrp="1"/>
          </p:cNvSpPr>
          <p:nvPr>
            <p:ph type="title"/>
          </p:nvPr>
        </p:nvSpPr>
        <p:spPr>
          <a:xfrm>
            <a:off x="1097280" y="286603"/>
            <a:ext cx="10263608" cy="1450757"/>
          </a:xfrm>
        </p:spPr>
        <p:txBody>
          <a:bodyPr/>
          <a:lstStyle/>
          <a:p>
            <a:r>
              <a:rPr lang="en-US" b="1">
                <a:cs typeface="Calibri Light"/>
              </a:rPr>
              <a:t>Hand Calculations vs. Aspen Simulation</a:t>
            </a:r>
          </a:p>
        </p:txBody>
      </p:sp>
      <p:sp>
        <p:nvSpPr>
          <p:cNvPr id="4" name="Slide Number Placeholder 3">
            <a:extLst>
              <a:ext uri="{FF2B5EF4-FFF2-40B4-BE49-F238E27FC236}">
                <a16:creationId xmlns:a16="http://schemas.microsoft.com/office/drawing/2014/main" id="{17E20448-BB8C-4559-9650-5AF772D0FF39}"/>
              </a:ext>
            </a:extLst>
          </p:cNvPr>
          <p:cNvSpPr>
            <a:spLocks noGrp="1"/>
          </p:cNvSpPr>
          <p:nvPr>
            <p:ph type="sldNum" sz="quarter" idx="12"/>
          </p:nvPr>
        </p:nvSpPr>
        <p:spPr/>
        <p:txBody>
          <a:bodyPr/>
          <a:lstStyle/>
          <a:p>
            <a:fld id="{330EA680-D336-4FF7-8B7A-9848BB0A1C32}" type="slidenum">
              <a:rPr lang="en-US" sz="2400" smtClean="0"/>
              <a:t>21</a:t>
            </a:fld>
            <a:endParaRPr lang="en-US" sz="2400"/>
          </a:p>
        </p:txBody>
      </p:sp>
      <p:graphicFrame>
        <p:nvGraphicFramePr>
          <p:cNvPr id="10" name="Content Placeholder 9">
            <a:extLst>
              <a:ext uri="{FF2B5EF4-FFF2-40B4-BE49-F238E27FC236}">
                <a16:creationId xmlns:a16="http://schemas.microsoft.com/office/drawing/2014/main" id="{0BB5C786-9AB4-5B4C-8966-19080032A433}"/>
              </a:ext>
            </a:extLst>
          </p:cNvPr>
          <p:cNvGraphicFramePr>
            <a:graphicFrameLocks noGrp="1"/>
          </p:cNvGraphicFramePr>
          <p:nvPr>
            <p:ph idx="1"/>
            <p:extLst>
              <p:ext uri="{D42A27DB-BD31-4B8C-83A1-F6EECF244321}">
                <p14:modId xmlns:p14="http://schemas.microsoft.com/office/powerpoint/2010/main" val="3611392440"/>
              </p:ext>
            </p:extLst>
          </p:nvPr>
        </p:nvGraphicFramePr>
        <p:xfrm>
          <a:off x="3435595" y="2427312"/>
          <a:ext cx="6143834" cy="3527828"/>
        </p:xfrm>
        <a:graphic>
          <a:graphicData uri="http://schemas.openxmlformats.org/drawingml/2006/table">
            <a:tbl>
              <a:tblPr firstRow="1" firstCol="1" bandRow="1">
                <a:tableStyleId>{5C22544A-7EE6-4342-B048-85BDC9FD1C3A}</a:tableStyleId>
              </a:tblPr>
              <a:tblGrid>
                <a:gridCol w="1984083">
                  <a:extLst>
                    <a:ext uri="{9D8B030D-6E8A-4147-A177-3AD203B41FA5}">
                      <a16:colId xmlns:a16="http://schemas.microsoft.com/office/drawing/2014/main" val="1478731123"/>
                    </a:ext>
                  </a:extLst>
                </a:gridCol>
                <a:gridCol w="2111587">
                  <a:extLst>
                    <a:ext uri="{9D8B030D-6E8A-4147-A177-3AD203B41FA5}">
                      <a16:colId xmlns:a16="http://schemas.microsoft.com/office/drawing/2014/main" val="2195932558"/>
                    </a:ext>
                  </a:extLst>
                </a:gridCol>
                <a:gridCol w="2048164">
                  <a:extLst>
                    <a:ext uri="{9D8B030D-6E8A-4147-A177-3AD203B41FA5}">
                      <a16:colId xmlns:a16="http://schemas.microsoft.com/office/drawing/2014/main" val="3424239454"/>
                    </a:ext>
                  </a:extLst>
                </a:gridCol>
              </a:tblGrid>
              <a:tr h="881957">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Variable</a:t>
                      </a:r>
                    </a:p>
                    <a:p>
                      <a:pPr marL="0" marR="0" algn="ctr">
                        <a:spcBef>
                          <a:spcPts val="0"/>
                        </a:spcBef>
                        <a:spcAft>
                          <a:spcPts val="0"/>
                        </a:spcAft>
                      </a:pP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Hand</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Aspen</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13716068"/>
                  </a:ext>
                </a:extLst>
              </a:tr>
              <a:tr h="881957">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Stages</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62</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60</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47197524"/>
                  </a:ext>
                </a:extLst>
              </a:tr>
              <a:tr h="881957">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Height (ft)</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142.7</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dirty="0">
                        <a:effectLst/>
                      </a:endParaRPr>
                    </a:p>
                    <a:p>
                      <a:pPr marL="0" marR="0" algn="ctr">
                        <a:spcBef>
                          <a:spcPts val="0"/>
                        </a:spcBef>
                        <a:spcAft>
                          <a:spcPts val="0"/>
                        </a:spcAft>
                      </a:pPr>
                      <a:r>
                        <a:rPr lang="en-US" sz="1800" dirty="0">
                          <a:effectLst/>
                        </a:rPr>
                        <a:t>178</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77080815"/>
                  </a:ext>
                </a:extLst>
              </a:tr>
              <a:tr h="881957">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Diameter (ft)</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a:effectLst/>
                      </a:endParaRPr>
                    </a:p>
                    <a:p>
                      <a:pPr marL="0" marR="0" algn="ctr">
                        <a:spcBef>
                          <a:spcPts val="0"/>
                        </a:spcBef>
                        <a:spcAft>
                          <a:spcPts val="0"/>
                        </a:spcAft>
                      </a:pPr>
                      <a:r>
                        <a:rPr lang="en-US" sz="1800">
                          <a:effectLst/>
                        </a:rPr>
                        <a:t>7.77</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dirty="0">
                        <a:effectLst/>
                      </a:endParaRPr>
                    </a:p>
                    <a:p>
                      <a:pPr marL="0" marR="0" algn="ctr">
                        <a:spcBef>
                          <a:spcPts val="0"/>
                        </a:spcBef>
                        <a:spcAft>
                          <a:spcPts val="0"/>
                        </a:spcAft>
                      </a:pPr>
                      <a:r>
                        <a:rPr lang="en-US" sz="1800" dirty="0">
                          <a:effectLst/>
                        </a:rPr>
                        <a:t>5.5 </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87358806"/>
                  </a:ext>
                </a:extLst>
              </a:tr>
            </a:tbl>
          </a:graphicData>
        </a:graphic>
      </p:graphicFrame>
      <p:pic>
        <p:nvPicPr>
          <p:cNvPr id="11" name="Picture 10">
            <a:extLst>
              <a:ext uri="{FF2B5EF4-FFF2-40B4-BE49-F238E27FC236}">
                <a16:creationId xmlns:a16="http://schemas.microsoft.com/office/drawing/2014/main" id="{DAD4188C-D719-2947-B335-06802C1DAA98}"/>
              </a:ext>
            </a:extLst>
          </p:cNvPr>
          <p:cNvPicPr>
            <a:picLocks noChangeAspect="1"/>
          </p:cNvPicPr>
          <p:nvPr/>
        </p:nvPicPr>
        <p:blipFill>
          <a:blip r:embed="rId3"/>
          <a:stretch>
            <a:fillRect/>
          </a:stretch>
        </p:blipFill>
        <p:spPr>
          <a:xfrm rot="1159964">
            <a:off x="528203" y="3429512"/>
            <a:ext cx="2324100" cy="2501900"/>
          </a:xfrm>
          <a:prstGeom prst="rect">
            <a:avLst/>
          </a:prstGeom>
        </p:spPr>
      </p:pic>
      <p:pic>
        <p:nvPicPr>
          <p:cNvPr id="12" name="Picture 11">
            <a:extLst>
              <a:ext uri="{FF2B5EF4-FFF2-40B4-BE49-F238E27FC236}">
                <a16:creationId xmlns:a16="http://schemas.microsoft.com/office/drawing/2014/main" id="{ABE010DD-30C3-2645-A51C-D2C36216639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rot="20155574" flipH="1">
            <a:off x="9491833" y="1359653"/>
            <a:ext cx="2846647" cy="2846647"/>
          </a:xfrm>
          <a:prstGeom prst="rect">
            <a:avLst/>
          </a:prstGeom>
        </p:spPr>
      </p:pic>
    </p:spTree>
    <p:extLst>
      <p:ext uri="{BB962C8B-B14F-4D97-AF65-F5344CB8AC3E}">
        <p14:creationId xmlns:p14="http://schemas.microsoft.com/office/powerpoint/2010/main" val="1049418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60F53-1DE8-4A84-9529-75B13FD6745A}"/>
              </a:ext>
            </a:extLst>
          </p:cNvPr>
          <p:cNvSpPr>
            <a:spLocks noGrp="1"/>
          </p:cNvSpPr>
          <p:nvPr>
            <p:ph type="title"/>
          </p:nvPr>
        </p:nvSpPr>
        <p:spPr/>
        <p:txBody>
          <a:bodyPr/>
          <a:lstStyle/>
          <a:p>
            <a:r>
              <a:rPr lang="en-US">
                <a:cs typeface="Calibri Light"/>
              </a:rPr>
              <a:t>Preliminary Utilities</a:t>
            </a:r>
          </a:p>
        </p:txBody>
      </p:sp>
      <p:sp>
        <p:nvSpPr>
          <p:cNvPr id="4" name="Slide Number Placeholder 3">
            <a:extLst>
              <a:ext uri="{FF2B5EF4-FFF2-40B4-BE49-F238E27FC236}">
                <a16:creationId xmlns:a16="http://schemas.microsoft.com/office/drawing/2014/main" id="{0025D8EE-95B1-437C-B6C4-880DB8194D52}"/>
              </a:ext>
            </a:extLst>
          </p:cNvPr>
          <p:cNvSpPr>
            <a:spLocks noGrp="1"/>
          </p:cNvSpPr>
          <p:nvPr>
            <p:ph type="sldNum" sz="quarter" idx="12"/>
          </p:nvPr>
        </p:nvSpPr>
        <p:spPr/>
        <p:txBody>
          <a:bodyPr/>
          <a:lstStyle/>
          <a:p>
            <a:fld id="{330EA680-D336-4FF7-8B7A-9848BB0A1C32}" type="slidenum">
              <a:rPr lang="en-US" sz="2400" smtClean="0"/>
              <a:t>22</a:t>
            </a:fld>
            <a:endParaRPr lang="en-US" sz="2400"/>
          </a:p>
        </p:txBody>
      </p:sp>
      <p:graphicFrame>
        <p:nvGraphicFramePr>
          <p:cNvPr id="11" name="Content Placeholder 10">
            <a:extLst>
              <a:ext uri="{FF2B5EF4-FFF2-40B4-BE49-F238E27FC236}">
                <a16:creationId xmlns:a16="http://schemas.microsoft.com/office/drawing/2014/main" id="{A6D7CEEA-01C5-454B-8379-1278E39A3A40}"/>
              </a:ext>
            </a:extLst>
          </p:cNvPr>
          <p:cNvGraphicFramePr>
            <a:graphicFrameLocks noGrp="1"/>
          </p:cNvGraphicFramePr>
          <p:nvPr>
            <p:ph idx="1"/>
            <p:extLst>
              <p:ext uri="{D42A27DB-BD31-4B8C-83A1-F6EECF244321}">
                <p14:modId xmlns:p14="http://schemas.microsoft.com/office/powerpoint/2010/main" val="1830432110"/>
              </p:ext>
            </p:extLst>
          </p:nvPr>
        </p:nvGraphicFramePr>
        <p:xfrm>
          <a:off x="1999211" y="1945178"/>
          <a:ext cx="8254537" cy="3724104"/>
        </p:xfrm>
        <a:graphic>
          <a:graphicData uri="http://schemas.openxmlformats.org/drawingml/2006/table">
            <a:tbl>
              <a:tblPr firstRow="1" firstCol="1" bandRow="1">
                <a:tableStyleId>{5C22544A-7EE6-4342-B048-85BDC9FD1C3A}</a:tableStyleId>
              </a:tblPr>
              <a:tblGrid>
                <a:gridCol w="2151702">
                  <a:extLst>
                    <a:ext uri="{9D8B030D-6E8A-4147-A177-3AD203B41FA5}">
                      <a16:colId xmlns:a16="http://schemas.microsoft.com/office/drawing/2014/main" val="2898533251"/>
                    </a:ext>
                  </a:extLst>
                </a:gridCol>
                <a:gridCol w="2152931">
                  <a:extLst>
                    <a:ext uri="{9D8B030D-6E8A-4147-A177-3AD203B41FA5}">
                      <a16:colId xmlns:a16="http://schemas.microsoft.com/office/drawing/2014/main" val="2550703235"/>
                    </a:ext>
                  </a:extLst>
                </a:gridCol>
                <a:gridCol w="1974952">
                  <a:extLst>
                    <a:ext uri="{9D8B030D-6E8A-4147-A177-3AD203B41FA5}">
                      <a16:colId xmlns:a16="http://schemas.microsoft.com/office/drawing/2014/main" val="3324891658"/>
                    </a:ext>
                  </a:extLst>
                </a:gridCol>
                <a:gridCol w="1974952">
                  <a:extLst>
                    <a:ext uri="{9D8B030D-6E8A-4147-A177-3AD203B41FA5}">
                      <a16:colId xmlns:a16="http://schemas.microsoft.com/office/drawing/2014/main" val="15507343"/>
                    </a:ext>
                  </a:extLst>
                </a:gridCol>
              </a:tblGrid>
              <a:tr h="397906">
                <a:tc>
                  <a:txBody>
                    <a:bodyPr/>
                    <a:lstStyle/>
                    <a:p>
                      <a:pPr marL="0" marR="0" algn="ctr">
                        <a:lnSpc>
                          <a:spcPct val="150000"/>
                        </a:lnSpc>
                        <a:spcBef>
                          <a:spcPts val="0"/>
                        </a:spcBef>
                        <a:spcAft>
                          <a:spcPts val="0"/>
                        </a:spcAft>
                      </a:pPr>
                      <a:r>
                        <a:rPr lang="en-US" sz="1800">
                          <a:effectLst/>
                        </a:rPr>
                        <a:t>Name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Type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Usage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Units</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38899812"/>
                  </a:ext>
                </a:extLst>
              </a:tr>
              <a:tr h="397906">
                <a:tc>
                  <a:txBody>
                    <a:bodyPr/>
                    <a:lstStyle/>
                    <a:p>
                      <a:pPr marL="0" marR="0" algn="ctr">
                        <a:lnSpc>
                          <a:spcPct val="150000"/>
                        </a:lnSpc>
                        <a:spcBef>
                          <a:spcPts val="0"/>
                        </a:spcBef>
                        <a:spcAft>
                          <a:spcPts val="0"/>
                        </a:spcAft>
                      </a:pPr>
                      <a:r>
                        <a:rPr lang="en-US" sz="1800">
                          <a:effectLst/>
                        </a:rPr>
                        <a:t>Electricity</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Power</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78,353.6</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kW</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34358661"/>
                  </a:ext>
                </a:extLst>
              </a:tr>
              <a:tr h="397906">
                <a:tc>
                  <a:txBody>
                    <a:bodyPr/>
                    <a:lstStyle/>
                    <a:p>
                      <a:pPr marL="0" marR="0" algn="ctr">
                        <a:lnSpc>
                          <a:spcPct val="150000"/>
                        </a:lnSpc>
                        <a:spcBef>
                          <a:spcPts val="0"/>
                        </a:spcBef>
                        <a:spcAft>
                          <a:spcPts val="0"/>
                        </a:spcAft>
                      </a:pPr>
                      <a:r>
                        <a:rPr lang="en-US" sz="1800">
                          <a:effectLst/>
                        </a:rPr>
                        <a:t>Cooling Water</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Water</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8,924.7</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MT/hr</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84887979"/>
                  </a:ext>
                </a:extLst>
              </a:tr>
              <a:tr h="843462">
                <a:tc>
                  <a:txBody>
                    <a:bodyPr/>
                    <a:lstStyle/>
                    <a:p>
                      <a:pPr marL="0" marR="0" algn="ctr">
                        <a:lnSpc>
                          <a:spcPct val="150000"/>
                        </a:lnSpc>
                        <a:spcBef>
                          <a:spcPts val="0"/>
                        </a:spcBef>
                        <a:spcAft>
                          <a:spcPts val="0"/>
                        </a:spcAft>
                      </a:pPr>
                      <a:r>
                        <a:rPr lang="en-US" sz="1800">
                          <a:effectLst/>
                        </a:rPr>
                        <a:t>R1270 (Propylene)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Refrigerant</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42,730.9</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MT/hr</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56989852"/>
                  </a:ext>
                </a:extLst>
              </a:tr>
              <a:tr h="397906">
                <a:tc>
                  <a:txBody>
                    <a:bodyPr/>
                    <a:lstStyle/>
                    <a:p>
                      <a:pPr marL="0" marR="0" algn="ctr">
                        <a:lnSpc>
                          <a:spcPct val="150000"/>
                        </a:lnSpc>
                        <a:spcBef>
                          <a:spcPts val="0"/>
                        </a:spcBef>
                        <a:spcAft>
                          <a:spcPts val="0"/>
                        </a:spcAft>
                      </a:pPr>
                      <a:r>
                        <a:rPr lang="en-US" sz="1800">
                          <a:effectLst/>
                        </a:rPr>
                        <a:t>Ethylene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Refrigerant</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5,586.4</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MT/hr</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19936684"/>
                  </a:ext>
                </a:extLst>
              </a:tr>
              <a:tr h="1289018">
                <a:tc>
                  <a:txBody>
                    <a:bodyPr/>
                    <a:lstStyle/>
                    <a:p>
                      <a:pPr marL="0" marR="0" algn="ctr">
                        <a:lnSpc>
                          <a:spcPct val="150000"/>
                        </a:lnSpc>
                        <a:spcBef>
                          <a:spcPts val="0"/>
                        </a:spcBef>
                        <a:spcAft>
                          <a:spcPts val="0"/>
                        </a:spcAft>
                      </a:pPr>
                      <a:r>
                        <a:rPr lang="en-US" sz="1800">
                          <a:effectLst/>
                        </a:rPr>
                        <a:t>Steam (</a:t>
                      </a:r>
                      <a:r>
                        <a:rPr lang="en-US" sz="1800" u="none">
                          <a:solidFill>
                            <a:schemeClr val="bg1"/>
                          </a:solidFill>
                          <a:effectLst/>
                        </a:rPr>
                        <a:t>261.1</a:t>
                      </a:r>
                      <a:r>
                        <a:rPr lang="en-US" sz="1800">
                          <a:effectLst/>
                        </a:rPr>
                        <a:t> psig to 493.1 psig)</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High Pressure Steam</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23.3</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a:effectLst/>
                        </a:rPr>
                        <a:t>MT/hr</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92744415"/>
                  </a:ext>
                </a:extLst>
              </a:tr>
            </a:tbl>
          </a:graphicData>
        </a:graphic>
      </p:graphicFrame>
    </p:spTree>
    <p:extLst>
      <p:ext uri="{BB962C8B-B14F-4D97-AF65-F5344CB8AC3E}">
        <p14:creationId xmlns:p14="http://schemas.microsoft.com/office/powerpoint/2010/main" val="1231903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7CC07-E7E4-4302-B27C-86E8B2334792}"/>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2B7FC9FE-A753-416E-A6E5-85F57C165774}"/>
              </a:ext>
            </a:extLst>
          </p:cNvPr>
          <p:cNvSpPr>
            <a:spLocks noGrp="1"/>
          </p:cNvSpPr>
          <p:nvPr>
            <p:ph idx="1"/>
          </p:nvPr>
        </p:nvSpPr>
        <p:spPr>
          <a:xfrm>
            <a:off x="902726" y="1737360"/>
            <a:ext cx="10712100" cy="4614051"/>
          </a:xfrm>
        </p:spPr>
        <p:txBody>
          <a:bodyPr>
            <a:normAutofit fontScale="92500" lnSpcReduction="10000"/>
          </a:bodyPr>
          <a:lstStyle/>
          <a:p>
            <a:pPr>
              <a:lnSpc>
                <a:spcPct val="100000"/>
              </a:lnSpc>
              <a:spcBef>
                <a:spcPts val="0"/>
              </a:spcBef>
              <a:spcAft>
                <a:spcPts val="0"/>
              </a:spcAft>
            </a:pPr>
            <a:r>
              <a:rPr lang="en-US" sz="1400" baseline="30000"/>
              <a:t>[1]</a:t>
            </a:r>
            <a:r>
              <a:rPr lang="en-US" sz="1400"/>
              <a:t>Peng Tian, </a:t>
            </a:r>
            <a:r>
              <a:rPr lang="en-US" sz="1400" err="1"/>
              <a:t>Yingxu</a:t>
            </a:r>
            <a:r>
              <a:rPr lang="en-US" sz="1400"/>
              <a:t> Wei, Mao Ye, and </a:t>
            </a:r>
            <a:r>
              <a:rPr lang="en-US" sz="1400" err="1"/>
              <a:t>Zhongmin</a:t>
            </a:r>
            <a:r>
              <a:rPr lang="en-US" sz="1400"/>
              <a:t> Liu. Methanol to Olefins (MTO): From Fundamentals. </a:t>
            </a:r>
          </a:p>
          <a:p>
            <a:pPr>
              <a:lnSpc>
                <a:spcPct val="100000"/>
              </a:lnSpc>
              <a:spcBef>
                <a:spcPts val="0"/>
              </a:spcBef>
              <a:spcAft>
                <a:spcPts val="0"/>
              </a:spcAft>
            </a:pPr>
            <a:r>
              <a:rPr lang="en-US" sz="1400" baseline="30000"/>
              <a:t>[2]</a:t>
            </a:r>
            <a:r>
              <a:rPr lang="en-US" sz="1400" err="1"/>
              <a:t>Gimre</a:t>
            </a:r>
            <a:r>
              <a:rPr lang="en-US" sz="1400"/>
              <a:t>, S. (n.d.). </a:t>
            </a:r>
            <a:r>
              <a:rPr lang="en-US" sz="1400" i="1"/>
              <a:t>Doing It Differently</a:t>
            </a:r>
            <a:r>
              <a:rPr lang="en-US" sz="1400"/>
              <a:t>. http://www.cewindia.com/steve_gimre_guestcolumn.html</a:t>
            </a:r>
          </a:p>
          <a:p>
            <a:pPr>
              <a:lnSpc>
                <a:spcPct val="100000"/>
              </a:lnSpc>
              <a:spcBef>
                <a:spcPts val="0"/>
              </a:spcBef>
              <a:spcAft>
                <a:spcPts val="0"/>
              </a:spcAft>
            </a:pPr>
            <a:r>
              <a:rPr lang="en-US" sz="1400" baseline="30000"/>
              <a:t>[3]</a:t>
            </a:r>
            <a:r>
              <a:rPr lang="en-US" sz="1400"/>
              <a:t>Raghavan, R. (2018). </a:t>
            </a:r>
            <a:r>
              <a:rPr lang="en-US" sz="1400" i="1"/>
              <a:t>India ’ s Expanding Chemical Industry</a:t>
            </a:r>
            <a:r>
              <a:rPr lang="en-US" sz="1400"/>
              <a:t>. </a:t>
            </a:r>
            <a:r>
              <a:rPr lang="en-US" sz="1400" i="1"/>
              <a:t>December</a:t>
            </a:r>
            <a:r>
              <a:rPr lang="en-US" sz="1400"/>
              <a:t>, 49–56.</a:t>
            </a:r>
          </a:p>
          <a:p>
            <a:pPr>
              <a:lnSpc>
                <a:spcPct val="100000"/>
              </a:lnSpc>
              <a:spcBef>
                <a:spcPts val="0"/>
              </a:spcBef>
              <a:spcAft>
                <a:spcPts val="0"/>
              </a:spcAft>
            </a:pPr>
            <a:r>
              <a:rPr lang="en-US" sz="1400" baseline="30000"/>
              <a:t>[4]</a:t>
            </a:r>
            <a:r>
              <a:rPr lang="en-US" sz="1400" i="1"/>
              <a:t>Presentation By Mr. </a:t>
            </a:r>
            <a:r>
              <a:rPr lang="en-US" sz="1400" i="1" err="1"/>
              <a:t>Janardhanan</a:t>
            </a:r>
            <a:r>
              <a:rPr lang="en-US" sz="1400" i="1"/>
              <a:t>- SABIC</a:t>
            </a:r>
            <a:r>
              <a:rPr lang="en-US" sz="1400"/>
              <a:t>. (n.d.).</a:t>
            </a:r>
          </a:p>
          <a:p>
            <a:pPr>
              <a:lnSpc>
                <a:spcPct val="100000"/>
              </a:lnSpc>
              <a:spcBef>
                <a:spcPts val="0"/>
              </a:spcBef>
              <a:spcAft>
                <a:spcPts val="0"/>
              </a:spcAft>
            </a:pPr>
            <a:r>
              <a:rPr lang="en-US" sz="1400" baseline="30000"/>
              <a:t>[5]</a:t>
            </a:r>
            <a:r>
              <a:rPr lang="en-US" sz="1400"/>
              <a:t>Report, I. A., Derivatives, B., &amp; Acid, A. (2020). </a:t>
            </a:r>
            <a:r>
              <a:rPr lang="en-US" sz="1400" i="1"/>
              <a:t>Global Methanol Market is estimated to reach</a:t>
            </a:r>
            <a:r>
              <a:rPr lang="en-US" sz="1400"/>
              <a:t>. 1–4.</a:t>
            </a:r>
          </a:p>
          <a:p>
            <a:pPr>
              <a:lnSpc>
                <a:spcPct val="100000"/>
              </a:lnSpc>
              <a:spcBef>
                <a:spcPts val="0"/>
              </a:spcBef>
              <a:spcAft>
                <a:spcPts val="0"/>
              </a:spcAft>
            </a:pPr>
            <a:r>
              <a:rPr lang="en-US" sz="1400" baseline="30000"/>
              <a:t>[6]</a:t>
            </a:r>
            <a:r>
              <a:rPr lang="en-US" sz="1400"/>
              <a:t>Size, M. M., Analysis, T., By, R., Acid, A., Region, B., Type, C. L., &amp; Insights, I. (2020). </a:t>
            </a:r>
            <a:r>
              <a:rPr lang="en-US" sz="1400" i="1"/>
              <a:t>Methanol Market Size , Share , Analysis | Industry Research Report , 2025 Methanol Market Size , Share , Analysis | Industry Research Report , 2025</a:t>
            </a:r>
            <a:r>
              <a:rPr lang="en-US" sz="1400"/>
              <a:t>. 1–6.</a:t>
            </a:r>
          </a:p>
          <a:p>
            <a:pPr>
              <a:lnSpc>
                <a:spcPct val="100000"/>
              </a:lnSpc>
              <a:spcBef>
                <a:spcPts val="0"/>
              </a:spcBef>
              <a:spcAft>
                <a:spcPts val="0"/>
              </a:spcAft>
            </a:pPr>
            <a:r>
              <a:rPr lang="en-US" sz="1400" baseline="30000"/>
              <a:t>[7]</a:t>
            </a:r>
            <a:r>
              <a:rPr lang="en-US" sz="1400" i="1"/>
              <a:t>Global Methanol Pricing Comparison</a:t>
            </a:r>
            <a:r>
              <a:rPr lang="en-US" sz="1400"/>
              <a:t>. (2015). 2014.</a:t>
            </a:r>
          </a:p>
          <a:p>
            <a:pPr>
              <a:lnSpc>
                <a:spcPct val="100000"/>
              </a:lnSpc>
              <a:spcBef>
                <a:spcPts val="0"/>
              </a:spcBef>
              <a:spcAft>
                <a:spcPts val="0"/>
              </a:spcAft>
            </a:pPr>
            <a:r>
              <a:rPr lang="en-US" sz="1400" baseline="30000"/>
              <a:t>[8]</a:t>
            </a:r>
            <a:r>
              <a:rPr lang="en-US" sz="1400"/>
              <a:t>Chen, J. Q., </a:t>
            </a:r>
            <a:r>
              <a:rPr lang="en-US" sz="1400" err="1"/>
              <a:t>Bozzano</a:t>
            </a:r>
            <a:r>
              <a:rPr lang="en-US" sz="1400"/>
              <a:t>, A., Glover, B., </a:t>
            </a:r>
            <a:r>
              <a:rPr lang="en-US" sz="1400" err="1"/>
              <a:t>Fuglerud</a:t>
            </a:r>
            <a:r>
              <a:rPr lang="en-US" sz="1400"/>
              <a:t>, T., &amp; </a:t>
            </a:r>
            <a:r>
              <a:rPr lang="en-US" sz="1400" err="1"/>
              <a:t>Kvisle</a:t>
            </a:r>
            <a:r>
              <a:rPr lang="en-US" sz="1400"/>
              <a:t>, S. (2005). Recent advancements in ethylene and propylene production using the UOP/Hydro MTO process. </a:t>
            </a:r>
            <a:r>
              <a:rPr lang="en-US" sz="1400" i="1"/>
              <a:t>Catalysis Today</a:t>
            </a:r>
            <a:r>
              <a:rPr lang="en-US" sz="1400"/>
              <a:t>, </a:t>
            </a:r>
            <a:r>
              <a:rPr lang="en-US" sz="1400" i="1"/>
              <a:t>106</a:t>
            </a:r>
            <a:r>
              <a:rPr lang="en-US" sz="1400"/>
              <a:t>(1–4), 103–107. https://doi.org/10.1016/j.cattod.2005.07.178</a:t>
            </a:r>
          </a:p>
          <a:p>
            <a:pPr>
              <a:lnSpc>
                <a:spcPct val="100000"/>
              </a:lnSpc>
              <a:spcBef>
                <a:spcPts val="0"/>
              </a:spcBef>
              <a:spcAft>
                <a:spcPts val="0"/>
              </a:spcAft>
            </a:pPr>
            <a:r>
              <a:rPr lang="en-US" sz="1400" baseline="30000"/>
              <a:t>[9]</a:t>
            </a:r>
            <a:r>
              <a:rPr lang="en-US" sz="1400"/>
              <a:t>Jasper, S., &amp; El-</a:t>
            </a:r>
            <a:r>
              <a:rPr lang="en-US" sz="1400" err="1"/>
              <a:t>Halwagi</a:t>
            </a:r>
            <a:r>
              <a:rPr lang="en-US" sz="1400"/>
              <a:t>, M. M. (2015). A techno-economic comparison between two methanol-to-propylene processes. </a:t>
            </a:r>
            <a:r>
              <a:rPr lang="en-US" sz="1400" i="1"/>
              <a:t>Processes</a:t>
            </a:r>
            <a:r>
              <a:rPr lang="en-US" sz="1400"/>
              <a:t>, </a:t>
            </a:r>
            <a:r>
              <a:rPr lang="en-US" sz="1400" i="1"/>
              <a:t>3</a:t>
            </a:r>
            <a:r>
              <a:rPr lang="en-US" sz="1400"/>
              <a:t>(3), 684–698. https://doi.org/10.3390/pr3030684</a:t>
            </a:r>
          </a:p>
          <a:p>
            <a:pPr>
              <a:lnSpc>
                <a:spcPct val="100000"/>
              </a:lnSpc>
              <a:spcBef>
                <a:spcPts val="0"/>
              </a:spcBef>
              <a:spcAft>
                <a:spcPts val="0"/>
              </a:spcAft>
            </a:pPr>
            <a:r>
              <a:rPr lang="en-US" sz="1400" baseline="30000"/>
              <a:t>[10]</a:t>
            </a:r>
            <a:r>
              <a:rPr lang="en-US" sz="1400" err="1"/>
              <a:t>Soundararajan</a:t>
            </a:r>
            <a:r>
              <a:rPr lang="en-US" sz="1400"/>
              <a:t>, S., Dalai, A. K., &amp; </a:t>
            </a:r>
            <a:r>
              <a:rPr lang="en-US" sz="1400" err="1"/>
              <a:t>Berruti</a:t>
            </a:r>
            <a:r>
              <a:rPr lang="en-US" sz="1400"/>
              <a:t>, F. (2001). Modeling of methanol to olefins (MTO) process in a circulating fluidized bed reactor. </a:t>
            </a:r>
            <a:r>
              <a:rPr lang="en-US" sz="1400" i="1"/>
              <a:t>Fuelfile:///C:/Users/0bsolete/Downloads/3-S2.0-B9781437735147100030-Main.Pdf</a:t>
            </a:r>
            <a:r>
              <a:rPr lang="en-US" sz="1400"/>
              <a:t>, </a:t>
            </a:r>
            <a:r>
              <a:rPr lang="en-US" sz="1400" i="1"/>
              <a:t>80</a:t>
            </a:r>
            <a:r>
              <a:rPr lang="en-US" sz="1400"/>
              <a:t>(8), 1187–1197. https://doi.org/10.1016/S0016-2361(00)00182-4</a:t>
            </a:r>
          </a:p>
          <a:p>
            <a:pPr>
              <a:lnSpc>
                <a:spcPct val="100000"/>
              </a:lnSpc>
              <a:spcBef>
                <a:spcPts val="0"/>
              </a:spcBef>
              <a:spcAft>
                <a:spcPts val="0"/>
              </a:spcAft>
            </a:pPr>
            <a:r>
              <a:rPr lang="en-US" sz="1400" baseline="30000"/>
              <a:t>[11]</a:t>
            </a:r>
            <a:r>
              <a:rPr lang="en-US" sz="1400"/>
              <a:t>Speight, James G. “Fischer-</a:t>
            </a:r>
            <a:r>
              <a:rPr lang="en-US" sz="1400" err="1"/>
              <a:t>Tropsch</a:t>
            </a:r>
            <a:r>
              <a:rPr lang="en-US" sz="1400"/>
              <a:t> Synthesis.” </a:t>
            </a:r>
            <a:r>
              <a:rPr lang="en-US" sz="1400" i="1"/>
              <a:t>Fischer-</a:t>
            </a:r>
            <a:r>
              <a:rPr lang="en-US" sz="1400" i="1" err="1"/>
              <a:t>Tropsch</a:t>
            </a:r>
            <a:r>
              <a:rPr lang="en-US" sz="1400" i="1"/>
              <a:t> Synthesis - an Overview | ScienceDirect Topics</a:t>
            </a:r>
            <a:r>
              <a:rPr lang="en-US" sz="1400"/>
              <a:t>, 2014, www.sciencedirect.com/topics/engineering/fischer-tropsch-synthesis.</a:t>
            </a:r>
          </a:p>
          <a:p>
            <a:pPr>
              <a:lnSpc>
                <a:spcPct val="100000"/>
              </a:lnSpc>
              <a:spcBef>
                <a:spcPts val="0"/>
              </a:spcBef>
              <a:spcAft>
                <a:spcPts val="0"/>
              </a:spcAft>
            </a:pPr>
            <a:r>
              <a:rPr lang="en-US" sz="1500" baseline="30000"/>
              <a:t>[12]</a:t>
            </a:r>
            <a:r>
              <a:rPr lang="en-US" sz="1500" err="1"/>
              <a:t>A.Vandewalle</a:t>
            </a:r>
            <a:r>
              <a:rPr lang="en-US" sz="1500"/>
              <a:t>, </a:t>
            </a:r>
            <a:r>
              <a:rPr lang="en-US" sz="1500" err="1"/>
              <a:t>Laurien</a:t>
            </a:r>
            <a:r>
              <a:rPr lang="en-US" sz="1500"/>
              <a:t>, and Kevin </a:t>
            </a:r>
            <a:r>
              <a:rPr lang="en-US" sz="1500" err="1"/>
              <a:t>M.Van</a:t>
            </a:r>
            <a:r>
              <a:rPr lang="en-US" sz="1500"/>
              <a:t> </a:t>
            </a:r>
            <a:r>
              <a:rPr lang="en-US" sz="1500" err="1"/>
              <a:t>Geem</a:t>
            </a:r>
            <a:r>
              <a:rPr lang="en-US" sz="1500"/>
              <a:t>. “New Trends in Olefin Production.” </a:t>
            </a:r>
            <a:r>
              <a:rPr lang="en-US" sz="1500" i="1"/>
              <a:t>Engineering</a:t>
            </a:r>
            <a:r>
              <a:rPr lang="en-US" sz="1500"/>
              <a:t>, Elsevier, 12 May 2017, reader.elsevier.com/reader/</a:t>
            </a:r>
            <a:r>
              <a:rPr lang="en-US" sz="1500" err="1"/>
              <a:t>sd</a:t>
            </a:r>
            <a:r>
              <a:rPr lang="en-US" sz="1500"/>
              <a:t>/</a:t>
            </a:r>
            <a:r>
              <a:rPr lang="en-US" sz="1500" err="1"/>
              <a:t>pii</a:t>
            </a:r>
            <a:r>
              <a:rPr lang="en-US" sz="1500"/>
              <a:t>/S2095809917302965?token=98140415E56F121CD74E11824DDB2F773B5BF4F6DDC445DE969630AF4FD8BC313672B48F1F1D35BEC8CAA5DF3F95C5D1.</a:t>
            </a:r>
          </a:p>
          <a:p>
            <a:pPr>
              <a:lnSpc>
                <a:spcPct val="100000"/>
              </a:lnSpc>
              <a:spcBef>
                <a:spcPts val="0"/>
              </a:spcBef>
              <a:spcAft>
                <a:spcPts val="0"/>
              </a:spcAft>
            </a:pPr>
            <a:r>
              <a:rPr lang="en-US" sz="1500" baseline="30000"/>
              <a:t>[13]</a:t>
            </a:r>
            <a:r>
              <a:rPr lang="en-US" sz="1500"/>
              <a:t>Funk, G. A., Myers, D., &amp; Vora, B. (2013). A different game plan. </a:t>
            </a:r>
            <a:r>
              <a:rPr lang="en-US" sz="1500" i="1"/>
              <a:t>Hydrocarbon Engineering</a:t>
            </a:r>
            <a:r>
              <a:rPr lang="en-US" sz="1500"/>
              <a:t>, </a:t>
            </a:r>
            <a:r>
              <a:rPr lang="en-US" sz="1500" i="1"/>
              <a:t>December</a:t>
            </a:r>
            <a:r>
              <a:rPr lang="en-US" sz="1500"/>
              <a:t>, 1–4. http://www.uop.com/wp-content/uploads/2013/12/Methanol-to-Olefins-Technology_Hydrocarbon-Engineering-Dec-2013.pdf</a:t>
            </a:r>
          </a:p>
          <a:p>
            <a:pPr>
              <a:lnSpc>
                <a:spcPct val="100000"/>
              </a:lnSpc>
              <a:spcBef>
                <a:spcPts val="0"/>
              </a:spcBef>
              <a:spcAft>
                <a:spcPts val="0"/>
              </a:spcAft>
            </a:pPr>
            <a:r>
              <a:rPr lang="en-US" sz="1500" baseline="30000"/>
              <a:t>[14]</a:t>
            </a:r>
            <a:r>
              <a:rPr lang="en-US" sz="1500"/>
              <a:t>Tian, P., Wei, Y., Ye, M., &amp; Liu, Z. (2015). Methanol to olefins (MTO): From fundamentals to commercialization. </a:t>
            </a:r>
            <a:r>
              <a:rPr lang="en-US" sz="1500" i="1"/>
              <a:t>ACS Catalysis</a:t>
            </a:r>
            <a:r>
              <a:rPr lang="en-US" sz="1500"/>
              <a:t>, </a:t>
            </a:r>
            <a:r>
              <a:rPr lang="en-US" sz="1500" i="1"/>
              <a:t>5</a:t>
            </a:r>
            <a:r>
              <a:rPr lang="en-US" sz="1500"/>
              <a:t>(3), 1922–1938. https://doi.org/10.1021/acscatal.5b00007</a:t>
            </a:r>
          </a:p>
          <a:p>
            <a:pPr>
              <a:lnSpc>
                <a:spcPct val="100000"/>
              </a:lnSpc>
              <a:spcBef>
                <a:spcPts val="0"/>
              </a:spcBef>
              <a:spcAft>
                <a:spcPts val="0"/>
              </a:spcAft>
            </a:pPr>
            <a:r>
              <a:rPr lang="en-US" baseline="30000"/>
              <a:t>[15]</a:t>
            </a:r>
            <a:r>
              <a:rPr lang="en-US" sz="1400" err="1"/>
              <a:t>Posch</a:t>
            </a:r>
            <a:r>
              <a:rPr lang="en-US" sz="1400"/>
              <a:t>, W. (2011). Polyolefins. </a:t>
            </a:r>
            <a:r>
              <a:rPr lang="en-US" sz="1400" i="1"/>
              <a:t>Applied Plastics Engineering Handbook</a:t>
            </a:r>
            <a:r>
              <a:rPr lang="en-US" sz="1400"/>
              <a:t>, 23–48. https://</a:t>
            </a:r>
            <a:r>
              <a:rPr lang="en-US" sz="1400" err="1"/>
              <a:t>doi.org</a:t>
            </a:r>
            <a:r>
              <a:rPr lang="en-US" sz="1400"/>
              <a:t>/10.1016/B978-1-4377-3514-7.10003-0</a:t>
            </a:r>
          </a:p>
          <a:p>
            <a:pPr>
              <a:lnSpc>
                <a:spcPct val="100000"/>
              </a:lnSpc>
              <a:spcBef>
                <a:spcPts val="0"/>
              </a:spcBef>
              <a:spcAft>
                <a:spcPts val="0"/>
              </a:spcAft>
            </a:pPr>
            <a:endParaRPr lang="en-US" baseline="30000"/>
          </a:p>
          <a:p>
            <a:pPr>
              <a:lnSpc>
                <a:spcPct val="100000"/>
              </a:lnSpc>
              <a:spcBef>
                <a:spcPts val="0"/>
              </a:spcBef>
              <a:spcAft>
                <a:spcPts val="0"/>
              </a:spcAft>
            </a:pPr>
            <a:endParaRPr lang="en-US" sz="1500"/>
          </a:p>
          <a:p>
            <a:pPr>
              <a:lnSpc>
                <a:spcPct val="100000"/>
              </a:lnSpc>
              <a:spcBef>
                <a:spcPts val="0"/>
              </a:spcBef>
              <a:spcAft>
                <a:spcPts val="0"/>
              </a:spcAft>
            </a:pPr>
            <a:endParaRPr lang="en-US" sz="1400"/>
          </a:p>
          <a:p>
            <a:endParaRPr lang="en-US"/>
          </a:p>
        </p:txBody>
      </p:sp>
      <p:sp>
        <p:nvSpPr>
          <p:cNvPr id="4" name="Slide Number Placeholder 3">
            <a:extLst>
              <a:ext uri="{FF2B5EF4-FFF2-40B4-BE49-F238E27FC236}">
                <a16:creationId xmlns:a16="http://schemas.microsoft.com/office/drawing/2014/main" id="{D406FCE6-AC92-45BF-A937-336D11E74B9A}"/>
              </a:ext>
            </a:extLst>
          </p:cNvPr>
          <p:cNvSpPr>
            <a:spLocks noGrp="1"/>
          </p:cNvSpPr>
          <p:nvPr>
            <p:ph type="sldNum" sz="quarter" idx="12"/>
          </p:nvPr>
        </p:nvSpPr>
        <p:spPr/>
        <p:txBody>
          <a:bodyPr/>
          <a:lstStyle/>
          <a:p>
            <a:fld id="{330EA680-D336-4FF7-8B7A-9848BB0A1C32}" type="slidenum">
              <a:rPr lang="en-US" sz="2400" smtClean="0"/>
              <a:t>23</a:t>
            </a:fld>
            <a:endParaRPr lang="en-US" sz="2400"/>
          </a:p>
        </p:txBody>
      </p:sp>
    </p:spTree>
    <p:extLst>
      <p:ext uri="{BB962C8B-B14F-4D97-AF65-F5344CB8AC3E}">
        <p14:creationId xmlns:p14="http://schemas.microsoft.com/office/powerpoint/2010/main" val="794589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21A4-6CD5-9D4E-A26D-E7F9AFED3968}"/>
              </a:ext>
            </a:extLst>
          </p:cNvPr>
          <p:cNvSpPr>
            <a:spLocks noGrp="1"/>
          </p:cNvSpPr>
          <p:nvPr>
            <p:ph type="title"/>
          </p:nvPr>
        </p:nvSpPr>
        <p:spPr/>
        <p:txBody>
          <a:bodyPr/>
          <a:lstStyle/>
          <a:p>
            <a:r>
              <a:rPr lang="en-US" dirty="0"/>
              <a:t>Supplemental Slides</a:t>
            </a:r>
          </a:p>
        </p:txBody>
      </p:sp>
      <p:sp>
        <p:nvSpPr>
          <p:cNvPr id="3" name="Content Placeholder 2">
            <a:extLst>
              <a:ext uri="{FF2B5EF4-FFF2-40B4-BE49-F238E27FC236}">
                <a16:creationId xmlns:a16="http://schemas.microsoft.com/office/drawing/2014/main" id="{52F90E00-0BF0-6D4F-8E41-09EEFACDA711}"/>
              </a:ext>
            </a:extLst>
          </p:cNvPr>
          <p:cNvSpPr>
            <a:spLocks noGrp="1"/>
          </p:cNvSpPr>
          <p:nvPr>
            <p:ph idx="1"/>
          </p:nvPr>
        </p:nvSpPr>
        <p:spPr/>
        <p:txBody>
          <a:bodyPr/>
          <a:lstStyle/>
          <a:p>
            <a:r>
              <a:rPr lang="en-US" dirty="0"/>
              <a:t>McCabe-Thiele Diagram</a:t>
            </a:r>
          </a:p>
          <a:p>
            <a:endParaRPr lang="en-US" dirty="0"/>
          </a:p>
        </p:txBody>
      </p:sp>
      <p:sp>
        <p:nvSpPr>
          <p:cNvPr id="4" name="Slide Number Placeholder 3">
            <a:extLst>
              <a:ext uri="{FF2B5EF4-FFF2-40B4-BE49-F238E27FC236}">
                <a16:creationId xmlns:a16="http://schemas.microsoft.com/office/drawing/2014/main" id="{0AB469BD-DDE7-D047-86FD-D4582670FF32}"/>
              </a:ext>
            </a:extLst>
          </p:cNvPr>
          <p:cNvSpPr>
            <a:spLocks noGrp="1"/>
          </p:cNvSpPr>
          <p:nvPr>
            <p:ph type="sldNum" sz="quarter" idx="12"/>
          </p:nvPr>
        </p:nvSpPr>
        <p:spPr/>
        <p:txBody>
          <a:bodyPr/>
          <a:lstStyle/>
          <a:p>
            <a:fld id="{330EA680-D336-4FF7-8B7A-9848BB0A1C32}" type="slidenum">
              <a:rPr lang="en-US" smtClean="0"/>
              <a:t>24</a:t>
            </a:fld>
            <a:endParaRPr lang="en-US"/>
          </a:p>
        </p:txBody>
      </p:sp>
      <p:pic>
        <p:nvPicPr>
          <p:cNvPr id="5" name="Picture 4" descr="A close up of text on a white background&#10;&#10;Description automatically generated">
            <a:extLst>
              <a:ext uri="{FF2B5EF4-FFF2-40B4-BE49-F238E27FC236}">
                <a16:creationId xmlns:a16="http://schemas.microsoft.com/office/drawing/2014/main" id="{E635C12B-2046-874B-9163-98B21B4F926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190307" y="1845733"/>
            <a:ext cx="7710151" cy="4614051"/>
          </a:xfrm>
          <a:prstGeom prst="rect">
            <a:avLst/>
          </a:prstGeom>
        </p:spPr>
      </p:pic>
    </p:spTree>
    <p:extLst>
      <p:ext uri="{BB962C8B-B14F-4D97-AF65-F5344CB8AC3E}">
        <p14:creationId xmlns:p14="http://schemas.microsoft.com/office/powerpoint/2010/main" val="108600984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F02D1DD9F1C04D9676B0569D4BE6C3" ma:contentTypeVersion="4" ma:contentTypeDescription="Create a new document." ma:contentTypeScope="" ma:versionID="e69847453cd9e419ec1dcdbb4936be8d">
  <xsd:schema xmlns:xsd="http://www.w3.org/2001/XMLSchema" xmlns:xs="http://www.w3.org/2001/XMLSchema" xmlns:p="http://schemas.microsoft.com/office/2006/metadata/properties" xmlns:ns2="ea7ecf6e-d211-4d98-92d4-bfbdbcff5193" targetNamespace="http://schemas.microsoft.com/office/2006/metadata/properties" ma:root="true" ma:fieldsID="a61557ad460dfc5d04a55fd6367676b8" ns2:_="">
    <xsd:import namespace="ea7ecf6e-d211-4d98-92d4-bfbdbcff519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7ecf6e-d211-4d98-92d4-bfbdbcff51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78195E-6926-4170-B866-65AB5A3734EA}">
  <ds:schemaRefs>
    <ds:schemaRef ds:uri="http://purl.org/dc/terms/"/>
    <ds:schemaRef ds:uri="ea7ecf6e-d211-4d98-92d4-bfbdbcff5193"/>
    <ds:schemaRef ds:uri="http://purl.org/dc/dcmitype/"/>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B35F128-3FBA-40C2-9F52-9F3D7CA270AE}">
  <ds:schemaRefs>
    <ds:schemaRef ds:uri="http://schemas.microsoft.com/sharepoint/v3/contenttype/forms"/>
  </ds:schemaRefs>
</ds:datastoreItem>
</file>

<file path=customXml/itemProps3.xml><?xml version="1.0" encoding="utf-8"?>
<ds:datastoreItem xmlns:ds="http://schemas.openxmlformats.org/officeDocument/2006/customXml" ds:itemID="{FED39522-0E41-4C97-97B6-5943CE8289BC}">
  <ds:schemaRefs>
    <ds:schemaRef ds:uri="ea7ecf6e-d211-4d98-92d4-bfbdbcff51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1749</Words>
  <Application>Microsoft Macintosh PowerPoint</Application>
  <PresentationFormat>Widescreen</PresentationFormat>
  <Paragraphs>287</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 Math</vt:lpstr>
      <vt:lpstr>Times New Roman</vt:lpstr>
      <vt:lpstr>Retrospect</vt:lpstr>
      <vt:lpstr>Advanced MTO Process in India</vt:lpstr>
      <vt:lpstr>Why MTO in India? </vt:lpstr>
      <vt:lpstr>Design Basis</vt:lpstr>
      <vt:lpstr>BFD</vt:lpstr>
      <vt:lpstr>PFD</vt:lpstr>
      <vt:lpstr>Aspen Simulation PFD</vt:lpstr>
      <vt:lpstr>Process Flow Diagram: Reactor Hierarchy</vt:lpstr>
      <vt:lpstr>Reactor Hierarchy: Stream Details</vt:lpstr>
      <vt:lpstr>Reactor Hierarchy: Equipment Sizing </vt:lpstr>
      <vt:lpstr>Process Flow Diagram: Quench Hierarchy</vt:lpstr>
      <vt:lpstr>Quench Hierarchy: Stream Details</vt:lpstr>
      <vt:lpstr>Quench Hierarchy: Equipment Sizing</vt:lpstr>
      <vt:lpstr>Process Flow Diagram:  Scrubbing/Drying Hierarchy </vt:lpstr>
      <vt:lpstr>Scrubbing/Drying Hierarchy : Stream Details</vt:lpstr>
      <vt:lpstr>Scrubbing/Drying Hierarchy: Equipment Sizing</vt:lpstr>
      <vt:lpstr>Process Flow Diagram: Separation/Cracking Hierarchy</vt:lpstr>
      <vt:lpstr>Separation/Cracking Hierarchy: Stream Details</vt:lpstr>
      <vt:lpstr>Separation/Cracking Hierarchy: Equipment Sizing </vt:lpstr>
      <vt:lpstr>Separation/Cracking Hierarchy: Equipment Sizing </vt:lpstr>
      <vt:lpstr>Hand Calculations</vt:lpstr>
      <vt:lpstr>Hand Calculations vs. Aspen Simulation</vt:lpstr>
      <vt:lpstr>Preliminary Utilities</vt:lpstr>
      <vt:lpstr>References</vt:lpstr>
      <vt:lpstr>Supplemental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MTO Process in India</dc:title>
  <dc:creator>Sobie, Emily E</dc:creator>
  <cp:lastModifiedBy>Sobie, Emily E</cp:lastModifiedBy>
  <cp:revision>1</cp:revision>
  <dcterms:created xsi:type="dcterms:W3CDTF">2020-03-02T07:36:00Z</dcterms:created>
  <dcterms:modified xsi:type="dcterms:W3CDTF">2020-03-03T18:40:06Z</dcterms:modified>
</cp:coreProperties>
</file>