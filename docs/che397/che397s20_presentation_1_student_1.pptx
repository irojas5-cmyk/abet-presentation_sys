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29"/>
  </p:notesMasterIdLst>
  <p:sldIdLst>
    <p:sldId id="256" r:id="rId5"/>
    <p:sldId id="271" r:id="rId6"/>
    <p:sldId id="277" r:id="rId7"/>
    <p:sldId id="258" r:id="rId8"/>
    <p:sldId id="260" r:id="rId9"/>
    <p:sldId id="261" r:id="rId10"/>
    <p:sldId id="266" r:id="rId11"/>
    <p:sldId id="281" r:id="rId12"/>
    <p:sldId id="267" r:id="rId13"/>
    <p:sldId id="270" r:id="rId14"/>
    <p:sldId id="264" r:id="rId15"/>
    <p:sldId id="282" r:id="rId16"/>
    <p:sldId id="283" r:id="rId17"/>
    <p:sldId id="285" r:id="rId18"/>
    <p:sldId id="278" r:id="rId19"/>
    <p:sldId id="286" r:id="rId20"/>
    <p:sldId id="279" r:id="rId21"/>
    <p:sldId id="269" r:id="rId22"/>
    <p:sldId id="276" r:id="rId23"/>
    <p:sldId id="287" r:id="rId24"/>
    <p:sldId id="268" r:id="rId25"/>
    <p:sldId id="275" r:id="rId26"/>
    <p:sldId id="259" r:id="rId27"/>
    <p:sldId id="2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9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/>
              <a:t>Chemical Cost in $USD/</a:t>
            </a:r>
            <a:r>
              <a:rPr lang="en-US" sz="2800" b="1" dirty="0" err="1"/>
              <a:t>tonne</a:t>
            </a:r>
            <a:r>
              <a:rPr lang="en-US" sz="2800" b="1" dirty="0"/>
              <a:t> </a:t>
            </a:r>
            <a:r>
              <a:rPr lang="en-US" sz="2800" b="1" i="0" u="none" strike="noStrike" baseline="0" dirty="0">
                <a:effectLst/>
              </a:rPr>
              <a:t>[6]</a:t>
            </a:r>
            <a:endParaRPr lang="en-US" sz="28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685214833696807E-2"/>
          <c:y val="0.11494931299299739"/>
          <c:w val="0.92926353594064948"/>
          <c:h val="0.740037647711528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$USD/tonne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Naphtha</c:v>
                </c:pt>
                <c:pt idx="1">
                  <c:v>Methanol</c:v>
                </c:pt>
                <c:pt idx="2">
                  <c:v>Para-xylene</c:v>
                </c:pt>
                <c:pt idx="3">
                  <c:v>Benzene</c:v>
                </c:pt>
                <c:pt idx="4">
                  <c:v>Ortho-xylene</c:v>
                </c:pt>
                <c:pt idx="5">
                  <c:v>Hydrogen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</c:v>
                </c:pt>
                <c:pt idx="1">
                  <c:v>335</c:v>
                </c:pt>
                <c:pt idx="2">
                  <c:v>1050</c:v>
                </c:pt>
                <c:pt idx="3">
                  <c:v>645</c:v>
                </c:pt>
                <c:pt idx="4">
                  <c:v>947.99</c:v>
                </c:pt>
                <c:pt idx="5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8B-4DCC-AB13-8FF707E7B1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2739360"/>
        <c:axId val="912741984"/>
      </c:barChart>
      <c:catAx>
        <c:axId val="912739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2741984"/>
        <c:crosses val="autoZero"/>
        <c:auto val="1"/>
        <c:lblAlgn val="ctr"/>
        <c:lblOffset val="100"/>
        <c:noMultiLvlLbl val="0"/>
      </c:catAx>
      <c:valAx>
        <c:axId val="912741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2739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F942F-F4A1-470C-B3D6-656E08600B58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1B0BE-9BC6-4C24-8943-1DAAFB4E1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64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A387C3D9-782A-454D-8870-D48F6213787E}" type="datetime1">
              <a:rPr lang="en-US" smtClean="0"/>
              <a:t>2/4/2020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1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6465-95EA-454F-82A9-44238A2FA7C6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83009CF-8666-4742-9028-3466344A29B1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8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E2F9E-377E-4519-B959-CA546EF9AFFC}" type="datetime1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6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95E6-BF59-4342-B8DF-C0DF499C01F3}" type="datetime1">
              <a:rPr lang="en-US" smtClean="0"/>
              <a:t>2/4/2020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7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A46D-27CB-449D-84F1-DB2EED1DCC20}" type="datetime1">
              <a:rPr lang="en-US" smtClean="0"/>
              <a:t>2/4/2020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16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7737-F984-4980-894E-EA335C4D5142}" type="datetime1">
              <a:rPr lang="en-US" smtClean="0"/>
              <a:t>2/4/2020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65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16E96280-3A9A-4665-B974-EC40546116D9}" type="datetime1">
              <a:rPr lang="en-US" smtClean="0"/>
              <a:t>2/4/2020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5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3C80314-9F2A-4274-8CA5-9E3BB6417C6A}" type="datetime1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95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CDBE-09C6-4E29-807D-437D795045D8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2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85B8-8D2A-488B-9370-3D1A9A5E35E5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26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E8F0F23-6F03-4770-A1C5-55D0E326F350}" type="datetime1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3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67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200" b="1" i="0" kern="1200" cap="none" spc="-7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gitalrefining.com/article/1000442,Process_for_ultra_purification_of_paraxylene.html" TargetMode="External"/><Relationship Id="rId2" Type="http://schemas.openxmlformats.org/officeDocument/2006/relationships/hyperlink" Target="http://www.plasticsinsight.com/resin-intelligence/resin-prices/purified-terephthalic-acid-pta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xonmobilchemical.com/en/catalysts-and-technology-licensing/xylenes-production/toluene-selective-alkylation-with-methano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2CF0C4-9AA2-4AEC-9E88-0569F803B2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787"/>
          <a:stretch/>
        </p:blipFill>
        <p:spPr>
          <a:xfrm>
            <a:off x="-1" y="10"/>
            <a:ext cx="12192000" cy="4551026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30074"/>
            <a:ext cx="12192000" cy="2327925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116" y="4692768"/>
            <a:ext cx="11859768" cy="200253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78A4D-76BD-4399-ADB0-7580A5F32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292" y="4851148"/>
            <a:ext cx="11439414" cy="897439"/>
          </a:xfrm>
        </p:spPr>
        <p:txBody>
          <a:bodyPr>
            <a:normAutofit fontScale="90000"/>
          </a:bodyPr>
          <a:lstStyle/>
          <a:p>
            <a:r>
              <a:rPr lang="en-US" sz="4400">
                <a:solidFill>
                  <a:schemeClr val="tx1"/>
                </a:solidFill>
              </a:rPr>
              <a:t>Para-xylene Production Through Methylation of Toluene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A4085-4B29-436A-A31C-520E60997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293" y="5748587"/>
            <a:ext cx="8230627" cy="841055"/>
          </a:xfrm>
        </p:spPr>
        <p:txBody>
          <a:bodyPr>
            <a:normAutofit/>
          </a:bodyPr>
          <a:lstStyle/>
          <a:p>
            <a:pPr algn="l"/>
            <a:r>
              <a:rPr lang="en-US" b="1">
                <a:solidFill>
                  <a:schemeClr val="tx1"/>
                </a:solidFill>
              </a:rPr>
              <a:t>Mentor: </a:t>
            </a:r>
            <a:r>
              <a:rPr lang="en-US">
                <a:solidFill>
                  <a:schemeClr val="tx1"/>
                </a:solidFill>
              </a:rPr>
              <a:t>Adam </a:t>
            </a:r>
            <a:r>
              <a:rPr lang="en-US" err="1">
                <a:solidFill>
                  <a:schemeClr val="tx1"/>
                </a:solidFill>
              </a:rPr>
              <a:t>Brostow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 b="1">
                <a:solidFill>
                  <a:schemeClr val="tx1"/>
                </a:solidFill>
              </a:rPr>
              <a:t>Authored by: </a:t>
            </a:r>
            <a:r>
              <a:rPr lang="en-US">
                <a:solidFill>
                  <a:schemeClr val="tx1"/>
                </a:solidFill>
              </a:rPr>
              <a:t>Mahamat </a:t>
            </a:r>
            <a:r>
              <a:rPr lang="en-US" err="1">
                <a:solidFill>
                  <a:schemeClr val="tx1"/>
                </a:solidFill>
              </a:rPr>
              <a:t>Abdraman</a:t>
            </a:r>
            <a:r>
              <a:rPr lang="en-US">
                <a:solidFill>
                  <a:schemeClr val="tx1"/>
                </a:solidFill>
              </a:rPr>
              <a:t>, James Fell, </a:t>
            </a:r>
            <a:r>
              <a:rPr lang="en-US" err="1">
                <a:solidFill>
                  <a:schemeClr val="tx1"/>
                </a:solidFill>
              </a:rPr>
              <a:t>Rongwei</a:t>
            </a:r>
            <a:r>
              <a:rPr lang="en-US">
                <a:solidFill>
                  <a:schemeClr val="tx1"/>
                </a:solidFill>
              </a:rPr>
              <a:t> Lin, William Rawson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5DB88-09BB-47D5-ABC4-ECC1CD22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AB5C68-5963-4CC5-ACCA-6CDBBBC9AB9D}"/>
              </a:ext>
            </a:extLst>
          </p:cNvPr>
          <p:cNvSpPr/>
          <p:nvPr/>
        </p:nvSpPr>
        <p:spPr>
          <a:xfrm>
            <a:off x="9748986" y="6074847"/>
            <a:ext cx="20667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FEBRUARY 4, 2020</a:t>
            </a:r>
          </a:p>
        </p:txBody>
      </p:sp>
    </p:spTree>
    <p:extLst>
      <p:ext uri="{BB962C8B-B14F-4D97-AF65-F5344CB8AC3E}">
        <p14:creationId xmlns:p14="http://schemas.microsoft.com/office/powerpoint/2010/main" val="2977224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9577-44E0-43EC-89CC-863F0C65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840" y="453838"/>
            <a:ext cx="3807042" cy="916081"/>
          </a:xfrm>
        </p:spPr>
        <p:txBody>
          <a:bodyPr/>
          <a:lstStyle/>
          <a:p>
            <a:pPr algn="ctr"/>
            <a:r>
              <a:rPr lang="en-US"/>
              <a:t>Introduction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F1FE9AA-76E4-4C1F-B765-094FB4D43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635" y="3979230"/>
            <a:ext cx="2744611" cy="205581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1C1C8-06EC-426B-8340-509D8465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D667A7-3A55-4DB3-B70F-FE374D8A2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58" y="1330786"/>
            <a:ext cx="2992769" cy="15479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8FAF89-265A-47AE-A99F-4FA8AC2894CA}"/>
              </a:ext>
            </a:extLst>
          </p:cNvPr>
          <p:cNvSpPr txBox="1"/>
          <p:nvPr/>
        </p:nvSpPr>
        <p:spPr>
          <a:xfrm>
            <a:off x="894941" y="2967139"/>
            <a:ext cx="2583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Chemical Structure C</a:t>
            </a:r>
            <a:r>
              <a:rPr lang="en-US" baseline="-25000"/>
              <a:t>6</a:t>
            </a:r>
            <a:r>
              <a:rPr lang="en-US"/>
              <a:t>H</a:t>
            </a:r>
            <a:r>
              <a:rPr lang="en-US" baseline="-25000"/>
              <a:t>4</a:t>
            </a:r>
            <a:r>
              <a:rPr lang="en-US"/>
              <a:t>(CH</a:t>
            </a:r>
            <a:r>
              <a:rPr lang="en-US" baseline="-25000"/>
              <a:t>3</a:t>
            </a:r>
            <a:r>
              <a:rPr lang="en-US"/>
              <a:t>)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42C4D5-4E15-4C53-B533-5F3B9E2379EC}"/>
              </a:ext>
            </a:extLst>
          </p:cNvPr>
          <p:cNvSpPr/>
          <p:nvPr/>
        </p:nvSpPr>
        <p:spPr>
          <a:xfrm>
            <a:off x="1209294" y="6031468"/>
            <a:ext cx="1613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Polyester Fiber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2DD8518-7120-46FC-82F8-10389F9E6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067" y="1114764"/>
            <a:ext cx="27336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A9219C-C49D-4021-88E1-00B567C1E190}"/>
              </a:ext>
            </a:extLst>
          </p:cNvPr>
          <p:cNvSpPr txBox="1"/>
          <p:nvPr/>
        </p:nvSpPr>
        <p:spPr>
          <a:xfrm>
            <a:off x="8918340" y="3026875"/>
            <a:ext cx="2583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Purified Terephthalic Acid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4466D35F-8171-4800-9EFF-A5C45B2514B9}"/>
              </a:ext>
            </a:extLst>
          </p:cNvPr>
          <p:cNvSpPr/>
          <p:nvPr/>
        </p:nvSpPr>
        <p:spPr>
          <a:xfrm>
            <a:off x="4680071" y="1935775"/>
            <a:ext cx="2831857" cy="50392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CCA9C507-36F8-464C-A039-CC3490C56343}"/>
              </a:ext>
            </a:extLst>
          </p:cNvPr>
          <p:cNvSpPr/>
          <p:nvPr/>
        </p:nvSpPr>
        <p:spPr>
          <a:xfrm>
            <a:off x="4680070" y="4755175"/>
            <a:ext cx="2831857" cy="50392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#">
            <a:extLst>
              <a:ext uri="{FF2B5EF4-FFF2-40B4-BE49-F238E27FC236}">
                <a16:creationId xmlns:a16="http://schemas.microsoft.com/office/drawing/2014/main" id="{BE6FE818-FB2E-4168-A412-5ABBB1D82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5" y="3965322"/>
            <a:ext cx="2831857" cy="212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3D333A9-D721-45BB-A13A-F004E5DEA293}"/>
              </a:ext>
            </a:extLst>
          </p:cNvPr>
          <p:cNvSpPr/>
          <p:nvPr/>
        </p:nvSpPr>
        <p:spPr>
          <a:xfrm>
            <a:off x="9760109" y="6089215"/>
            <a:ext cx="89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Textiles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A32FE9-D900-429F-927D-E3F3FAADE76E}"/>
              </a:ext>
            </a:extLst>
          </p:cNvPr>
          <p:cNvSpPr txBox="1"/>
          <p:nvPr/>
        </p:nvSpPr>
        <p:spPr>
          <a:xfrm>
            <a:off x="3946339" y="2690336"/>
            <a:ext cx="43971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Para-xylene is used as a building block in the manufacture of chemicals sought after in the plastic industry, such as terephthalic acid (TPA), purified terephthalic acid (PTA), and dimethyl-terephthalate (DMT).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FEB50-496E-455C-9DD9-80747C9240C9}"/>
              </a:ext>
            </a:extLst>
          </p:cNvPr>
          <p:cNvSpPr txBox="1"/>
          <p:nvPr/>
        </p:nvSpPr>
        <p:spPr>
          <a:xfrm>
            <a:off x="3275791" y="2520265"/>
            <a:ext cx="59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392A6-8F8B-4BE4-957C-FBC2681393FD}"/>
              </a:ext>
            </a:extLst>
          </p:cNvPr>
          <p:cNvSpPr txBox="1"/>
          <p:nvPr/>
        </p:nvSpPr>
        <p:spPr>
          <a:xfrm>
            <a:off x="11125200" y="2645911"/>
            <a:ext cx="59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E25E50-5995-4B14-A276-49C2015CFAFD}"/>
              </a:ext>
            </a:extLst>
          </p:cNvPr>
          <p:cNvSpPr txBox="1"/>
          <p:nvPr/>
        </p:nvSpPr>
        <p:spPr>
          <a:xfrm>
            <a:off x="3092933" y="5675260"/>
            <a:ext cx="59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[3]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904C84-EC3B-409F-9719-3EE1F4469346}"/>
              </a:ext>
            </a:extLst>
          </p:cNvPr>
          <p:cNvSpPr txBox="1"/>
          <p:nvPr/>
        </p:nvSpPr>
        <p:spPr>
          <a:xfrm>
            <a:off x="11173554" y="5743236"/>
            <a:ext cx="59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387676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9577-44E0-43EC-89CC-863F0C65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363" y="56567"/>
            <a:ext cx="10058400" cy="1371600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1C1C8-06EC-426B-8340-509D8465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AABB-CD93-4B44-BDB8-F04CB753F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485" y="1153707"/>
            <a:ext cx="3869185" cy="60200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b="1"/>
              <a:t>What industry is para-xylene produced?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E3C5A6-8307-490A-BC11-ACA3155A9F5F}"/>
              </a:ext>
            </a:extLst>
          </p:cNvPr>
          <p:cNvCxnSpPr/>
          <p:nvPr/>
        </p:nvCxnSpPr>
        <p:spPr>
          <a:xfrm>
            <a:off x="4498018" y="1330612"/>
            <a:ext cx="31959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2A51B7C5-BB70-4CB7-A7EC-47CA876C84F0}"/>
              </a:ext>
            </a:extLst>
          </p:cNvPr>
          <p:cNvSpPr txBox="1">
            <a:spLocks/>
          </p:cNvSpPr>
          <p:nvPr/>
        </p:nvSpPr>
        <p:spPr>
          <a:xfrm>
            <a:off x="8110953" y="1153707"/>
            <a:ext cx="2656643" cy="610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/>
              <a:t>Petrochemical Industry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6A751-F70F-4E9E-834D-41E20B858241}"/>
              </a:ext>
            </a:extLst>
          </p:cNvPr>
          <p:cNvSpPr txBox="1"/>
          <p:nvPr/>
        </p:nvSpPr>
        <p:spPr>
          <a:xfrm>
            <a:off x="640485" y="1670991"/>
            <a:ext cx="1069685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Products of an aromatic plant : BENZENE + PARA-XYLENE</a:t>
            </a:r>
          </a:p>
          <a:p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Separation technology can be difficult and costly due to the xylene isomers</a:t>
            </a:r>
          </a:p>
          <a:p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But the question remains, what makes para-xylene worth it?</a:t>
            </a:r>
          </a:p>
          <a:p>
            <a:endParaRPr lang="en-US" dirty="0"/>
          </a:p>
        </p:txBody>
      </p:sp>
      <p:sp>
        <p:nvSpPr>
          <p:cNvPr id="19" name="Thought Bubble: Cloud 18">
            <a:extLst>
              <a:ext uri="{FF2B5EF4-FFF2-40B4-BE49-F238E27FC236}">
                <a16:creationId xmlns:a16="http://schemas.microsoft.com/office/drawing/2014/main" id="{E0C04334-E58E-4B9C-9369-A2B441D16DEC}"/>
              </a:ext>
            </a:extLst>
          </p:cNvPr>
          <p:cNvSpPr/>
          <p:nvPr/>
        </p:nvSpPr>
        <p:spPr>
          <a:xfrm>
            <a:off x="4479707" y="2525307"/>
            <a:ext cx="3018407" cy="1160844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/>
              <a:t>But what about Para- , ortho- , or meta-?</a:t>
            </a:r>
          </a:p>
        </p:txBody>
      </p:sp>
    </p:spTree>
    <p:extLst>
      <p:ext uri="{BB962C8B-B14F-4D97-AF65-F5344CB8AC3E}">
        <p14:creationId xmlns:p14="http://schemas.microsoft.com/office/powerpoint/2010/main" val="1717766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D4824-D774-45C2-A97D-D51743050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848276"/>
          </a:xfrm>
        </p:spPr>
        <p:txBody>
          <a:bodyPr>
            <a:normAutofit/>
          </a:bodyPr>
          <a:lstStyle/>
          <a:p>
            <a:r>
              <a:rPr lang="en-US" sz="4400"/>
              <a:t>Market Analysis (Value Chain)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E2142D-3E7A-4936-9F25-2D7E91BF1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958" y="1573363"/>
            <a:ext cx="11196084" cy="26749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CA664-B782-4A26-8910-518139FB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4</a:t>
            </a:fld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ECA7656-7B2E-4741-8CCF-EEB48015FA3C}"/>
              </a:ext>
            </a:extLst>
          </p:cNvPr>
          <p:cNvSpPr/>
          <p:nvPr/>
        </p:nvSpPr>
        <p:spPr>
          <a:xfrm>
            <a:off x="660798" y="4469627"/>
            <a:ext cx="2238037" cy="1630017"/>
          </a:xfrm>
          <a:prstGeom prst="triangle">
            <a:avLst>
              <a:gd name="adj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Crude Oil Price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D0DC9B32-B9B3-4761-9D11-31FB3429E022}"/>
              </a:ext>
            </a:extLst>
          </p:cNvPr>
          <p:cNvSpPr/>
          <p:nvPr/>
        </p:nvSpPr>
        <p:spPr>
          <a:xfrm>
            <a:off x="9507086" y="4534231"/>
            <a:ext cx="1896332" cy="1500809"/>
          </a:xfrm>
          <a:prstGeom prst="hexagon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Demand/Supply for Polyester</a:t>
            </a:r>
          </a:p>
        </p:txBody>
      </p:sp>
      <p:sp>
        <p:nvSpPr>
          <p:cNvPr id="17" name="Teardrop 16">
            <a:extLst>
              <a:ext uri="{FF2B5EF4-FFF2-40B4-BE49-F238E27FC236}">
                <a16:creationId xmlns:a16="http://schemas.microsoft.com/office/drawing/2014/main" id="{63F71CCD-4663-4B38-87B5-815B08A43584}"/>
              </a:ext>
            </a:extLst>
          </p:cNvPr>
          <p:cNvSpPr/>
          <p:nvPr/>
        </p:nvSpPr>
        <p:spPr>
          <a:xfrm>
            <a:off x="5083942" y="4534231"/>
            <a:ext cx="2024115" cy="1500809"/>
          </a:xfrm>
          <a:prstGeom prst="teardrop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Profitability of Paraxylene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CF2057-2045-4CEE-9E3E-EE35EB52390B}"/>
              </a:ext>
            </a:extLst>
          </p:cNvPr>
          <p:cNvCxnSpPr>
            <a:cxnSpLocks/>
            <a:stCxn id="14" idx="5"/>
            <a:endCxn id="17" idx="4"/>
          </p:cNvCxnSpPr>
          <p:nvPr/>
        </p:nvCxnSpPr>
        <p:spPr>
          <a:xfrm>
            <a:off x="2339326" y="5284636"/>
            <a:ext cx="2744616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91119B-3CA5-46E1-86D8-90D71509D935}"/>
              </a:ext>
            </a:extLst>
          </p:cNvPr>
          <p:cNvCxnSpPr>
            <a:cxnSpLocks/>
            <a:stCxn id="15" idx="3"/>
            <a:endCxn id="17" idx="0"/>
          </p:cNvCxnSpPr>
          <p:nvPr/>
        </p:nvCxnSpPr>
        <p:spPr>
          <a:xfrm flipH="1">
            <a:off x="7108057" y="5284636"/>
            <a:ext cx="2399029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10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7485C-CAFD-4B19-90FA-406EFA51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75825"/>
            <a:ext cx="10058400" cy="915601"/>
          </a:xfrm>
        </p:spPr>
        <p:txBody>
          <a:bodyPr/>
          <a:lstStyle/>
          <a:p>
            <a:r>
              <a:rPr lang="en-US"/>
              <a:t>Market Analysis (Market Drivers)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901C2-569E-45DB-A08A-5F0666BB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970AE-E62F-42D7-B3A7-BBDD5235DA5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82885" y="1297273"/>
            <a:ext cx="5385338" cy="40217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C2ED36-1AA8-4F72-94B9-BB4EC0AAFE7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0803" y="1303953"/>
            <a:ext cx="5807901" cy="40329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AC1784-3700-43F5-AEB6-A20046417098}"/>
              </a:ext>
            </a:extLst>
          </p:cNvPr>
          <p:cNvSpPr/>
          <p:nvPr/>
        </p:nvSpPr>
        <p:spPr>
          <a:xfrm>
            <a:off x="1066801" y="5276950"/>
            <a:ext cx="49264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Polyester Fiber (65%)</a:t>
            </a:r>
            <a:r>
              <a:rPr lang="en-US" sz="2400" b="1" dirty="0"/>
              <a:t>, PET Bottle Resins (27%), </a:t>
            </a:r>
            <a:r>
              <a:rPr lang="en-US" sz="2400" b="1" dirty="0">
                <a:solidFill>
                  <a:srgbClr val="00B050"/>
                </a:solidFill>
              </a:rPr>
              <a:t>Film (8%) </a:t>
            </a:r>
            <a:r>
              <a:rPr lang="en-US" sz="2400" b="1" dirty="0"/>
              <a:t>[5].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D813A5-D641-45D3-97ED-0DFEA29A6268}"/>
              </a:ext>
            </a:extLst>
          </p:cNvPr>
          <p:cNvSpPr/>
          <p:nvPr/>
        </p:nvSpPr>
        <p:spPr>
          <a:xfrm>
            <a:off x="6096000" y="5280553"/>
            <a:ext cx="54880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China (57%), </a:t>
            </a:r>
            <a:r>
              <a:rPr lang="en-US" sz="2400" b="1" dirty="0"/>
              <a:t>Asia (20%), </a:t>
            </a:r>
            <a:r>
              <a:rPr lang="en-US" sz="2400" b="1" dirty="0">
                <a:solidFill>
                  <a:srgbClr val="00B050"/>
                </a:solidFill>
              </a:rPr>
              <a:t>India (8%), </a:t>
            </a:r>
            <a:r>
              <a:rPr lang="en-US" sz="2400" b="1" dirty="0">
                <a:solidFill>
                  <a:srgbClr val="D09E00"/>
                </a:solidFill>
              </a:rPr>
              <a:t>North America (7%), </a:t>
            </a:r>
            <a:r>
              <a:rPr lang="en-US" sz="2400" b="1" dirty="0">
                <a:solidFill>
                  <a:srgbClr val="7030A0"/>
                </a:solidFill>
              </a:rPr>
              <a:t>Europe (6%), </a:t>
            </a:r>
            <a:r>
              <a:rPr lang="en-US" sz="2400" b="1" dirty="0">
                <a:solidFill>
                  <a:srgbClr val="FF0000"/>
                </a:solidFill>
              </a:rPr>
              <a:t>Middle East (2%)</a:t>
            </a:r>
            <a:r>
              <a:rPr lang="en-US" sz="2400" b="1" dirty="0"/>
              <a:t> [5].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20E043-A81F-4036-91D6-0E3A310C67B9}"/>
              </a:ext>
            </a:extLst>
          </p:cNvPr>
          <p:cNvSpPr/>
          <p:nvPr/>
        </p:nvSpPr>
        <p:spPr>
          <a:xfrm>
            <a:off x="1341472" y="1303953"/>
            <a:ext cx="3890745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/>
              <a:t>Demand of PTA per Application (2016)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EA32BC-0AA7-41F9-AAC1-4440E4A0F83F}"/>
              </a:ext>
            </a:extLst>
          </p:cNvPr>
          <p:cNvSpPr/>
          <p:nvPr/>
        </p:nvSpPr>
        <p:spPr>
          <a:xfrm>
            <a:off x="7147561" y="1303953"/>
            <a:ext cx="3487621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/>
              <a:t>Demand of PTA per Region (2016)</a:t>
            </a:r>
          </a:p>
        </p:txBody>
      </p:sp>
    </p:spTree>
    <p:extLst>
      <p:ext uri="{BB962C8B-B14F-4D97-AF65-F5344CB8AC3E}">
        <p14:creationId xmlns:p14="http://schemas.microsoft.com/office/powerpoint/2010/main" val="404323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80210-2500-4728-A7EF-A87B1DD99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69" y="486088"/>
            <a:ext cx="10353261" cy="838336"/>
          </a:xfrm>
        </p:spPr>
        <p:txBody>
          <a:bodyPr/>
          <a:lstStyle/>
          <a:p>
            <a:r>
              <a:rPr lang="en-US"/>
              <a:t>Market Analysis (Feed Stock Pricing)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F87DE5-B12D-4F59-B2B7-5520A991B5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867590"/>
              </p:ext>
            </p:extLst>
          </p:nvPr>
        </p:nvGraphicFramePr>
        <p:xfrm>
          <a:off x="1063487" y="1324424"/>
          <a:ext cx="10061713" cy="5076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D9DA0-4A64-469D-B47F-6A66D3E8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42E1-D66A-4C17-B443-ED2576AFD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290" y="178937"/>
            <a:ext cx="10058400" cy="1371600"/>
          </a:xfrm>
        </p:spPr>
        <p:txBody>
          <a:bodyPr/>
          <a:lstStyle/>
          <a:p>
            <a:r>
              <a:rPr lang="en-US"/>
              <a:t>Market Analysis (Looking Forward)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BF7F2-B75A-45A9-9602-4E2840BB7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21B1E-FDE8-492B-8FB0-957A9EC4D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761" y="1258109"/>
            <a:ext cx="8586477" cy="46366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74AB9F-8A93-4432-BB7D-966DCB1E233F}"/>
              </a:ext>
            </a:extLst>
          </p:cNvPr>
          <p:cNvSpPr/>
          <p:nvPr/>
        </p:nvSpPr>
        <p:spPr>
          <a:xfrm>
            <a:off x="2646655" y="5939135"/>
            <a:ext cx="77425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Global demand, capacity, and utilization of PX [7].</a:t>
            </a:r>
          </a:p>
        </p:txBody>
      </p:sp>
    </p:spTree>
    <p:extLst>
      <p:ext uri="{BB962C8B-B14F-4D97-AF65-F5344CB8AC3E}">
        <p14:creationId xmlns:p14="http://schemas.microsoft.com/office/powerpoint/2010/main" val="2329974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247D-F1E4-4496-A196-39EC3BBA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02" y="386086"/>
            <a:ext cx="10058400" cy="1371600"/>
          </a:xfrm>
        </p:spPr>
        <p:txBody>
          <a:bodyPr/>
          <a:lstStyle/>
          <a:p>
            <a:r>
              <a:rPr lang="en-US"/>
              <a:t>Goals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5E2E7-E52D-4260-BC8C-E99A8399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002" y="1586679"/>
            <a:ext cx="10058400" cy="1554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Purpose: The purpose of this report is to provide an innovative and novel design for the production of para-xylene.</a:t>
            </a:r>
          </a:p>
          <a:p>
            <a:pPr marL="0" indent="0">
              <a:buNone/>
            </a:pPr>
            <a:r>
              <a:rPr lang="en-US"/>
              <a:t>The design will implement existing technological models, such as the methylation of toluene, while also incorporating new energy optimization ideas that will produce para-xylene of optimal purity.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1DDDA-8EE4-417D-B721-1C8AB508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8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05E15E-060B-482B-95E1-6C273579CDDA}"/>
              </a:ext>
            </a:extLst>
          </p:cNvPr>
          <p:cNvSpPr/>
          <p:nvPr/>
        </p:nvSpPr>
        <p:spPr>
          <a:xfrm>
            <a:off x="8185228" y="3129473"/>
            <a:ext cx="1269507" cy="126950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Lower Capital Costs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99EA2A4-EBD1-4332-B5D3-86E52BB38309}"/>
              </a:ext>
            </a:extLst>
          </p:cNvPr>
          <p:cNvSpPr/>
          <p:nvPr/>
        </p:nvSpPr>
        <p:spPr>
          <a:xfrm rot="2118158">
            <a:off x="4184403" y="4002377"/>
            <a:ext cx="978408" cy="4846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B12E425-3BA8-45E3-B3B6-CDC5B86DE7D1}"/>
              </a:ext>
            </a:extLst>
          </p:cNvPr>
          <p:cNvSpPr/>
          <p:nvPr/>
        </p:nvSpPr>
        <p:spPr>
          <a:xfrm>
            <a:off x="2965141" y="3129474"/>
            <a:ext cx="1269507" cy="126950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Less Utilities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8A97E49-2E9A-4411-BE6A-1D4C0DC7A2C2}"/>
              </a:ext>
            </a:extLst>
          </p:cNvPr>
          <p:cNvSpPr/>
          <p:nvPr/>
        </p:nvSpPr>
        <p:spPr>
          <a:xfrm rot="8481831">
            <a:off x="7118322" y="3939225"/>
            <a:ext cx="1070040" cy="50741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59BC43-1208-40BE-A539-AE7704A1628F}"/>
              </a:ext>
            </a:extLst>
          </p:cNvPr>
          <p:cNvSpPr/>
          <p:nvPr/>
        </p:nvSpPr>
        <p:spPr>
          <a:xfrm>
            <a:off x="5114985" y="4683434"/>
            <a:ext cx="1998625" cy="15544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More Economically and environmentally viable</a:t>
            </a:r>
          </a:p>
        </p:txBody>
      </p:sp>
    </p:spTree>
    <p:extLst>
      <p:ext uri="{BB962C8B-B14F-4D97-AF65-F5344CB8AC3E}">
        <p14:creationId xmlns:p14="http://schemas.microsoft.com/office/powerpoint/2010/main" val="1185507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972E-EBF3-4055-BEB6-F27E2B08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Basis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EC8B2-89F6-4E12-B56F-B7FD78D21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115" y="1786270"/>
            <a:ext cx="10877107" cy="424877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600" b="1" dirty="0"/>
              <a:t>Produce 4.5 MMTPA of para-xylene</a:t>
            </a:r>
          </a:p>
          <a:p>
            <a:pPr lvl="1"/>
            <a:r>
              <a:rPr lang="en-US" sz="2200" dirty="0"/>
              <a:t>Compete with </a:t>
            </a:r>
            <a:r>
              <a:rPr lang="en-US" sz="2200" dirty="0" err="1"/>
              <a:t>Hengli</a:t>
            </a:r>
            <a:r>
              <a:rPr lang="en-US" sz="2200" dirty="0"/>
              <a:t> Petrochemical (4.5 MMTPA) and Reliance Industries (4.3 MMTPA)</a:t>
            </a:r>
          </a:p>
          <a:p>
            <a:pPr lvl="1"/>
            <a:r>
              <a:rPr lang="en-US" sz="2200" dirty="0"/>
              <a:t>Higher output will protect against any further market downturns in para-xylene prices</a:t>
            </a:r>
          </a:p>
          <a:p>
            <a:r>
              <a:rPr lang="en-US" sz="2600" b="1" dirty="0"/>
              <a:t>Produce para-xylene with a purity of 99.9% purity</a:t>
            </a:r>
          </a:p>
          <a:p>
            <a:pPr lvl="1"/>
            <a:r>
              <a:rPr lang="en-US" sz="2200" dirty="0"/>
              <a:t>Customers demand higher purity para-xylene [</a:t>
            </a:r>
            <a:r>
              <a:rPr lang="en-US" sz="2200"/>
              <a:t>8</a:t>
            </a:r>
            <a:r>
              <a:rPr lang="en-US" sz="2200" dirty="0"/>
              <a:t>]</a:t>
            </a:r>
          </a:p>
          <a:p>
            <a:r>
              <a:rPr lang="en-US" sz="2600" b="1" dirty="0"/>
              <a:t>Recover 99% of the para-xylene from the reformed naphtha feed</a:t>
            </a:r>
          </a:p>
          <a:p>
            <a:pPr lvl="1"/>
            <a:r>
              <a:rPr lang="en-US" sz="2200" dirty="0"/>
              <a:t>Higher recoveries of para-xylene means less by-products and higher margins.</a:t>
            </a:r>
          </a:p>
          <a:p>
            <a:r>
              <a:rPr lang="en-US" sz="2600" b="1" dirty="0"/>
              <a:t>Recover 97% of the para-xylene from the methylation of toluene</a:t>
            </a:r>
          </a:p>
          <a:p>
            <a:pPr lvl="1"/>
            <a:r>
              <a:rPr lang="en-US" sz="2200" dirty="0"/>
              <a:t>Higher recoveries form the conversion from the methylation of toluene means increased main product revenues and lower production of less valuable by-products. </a:t>
            </a:r>
          </a:p>
          <a:p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3E8C9-6C4E-4B27-BB4C-4610C9F0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9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FD84-8E05-4AD4-9156-C4BD3B568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771536"/>
          </a:xfrm>
        </p:spPr>
        <p:txBody>
          <a:bodyPr>
            <a:normAutofit/>
          </a:bodyPr>
          <a:lstStyle/>
          <a:p>
            <a:r>
              <a:rPr lang="en-US"/>
              <a:t>Design Basis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0B821-8171-42DE-9B85-7E32F2146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87131"/>
            <a:ext cx="10058400" cy="121643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400"/>
              <a:t>Location of our Para-xylene Production Facility: </a:t>
            </a:r>
            <a:r>
              <a:rPr lang="en-US" sz="2400" b="1"/>
              <a:t>Dalian, China</a:t>
            </a:r>
          </a:p>
          <a:p>
            <a:r>
              <a:rPr lang="en-US" sz="2400"/>
              <a:t>Access to ports, existing petrochemical infrastructure, largest producers of TPA are in Dalian, cheap electricity, import natural gas and raw materials.</a:t>
            </a:r>
            <a:endParaRPr lang="en-US" sz="24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D5980-D2E6-44EF-BA6B-A7BCD76A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5" descr="A close up of a map&#10;&#10;Description generated with high confidence">
            <a:extLst>
              <a:ext uri="{FF2B5EF4-FFF2-40B4-BE49-F238E27FC236}">
                <a16:creationId xmlns:a16="http://schemas.microsoft.com/office/drawing/2014/main" id="{7E822025-9640-4F8E-A808-C167E532F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74" y="2613478"/>
            <a:ext cx="10975107" cy="35014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145373-81D6-4305-902F-9109BA3F6EBF}"/>
              </a:ext>
            </a:extLst>
          </p:cNvPr>
          <p:cNvSpPr txBox="1"/>
          <p:nvPr/>
        </p:nvSpPr>
        <p:spPr>
          <a:xfrm>
            <a:off x="609600" y="5665708"/>
            <a:ext cx="9144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/>
              <a:t>[9]</a:t>
            </a:r>
          </a:p>
        </p:txBody>
      </p:sp>
    </p:spTree>
    <p:extLst>
      <p:ext uri="{BB962C8B-B14F-4D97-AF65-F5344CB8AC3E}">
        <p14:creationId xmlns:p14="http://schemas.microsoft.com/office/powerpoint/2010/main" val="2759934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F63A-466B-4EFC-967C-6AE819836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821" y="304735"/>
            <a:ext cx="10058400" cy="576606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Process Description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F00B96-DFDF-4892-8DD0-FC97AF29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5764" y="5997729"/>
            <a:ext cx="838200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202B30-D91F-4192-AFCF-12BBF6A94E6B}"/>
              </a:ext>
            </a:extLst>
          </p:cNvPr>
          <p:cNvSpPr/>
          <p:nvPr/>
        </p:nvSpPr>
        <p:spPr>
          <a:xfrm>
            <a:off x="2283985" y="1751648"/>
            <a:ext cx="1490283" cy="6052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Reforming Unit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CE4B6A-D2ED-4B36-93F0-A9D13CF93084}"/>
              </a:ext>
            </a:extLst>
          </p:cNvPr>
          <p:cNvSpPr/>
          <p:nvPr/>
        </p:nvSpPr>
        <p:spPr>
          <a:xfrm>
            <a:off x="4745990" y="1765190"/>
            <a:ext cx="1160655" cy="5765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Stabilizer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ABEDB9-143B-4403-9611-23982E4279A5}"/>
              </a:ext>
            </a:extLst>
          </p:cNvPr>
          <p:cNvSpPr txBox="1"/>
          <p:nvPr/>
        </p:nvSpPr>
        <p:spPr>
          <a:xfrm>
            <a:off x="445788" y="1790675"/>
            <a:ext cx="1602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Naphtha</a:t>
            </a:r>
          </a:p>
          <a:p>
            <a:r>
              <a:rPr lang="en-US" sz="1400"/>
              <a:t>C</a:t>
            </a:r>
            <a:r>
              <a:rPr lang="en-US" sz="1400" baseline="-25000"/>
              <a:t>7+</a:t>
            </a:r>
            <a:r>
              <a:rPr lang="en-US" sz="1400"/>
              <a:t> aromatics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378591-8069-4AA0-B083-E7D1C9619CE2}"/>
              </a:ext>
            </a:extLst>
          </p:cNvPr>
          <p:cNvCxnSpPr>
            <a:cxnSpLocks/>
          </p:cNvCxnSpPr>
          <p:nvPr/>
        </p:nvCxnSpPr>
        <p:spPr>
          <a:xfrm>
            <a:off x="1283863" y="2011937"/>
            <a:ext cx="10001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920A2B-2C5C-473C-9B25-A5D2F4E67117}"/>
              </a:ext>
            </a:extLst>
          </p:cNvPr>
          <p:cNvCxnSpPr>
            <a:cxnSpLocks/>
          </p:cNvCxnSpPr>
          <p:nvPr/>
        </p:nvCxnSpPr>
        <p:spPr>
          <a:xfrm flipV="1">
            <a:off x="2604636" y="984400"/>
            <a:ext cx="0" cy="756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C884E1-B50E-4290-A3D5-FFAC224A4F39}"/>
              </a:ext>
            </a:extLst>
          </p:cNvPr>
          <p:cNvCxnSpPr>
            <a:cxnSpLocks/>
          </p:cNvCxnSpPr>
          <p:nvPr/>
        </p:nvCxnSpPr>
        <p:spPr>
          <a:xfrm flipV="1">
            <a:off x="5344575" y="1092042"/>
            <a:ext cx="0" cy="6731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DCDC267-9040-46C9-96B1-B6531F16A725}"/>
              </a:ext>
            </a:extLst>
          </p:cNvPr>
          <p:cNvSpPr txBox="1"/>
          <p:nvPr/>
        </p:nvSpPr>
        <p:spPr>
          <a:xfrm>
            <a:off x="2442175" y="686271"/>
            <a:ext cx="37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H</a:t>
            </a:r>
            <a:r>
              <a:rPr lang="en-US" sz="1400" baseline="-25000"/>
              <a:t>2</a:t>
            </a:r>
            <a:endParaRPr lang="en-US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F6577F-CF1B-435E-9DEE-F2D6B4F2C604}"/>
              </a:ext>
            </a:extLst>
          </p:cNvPr>
          <p:cNvSpPr txBox="1"/>
          <p:nvPr/>
        </p:nvSpPr>
        <p:spPr>
          <a:xfrm>
            <a:off x="3087158" y="719942"/>
            <a:ext cx="813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Fuel gas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BD43B2-490F-4FC9-8D48-A306AFEA81D3}"/>
              </a:ext>
            </a:extLst>
          </p:cNvPr>
          <p:cNvCxnSpPr>
            <a:cxnSpLocks/>
          </p:cNvCxnSpPr>
          <p:nvPr/>
        </p:nvCxnSpPr>
        <p:spPr>
          <a:xfrm>
            <a:off x="3774268" y="2066506"/>
            <a:ext cx="9893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A91A203-9F55-480F-AE6E-99A44C69A60E}"/>
              </a:ext>
            </a:extLst>
          </p:cNvPr>
          <p:cNvSpPr txBox="1"/>
          <p:nvPr/>
        </p:nvSpPr>
        <p:spPr>
          <a:xfrm>
            <a:off x="5914632" y="1551673"/>
            <a:ext cx="974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Liquid Reformate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597B40-0234-4BEC-A624-0D410BBE6D0D}"/>
              </a:ext>
            </a:extLst>
          </p:cNvPr>
          <p:cNvCxnSpPr>
            <a:cxnSpLocks/>
          </p:cNvCxnSpPr>
          <p:nvPr/>
        </p:nvCxnSpPr>
        <p:spPr>
          <a:xfrm flipV="1">
            <a:off x="3369368" y="995090"/>
            <a:ext cx="0" cy="756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B665494-BDDB-4D92-8DDA-C0CD1365D208}"/>
              </a:ext>
            </a:extLst>
          </p:cNvPr>
          <p:cNvSpPr txBox="1"/>
          <p:nvPr/>
        </p:nvSpPr>
        <p:spPr>
          <a:xfrm>
            <a:off x="4988128" y="830512"/>
            <a:ext cx="813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Fuel gas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F418DB-F75C-475F-A0D7-71100360D5E9}"/>
              </a:ext>
            </a:extLst>
          </p:cNvPr>
          <p:cNvSpPr/>
          <p:nvPr/>
        </p:nvSpPr>
        <p:spPr>
          <a:xfrm>
            <a:off x="9034253" y="1740959"/>
            <a:ext cx="1607816" cy="6181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Extraction Unit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342E3D-8E30-4AFC-AF89-E9BD3DA2C0A2}"/>
              </a:ext>
            </a:extLst>
          </p:cNvPr>
          <p:cNvSpPr/>
          <p:nvPr/>
        </p:nvSpPr>
        <p:spPr>
          <a:xfrm>
            <a:off x="6878367" y="1723638"/>
            <a:ext cx="1160655" cy="5765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Splitter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F484B3-6B6F-4399-A3CF-7D904313C55C}"/>
              </a:ext>
            </a:extLst>
          </p:cNvPr>
          <p:cNvCxnSpPr>
            <a:cxnSpLocks/>
          </p:cNvCxnSpPr>
          <p:nvPr/>
        </p:nvCxnSpPr>
        <p:spPr>
          <a:xfrm>
            <a:off x="5905193" y="2053121"/>
            <a:ext cx="9893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79B847B-3B85-4B5B-9A06-770E685F4FE9}"/>
              </a:ext>
            </a:extLst>
          </p:cNvPr>
          <p:cNvSpPr txBox="1"/>
          <p:nvPr/>
        </p:nvSpPr>
        <p:spPr>
          <a:xfrm>
            <a:off x="3798552" y="1766829"/>
            <a:ext cx="974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Reformate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46D89E-EE8C-422F-A6DA-F69FFAAC7164}"/>
              </a:ext>
            </a:extLst>
          </p:cNvPr>
          <p:cNvCxnSpPr>
            <a:cxnSpLocks/>
          </p:cNvCxnSpPr>
          <p:nvPr/>
        </p:nvCxnSpPr>
        <p:spPr>
          <a:xfrm>
            <a:off x="7489346" y="2261845"/>
            <a:ext cx="0" cy="4715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9B6FB37-AADE-4120-AF1F-7ECB44F67F95}"/>
              </a:ext>
            </a:extLst>
          </p:cNvPr>
          <p:cNvSpPr txBox="1"/>
          <p:nvPr/>
        </p:nvSpPr>
        <p:spPr>
          <a:xfrm>
            <a:off x="7271731" y="2640936"/>
            <a:ext cx="1230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</a:t>
            </a:r>
            <a:r>
              <a:rPr lang="en-US" sz="1400" baseline="-25000"/>
              <a:t>9+</a:t>
            </a:r>
            <a:r>
              <a:rPr lang="en-US" sz="1400"/>
              <a:t> aromatics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67CEA66-6EF8-445A-8C40-AFD702881B1C}"/>
              </a:ext>
            </a:extLst>
          </p:cNvPr>
          <p:cNvCxnSpPr>
            <a:cxnSpLocks/>
          </p:cNvCxnSpPr>
          <p:nvPr/>
        </p:nvCxnSpPr>
        <p:spPr>
          <a:xfrm>
            <a:off x="8044951" y="2066506"/>
            <a:ext cx="9893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42A294E-31B6-4C8F-A772-23F4C8E77B3E}"/>
              </a:ext>
            </a:extLst>
          </p:cNvPr>
          <p:cNvSpPr/>
          <p:nvPr/>
        </p:nvSpPr>
        <p:spPr>
          <a:xfrm>
            <a:off x="9746371" y="3798559"/>
            <a:ext cx="1481953" cy="5884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Fractionation Column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194D60F-DD4D-4DC0-97D1-5191C4DE7333}"/>
              </a:ext>
            </a:extLst>
          </p:cNvPr>
          <p:cNvCxnSpPr>
            <a:cxnSpLocks/>
          </p:cNvCxnSpPr>
          <p:nvPr/>
        </p:nvCxnSpPr>
        <p:spPr>
          <a:xfrm flipV="1">
            <a:off x="9387598" y="984401"/>
            <a:ext cx="0" cy="756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5E5DF18-186C-44E5-805F-363019041D04}"/>
              </a:ext>
            </a:extLst>
          </p:cNvPr>
          <p:cNvCxnSpPr>
            <a:cxnSpLocks/>
          </p:cNvCxnSpPr>
          <p:nvPr/>
        </p:nvCxnSpPr>
        <p:spPr>
          <a:xfrm flipV="1">
            <a:off x="10244811" y="984401"/>
            <a:ext cx="0" cy="756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F2C108D-29DE-4ACF-BBCC-83B02FC383F5}"/>
              </a:ext>
            </a:extLst>
          </p:cNvPr>
          <p:cNvSpPr txBox="1"/>
          <p:nvPr/>
        </p:nvSpPr>
        <p:spPr>
          <a:xfrm>
            <a:off x="9919890" y="736015"/>
            <a:ext cx="813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Fuel gas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D22348-6229-4520-B6C2-30EE3BF7241E}"/>
              </a:ext>
            </a:extLst>
          </p:cNvPr>
          <p:cNvSpPr txBox="1"/>
          <p:nvPr/>
        </p:nvSpPr>
        <p:spPr>
          <a:xfrm>
            <a:off x="8909095" y="545988"/>
            <a:ext cx="1146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Unconverted Paraffins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61AB6B-981E-491F-8200-9203CAB97A3F}"/>
              </a:ext>
            </a:extLst>
          </p:cNvPr>
          <p:cNvSpPr txBox="1"/>
          <p:nvPr/>
        </p:nvSpPr>
        <p:spPr>
          <a:xfrm>
            <a:off x="8052467" y="1354306"/>
            <a:ext cx="9742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BTX</a:t>
            </a:r>
          </a:p>
          <a:p>
            <a:pPr algn="ctr"/>
            <a:r>
              <a:rPr lang="en-US" sz="1400"/>
              <a:t>EB </a:t>
            </a:r>
          </a:p>
          <a:p>
            <a:pPr algn="ctr"/>
            <a:r>
              <a:rPr lang="en-US" sz="1400"/>
              <a:t>Paraffins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FA57A4CA-9E1B-4A0C-B507-358521517066}"/>
              </a:ext>
            </a:extLst>
          </p:cNvPr>
          <p:cNvCxnSpPr>
            <a:cxnSpLocks/>
          </p:cNvCxnSpPr>
          <p:nvPr/>
        </p:nvCxnSpPr>
        <p:spPr>
          <a:xfrm rot="5400000">
            <a:off x="10405762" y="2897456"/>
            <a:ext cx="2049913" cy="404787"/>
          </a:xfrm>
          <a:prstGeom prst="bentConnector3">
            <a:avLst>
              <a:gd name="adj1" fmla="val 9965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246A624-FF00-49E1-A7BD-315013346A88}"/>
              </a:ext>
            </a:extLst>
          </p:cNvPr>
          <p:cNvCxnSpPr>
            <a:cxnSpLocks/>
          </p:cNvCxnSpPr>
          <p:nvPr/>
        </p:nvCxnSpPr>
        <p:spPr>
          <a:xfrm>
            <a:off x="10642069" y="2038408"/>
            <a:ext cx="1012653" cy="116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9A859F91-1D74-460A-93E8-C4EF5C4169F3}"/>
              </a:ext>
            </a:extLst>
          </p:cNvPr>
          <p:cNvSpPr txBox="1"/>
          <p:nvPr/>
        </p:nvSpPr>
        <p:spPr>
          <a:xfrm>
            <a:off x="10598570" y="1302134"/>
            <a:ext cx="12300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BTX</a:t>
            </a:r>
          </a:p>
          <a:p>
            <a:pPr algn="ctr"/>
            <a:r>
              <a:rPr lang="en-US" sz="1400"/>
              <a:t>EB </a:t>
            </a:r>
          </a:p>
          <a:p>
            <a:pPr algn="ctr"/>
            <a:r>
              <a:rPr lang="en-US" sz="1400"/>
              <a:t>C</a:t>
            </a:r>
            <a:r>
              <a:rPr lang="en-US" sz="1400" baseline="-25000"/>
              <a:t>9+</a:t>
            </a:r>
            <a:r>
              <a:rPr lang="en-US" sz="1400"/>
              <a:t> aromatics</a:t>
            </a:r>
          </a:p>
          <a:p>
            <a:pPr algn="ctr"/>
            <a:endParaRPr lang="en-US" sz="1400"/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50D6B05A-9E49-45EF-84F0-30A48A5BED45}"/>
              </a:ext>
            </a:extLst>
          </p:cNvPr>
          <p:cNvCxnSpPr>
            <a:cxnSpLocks/>
          </p:cNvCxnSpPr>
          <p:nvPr/>
        </p:nvCxnSpPr>
        <p:spPr>
          <a:xfrm flipH="1" flipV="1">
            <a:off x="8840076" y="4114561"/>
            <a:ext cx="9062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1BEAC4C8-A4E3-4A27-B6AA-F872EE32576E}"/>
              </a:ext>
            </a:extLst>
          </p:cNvPr>
          <p:cNvSpPr txBox="1"/>
          <p:nvPr/>
        </p:nvSpPr>
        <p:spPr>
          <a:xfrm>
            <a:off x="8865958" y="3588781"/>
            <a:ext cx="854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Benzene Toluene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680171D-E0D9-437F-9224-AD2DEA43DF43}"/>
              </a:ext>
            </a:extLst>
          </p:cNvPr>
          <p:cNvSpPr txBox="1"/>
          <p:nvPr/>
        </p:nvSpPr>
        <p:spPr>
          <a:xfrm>
            <a:off x="8865958" y="4690194"/>
            <a:ext cx="2673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Xylenes and C</a:t>
            </a:r>
            <a:r>
              <a:rPr lang="en-US" sz="1400" baseline="-25000"/>
              <a:t>9+</a:t>
            </a:r>
            <a:r>
              <a:rPr lang="en-US" sz="1400"/>
              <a:t> to xylene column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A1820D1-3581-4D0A-B734-324DC3D77BE7}"/>
              </a:ext>
            </a:extLst>
          </p:cNvPr>
          <p:cNvSpPr/>
          <p:nvPr/>
        </p:nvSpPr>
        <p:spPr>
          <a:xfrm>
            <a:off x="7622935" y="3870578"/>
            <a:ext cx="1230081" cy="5232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Benzene Column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9DDCB7E-9791-40C6-B0CC-3E0BA47C7355}"/>
              </a:ext>
            </a:extLst>
          </p:cNvPr>
          <p:cNvCxnSpPr>
            <a:cxnSpLocks/>
          </p:cNvCxnSpPr>
          <p:nvPr/>
        </p:nvCxnSpPr>
        <p:spPr>
          <a:xfrm flipV="1">
            <a:off x="8292023" y="3292752"/>
            <a:ext cx="0" cy="5778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9D7E1BFA-B6DA-4409-B45D-78E6B1587463}"/>
              </a:ext>
            </a:extLst>
          </p:cNvPr>
          <p:cNvSpPr txBox="1"/>
          <p:nvPr/>
        </p:nvSpPr>
        <p:spPr>
          <a:xfrm>
            <a:off x="7998487" y="3024751"/>
            <a:ext cx="854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Benzene 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EE4A61C3-8E81-4CC4-9EB9-896B601FDD4A}"/>
              </a:ext>
            </a:extLst>
          </p:cNvPr>
          <p:cNvCxnSpPr>
            <a:cxnSpLocks/>
          </p:cNvCxnSpPr>
          <p:nvPr/>
        </p:nvCxnSpPr>
        <p:spPr>
          <a:xfrm flipH="1">
            <a:off x="6834360" y="4148277"/>
            <a:ext cx="788576" cy="90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C1561285-A612-4387-B5BC-9B99215049AF}"/>
              </a:ext>
            </a:extLst>
          </p:cNvPr>
          <p:cNvSpPr txBox="1"/>
          <p:nvPr/>
        </p:nvSpPr>
        <p:spPr>
          <a:xfrm>
            <a:off x="6807087" y="3849511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 Toluene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A46BBF7-DCCE-466E-9789-49337981550C}"/>
              </a:ext>
            </a:extLst>
          </p:cNvPr>
          <p:cNvSpPr/>
          <p:nvPr/>
        </p:nvSpPr>
        <p:spPr>
          <a:xfrm>
            <a:off x="4842370" y="3798559"/>
            <a:ext cx="1985519" cy="753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General Toluene Conversion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F3DB2965-85F5-48D5-A414-9A8009A3F44A}"/>
              </a:ext>
            </a:extLst>
          </p:cNvPr>
          <p:cNvCxnSpPr>
            <a:cxnSpLocks/>
          </p:cNvCxnSpPr>
          <p:nvPr/>
        </p:nvCxnSpPr>
        <p:spPr>
          <a:xfrm>
            <a:off x="5450806" y="3374571"/>
            <a:ext cx="0" cy="4297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14D0996D-74B0-4A91-8CAF-E28E22AC4DFA}"/>
              </a:ext>
            </a:extLst>
          </p:cNvPr>
          <p:cNvCxnSpPr>
            <a:cxnSpLocks/>
          </p:cNvCxnSpPr>
          <p:nvPr/>
        </p:nvCxnSpPr>
        <p:spPr>
          <a:xfrm flipV="1">
            <a:off x="6184411" y="3344401"/>
            <a:ext cx="0" cy="4541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D66D24C1-7A4F-42BD-BE4C-B6D3080EC3F2}"/>
              </a:ext>
            </a:extLst>
          </p:cNvPr>
          <p:cNvSpPr txBox="1"/>
          <p:nvPr/>
        </p:nvSpPr>
        <p:spPr>
          <a:xfrm>
            <a:off x="5303797" y="3099901"/>
            <a:ext cx="37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H</a:t>
            </a:r>
            <a:r>
              <a:rPr lang="en-US" sz="1400" baseline="-25000"/>
              <a:t>2</a:t>
            </a:r>
            <a:endParaRPr lang="en-US" sz="140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3ACFEAC-EFC0-445F-8D97-4476350AC506}"/>
              </a:ext>
            </a:extLst>
          </p:cNvPr>
          <p:cNvSpPr txBox="1"/>
          <p:nvPr/>
        </p:nvSpPr>
        <p:spPr>
          <a:xfrm>
            <a:off x="5791021" y="3095226"/>
            <a:ext cx="813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Fuel gas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8A6DED04-C07E-4F79-8872-64B83FB0952A}"/>
              </a:ext>
            </a:extLst>
          </p:cNvPr>
          <p:cNvSpPr/>
          <p:nvPr/>
        </p:nvSpPr>
        <p:spPr>
          <a:xfrm>
            <a:off x="2095853" y="3764388"/>
            <a:ext cx="1501160" cy="7157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Xylene rerun Column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C6B05AAE-8418-4B5D-9F5E-B6DB4C73AC60}"/>
              </a:ext>
            </a:extLst>
          </p:cNvPr>
          <p:cNvCxnSpPr>
            <a:cxnSpLocks/>
          </p:cNvCxnSpPr>
          <p:nvPr/>
        </p:nvCxnSpPr>
        <p:spPr>
          <a:xfrm flipH="1" flipV="1">
            <a:off x="3553108" y="4157288"/>
            <a:ext cx="12763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E75ACF7-FD12-40D9-AF61-6A7BD7A9B27D}"/>
              </a:ext>
            </a:extLst>
          </p:cNvPr>
          <p:cNvSpPr/>
          <p:nvPr/>
        </p:nvSpPr>
        <p:spPr>
          <a:xfrm>
            <a:off x="1578821" y="5276753"/>
            <a:ext cx="1985519" cy="794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PX recovery Unit</a:t>
            </a:r>
          </a:p>
          <a:p>
            <a:pPr algn="ctr"/>
            <a:r>
              <a:rPr lang="en-US"/>
              <a:t>Adsorption or Crystallization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3689AE6-FC77-47C8-A381-CDFF25D91906}"/>
              </a:ext>
            </a:extLst>
          </p:cNvPr>
          <p:cNvSpPr/>
          <p:nvPr/>
        </p:nvSpPr>
        <p:spPr>
          <a:xfrm>
            <a:off x="5051262" y="5246828"/>
            <a:ext cx="1985519" cy="854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Xylene Isomerization Unit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93F7B3EB-4381-47AF-BE00-82F811F6624E}"/>
              </a:ext>
            </a:extLst>
          </p:cNvPr>
          <p:cNvCxnSpPr>
            <a:cxnSpLocks/>
          </p:cNvCxnSpPr>
          <p:nvPr/>
        </p:nvCxnSpPr>
        <p:spPr>
          <a:xfrm>
            <a:off x="6096000" y="6101481"/>
            <a:ext cx="0" cy="3292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2EC5B807-9F1B-465C-B90C-6AC91C26FB2B}"/>
              </a:ext>
            </a:extLst>
          </p:cNvPr>
          <p:cNvSpPr txBox="1"/>
          <p:nvPr/>
        </p:nvSpPr>
        <p:spPr>
          <a:xfrm>
            <a:off x="6076845" y="6206830"/>
            <a:ext cx="2229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Undesired heavy aromatics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46255865-AE5D-4139-9A5B-ABE46CF54F98}"/>
              </a:ext>
            </a:extLst>
          </p:cNvPr>
          <p:cNvCxnSpPr>
            <a:cxnSpLocks/>
          </p:cNvCxnSpPr>
          <p:nvPr/>
        </p:nvCxnSpPr>
        <p:spPr>
          <a:xfrm>
            <a:off x="5597696" y="4888074"/>
            <a:ext cx="0" cy="357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B34459EB-91B8-4A95-8F64-D4D0FF79BCDA}"/>
              </a:ext>
            </a:extLst>
          </p:cNvPr>
          <p:cNvSpPr txBox="1"/>
          <p:nvPr/>
        </p:nvSpPr>
        <p:spPr>
          <a:xfrm>
            <a:off x="5303797" y="4724428"/>
            <a:ext cx="37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H</a:t>
            </a:r>
            <a:r>
              <a:rPr lang="en-US" sz="1400" baseline="-25000"/>
              <a:t>2</a:t>
            </a:r>
            <a:endParaRPr lang="en-US" sz="1400"/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953D9D76-3F48-454B-AF94-113C372C0CC6}"/>
              </a:ext>
            </a:extLst>
          </p:cNvPr>
          <p:cNvCxnSpPr>
            <a:cxnSpLocks/>
          </p:cNvCxnSpPr>
          <p:nvPr/>
        </p:nvCxnSpPr>
        <p:spPr>
          <a:xfrm flipV="1">
            <a:off x="6494654" y="4849586"/>
            <a:ext cx="0" cy="3964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B0AB5FDD-C073-46C2-9583-B80A2FF247CA}"/>
              </a:ext>
            </a:extLst>
          </p:cNvPr>
          <p:cNvSpPr txBox="1"/>
          <p:nvPr/>
        </p:nvSpPr>
        <p:spPr>
          <a:xfrm>
            <a:off x="6441929" y="4717030"/>
            <a:ext cx="813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Fuel gas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8350A3C-8380-4A54-B885-10DD2723EC5E}"/>
              </a:ext>
            </a:extLst>
          </p:cNvPr>
          <p:cNvSpPr txBox="1"/>
          <p:nvPr/>
        </p:nvSpPr>
        <p:spPr>
          <a:xfrm>
            <a:off x="3568408" y="3627903"/>
            <a:ext cx="1318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Xylenes </a:t>
            </a:r>
          </a:p>
          <a:p>
            <a:r>
              <a:rPr lang="en-US" sz="1400"/>
              <a:t>C</a:t>
            </a:r>
            <a:r>
              <a:rPr lang="en-US" sz="1400" baseline="-25000"/>
              <a:t>9+</a:t>
            </a:r>
            <a:r>
              <a:rPr lang="en-US" sz="1400"/>
              <a:t> aromatics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024D668B-74DE-498C-8798-0A6823A7AA54}"/>
              </a:ext>
            </a:extLst>
          </p:cNvPr>
          <p:cNvCxnSpPr>
            <a:cxnSpLocks/>
          </p:cNvCxnSpPr>
          <p:nvPr/>
        </p:nvCxnSpPr>
        <p:spPr>
          <a:xfrm>
            <a:off x="2407916" y="6071558"/>
            <a:ext cx="0" cy="3292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3DB94094-239A-4124-A49D-730130F0009A}"/>
              </a:ext>
            </a:extLst>
          </p:cNvPr>
          <p:cNvSpPr txBox="1"/>
          <p:nvPr/>
        </p:nvSpPr>
        <p:spPr>
          <a:xfrm>
            <a:off x="2335437" y="6206829"/>
            <a:ext cx="1115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Paraxylene </a:t>
            </a:r>
          </a:p>
        </p:txBody>
      </p: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4AE9341F-AB5D-4A13-91FD-D8B05CD05CE9}"/>
              </a:ext>
            </a:extLst>
          </p:cNvPr>
          <p:cNvCxnSpPr>
            <a:cxnSpLocks/>
            <a:endCxn id="165" idx="1"/>
          </p:cNvCxnSpPr>
          <p:nvPr/>
        </p:nvCxnSpPr>
        <p:spPr>
          <a:xfrm rot="16200000" flipH="1">
            <a:off x="366347" y="4461682"/>
            <a:ext cx="1510700" cy="91424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35D80C90-F989-4B4A-9EBF-60E208514DEE}"/>
              </a:ext>
            </a:extLst>
          </p:cNvPr>
          <p:cNvCxnSpPr>
            <a:cxnSpLocks/>
          </p:cNvCxnSpPr>
          <p:nvPr/>
        </p:nvCxnSpPr>
        <p:spPr>
          <a:xfrm>
            <a:off x="662211" y="4175124"/>
            <a:ext cx="143364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5CB62E57-068A-42D7-993B-96DB9FBF973A}"/>
              </a:ext>
            </a:extLst>
          </p:cNvPr>
          <p:cNvCxnSpPr>
            <a:cxnSpLocks/>
            <a:endCxn id="166" idx="1"/>
          </p:cNvCxnSpPr>
          <p:nvPr/>
        </p:nvCxnSpPr>
        <p:spPr>
          <a:xfrm flipV="1">
            <a:off x="3564340" y="5674155"/>
            <a:ext cx="1486922" cy="10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2E3F142C-00EC-4F3F-AC55-10C34D5B9DCF}"/>
              </a:ext>
            </a:extLst>
          </p:cNvPr>
          <p:cNvSpPr txBox="1"/>
          <p:nvPr/>
        </p:nvSpPr>
        <p:spPr>
          <a:xfrm>
            <a:off x="3726899" y="5321566"/>
            <a:ext cx="1115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PX depleted </a:t>
            </a:r>
          </a:p>
        </p:txBody>
      </p:sp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466C84F0-EF8C-4CAF-8D17-263BAE6E7C96}"/>
              </a:ext>
            </a:extLst>
          </p:cNvPr>
          <p:cNvSpPr/>
          <p:nvPr/>
        </p:nvSpPr>
        <p:spPr>
          <a:xfrm rot="9885918">
            <a:off x="11514576" y="2852488"/>
            <a:ext cx="204989" cy="202758"/>
          </a:xfrm>
          <a:custGeom>
            <a:avLst/>
            <a:gdLst>
              <a:gd name="connsiteX0" fmla="*/ 148970 w 148970"/>
              <a:gd name="connsiteY0" fmla="*/ 92529 h 243501"/>
              <a:gd name="connsiteX1" fmla="*/ 89098 w 148970"/>
              <a:gd name="connsiteY1" fmla="*/ 206829 h 243501"/>
              <a:gd name="connsiteX2" fmla="*/ 72770 w 148970"/>
              <a:gd name="connsiteY2" fmla="*/ 234043 h 243501"/>
              <a:gd name="connsiteX3" fmla="*/ 2012 w 148970"/>
              <a:gd name="connsiteY3" fmla="*/ 59872 h 243501"/>
              <a:gd name="connsiteX4" fmla="*/ 18341 w 148970"/>
              <a:gd name="connsiteY4" fmla="*/ 38100 h 243501"/>
              <a:gd name="connsiteX5" fmla="*/ 7455 w 148970"/>
              <a:gd name="connsiteY5" fmla="*/ 0 h 24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970" h="243501">
                <a:moveTo>
                  <a:pt x="148970" y="92529"/>
                </a:moveTo>
                <a:cubicBezTo>
                  <a:pt x="125384" y="137886"/>
                  <a:pt x="101798" y="183243"/>
                  <a:pt x="89098" y="206829"/>
                </a:cubicBezTo>
                <a:cubicBezTo>
                  <a:pt x="76398" y="230415"/>
                  <a:pt x="87284" y="258536"/>
                  <a:pt x="72770" y="234043"/>
                </a:cubicBezTo>
                <a:cubicBezTo>
                  <a:pt x="58256" y="209550"/>
                  <a:pt x="11084" y="92529"/>
                  <a:pt x="2012" y="59872"/>
                </a:cubicBezTo>
                <a:cubicBezTo>
                  <a:pt x="-7060" y="27215"/>
                  <a:pt x="17434" y="48079"/>
                  <a:pt x="18341" y="38100"/>
                </a:cubicBezTo>
                <a:cubicBezTo>
                  <a:pt x="19248" y="28121"/>
                  <a:pt x="13351" y="14060"/>
                  <a:pt x="7455" y="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8" name="Connector: Elbow 257">
            <a:extLst>
              <a:ext uri="{FF2B5EF4-FFF2-40B4-BE49-F238E27FC236}">
                <a16:creationId xmlns:a16="http://schemas.microsoft.com/office/drawing/2014/main" id="{DA4141C0-1E52-40DD-AFE3-ABE339D7089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25831" y="3010148"/>
            <a:ext cx="8698741" cy="76011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89063D14-A9D9-41C4-AB5C-50C4798E0EC9}"/>
              </a:ext>
            </a:extLst>
          </p:cNvPr>
          <p:cNvSpPr txBox="1"/>
          <p:nvPr/>
        </p:nvSpPr>
        <p:spPr>
          <a:xfrm>
            <a:off x="481503" y="5327463"/>
            <a:ext cx="1238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Xylenes </a:t>
            </a:r>
          </a:p>
        </p:txBody>
      </p:sp>
      <p:cxnSp>
        <p:nvCxnSpPr>
          <p:cNvPr id="266" name="Connector: Elbow 265">
            <a:extLst>
              <a:ext uri="{FF2B5EF4-FFF2-40B4-BE49-F238E27FC236}">
                <a16:creationId xmlns:a16="http://schemas.microsoft.com/office/drawing/2014/main" id="{B8868C51-F661-4E59-BF21-58D29AE297EE}"/>
              </a:ext>
            </a:extLst>
          </p:cNvPr>
          <p:cNvCxnSpPr>
            <a:cxnSpLocks/>
          </p:cNvCxnSpPr>
          <p:nvPr/>
        </p:nvCxnSpPr>
        <p:spPr>
          <a:xfrm flipV="1">
            <a:off x="7023201" y="3017704"/>
            <a:ext cx="4690214" cy="2645618"/>
          </a:xfrm>
          <a:prstGeom prst="bentConnector3">
            <a:avLst>
              <a:gd name="adj1" fmla="val 100132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9" name="Connector: Elbow 278">
            <a:extLst>
              <a:ext uri="{FF2B5EF4-FFF2-40B4-BE49-F238E27FC236}">
                <a16:creationId xmlns:a16="http://schemas.microsoft.com/office/drawing/2014/main" id="{1A05F62B-F0E3-4770-AFF7-59A0CEBB8248}"/>
              </a:ext>
            </a:extLst>
          </p:cNvPr>
          <p:cNvCxnSpPr>
            <a:cxnSpLocks/>
          </p:cNvCxnSpPr>
          <p:nvPr/>
        </p:nvCxnSpPr>
        <p:spPr>
          <a:xfrm rot="10800000">
            <a:off x="2856065" y="4471055"/>
            <a:ext cx="7628427" cy="197258"/>
          </a:xfrm>
          <a:prstGeom prst="bentConnector3">
            <a:avLst>
              <a:gd name="adj1" fmla="val 10001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F506B87B-B2BB-4DC8-8D1B-BECECF65C94E}"/>
              </a:ext>
            </a:extLst>
          </p:cNvPr>
          <p:cNvCxnSpPr>
            <a:cxnSpLocks/>
          </p:cNvCxnSpPr>
          <p:nvPr/>
        </p:nvCxnSpPr>
        <p:spPr>
          <a:xfrm flipH="1">
            <a:off x="10477863" y="4393797"/>
            <a:ext cx="0" cy="2775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4CB22C5-6DC1-460D-9407-A8AFF830DE09}"/>
              </a:ext>
            </a:extLst>
          </p:cNvPr>
          <p:cNvCxnSpPr>
            <a:cxnSpLocks/>
          </p:cNvCxnSpPr>
          <p:nvPr/>
        </p:nvCxnSpPr>
        <p:spPr>
          <a:xfrm>
            <a:off x="2500711" y="4471055"/>
            <a:ext cx="0" cy="357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4BAD56B7-077E-4FFC-8690-DFD65B4B49B7}"/>
              </a:ext>
            </a:extLst>
          </p:cNvPr>
          <p:cNvSpPr txBox="1"/>
          <p:nvPr/>
        </p:nvSpPr>
        <p:spPr>
          <a:xfrm>
            <a:off x="1966567" y="4734185"/>
            <a:ext cx="1230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</a:t>
            </a:r>
            <a:r>
              <a:rPr lang="en-US" sz="1400" baseline="-25000"/>
              <a:t>9+</a:t>
            </a:r>
            <a:r>
              <a:rPr lang="en-US" sz="1400"/>
              <a:t> aromatics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452A45-2D51-43DB-BF2D-3ACC6462C75E}"/>
              </a:ext>
            </a:extLst>
          </p:cNvPr>
          <p:cNvSpPr/>
          <p:nvPr/>
        </p:nvSpPr>
        <p:spPr>
          <a:xfrm>
            <a:off x="462807" y="6051513"/>
            <a:ext cx="916225" cy="36933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R="0" lvl="0">
              <a:spcBef>
                <a:spcPts val="0"/>
              </a:spcBef>
              <a:spcAft>
                <a:spcPts val="1200"/>
              </a:spcAft>
            </a:pPr>
            <a:r>
              <a:rPr lang="en-US">
                <a:latin typeface="Times New Roman"/>
                <a:ea typeface="Times New Roman" panose="02020603050405020304" pitchFamily="18" charset="0"/>
                <a:cs typeface="Times New Roman"/>
              </a:rPr>
              <a:t>[10]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B86602-F43F-4168-AB7A-1AD366BA1D2F}"/>
              </a:ext>
            </a:extLst>
          </p:cNvPr>
          <p:cNvSpPr txBox="1"/>
          <p:nvPr/>
        </p:nvSpPr>
        <p:spPr>
          <a:xfrm>
            <a:off x="7096696" y="5151042"/>
            <a:ext cx="1743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Equilibrium aromatics mixture </a:t>
            </a:r>
          </a:p>
        </p:txBody>
      </p:sp>
    </p:spTree>
    <p:extLst>
      <p:ext uri="{BB962C8B-B14F-4D97-AF65-F5344CB8AC3E}">
        <p14:creationId xmlns:p14="http://schemas.microsoft.com/office/powerpoint/2010/main" val="3542434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3F2AF1-2BB6-4DE8-A4C8-09348D5F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8147F1-8AAA-43A1-B9F2-29A08129A34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72" y="1567270"/>
            <a:ext cx="9693728" cy="477365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63F1664-408F-4ADD-881B-5C30ADF43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840" y="453838"/>
            <a:ext cx="3807042" cy="916081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ExxonMobil based process</a:t>
            </a:r>
          </a:p>
        </p:txBody>
      </p:sp>
    </p:spTree>
    <p:extLst>
      <p:ext uri="{BB962C8B-B14F-4D97-AF65-F5344CB8AC3E}">
        <p14:creationId xmlns:p14="http://schemas.microsoft.com/office/powerpoint/2010/main" val="4196171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6E982F-ED29-489B-89D6-3E78E759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9415BD-402F-4672-8258-29AE9B44C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479" y="332804"/>
            <a:ext cx="3807042" cy="916081"/>
          </a:xfrm>
        </p:spPr>
        <p:txBody>
          <a:bodyPr>
            <a:normAutofit/>
          </a:bodyPr>
          <a:lstStyle/>
          <a:p>
            <a:pPr algn="ctr"/>
            <a:r>
              <a:rPr lang="en-US" sz="3800"/>
              <a:t>UOP 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A2D73E-71D4-493A-BA13-099466B80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088" y="1144852"/>
            <a:ext cx="9366333" cy="5151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655656-F089-438F-A857-B42F16034D5D}"/>
              </a:ext>
            </a:extLst>
          </p:cNvPr>
          <p:cNvSpPr txBox="1"/>
          <p:nvPr/>
        </p:nvSpPr>
        <p:spPr>
          <a:xfrm>
            <a:off x="337427" y="6035040"/>
            <a:ext cx="584455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/>
              <a:t>[11]</a:t>
            </a:r>
          </a:p>
        </p:txBody>
      </p:sp>
    </p:spTree>
    <p:extLst>
      <p:ext uri="{BB962C8B-B14F-4D97-AF65-F5344CB8AC3E}">
        <p14:creationId xmlns:p14="http://schemas.microsoft.com/office/powerpoint/2010/main" val="3835883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4F8DD-3585-463A-B746-507BEE00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934" y="340266"/>
            <a:ext cx="10058400" cy="645315"/>
          </a:xfrm>
        </p:spPr>
        <p:txBody>
          <a:bodyPr>
            <a:normAutofit/>
          </a:bodyPr>
          <a:lstStyle/>
          <a:p>
            <a:pPr algn="ctr"/>
            <a:r>
              <a:rPr lang="en-US" sz="3800"/>
              <a:t>Strengths / Weakness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9AFCD-1C4C-4209-BA1C-FBF543665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910" y="868692"/>
            <a:ext cx="10058400" cy="384962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0000" b="1" u="sng"/>
              <a:t>UOP</a:t>
            </a:r>
          </a:p>
          <a:p>
            <a:pPr marL="0" indent="0">
              <a:buNone/>
            </a:pPr>
            <a:endParaRPr lang="en-US" sz="10000" b="1" u="sng"/>
          </a:p>
          <a:p>
            <a:pPr>
              <a:buFont typeface="Arial" panose="020B0604020202020204" pitchFamily="34" charset="0"/>
              <a:buChar char="•"/>
            </a:pPr>
            <a:r>
              <a:rPr lang="en-US" sz="9200" b="1"/>
              <a:t>Oversupply of Toluene in market                                           Profitable Production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200" b="1"/>
              <a:t>ADS-37 adsorbent 		           99.9% PX purity and 97% or higher recovery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200" b="1"/>
              <a:t>Low selectivity of 90%                                              Extensive separation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200" b="1"/>
              <a:t>If benzene by product demand low                                     Low production profit </a:t>
            </a:r>
          </a:p>
          <a:p>
            <a:pPr marL="0" indent="0">
              <a:buNone/>
            </a:pPr>
            <a:endParaRPr lang="en-US" sz="9200"/>
          </a:p>
          <a:p>
            <a:pPr marL="0" indent="0">
              <a:buNone/>
            </a:pPr>
            <a:r>
              <a:rPr lang="en-US" sz="10000" b="1" u="sng"/>
              <a:t>Toluene Methylation</a:t>
            </a:r>
          </a:p>
          <a:p>
            <a:pPr marL="0" indent="0">
              <a:buNone/>
            </a:pPr>
            <a:endParaRPr lang="en-US" sz="10000" b="1" u="sng"/>
          </a:p>
          <a:p>
            <a:pPr>
              <a:buFont typeface="Arial" panose="020B0604020202020204" pitchFamily="34" charset="0"/>
              <a:buChar char="•"/>
            </a:pPr>
            <a:r>
              <a:rPr lang="en-US" sz="9200" b="1"/>
              <a:t>Mg-ZSM-5 Catalyst, low residence time                  Selectivity higher than 92.7%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200" b="1"/>
              <a:t>Conventional distillation                               Avoid extensive energy consumption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200" b="1"/>
              <a:t>Increase in methanol cost                    Production is less profitable</a:t>
            </a:r>
          </a:p>
          <a:p>
            <a:pPr marL="0" indent="0">
              <a:buNone/>
            </a:pPr>
            <a:endParaRPr lang="en-US" sz="9200"/>
          </a:p>
          <a:p>
            <a:pPr marL="0" indent="0">
              <a:buNone/>
            </a:pPr>
            <a:endParaRPr lang="en-US" sz="10000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0B528-43EC-457D-B9A7-15459D6A3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14</a:t>
            </a:fld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DC0B837-FDAB-40A3-8066-574CA4AE34D0}"/>
              </a:ext>
            </a:extLst>
          </p:cNvPr>
          <p:cNvSpPr/>
          <p:nvPr/>
        </p:nvSpPr>
        <p:spPr>
          <a:xfrm>
            <a:off x="4342142" y="5836854"/>
            <a:ext cx="1313995" cy="15245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8FE1C78-6345-415A-AF38-ADDEBA80745E}"/>
              </a:ext>
            </a:extLst>
          </p:cNvPr>
          <p:cNvSpPr/>
          <p:nvPr/>
        </p:nvSpPr>
        <p:spPr>
          <a:xfrm>
            <a:off x="5926781" y="4974498"/>
            <a:ext cx="1163925" cy="1751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0621BA0-5EFA-473B-998B-9B83F4FEA115}"/>
              </a:ext>
            </a:extLst>
          </p:cNvPr>
          <p:cNvSpPr/>
          <p:nvPr/>
        </p:nvSpPr>
        <p:spPr>
          <a:xfrm>
            <a:off x="5147313" y="1928109"/>
            <a:ext cx="2925843" cy="1751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73D678F-BDDF-4BA7-8624-B5C5DDA90A13}"/>
              </a:ext>
            </a:extLst>
          </p:cNvPr>
          <p:cNvSpPr/>
          <p:nvPr/>
        </p:nvSpPr>
        <p:spPr>
          <a:xfrm>
            <a:off x="3395003" y="2364885"/>
            <a:ext cx="1894279" cy="1751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0EE2053-076A-41A7-A5FB-5F31205A729B}"/>
              </a:ext>
            </a:extLst>
          </p:cNvPr>
          <p:cNvSpPr/>
          <p:nvPr/>
        </p:nvSpPr>
        <p:spPr>
          <a:xfrm>
            <a:off x="3848943" y="2755941"/>
            <a:ext cx="3065864" cy="1751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C19C37D-1B5B-4AAA-AF34-C1F1AB604E3C}"/>
              </a:ext>
            </a:extLst>
          </p:cNvPr>
          <p:cNvSpPr/>
          <p:nvPr/>
        </p:nvSpPr>
        <p:spPr>
          <a:xfrm>
            <a:off x="5309064" y="3194477"/>
            <a:ext cx="2602340" cy="1751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BBCD354-C169-4E17-ACF7-675106B78B82}"/>
              </a:ext>
            </a:extLst>
          </p:cNvPr>
          <p:cNvSpPr/>
          <p:nvPr/>
        </p:nvSpPr>
        <p:spPr>
          <a:xfrm>
            <a:off x="4126072" y="5420254"/>
            <a:ext cx="1959819" cy="1751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98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C643B0-D6DF-44F8-9539-10643504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23B2EA-9B99-48CC-8894-16350887B3F5}"/>
              </a:ext>
            </a:extLst>
          </p:cNvPr>
          <p:cNvSpPr txBox="1"/>
          <p:nvPr/>
        </p:nvSpPr>
        <p:spPr>
          <a:xfrm>
            <a:off x="4006047" y="417249"/>
            <a:ext cx="4179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Chosen Solution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7CD29B-17E5-4BCE-8B01-A486CE1D6025}"/>
              </a:ext>
            </a:extLst>
          </p:cNvPr>
          <p:cNvSpPr txBox="1">
            <a:spLocks/>
          </p:cNvSpPr>
          <p:nvPr/>
        </p:nvSpPr>
        <p:spPr>
          <a:xfrm>
            <a:off x="1066800" y="1711823"/>
            <a:ext cx="10058400" cy="39525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Methylation of toluene method to produce para-xylene</a:t>
            </a:r>
            <a:endParaRPr lang="en-US"/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Preheated to a predetermined temperature. 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Streams are mixed, heated again, and then supplied to reactor.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The selectivity of the reaction is maximized.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The methylation reactor converts toluene to ortho-, meta-, and para-xylene according to the following chemical reactions:</a:t>
            </a:r>
          </a:p>
          <a:p>
            <a:pPr algn="ctr">
              <a:lnSpc>
                <a:spcPct val="150000"/>
              </a:lnSpc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</a:t>
            </a:r>
            <a:r>
              <a:rPr lang="en-US" sz="1400">
                <a:ea typeface="+mn-lt"/>
                <a:cs typeface="+mn-lt"/>
              </a:rPr>
              <a:t>7</a:t>
            </a:r>
            <a:r>
              <a:rPr lang="en-US" sz="2000">
                <a:ea typeface="+mn-lt"/>
                <a:cs typeface="+mn-lt"/>
              </a:rPr>
              <a:t>H</a:t>
            </a:r>
            <a:r>
              <a:rPr lang="en-US" sz="1400">
                <a:ea typeface="+mn-lt"/>
                <a:cs typeface="+mn-lt"/>
              </a:rPr>
              <a:t>8</a:t>
            </a:r>
            <a:r>
              <a:rPr lang="en-US" sz="2000">
                <a:ea typeface="+mn-lt"/>
                <a:cs typeface="+mn-lt"/>
              </a:rPr>
              <a:t> + CH</a:t>
            </a:r>
            <a:r>
              <a:rPr lang="en-US" sz="1400">
                <a:ea typeface="+mn-lt"/>
                <a:cs typeface="+mn-lt"/>
              </a:rPr>
              <a:t>3</a:t>
            </a:r>
            <a:r>
              <a:rPr lang="en-US" sz="2000">
                <a:ea typeface="+mn-lt"/>
                <a:cs typeface="+mn-lt"/>
              </a:rPr>
              <a:t>OH            p-C</a:t>
            </a:r>
            <a:r>
              <a:rPr lang="en-US" sz="1400">
                <a:ea typeface="+mn-lt"/>
                <a:cs typeface="+mn-lt"/>
              </a:rPr>
              <a:t>8</a:t>
            </a:r>
            <a:r>
              <a:rPr lang="en-US" sz="2000">
                <a:ea typeface="+mn-lt"/>
                <a:cs typeface="+mn-lt"/>
              </a:rPr>
              <a:t>H</a:t>
            </a:r>
            <a:r>
              <a:rPr lang="en-US" sz="1400">
                <a:ea typeface="+mn-lt"/>
                <a:cs typeface="+mn-lt"/>
              </a:rPr>
              <a:t>10</a:t>
            </a:r>
            <a:r>
              <a:rPr lang="en-US" sz="2000">
                <a:ea typeface="+mn-lt"/>
                <a:cs typeface="+mn-lt"/>
              </a:rPr>
              <a:t> + H</a:t>
            </a:r>
            <a:r>
              <a:rPr lang="en-US" sz="1400">
                <a:ea typeface="+mn-lt"/>
                <a:cs typeface="+mn-lt"/>
              </a:rPr>
              <a:t>2</a:t>
            </a:r>
            <a:r>
              <a:rPr lang="en-US" sz="2000">
                <a:ea typeface="+mn-lt"/>
                <a:cs typeface="+mn-lt"/>
              </a:rPr>
              <a:t>O</a:t>
            </a:r>
            <a:endParaRPr lang="en-US" sz="2000" b="1">
              <a:ea typeface="+mn-lt"/>
              <a:cs typeface="+mn-lt"/>
            </a:endParaRPr>
          </a:p>
          <a:p>
            <a:pPr algn="ctr">
              <a:lnSpc>
                <a:spcPct val="150000"/>
              </a:lnSpc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</a:t>
            </a:r>
            <a:r>
              <a:rPr lang="en-US" sz="1400">
                <a:ea typeface="+mn-lt"/>
                <a:cs typeface="+mn-lt"/>
              </a:rPr>
              <a:t>7</a:t>
            </a:r>
            <a:r>
              <a:rPr lang="en-US" sz="2000">
                <a:ea typeface="+mn-lt"/>
                <a:cs typeface="+mn-lt"/>
              </a:rPr>
              <a:t>H</a:t>
            </a:r>
            <a:r>
              <a:rPr lang="en-US" sz="1400">
                <a:ea typeface="+mn-lt"/>
                <a:cs typeface="+mn-lt"/>
              </a:rPr>
              <a:t>8</a:t>
            </a:r>
            <a:r>
              <a:rPr lang="en-US" sz="2000">
                <a:ea typeface="+mn-lt"/>
                <a:cs typeface="+mn-lt"/>
              </a:rPr>
              <a:t> + CH</a:t>
            </a:r>
            <a:r>
              <a:rPr lang="en-US" sz="1400">
                <a:ea typeface="+mn-lt"/>
                <a:cs typeface="+mn-lt"/>
              </a:rPr>
              <a:t>3</a:t>
            </a:r>
            <a:r>
              <a:rPr lang="en-US" sz="2000">
                <a:ea typeface="+mn-lt"/>
                <a:cs typeface="+mn-lt"/>
              </a:rPr>
              <a:t>OH            m-C</a:t>
            </a:r>
            <a:r>
              <a:rPr lang="en-US" sz="1400">
                <a:ea typeface="+mn-lt"/>
                <a:cs typeface="+mn-lt"/>
              </a:rPr>
              <a:t>8</a:t>
            </a:r>
            <a:r>
              <a:rPr lang="en-US" sz="2000">
                <a:ea typeface="+mn-lt"/>
                <a:cs typeface="+mn-lt"/>
              </a:rPr>
              <a:t>H</a:t>
            </a:r>
            <a:r>
              <a:rPr lang="en-US" sz="1400">
                <a:ea typeface="+mn-lt"/>
                <a:cs typeface="+mn-lt"/>
              </a:rPr>
              <a:t>10</a:t>
            </a:r>
            <a:r>
              <a:rPr lang="en-US" sz="2000">
                <a:ea typeface="+mn-lt"/>
                <a:cs typeface="+mn-lt"/>
              </a:rPr>
              <a:t> + H</a:t>
            </a:r>
            <a:r>
              <a:rPr lang="en-US" sz="1400">
                <a:ea typeface="+mn-lt"/>
                <a:cs typeface="+mn-lt"/>
              </a:rPr>
              <a:t>2</a:t>
            </a:r>
            <a:r>
              <a:rPr lang="en-US" sz="2000">
                <a:ea typeface="+mn-lt"/>
                <a:cs typeface="+mn-lt"/>
              </a:rPr>
              <a:t>O   </a:t>
            </a:r>
            <a:endParaRPr lang="en-US" sz="2000" b="1">
              <a:ea typeface="+mn-lt"/>
              <a:cs typeface="+mn-lt"/>
            </a:endParaRPr>
          </a:p>
          <a:p>
            <a:pPr algn="ctr">
              <a:lnSpc>
                <a:spcPct val="150000"/>
              </a:lnSpc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</a:t>
            </a:r>
            <a:r>
              <a:rPr lang="en-US" sz="1400">
                <a:ea typeface="+mn-lt"/>
                <a:cs typeface="+mn-lt"/>
              </a:rPr>
              <a:t>7</a:t>
            </a:r>
            <a:r>
              <a:rPr lang="en-US" sz="2000">
                <a:ea typeface="+mn-lt"/>
                <a:cs typeface="+mn-lt"/>
              </a:rPr>
              <a:t>H</a:t>
            </a:r>
            <a:r>
              <a:rPr lang="en-US" sz="1400">
                <a:ea typeface="+mn-lt"/>
                <a:cs typeface="+mn-lt"/>
              </a:rPr>
              <a:t>8</a:t>
            </a:r>
            <a:r>
              <a:rPr lang="en-US" sz="2000">
                <a:ea typeface="+mn-lt"/>
                <a:cs typeface="+mn-lt"/>
              </a:rPr>
              <a:t> + CH</a:t>
            </a:r>
            <a:r>
              <a:rPr lang="en-US" sz="1400">
                <a:ea typeface="+mn-lt"/>
                <a:cs typeface="+mn-lt"/>
              </a:rPr>
              <a:t>3</a:t>
            </a:r>
            <a:r>
              <a:rPr lang="en-US" sz="2000">
                <a:ea typeface="+mn-lt"/>
                <a:cs typeface="+mn-lt"/>
              </a:rPr>
              <a:t>OH            o-C</a:t>
            </a:r>
            <a:r>
              <a:rPr lang="en-US" sz="1400">
                <a:ea typeface="+mn-lt"/>
                <a:cs typeface="+mn-lt"/>
              </a:rPr>
              <a:t>8</a:t>
            </a:r>
            <a:r>
              <a:rPr lang="en-US" sz="2000">
                <a:ea typeface="+mn-lt"/>
                <a:cs typeface="+mn-lt"/>
              </a:rPr>
              <a:t>H</a:t>
            </a:r>
            <a:r>
              <a:rPr lang="en-US" sz="1400">
                <a:ea typeface="+mn-lt"/>
                <a:cs typeface="+mn-lt"/>
              </a:rPr>
              <a:t>10 </a:t>
            </a:r>
            <a:r>
              <a:rPr lang="en-US" sz="2000">
                <a:ea typeface="+mn-lt"/>
                <a:cs typeface="+mn-lt"/>
              </a:rPr>
              <a:t>+ H</a:t>
            </a:r>
            <a:r>
              <a:rPr lang="en-US" sz="1400">
                <a:ea typeface="+mn-lt"/>
                <a:cs typeface="+mn-lt"/>
              </a:rPr>
              <a:t>2</a:t>
            </a:r>
            <a:r>
              <a:rPr lang="en-US" sz="2000">
                <a:ea typeface="+mn-lt"/>
                <a:cs typeface="+mn-lt"/>
              </a:rPr>
              <a:t>O </a:t>
            </a:r>
            <a:endParaRPr lang="en-US" sz="2000" b="1">
              <a:ea typeface="+mn-lt"/>
              <a:cs typeface="+mn-lt"/>
            </a:endParaRPr>
          </a:p>
          <a:p>
            <a:pPr>
              <a:buFont typeface="Garamond"/>
            </a:pPr>
            <a:endParaRPr lang="en" sz="2000">
              <a:ea typeface="+mn-lt"/>
              <a:cs typeface="+mn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4008E8B-D933-4754-A74C-EAB0A3B05EDE}"/>
              </a:ext>
            </a:extLst>
          </p:cNvPr>
          <p:cNvCxnSpPr/>
          <p:nvPr/>
        </p:nvCxnSpPr>
        <p:spPr>
          <a:xfrm flipV="1">
            <a:off x="5916827" y="4246605"/>
            <a:ext cx="461318" cy="2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C37A9B-36E3-4F59-AC0B-AD0294F39D01}"/>
              </a:ext>
            </a:extLst>
          </p:cNvPr>
          <p:cNvCxnSpPr>
            <a:cxnSpLocks/>
          </p:cNvCxnSpPr>
          <p:nvPr/>
        </p:nvCxnSpPr>
        <p:spPr>
          <a:xfrm flipV="1">
            <a:off x="5916827" y="5152767"/>
            <a:ext cx="461318" cy="2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FD704B-7306-442B-856F-A8D164DBF250}"/>
              </a:ext>
            </a:extLst>
          </p:cNvPr>
          <p:cNvCxnSpPr>
            <a:cxnSpLocks/>
          </p:cNvCxnSpPr>
          <p:nvPr/>
        </p:nvCxnSpPr>
        <p:spPr>
          <a:xfrm flipV="1">
            <a:off x="5916827" y="4668793"/>
            <a:ext cx="461318" cy="2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366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AC9AD9-64A7-4F1B-978F-CBE6F3AE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C6D68-20EC-4597-9CBC-85EB40EF10AA}"/>
              </a:ext>
            </a:extLst>
          </p:cNvPr>
          <p:cNvSpPr txBox="1"/>
          <p:nvPr/>
        </p:nvSpPr>
        <p:spPr>
          <a:xfrm>
            <a:off x="1110049" y="1799969"/>
            <a:ext cx="10229334" cy="48500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endParaRPr lang="en-US"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" sz="2000" b="1">
                <a:ea typeface="+mn-lt"/>
                <a:cs typeface="+mn-lt"/>
              </a:rPr>
              <a:t>Separation of para-xylene and meta-xylene.</a:t>
            </a:r>
          </a:p>
          <a:p>
            <a:endParaRPr lang="en" b="1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2000">
                <a:ea typeface="+mn-lt"/>
                <a:cs typeface="+mn-lt"/>
              </a:rPr>
              <a:t>Toluene methylation is the most optimal para-xylene production process.</a:t>
            </a:r>
            <a:endParaRPr lang="en" sz="200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2000">
                <a:ea typeface="+mn-lt"/>
                <a:cs typeface="+mn-lt"/>
              </a:rPr>
              <a:t> It requires less complex and less extensive separation columns. </a:t>
            </a:r>
            <a:endParaRPr lang="en" sz="200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The relative volatility of benzene/toluene and o-xylene/para-xylene is 3.09 and 1.17.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The similar molecular structure, thus extractive distillation does not work.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Para-xylene and meta-xylene can be separated by reactive distillation [12]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742950" lvl="1" indent="-285750">
              <a:spcBef>
                <a:spcPts val="500"/>
              </a:spcBef>
              <a:buFont typeface="Arial,Sans-Serif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B659F-B8EC-4624-8E82-28806695B202}"/>
              </a:ext>
            </a:extLst>
          </p:cNvPr>
          <p:cNvSpPr txBox="1"/>
          <p:nvPr/>
        </p:nvSpPr>
        <p:spPr>
          <a:xfrm>
            <a:off x="4006047" y="417249"/>
            <a:ext cx="4179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Chosen Solution</a:t>
            </a:r>
          </a:p>
        </p:txBody>
      </p:sp>
    </p:spTree>
    <p:extLst>
      <p:ext uri="{BB962C8B-B14F-4D97-AF65-F5344CB8AC3E}">
        <p14:creationId xmlns:p14="http://schemas.microsoft.com/office/powerpoint/2010/main" val="4114504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E8C0F7-45F7-4E02-B27B-C2C090D19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32039-D58B-4FC7-AEFE-F76E9ECC2B82}"/>
              </a:ext>
            </a:extLst>
          </p:cNvPr>
          <p:cNvSpPr txBox="1"/>
          <p:nvPr/>
        </p:nvSpPr>
        <p:spPr>
          <a:xfrm>
            <a:off x="4006047" y="417249"/>
            <a:ext cx="4179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/>
              <a:t>Chosen 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454FA-7051-4F32-95A1-3671EBBBEAAF}"/>
              </a:ext>
            </a:extLst>
          </p:cNvPr>
          <p:cNvSpPr txBox="1"/>
          <p:nvPr/>
        </p:nvSpPr>
        <p:spPr>
          <a:xfrm>
            <a:off x="790833" y="1717590"/>
            <a:ext cx="10445578" cy="40139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endParaRPr lang="en-US">
              <a:cs typeface="Arial"/>
            </a:endParaRPr>
          </a:p>
          <a:p>
            <a:pPr marL="742950" lvl="1" indent="-285750">
              <a:spcBef>
                <a:spcPts val="500"/>
              </a:spcBef>
              <a:buFont typeface="Arial,Sans-Serif"/>
              <a:buChar char="•"/>
            </a:pPr>
            <a:r>
              <a:rPr lang="en-US" b="1">
                <a:cs typeface="Arial"/>
              </a:rPr>
              <a:t> </a:t>
            </a:r>
            <a:r>
              <a:rPr lang="en-US">
                <a:cs typeface="Arial"/>
              </a:rPr>
              <a:t>M-xylene reacts preferentially with di-t-butylbenzene (DTBB) and t-butylbenzene (TBB) to form t-butyl-m-xylene (TBMX) and benzene (B). The reactions are shown below: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spcBef>
                <a:spcPts val="500"/>
              </a:spcBef>
              <a:buFont typeface="Arial,Sans-Serif"/>
              <a:buChar char="•"/>
            </a:pPr>
            <a:endParaRPr lang="en-US">
              <a:ea typeface="+mn-lt"/>
              <a:cs typeface="+mn-lt"/>
            </a:endParaRPr>
          </a:p>
          <a:p>
            <a:pPr marL="457200" algn="ctr"/>
            <a:r>
              <a:rPr lang="en-US">
                <a:cs typeface="Arial"/>
              </a:rPr>
              <a:t>DTBB + m-X               TBMX  +  TBB  </a:t>
            </a:r>
            <a:endParaRPr lang="en-US">
              <a:ea typeface="+mn-lt"/>
              <a:cs typeface="+mn-lt"/>
            </a:endParaRPr>
          </a:p>
          <a:p>
            <a:pPr marL="457200" algn="ctr"/>
            <a:r>
              <a:rPr lang="en-US">
                <a:cs typeface="Arial"/>
              </a:rPr>
              <a:t>TBB +  m-X                TBMX + B  </a:t>
            </a:r>
            <a:endParaRPr lang="en-US">
              <a:ea typeface="+mn-lt"/>
              <a:cs typeface="+mn-lt"/>
            </a:endParaRPr>
          </a:p>
          <a:p>
            <a:pPr marL="457200" algn="ctr"/>
            <a:endParaRPr lang="en-US">
              <a:ea typeface="+mn-lt"/>
              <a:cs typeface="+mn-lt"/>
            </a:endParaRPr>
          </a:p>
          <a:p>
            <a:pPr marL="742950" lvl="1" indent="-285750">
              <a:spcBef>
                <a:spcPts val="500"/>
              </a:spcBef>
              <a:buFont typeface="Arial,Sans-Serif"/>
              <a:buChar char="•"/>
            </a:pPr>
            <a:r>
              <a:rPr lang="en">
                <a:ea typeface="+mn-lt"/>
                <a:cs typeface="+mn-lt"/>
              </a:rPr>
              <a:t>The reaction occurs quickly and reaches equilibrium immediately.</a:t>
            </a:r>
            <a:endParaRPr lang="en-US">
              <a:cs typeface="Arial"/>
            </a:endParaRPr>
          </a:p>
          <a:p>
            <a:pPr marL="742950" lvl="1" indent="-285750">
              <a:spcBef>
                <a:spcPts val="500"/>
              </a:spcBef>
              <a:buFont typeface="Arial,Sans-Serif"/>
              <a:buChar char="•"/>
            </a:pPr>
            <a:r>
              <a:rPr lang="en-US">
                <a:cs typeface="Arial"/>
              </a:rPr>
              <a:t>The kinetics of the reactions are shown below:[13, 14]</a:t>
            </a:r>
            <a:endParaRPr lang="en-US">
              <a:ea typeface="+mn-lt"/>
              <a:cs typeface="+mn-lt"/>
            </a:endParaRPr>
          </a:p>
          <a:p>
            <a:pPr marL="742950" lvl="1" indent="-285750">
              <a:spcBef>
                <a:spcPts val="500"/>
              </a:spcBef>
              <a:buFont typeface="Arial,Sans-Serif"/>
              <a:buChar char="•"/>
            </a:pPr>
            <a:endParaRPr lang="en-US">
              <a:ea typeface="+mn-lt"/>
              <a:cs typeface="+mn-lt"/>
            </a:endParaRPr>
          </a:p>
          <a:p>
            <a:pPr marL="457200" algn="ctr"/>
            <a:r>
              <a:rPr lang="en">
                <a:cs typeface="Arial"/>
              </a:rPr>
              <a:t>K</a:t>
            </a:r>
            <a:r>
              <a:rPr lang="en" baseline="30000">
                <a:cs typeface="Arial"/>
              </a:rPr>
              <a:t>R </a:t>
            </a:r>
            <a:r>
              <a:rPr lang="en">
                <a:cs typeface="Arial"/>
              </a:rPr>
              <a:t>= x</a:t>
            </a:r>
            <a:r>
              <a:rPr lang="en" baseline="-25000">
                <a:cs typeface="Arial"/>
              </a:rPr>
              <a:t>TBMX </a:t>
            </a:r>
            <a:r>
              <a:rPr lang="en">
                <a:cs typeface="Arial"/>
              </a:rPr>
              <a:t>x</a:t>
            </a:r>
            <a:r>
              <a:rPr lang="en" baseline="-25000">
                <a:cs typeface="Arial"/>
              </a:rPr>
              <a:t>TBB</a:t>
            </a:r>
            <a:r>
              <a:rPr lang="en">
                <a:cs typeface="Arial"/>
              </a:rPr>
              <a:t>/  x</a:t>
            </a:r>
            <a:r>
              <a:rPr lang="en" baseline="-25000">
                <a:cs typeface="Arial"/>
              </a:rPr>
              <a:t>DTBB </a:t>
            </a:r>
            <a:r>
              <a:rPr lang="en">
                <a:cs typeface="Arial"/>
              </a:rPr>
              <a:t>x</a:t>
            </a:r>
            <a:r>
              <a:rPr lang="en" baseline="-25000">
                <a:cs typeface="Arial"/>
              </a:rPr>
              <a:t>m-X </a:t>
            </a:r>
            <a:r>
              <a:rPr lang="en">
                <a:cs typeface="Arial"/>
              </a:rPr>
              <a:t>= 0.6</a:t>
            </a:r>
            <a:endParaRPr lang="en-US">
              <a:ea typeface="+mn-lt"/>
              <a:cs typeface="+mn-lt"/>
            </a:endParaRPr>
          </a:p>
          <a:p>
            <a:pPr marL="457200" algn="ctr"/>
            <a:r>
              <a:rPr lang="en">
                <a:cs typeface="Arial"/>
              </a:rPr>
              <a:t>K</a:t>
            </a:r>
            <a:r>
              <a:rPr lang="en" baseline="30000">
                <a:cs typeface="Arial"/>
              </a:rPr>
              <a:t>R </a:t>
            </a:r>
            <a:r>
              <a:rPr lang="en">
                <a:cs typeface="Arial"/>
              </a:rPr>
              <a:t>= x</a:t>
            </a:r>
            <a:r>
              <a:rPr lang="en" baseline="-25000">
                <a:cs typeface="Arial"/>
              </a:rPr>
              <a:t>TBMX </a:t>
            </a:r>
            <a:r>
              <a:rPr lang="en">
                <a:cs typeface="Arial"/>
              </a:rPr>
              <a:t>x</a:t>
            </a:r>
            <a:r>
              <a:rPr lang="en" baseline="-25000">
                <a:cs typeface="Arial"/>
              </a:rPr>
              <a:t>B </a:t>
            </a:r>
            <a:r>
              <a:rPr lang="en">
                <a:cs typeface="Arial"/>
              </a:rPr>
              <a:t>/ x</a:t>
            </a:r>
            <a:r>
              <a:rPr lang="en" baseline="-25000">
                <a:cs typeface="Arial"/>
              </a:rPr>
              <a:t>TBB </a:t>
            </a:r>
            <a:r>
              <a:rPr lang="en">
                <a:cs typeface="Arial"/>
              </a:rPr>
              <a:t>x</a:t>
            </a:r>
            <a:r>
              <a:rPr lang="en" baseline="-25000">
                <a:cs typeface="Arial"/>
              </a:rPr>
              <a:t>m-X </a:t>
            </a:r>
            <a:r>
              <a:rPr lang="en">
                <a:cs typeface="Arial"/>
              </a:rPr>
              <a:t>= 0.16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b="1">
              <a:cs typeface="Arial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4A36BF-A3F0-45C1-8497-42BDC07045EE}"/>
              </a:ext>
            </a:extLst>
          </p:cNvPr>
          <p:cNvCxnSpPr/>
          <p:nvPr/>
        </p:nvCxnSpPr>
        <p:spPr>
          <a:xfrm flipV="1">
            <a:off x="5865341" y="3072712"/>
            <a:ext cx="574589" cy="2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4A36BF-A3F0-45C1-8497-42BDC07045EE}"/>
              </a:ext>
            </a:extLst>
          </p:cNvPr>
          <p:cNvCxnSpPr/>
          <p:nvPr/>
        </p:nvCxnSpPr>
        <p:spPr>
          <a:xfrm flipV="1">
            <a:off x="5853756" y="3380344"/>
            <a:ext cx="574589" cy="2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134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30BD-FB59-4F67-8D45-C7CCBE85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Advantages of Chosen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D8E9B-E217-48EA-ACF3-372BE5A04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High purity of para-xylene</a:t>
            </a:r>
            <a:endParaRPr lang="en-US" b="1">
              <a:ea typeface="+mn-lt"/>
              <a:cs typeface="+mn-lt"/>
            </a:endParaRPr>
          </a:p>
          <a:p>
            <a:pPr lvl="1"/>
            <a:r>
              <a:rPr lang="en" sz="2000">
                <a:ea typeface="+mn-lt"/>
                <a:cs typeface="+mn-lt"/>
              </a:rPr>
              <a:t>No benzene by-products and No co-feed of hydrogen</a:t>
            </a:r>
            <a:endParaRPr lang="en-US" sz="2000">
              <a:ea typeface="+mn-lt"/>
              <a:cs typeface="+mn-lt"/>
            </a:endParaRPr>
          </a:p>
          <a:p>
            <a:pPr lvl="1"/>
            <a:r>
              <a:rPr lang="en-US" sz="2000">
                <a:ea typeface="+mn-lt"/>
                <a:cs typeface="+mn-lt"/>
              </a:rPr>
              <a:t>maximize the utilization of toluene[15]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Less equipment</a:t>
            </a:r>
          </a:p>
          <a:p>
            <a:pPr lvl="1"/>
            <a:r>
              <a:rPr lang="en" sz="2000">
                <a:ea typeface="+mn-lt"/>
                <a:cs typeface="+mn-lt"/>
              </a:rPr>
              <a:t>Toluene disproportionation unit and Parex unit</a:t>
            </a:r>
            <a:endParaRPr lang="en-US" sz="2000">
              <a:ea typeface="+mn-lt"/>
              <a:cs typeface="+mn-lt"/>
            </a:endParaRPr>
          </a:p>
          <a:p>
            <a:pPr lvl="1"/>
            <a:r>
              <a:rPr lang="en" sz="2000">
                <a:ea typeface="+mn-lt"/>
                <a:cs typeface="+mn-lt"/>
              </a:rPr>
              <a:t>Monitoring equipment is very sensitive</a:t>
            </a:r>
          </a:p>
          <a:p>
            <a:pPr lvl="1"/>
            <a:r>
              <a:rPr lang="en" sz="2000">
                <a:ea typeface="+mn-lt"/>
                <a:cs typeface="+mn-lt"/>
              </a:rPr>
              <a:t>More stable and continuous product yields.[15]</a:t>
            </a:r>
            <a:endParaRPr lang="en" sz="2000"/>
          </a:p>
          <a:p>
            <a:r>
              <a:rPr lang="en-US" sz="2000" b="1">
                <a:ea typeface="+mn-lt"/>
                <a:cs typeface="+mn-lt"/>
              </a:rPr>
              <a:t>Environment Friendly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CC62D-0D62-4D7D-93C1-15B33C19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D5851415-CF4E-4C41-9E36-04E444B51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4B516B89-DEA0-4832-8C56-F048168DA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646" y="413053"/>
            <a:ext cx="8212114" cy="6064596"/>
          </a:xfrm>
          <a:prstGeom prst="rect">
            <a:avLst/>
          </a:prstGeom>
          <a:solidFill>
            <a:srgbClr val="FFFFFF"/>
          </a:solidFill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3EA2D33E-BAA2-467B-80B0-8887D9A99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6067C508-2065-42E3-98D2-F3A9B8339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4978" y="402336"/>
            <a:ext cx="2596896" cy="605332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B30BD-FB59-4F67-8D45-C7CCBE85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6898" y="577048"/>
            <a:ext cx="1454890" cy="887463"/>
          </a:xfrm>
        </p:spPr>
        <p:txBody>
          <a:bodyPr anchor="b">
            <a:normAutofit/>
          </a:bodyPr>
          <a:lstStyle/>
          <a:p>
            <a:r>
              <a:rPr lang="en-US" sz="2800"/>
              <a:t>BFD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D8E9B-E217-48EA-ACF3-372BE5A04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801" y="2149813"/>
            <a:ext cx="2312479" cy="404670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CC62D-0D62-4D7D-93C1-15B33C19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1933" y="6035040"/>
            <a:ext cx="838200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0AC42A-630D-4681-834B-B9D73F0C370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66" y="199494"/>
            <a:ext cx="8631228" cy="645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41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F7B4D-D12A-4F6E-A7AD-4D3D276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564037"/>
          </a:xfrm>
        </p:spPr>
        <p:txBody>
          <a:bodyPr>
            <a:normAutofit fontScale="90000"/>
          </a:bodyPr>
          <a:lstStyle/>
          <a:p>
            <a:r>
              <a:rPr lang="en-US" dirty="0"/>
              <a:t>Material Balance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8DDB4-314C-4E99-BC4E-9650A455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20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73F89D-9833-4A75-9BD6-A4651DAF08F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69" y="1206630"/>
            <a:ext cx="10904708" cy="482841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883CC4-B3CB-4678-B5ED-04279DDAF463}"/>
              </a:ext>
            </a:extLst>
          </p:cNvPr>
          <p:cNvSpPr txBox="1"/>
          <p:nvPr/>
        </p:nvSpPr>
        <p:spPr>
          <a:xfrm>
            <a:off x="856034" y="6035040"/>
            <a:ext cx="9961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Table 1:</a:t>
            </a:r>
            <a:r>
              <a:rPr lang="en-US" dirty="0"/>
              <a:t> Material balance of the para-xylene production process through the methylation of toluene.  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947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D5851415-CF4E-4C41-9E36-04E444B51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4B516B89-DEA0-4832-8C56-F048168DA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646" y="413053"/>
            <a:ext cx="8212114" cy="6064596"/>
          </a:xfrm>
          <a:prstGeom prst="rect">
            <a:avLst/>
          </a:prstGeom>
          <a:solidFill>
            <a:srgbClr val="FFFFFF"/>
          </a:solidFill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3EA2D33E-BAA2-467B-80B0-8887D9A99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6067C508-2065-42E3-98D2-F3A9B8339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4978" y="402336"/>
            <a:ext cx="2596896" cy="605332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B30BD-FB59-4F67-8D45-C7CCBE85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881" y="567779"/>
            <a:ext cx="2312480" cy="1499738"/>
          </a:xfrm>
        </p:spPr>
        <p:txBody>
          <a:bodyPr anchor="b">
            <a:normAutofit/>
          </a:bodyPr>
          <a:lstStyle/>
          <a:p>
            <a:r>
              <a:rPr lang="en-US" sz="2800" dirty="0"/>
              <a:t>PFD of Overall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D8E9B-E217-48EA-ACF3-372BE5A04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801" y="2149813"/>
            <a:ext cx="2312479" cy="404670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Preliminary version of PFD.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Specific window for our design.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Simplified version of the overall process, for simulation purposes.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Excludes certain units based on our assumed feedstock.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CC62D-0D62-4D7D-93C1-15B33C19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1933" y="6035040"/>
            <a:ext cx="838200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CFEE9A-40E7-48E0-B64C-C76FBBDDBC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107" y="237744"/>
            <a:ext cx="8820173" cy="6319777"/>
          </a:xfrm>
          <a:prstGeom prst="rect">
            <a:avLst/>
          </a:prstGeom>
        </p:spPr>
      </p:pic>
      <p:sp>
        <p:nvSpPr>
          <p:cNvPr id="6" name="Star: 5 Points 5">
            <a:hlinkClick r:id="rId3" action="ppaction://hlinksldjump"/>
            <a:extLst>
              <a:ext uri="{FF2B5EF4-FFF2-40B4-BE49-F238E27FC236}">
                <a16:creationId xmlns:a16="http://schemas.microsoft.com/office/drawing/2014/main" id="{ED99740E-09BC-41E6-A7D6-96FB109DF13D}"/>
              </a:ext>
            </a:extLst>
          </p:cNvPr>
          <p:cNvSpPr/>
          <p:nvPr/>
        </p:nvSpPr>
        <p:spPr>
          <a:xfrm>
            <a:off x="7105875" y="1988545"/>
            <a:ext cx="554987" cy="473363"/>
          </a:xfrm>
          <a:prstGeom prst="star5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04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D5851415-CF4E-4C41-9E36-04E444B51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4B516B89-DEA0-4832-8C56-F048168DA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646" y="413053"/>
            <a:ext cx="8212114" cy="6064596"/>
          </a:xfrm>
          <a:prstGeom prst="rect">
            <a:avLst/>
          </a:prstGeom>
          <a:solidFill>
            <a:srgbClr val="FFFFFF"/>
          </a:solidFill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3EA2D33E-BAA2-467B-80B0-8887D9A99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6067C508-2065-42E3-98D2-F3A9B8339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4978" y="402336"/>
            <a:ext cx="2596896" cy="605332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B30BD-FB59-4F67-8D45-C7CCBE85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1801" y="612843"/>
            <a:ext cx="2312480" cy="1499738"/>
          </a:xfrm>
        </p:spPr>
        <p:txBody>
          <a:bodyPr anchor="b">
            <a:normAutofit fontScale="90000"/>
          </a:bodyPr>
          <a:lstStyle/>
          <a:p>
            <a:r>
              <a:rPr lang="en-US" sz="2800" dirty="0"/>
              <a:t>PFD of Methylation of Toluene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D8E9B-E217-48EA-ACF3-372BE5A04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801" y="2171214"/>
            <a:ext cx="2312479" cy="404670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Preliminary version of the PFD.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Zoomed in window for a more complex simulation.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is where the heart of the optimization will occur.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Includes more specific equipment.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CC62D-0D62-4D7D-93C1-15B33C19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1933" y="6035040"/>
            <a:ext cx="838200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58250F-E6E6-472E-A001-B3A3CAAB8F5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5" y="173583"/>
            <a:ext cx="8749079" cy="660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8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30BD-FB59-4F67-8D45-C7CCBE85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D8E9B-E217-48EA-ACF3-372BE5A04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99971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1800" dirty="0"/>
              <a:t>“</a:t>
            </a:r>
            <a:r>
              <a:rPr lang="pt-BR" sz="1800" i="1" dirty="0"/>
              <a:t>p</a:t>
            </a:r>
            <a:r>
              <a:rPr lang="pt-BR" sz="1800" dirty="0"/>
              <a:t>-Xylene 296333.” </a:t>
            </a:r>
            <a:r>
              <a:rPr lang="pt-BR" sz="1800" i="1" dirty="0"/>
              <a:t>C6H4(CH3)2</a:t>
            </a:r>
            <a:r>
              <a:rPr lang="pt-BR" sz="1800" dirty="0"/>
              <a:t>, www.sigmaaldrich.com/catalog/product/sial/296333?lang=en®ion=US.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“Terephthalic Acid 185361.” </a:t>
            </a:r>
            <a:r>
              <a:rPr lang="en-US" sz="1800" i="1" dirty="0"/>
              <a:t>Terephthalic Acid 98%</a:t>
            </a:r>
            <a:r>
              <a:rPr lang="en-US" sz="1800" dirty="0"/>
              <a:t>, www.sigmaaldrich.com/catalog/product/</a:t>
            </a:r>
            <a:r>
              <a:rPr lang="en-US" sz="1800" dirty="0" err="1"/>
              <a:t>aldrich</a:t>
            </a:r>
            <a:r>
              <a:rPr lang="en-US" sz="1800" dirty="0"/>
              <a:t>/185361?lang=</a:t>
            </a:r>
            <a:r>
              <a:rPr lang="en-US" sz="1800" dirty="0" err="1"/>
              <a:t>en®ion</a:t>
            </a:r>
            <a:r>
              <a:rPr lang="en-US" sz="1800" dirty="0"/>
              <a:t>=US.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Kiron, </a:t>
            </a:r>
            <a:r>
              <a:rPr lang="en-US" sz="1800" dirty="0" err="1"/>
              <a:t>Mazharul</a:t>
            </a:r>
            <a:r>
              <a:rPr lang="en-US" sz="1800" dirty="0"/>
              <a:t> Islam. “Polyester Fiber: Characteristics of Polyester Fiber: Properties of Polyester Fiber: Uses of Polyester Fiber.” </a:t>
            </a:r>
            <a:r>
              <a:rPr lang="en-US" sz="1800" i="1" dirty="0"/>
              <a:t>Textile Learner: One Stop Solution for Textiles</a:t>
            </a:r>
            <a:r>
              <a:rPr lang="en-US" sz="1800" dirty="0"/>
              <a:t>, textilelearner.blogspot.com/2011/07/polyester-fiber-characteristics-of_11.html.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Kiron, </a:t>
            </a:r>
            <a:r>
              <a:rPr lang="en-US" sz="1800" dirty="0" err="1"/>
              <a:t>Mazharul</a:t>
            </a:r>
            <a:r>
              <a:rPr lang="en-US" sz="1800" dirty="0"/>
              <a:t> Islam. “Polyester Fiber: Characteristics of Polyester Fiber: Properties of Polyester Fiber: Uses of Polyester Fiber.” </a:t>
            </a:r>
            <a:r>
              <a:rPr lang="en-US" sz="1800" i="1" dirty="0"/>
              <a:t>Textile Learner: One Stop Solution for Textiles</a:t>
            </a:r>
            <a:r>
              <a:rPr lang="en-US" sz="1800" dirty="0"/>
              <a:t>, textilelearner.blogspot.com/2011/07/polyester-fiber-characteristics-of_11.html.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“Paraxylene (PX) Uses and Market Data.” </a:t>
            </a:r>
            <a:r>
              <a:rPr lang="en-US" sz="1800" i="1" dirty="0" err="1"/>
              <a:t>Icis</a:t>
            </a:r>
            <a:r>
              <a:rPr lang="en-US" sz="1800" dirty="0"/>
              <a:t>, www.icis.com/explore/resources/news/2007/11/05/9076062/paraxylene-px-uses-and-market-data/.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“Purified Terephthalic Acid (PTA) Production and Market.” Plastics Insight, </a:t>
            </a:r>
            <a:r>
              <a:rPr lang="en-US" sz="1800" dirty="0">
                <a:hlinkClick r:id="rId2"/>
              </a:rPr>
              <a:t>www.plasticsinsight.com/resin-intelligence/resin-prices/purified-terephthalic-acid-pta/</a:t>
            </a:r>
            <a:r>
              <a:rPr lang="en-US" sz="18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Bhattacharya, </a:t>
            </a:r>
            <a:r>
              <a:rPr lang="en-US" sz="1800" dirty="0" err="1"/>
              <a:t>Neelay</a:t>
            </a:r>
            <a:r>
              <a:rPr lang="en-US" sz="1800" dirty="0"/>
              <a:t>. “Advances in Aromatics Technology: Lowers Paraxylene Cost of Production.” </a:t>
            </a:r>
            <a:r>
              <a:rPr lang="en-US" sz="1800" i="1" dirty="0"/>
              <a:t>UOP Honeywell</a:t>
            </a:r>
            <a:r>
              <a:rPr lang="en-US" sz="1800" dirty="0"/>
              <a:t>, 3 Oct. 2017.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Fischer, Oskar, and Bernhard </a:t>
            </a:r>
            <a:r>
              <a:rPr lang="en-US" sz="1800" dirty="0" err="1"/>
              <a:t>Jans</a:t>
            </a:r>
            <a:r>
              <a:rPr lang="en-US" sz="1800" dirty="0"/>
              <a:t>. “Process for Ultra-Purification of Paraxylene.” </a:t>
            </a:r>
            <a:r>
              <a:rPr lang="en-US" sz="1800" i="1" dirty="0"/>
              <a:t>Process for Ultra-Purification of Paraxylene</a:t>
            </a:r>
            <a:r>
              <a:rPr lang="en-US" sz="1800" dirty="0"/>
              <a:t>, </a:t>
            </a:r>
            <a:r>
              <a:rPr lang="en-US" sz="1800" dirty="0">
                <a:hlinkClick r:id="rId3"/>
              </a:rPr>
              <a:t>www.digitalrefining.com/article/1000442,Process_for_ultra_purification_of_paraxylene.html</a:t>
            </a:r>
            <a:r>
              <a:rPr lang="en-US" sz="1800" dirty="0"/>
              <a:t>.</a:t>
            </a:r>
            <a:endParaRPr lang="en-US" sz="1800" b="1" dirty="0"/>
          </a:p>
          <a:p>
            <a:pPr marL="342900" indent="-342900">
              <a:buFont typeface="+mj-lt"/>
              <a:buAutoNum type="arabicPeriod"/>
            </a:pPr>
            <a:r>
              <a:rPr lang="en-US" sz="1800" i="1" dirty="0"/>
              <a:t>Figure adapted from Google Maps ©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CC62D-0D62-4D7D-93C1-15B33C19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56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529E-5879-42D0-AD43-9691E859D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5F3D9-6C81-4051-B43F-32EDA9C31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10.  Andrew, </a:t>
            </a:r>
            <a:r>
              <a:rPr lang="en-US" err="1">
                <a:ea typeface="+mn-lt"/>
                <a:cs typeface="+mn-lt"/>
              </a:rPr>
              <a:t>Griffis</a:t>
            </a:r>
            <a:r>
              <a:rPr lang="en-US">
                <a:ea typeface="+mn-lt"/>
                <a:cs typeface="+mn-lt"/>
              </a:rPr>
              <a:t>. “WO2013085681A1 - Production Process of Para -Xylene and Apparatus Thereof.” </a:t>
            </a:r>
            <a:r>
              <a:rPr lang="en-US" i="1">
                <a:ea typeface="+mn-lt"/>
                <a:cs typeface="+mn-lt"/>
              </a:rPr>
              <a:t>Google Patents</a:t>
            </a:r>
            <a:r>
              <a:rPr lang="en-US">
                <a:ea typeface="+mn-lt"/>
                <a:cs typeface="+mn-lt"/>
              </a:rPr>
              <a:t>,             World Intellectual Property Organization, 13 June 2013, patents.google.com/patent/WO2013085681A1/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11. </a:t>
            </a:r>
            <a:r>
              <a:rPr lang="en-US" err="1">
                <a:ea typeface="+mn-lt"/>
                <a:cs typeface="+mn-lt"/>
              </a:rPr>
              <a:t>Trần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Vũ</a:t>
            </a:r>
            <a:r>
              <a:rPr lang="en-US">
                <a:ea typeface="+mn-lt"/>
                <a:cs typeface="+mn-lt"/>
              </a:rPr>
              <a:t>. “UOP Aromatics Complex.” </a:t>
            </a:r>
            <a:r>
              <a:rPr lang="en-US" i="1">
                <a:ea typeface="+mn-lt"/>
                <a:cs typeface="+mn-lt"/>
              </a:rPr>
              <a:t>Academia.edu - Share Research</a:t>
            </a:r>
            <a:r>
              <a:rPr lang="en-US">
                <a:ea typeface="+mn-lt"/>
                <a:cs typeface="+mn-lt"/>
              </a:rPr>
              <a:t>, 2003, www.academia.edu/9478499/UOP_Aromatics_Complex.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12. Saito, </a:t>
            </a:r>
            <a:r>
              <a:rPr lang="en-US" err="1">
                <a:ea typeface="+mn-lt"/>
                <a:cs typeface="+mn-lt"/>
              </a:rPr>
              <a:t>Shozaburo</a:t>
            </a:r>
            <a:r>
              <a:rPr lang="en-US">
                <a:ea typeface="+mn-lt"/>
                <a:cs typeface="+mn-lt"/>
              </a:rPr>
              <a:t>, et al. “Separation of Meta- And Para-Xylene Mixture By Distillation Accompanied By Chemical Reactions.” </a:t>
            </a:r>
            <a:r>
              <a:rPr lang="en-US" i="1">
                <a:ea typeface="+mn-lt"/>
                <a:cs typeface="+mn-lt"/>
              </a:rPr>
              <a:t>Journal of Chemical Engineering of Japan</a:t>
            </a:r>
            <a:r>
              <a:rPr lang="en-US">
                <a:ea typeface="+mn-lt"/>
                <a:cs typeface="+mn-lt"/>
              </a:rPr>
              <a:t>, vol. 4, no. 1, 1971, pp. 37–43., doi:10.1252/jcej.4.37.</a:t>
            </a:r>
            <a:r>
              <a:rPr lang="en-US" b="1">
                <a:ea typeface="+mn-lt"/>
                <a:cs typeface="+mn-lt"/>
              </a:rPr>
              <a:t> 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13. S. Venkataraman, W.K. Chan, and J. F. Boston, “Reactive distillation using ASPEN PLUS,”  Chemical Engineering Progress, vol. 86, no. 8, pp. 45-54, 1990.</a:t>
            </a:r>
            <a:r>
              <a:rPr lang="en-US" b="1">
                <a:ea typeface="+mn-lt"/>
                <a:cs typeface="+mn-lt"/>
              </a:rPr>
              <a:t> 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14. K. Pitzer and D. Scott, “Additions and Corrections – The Thermodynamics and Molecular Structure of Benzene and Its Methyl Derivitives.,” Journal of the American Chemical Society, vol. 65, no. 12, p. 2481. Dec. 1943.</a:t>
            </a: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15. “EMTAM Toluene Selective Alkylation with Methanol: ExxonMobil Chemical.” </a:t>
            </a:r>
            <a:r>
              <a:rPr lang="en-US" i="1">
                <a:ea typeface="+mn-lt"/>
                <a:cs typeface="+mn-lt"/>
              </a:rPr>
              <a:t>EMTAM Toluene Selective Alkylation with Methanol | ExxonMobil Chemical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u="sng">
                <a:ea typeface="+mn-lt"/>
                <a:cs typeface="+mn-lt"/>
                <a:hlinkClick r:id="rId2"/>
              </a:rPr>
              <a:t>www.exxonmobilchemical.com/en/catalysts-and-technology-licensing/xylenes-production/toluene-selective-alkylation-with-methanol</a:t>
            </a:r>
            <a:r>
              <a:rPr lang="en-US">
                <a:ea typeface="+mn-lt"/>
                <a:cs typeface="+mn-lt"/>
              </a:rPr>
              <a:t>.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B31AF-F674-4D85-A781-9F84DB49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641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LeftStep">
      <a:dk1>
        <a:srgbClr val="000000"/>
      </a:dk1>
      <a:lt1>
        <a:srgbClr val="FFFFFF"/>
      </a:lt1>
      <a:dk2>
        <a:srgbClr val="41242E"/>
      </a:dk2>
      <a:lt2>
        <a:srgbClr val="E8E2E3"/>
      </a:lt2>
      <a:accent1>
        <a:srgbClr val="80AAA0"/>
      </a:accent1>
      <a:accent2>
        <a:srgbClr val="75AC88"/>
      </a:accent2>
      <a:accent3>
        <a:srgbClr val="85AB82"/>
      </a:accent3>
      <a:accent4>
        <a:srgbClr val="8FAA74"/>
      </a:accent4>
      <a:accent5>
        <a:srgbClr val="A0A47C"/>
      </a:accent5>
      <a:accent6>
        <a:srgbClr val="B19F79"/>
      </a:accent6>
      <a:hlink>
        <a:srgbClr val="AE697A"/>
      </a:hlink>
      <a:folHlink>
        <a:srgbClr val="7F7F7F"/>
      </a:folHlink>
    </a:clrScheme>
    <a:fontScheme name="Savon">
      <a:majorFont>
        <a:latin typeface="Century School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D3A3D3ED98CF49A4FC62DB5D9D32B4" ma:contentTypeVersion="7" ma:contentTypeDescription="Create a new document." ma:contentTypeScope="" ma:versionID="74b6251d3990e7cdf313904fa221fb39">
  <xsd:schema xmlns:xsd="http://www.w3.org/2001/XMLSchema" xmlns:xs="http://www.w3.org/2001/XMLSchema" xmlns:p="http://schemas.microsoft.com/office/2006/metadata/properties" xmlns:ns3="14aff13a-7e15-408e-b539-9d119d1a29ad" xmlns:ns4="7fecd039-07ff-49a7-9703-e6e2015927a6" targetNamespace="http://schemas.microsoft.com/office/2006/metadata/properties" ma:root="true" ma:fieldsID="a9a8224b4e9cc8a0a1bbbcf0c8742a14" ns3:_="" ns4:_="">
    <xsd:import namespace="14aff13a-7e15-408e-b539-9d119d1a29ad"/>
    <xsd:import namespace="7fecd039-07ff-49a7-9703-e6e2015927a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aff13a-7e15-408e-b539-9d119d1a29a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cd039-07ff-49a7-9703-e6e2015927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4A9EA4-C433-4A18-826F-AA2DA00A865C}">
  <ds:schemaRefs>
    <ds:schemaRef ds:uri="14aff13a-7e15-408e-b539-9d119d1a29ad"/>
    <ds:schemaRef ds:uri="7fecd039-07ff-49a7-9703-e6e2015927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A795DA7-EA1A-401D-A623-E57FE172DEE7}">
  <ds:schemaRefs>
    <ds:schemaRef ds:uri="14aff13a-7e15-408e-b539-9d119d1a29ad"/>
    <ds:schemaRef ds:uri="7fecd039-07ff-49a7-9703-e6e2015927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CF72B2C-7EE5-4DB8-9322-D99F4DF5FE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1579</Words>
  <Application>Microsoft Office PowerPoint</Application>
  <PresentationFormat>Widescreen</PresentationFormat>
  <Paragraphs>224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Arial,Sans-Serif</vt:lpstr>
      <vt:lpstr>Calibri</vt:lpstr>
      <vt:lpstr>Century Schoolbook</vt:lpstr>
      <vt:lpstr>Franklin Gothic Book</vt:lpstr>
      <vt:lpstr>Garamond</vt:lpstr>
      <vt:lpstr>Times New Roman</vt:lpstr>
      <vt:lpstr>Wingdings</vt:lpstr>
      <vt:lpstr>SavonVTI</vt:lpstr>
      <vt:lpstr>Para-xylene Production Through Methylation of Toluene</vt:lpstr>
      <vt:lpstr>Introduction</vt:lpstr>
      <vt:lpstr>Introduction</vt:lpstr>
      <vt:lpstr>Market Analysis (Value Chain)</vt:lpstr>
      <vt:lpstr>Market Analysis (Market Drivers)</vt:lpstr>
      <vt:lpstr>Market Analysis (Feed Stock Pricing)</vt:lpstr>
      <vt:lpstr>Market Analysis (Looking Forward)</vt:lpstr>
      <vt:lpstr>Goals And Objectives</vt:lpstr>
      <vt:lpstr>Design Basis</vt:lpstr>
      <vt:lpstr>Design Basis</vt:lpstr>
      <vt:lpstr>Process Description</vt:lpstr>
      <vt:lpstr>ExxonMobil based process</vt:lpstr>
      <vt:lpstr>UOP process</vt:lpstr>
      <vt:lpstr>Strengths / Weakness </vt:lpstr>
      <vt:lpstr>PowerPoint Presentation</vt:lpstr>
      <vt:lpstr>PowerPoint Presentation</vt:lpstr>
      <vt:lpstr>PowerPoint Presentation</vt:lpstr>
      <vt:lpstr>Advantages of Chosen Solution</vt:lpstr>
      <vt:lpstr>BFD</vt:lpstr>
      <vt:lpstr>Material Balance</vt:lpstr>
      <vt:lpstr>PFD of Overall Process</vt:lpstr>
      <vt:lpstr>PFD of Methylation of Toluene Process</vt:lpstr>
      <vt:lpstr>References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Rawson, William L</dc:creator>
  <cp:lastModifiedBy>Rawson, William L</cp:lastModifiedBy>
  <cp:revision>2</cp:revision>
  <dcterms:created xsi:type="dcterms:W3CDTF">2020-02-02T20:32:45Z</dcterms:created>
  <dcterms:modified xsi:type="dcterms:W3CDTF">2020-02-04T18:08:13Z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0x0101000BD3A3D3ED98CF49A4FC62DB5D9D32B4</vt:lpwstr>
  </property>
</Properties>
</file>