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5" r:id="rId11"/>
    <p:sldId id="266" r:id="rId12"/>
    <p:sldId id="262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67" r:id="rId23"/>
    <p:sldId id="264" r:id="rId24"/>
    <p:sldId id="263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B05FED-621E-41BD-BC6E-46C94590935A}" v="583" dt="2020-03-03T16:54:08.967"/>
    <p1510:client id="{5D0BA677-D29B-42D4-BFC1-74976A74EDE8}" v="67" dt="2020-03-03T17:43:02.676"/>
    <p1510:client id="{61688ED8-DD57-034D-A029-C305DCE3792A}" v="242" vWet="243" dt="2020-03-03T16:18:41.594"/>
    <p1510:client id="{CAB01041-1EF8-4ACF-BE94-B46014A96171}" v="424" dt="2020-03-03T17:39:31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6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8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A27E2-79C5-4DD1-80A4-7A6BAF208C56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0B21B-2029-4220-95C0-AB390AE2E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0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B21B-2029-4220-95C0-AB390AE2E8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1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B21B-2029-4220-95C0-AB390AE2E8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44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B21B-2029-4220-95C0-AB390AE2E8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32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Marv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B21B-2029-4220-95C0-AB390AE2E8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17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Eddie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B21B-2029-4220-95C0-AB390AE2E8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24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Eddie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B21B-2029-4220-95C0-AB390AE2E8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28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Eddie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B21B-2029-4220-95C0-AB390AE2E8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83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Geore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B21B-2029-4220-95C0-AB390AE2E8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50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George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B21B-2029-4220-95C0-AB390AE2E80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25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Marv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B21B-2029-4220-95C0-AB390AE2E80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1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Marv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B21B-2029-4220-95C0-AB390AE2E80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60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B21B-2029-4220-95C0-AB390AE2E80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745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0B21B-2029-4220-95C0-AB390AE2E80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37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45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8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5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2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7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1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5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78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3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4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85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45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91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52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65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8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69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46CE7D5-CF57-46EF-B807-FDD0502418D4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445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799"/>
            <a:ext cx="8420877" cy="2971801"/>
          </a:xfrm>
        </p:spPr>
        <p:txBody>
          <a:bodyPr>
            <a:normAutofit/>
          </a:bodyPr>
          <a:lstStyle/>
          <a:p>
            <a:r>
              <a:rPr lang="en-US"/>
              <a:t>Human Waste to Renewable Diesel </a:t>
            </a:r>
            <a:br>
              <a:rPr lang="en-US"/>
            </a:br>
            <a:r>
              <a:rPr lang="en-US"/>
              <a:t>       Project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10888028" cy="2808546"/>
          </a:xfrm>
        </p:spPr>
        <p:txBody>
          <a:bodyPr>
            <a:normAutofit fontScale="70000" lnSpcReduction="20000"/>
          </a:bodyPr>
          <a:lstStyle/>
          <a:p>
            <a:pPr fontAlgn="base">
              <a:lnSpc>
                <a:spcPct val="90000"/>
              </a:lnSpc>
            </a:pPr>
            <a:r>
              <a:rPr lang="en-US" sz="2600">
                <a:solidFill>
                  <a:schemeClr val="tx2">
                    <a:lumMod val="75000"/>
                  </a:schemeClr>
                </a:solidFill>
              </a:rPr>
              <a:t>By:​</a:t>
            </a:r>
          </a:p>
          <a:p>
            <a:pPr fontAlgn="base">
              <a:lnSpc>
                <a:spcPct val="90000"/>
              </a:lnSpc>
            </a:pPr>
            <a:r>
              <a:rPr lang="en-US" sz="2600" err="1">
                <a:solidFill>
                  <a:schemeClr val="tx2">
                    <a:lumMod val="75000"/>
                  </a:schemeClr>
                </a:solidFill>
              </a:rPr>
              <a:t>Gewargis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sz="2600" err="1">
                <a:solidFill>
                  <a:schemeClr val="tx2">
                    <a:lumMod val="75000"/>
                  </a:schemeClr>
                </a:solidFill>
              </a:rPr>
              <a:t>Garmoos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</a:rPr>
              <a:t>​</a:t>
            </a:r>
          </a:p>
          <a:p>
            <a:pPr fontAlgn="base">
              <a:lnSpc>
                <a:spcPct val="90000"/>
              </a:lnSpc>
            </a:pPr>
            <a:r>
              <a:rPr lang="en-US" sz="2600">
                <a:solidFill>
                  <a:schemeClr val="tx2">
                    <a:lumMod val="75000"/>
                  </a:schemeClr>
                </a:solidFill>
              </a:rPr>
              <a:t>Marvl Odeesh ​</a:t>
            </a:r>
          </a:p>
          <a:p>
            <a:pPr fontAlgn="base">
              <a:lnSpc>
                <a:spcPct val="90000"/>
              </a:lnSpc>
            </a:pPr>
            <a:r>
              <a:rPr lang="en-US" sz="2600">
                <a:solidFill>
                  <a:schemeClr val="tx2">
                    <a:lumMod val="75000"/>
                  </a:schemeClr>
                </a:solidFill>
              </a:rPr>
              <a:t>Eddie Salgado​</a:t>
            </a:r>
          </a:p>
          <a:p>
            <a:pPr fontAlgn="base">
              <a:lnSpc>
                <a:spcPct val="90000"/>
              </a:lnSpc>
            </a:pPr>
            <a:r>
              <a:rPr lang="en-US" sz="2600">
                <a:solidFill>
                  <a:schemeClr val="tx2">
                    <a:lumMod val="75000"/>
                  </a:schemeClr>
                </a:solidFill>
              </a:rPr>
              <a:t>Michael Stacy​</a:t>
            </a:r>
          </a:p>
          <a:p>
            <a:pPr fontAlgn="base">
              <a:lnSpc>
                <a:spcPct val="90000"/>
              </a:lnSpc>
            </a:pPr>
            <a:r>
              <a:rPr lang="en-US" sz="2600">
                <a:solidFill>
                  <a:schemeClr val="tx2">
                    <a:lumMod val="75000"/>
                  </a:schemeClr>
                </a:solidFill>
              </a:rPr>
              <a:t>​</a:t>
            </a:r>
          </a:p>
          <a:p>
            <a:pPr fontAlgn="base">
              <a:lnSpc>
                <a:spcPct val="90000"/>
              </a:lnSpc>
            </a:pPr>
            <a:r>
              <a:rPr lang="en-US" sz="2600">
                <a:solidFill>
                  <a:schemeClr val="tx2">
                    <a:lumMod val="75000"/>
                  </a:schemeClr>
                </a:solidFill>
              </a:rPr>
              <a:t>Mentor:​</a:t>
            </a:r>
          </a:p>
          <a:p>
            <a:pPr fontAlgn="base">
              <a:lnSpc>
                <a:spcPct val="90000"/>
              </a:lnSpc>
            </a:pPr>
            <a:r>
              <a:rPr lang="en-US" sz="2600">
                <a:solidFill>
                  <a:schemeClr val="tx2">
                    <a:lumMod val="75000"/>
                  </a:schemeClr>
                </a:solidFill>
              </a:rPr>
              <a:t>Jerry Palmer</a:t>
            </a:r>
          </a:p>
          <a:p>
            <a:pPr>
              <a:lnSpc>
                <a:spcPct val="90000"/>
              </a:lnSpc>
            </a:pPr>
            <a:endParaRPr lang="en-US" sz="80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4376"/>
            <a:ext cx="8737600" cy="27161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Changes Made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6F829F-500A-4F55-B08E-6075B839BC2C}"/>
              </a:ext>
            </a:extLst>
          </p:cNvPr>
          <p:cNvSpPr txBox="1"/>
          <p:nvPr/>
        </p:nvSpPr>
        <p:spPr>
          <a:xfrm>
            <a:off x="716437" y="1668544"/>
            <a:ext cx="95210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BFD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PFD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Producing renewable Diesel instead of bio Diesel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Plant to be located next to refinery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Producing gasoline as well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Plug flow reactor instead of 3 batch reactors</a:t>
            </a:r>
            <a:r>
              <a:rPr lang="en-US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2095A2-B8E8-1C4B-BDFF-CD7AB31013F9}"/>
              </a:ext>
            </a:extLst>
          </p:cNvPr>
          <p:cNvSpPr txBox="1"/>
          <p:nvPr/>
        </p:nvSpPr>
        <p:spPr>
          <a:xfrm>
            <a:off x="11597482" y="51657"/>
            <a:ext cx="440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29301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4376"/>
            <a:ext cx="8737600" cy="27161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Design Basis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9BE1F1-6333-4384-8235-00BBDA6B2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791838"/>
              </p:ext>
            </p:extLst>
          </p:nvPr>
        </p:nvGraphicFramePr>
        <p:xfrm>
          <a:off x="2430611" y="1921302"/>
          <a:ext cx="5937250" cy="2885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8625">
                  <a:extLst>
                    <a:ext uri="{9D8B030D-6E8A-4147-A177-3AD203B41FA5}">
                      <a16:colId xmlns:a16="http://schemas.microsoft.com/office/drawing/2014/main" val="3892800482"/>
                    </a:ext>
                  </a:extLst>
                </a:gridCol>
                <a:gridCol w="2968625">
                  <a:extLst>
                    <a:ext uri="{9D8B030D-6E8A-4147-A177-3AD203B41FA5}">
                      <a16:colId xmlns:a16="http://schemas.microsoft.com/office/drawing/2014/main" val="3386591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Number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2083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Biodiesel Purity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99%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5774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Operation Time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330 Days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5779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Plant Location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Lagos Nigeria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5709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Raw Material Composition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Waste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9549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Production Rate</a:t>
                      </a:r>
                    </a:p>
                    <a:p>
                      <a:pPr marL="342900" marR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LcPeriod"/>
                      </a:pPr>
                      <a:r>
                        <a:rPr lang="en-US" sz="1400">
                          <a:effectLst/>
                        </a:rPr>
                        <a:t>Renewable Diesel 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b. Fuel Gas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c. Biochar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(pounds per year)</a:t>
                      </a:r>
                    </a:p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US" sz="1400">
                          <a:effectLst/>
                        </a:rPr>
                        <a:t>3,520,000</a:t>
                      </a:r>
                    </a:p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US" sz="1400">
                          <a:effectLst/>
                        </a:rPr>
                        <a:t>1,500,000</a:t>
                      </a:r>
                    </a:p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US" sz="1400">
                          <a:effectLst/>
                        </a:rPr>
                        <a:t>7,000,000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686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Production Rate Conversions</a:t>
                      </a:r>
                    </a:p>
                    <a:p>
                      <a:pPr marL="342900" marR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LcPeriod"/>
                      </a:pPr>
                      <a:r>
                        <a:rPr lang="en-US" sz="1400">
                          <a:effectLst/>
                        </a:rPr>
                        <a:t>Renewable Diesel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b. Fuel Gas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c. Biochar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US" sz="1400">
                          <a:effectLst/>
                        </a:rPr>
                        <a:t>500,000 gallons per year</a:t>
                      </a:r>
                    </a:p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US" sz="1400">
                          <a:effectLst/>
                        </a:rPr>
                        <a:t>2,650,000 m</a:t>
                      </a:r>
                      <a:r>
                        <a:rPr lang="en-US" sz="1400" baseline="30000">
                          <a:effectLst/>
                        </a:rPr>
                        <a:t>3</a:t>
                      </a:r>
                      <a:r>
                        <a:rPr lang="en-US" sz="1400">
                          <a:effectLst/>
                        </a:rPr>
                        <a:t> per year</a:t>
                      </a:r>
                    </a:p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eriod"/>
                      </a:pPr>
                      <a:r>
                        <a:rPr lang="en-US" sz="1400">
                          <a:effectLst/>
                        </a:rPr>
                        <a:t>7,000,000 pounds per year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7531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9677B3-B19A-4DB1-B210-C55FC6A61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944816"/>
              </p:ext>
            </p:extLst>
          </p:nvPr>
        </p:nvGraphicFramePr>
        <p:xfrm>
          <a:off x="2430611" y="5125909"/>
          <a:ext cx="5937250" cy="8667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8625">
                  <a:extLst>
                    <a:ext uri="{9D8B030D-6E8A-4147-A177-3AD203B41FA5}">
                      <a16:colId xmlns:a16="http://schemas.microsoft.com/office/drawing/2014/main" val="1306321107"/>
                    </a:ext>
                  </a:extLst>
                </a:gridCol>
                <a:gridCol w="2968625">
                  <a:extLst>
                    <a:ext uri="{9D8B030D-6E8A-4147-A177-3AD203B41FA5}">
                      <a16:colId xmlns:a16="http://schemas.microsoft.com/office/drawing/2014/main" val="25434028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Description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Number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4906637"/>
                  </a:ext>
                </a:extLst>
              </a:tr>
              <a:tr h="2170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Average Human Waste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320 pounds per year [19]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908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Feasible Product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.1% of waste is usable [6]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0658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Population of Lagos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11,000,000 people [18]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2648707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99389C0F-17EB-4834-A2A5-7360D0BE0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96764" y="478366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Table 10: Design Basis for Input Feed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5349E8-A804-4345-B5D0-774590C7A4A1}"/>
              </a:ext>
            </a:extLst>
          </p:cNvPr>
          <p:cNvSpPr/>
          <p:nvPr/>
        </p:nvSpPr>
        <p:spPr>
          <a:xfrm>
            <a:off x="3987247" y="1539390"/>
            <a:ext cx="3093796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i="1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Table 9: Design Basis for Plant</a:t>
            </a:r>
            <a:endParaRPr lang="en-US" sz="16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E27CA4-5297-E142-92BC-0FF462956B94}"/>
              </a:ext>
            </a:extLst>
          </p:cNvPr>
          <p:cNvSpPr txBox="1"/>
          <p:nvPr/>
        </p:nvSpPr>
        <p:spPr>
          <a:xfrm>
            <a:off x="11220450" y="91545"/>
            <a:ext cx="817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F115AB-9ED4-C141-90D2-6E37E988B462}"/>
              </a:ext>
            </a:extLst>
          </p:cNvPr>
          <p:cNvSpPr txBox="1"/>
          <p:nvPr/>
        </p:nvSpPr>
        <p:spPr>
          <a:xfrm>
            <a:off x="11597482" y="51657"/>
            <a:ext cx="440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79807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4375"/>
            <a:ext cx="8737600" cy="25816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BFD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538454-8879-7840-94FD-A5F97A20DE07}"/>
              </a:ext>
            </a:extLst>
          </p:cNvPr>
          <p:cNvSpPr txBox="1"/>
          <p:nvPr/>
        </p:nvSpPr>
        <p:spPr>
          <a:xfrm>
            <a:off x="11597482" y="51657"/>
            <a:ext cx="440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7A30B9-4A8B-4992-AA2D-9D1313CF3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7283"/>
            <a:ext cx="12192000" cy="583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68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4376"/>
            <a:ext cx="8737600" cy="27161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PFD</a:t>
            </a:r>
          </a:p>
        </p:txBody>
      </p:sp>
      <p:pic>
        <p:nvPicPr>
          <p:cNvPr id="11" name="Picture 10" descr="A close up of a map&#10;&#10;Description automatically generated">
            <a:extLst>
              <a:ext uri="{FF2B5EF4-FFF2-40B4-BE49-F238E27FC236}">
                <a16:creationId xmlns:a16="http://schemas.microsoft.com/office/drawing/2014/main" id="{22E9B5A4-AB6B-4253-8DD0-40D1FDAF0CD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1" y="1004147"/>
            <a:ext cx="11963081" cy="57623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18F71A-8753-614A-B1F1-9DCF5A9D2317}"/>
              </a:ext>
            </a:extLst>
          </p:cNvPr>
          <p:cNvSpPr txBox="1"/>
          <p:nvPr/>
        </p:nvSpPr>
        <p:spPr>
          <a:xfrm>
            <a:off x="11597482" y="51657"/>
            <a:ext cx="440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07508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4376"/>
            <a:ext cx="8737600" cy="27161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Material Balance</a:t>
            </a:r>
          </a:p>
        </p:txBody>
      </p:sp>
      <p:pic>
        <p:nvPicPr>
          <p:cNvPr id="11" name="Picture 10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32F584D1-6822-4D7F-8680-7161D15593C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22" y="1205334"/>
            <a:ext cx="12007878" cy="56526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552D8E-18BE-084A-8FD4-04C9948D2686}"/>
              </a:ext>
            </a:extLst>
          </p:cNvPr>
          <p:cNvSpPr txBox="1"/>
          <p:nvPr/>
        </p:nvSpPr>
        <p:spPr>
          <a:xfrm>
            <a:off x="11597482" y="51657"/>
            <a:ext cx="440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6346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4376"/>
            <a:ext cx="8737600" cy="27161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Material Balance</a:t>
            </a:r>
          </a:p>
        </p:txBody>
      </p:sp>
      <p:pic>
        <p:nvPicPr>
          <p:cNvPr id="15" name="Picture 1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09B8F189-7D80-4690-AFE2-7455E9BA55B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7342"/>
            <a:ext cx="8737600" cy="5870657"/>
          </a:xfrm>
          <a:prstGeom prst="rect">
            <a:avLst/>
          </a:prstGeom>
        </p:spPr>
      </p:pic>
      <p:pic>
        <p:nvPicPr>
          <p:cNvPr id="13" name="Picture 1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096ECAB8-3274-4931-B323-AE66AF59979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954" y="987342"/>
            <a:ext cx="10860046" cy="587065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C1DE38E-BEF8-4C47-8A89-F535499400DF}"/>
              </a:ext>
            </a:extLst>
          </p:cNvPr>
          <p:cNvSpPr txBox="1"/>
          <p:nvPr/>
        </p:nvSpPr>
        <p:spPr>
          <a:xfrm>
            <a:off x="11597482" y="51657"/>
            <a:ext cx="440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3505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4376"/>
            <a:ext cx="8737600" cy="27161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Material Balance</a:t>
            </a:r>
          </a:p>
        </p:txBody>
      </p:sp>
      <p:pic>
        <p:nvPicPr>
          <p:cNvPr id="11" name="Picture 10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32F584D1-6822-4D7F-8680-7161D15593C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0510"/>
            <a:ext cx="8737600" cy="5837490"/>
          </a:xfrm>
          <a:prstGeom prst="rect">
            <a:avLst/>
          </a:prstGeom>
        </p:spPr>
      </p:pic>
      <p:pic>
        <p:nvPicPr>
          <p:cNvPr id="15" name="Picture 1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4E0961A3-9B59-43E2-BF95-7C912F14DA0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019" y="992061"/>
            <a:ext cx="10987981" cy="58659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57198A-9435-EF48-8EC4-7E0A9158197F}"/>
              </a:ext>
            </a:extLst>
          </p:cNvPr>
          <p:cNvSpPr txBox="1"/>
          <p:nvPr/>
        </p:nvSpPr>
        <p:spPr>
          <a:xfrm>
            <a:off x="11597482" y="51657"/>
            <a:ext cx="440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39910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4376"/>
            <a:ext cx="8737600" cy="27161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Aspen </a:t>
            </a:r>
          </a:p>
        </p:txBody>
      </p:sp>
      <p:pic>
        <p:nvPicPr>
          <p:cNvPr id="11" name="Picture 10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B192A0D-876D-49B0-9625-28F5EE056E0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30" y="1134796"/>
            <a:ext cx="11555379" cy="55504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C3FC84-10EA-0548-85D6-952B8D95124B}"/>
              </a:ext>
            </a:extLst>
          </p:cNvPr>
          <p:cNvSpPr txBox="1"/>
          <p:nvPr/>
        </p:nvSpPr>
        <p:spPr>
          <a:xfrm>
            <a:off x="11597482" y="51657"/>
            <a:ext cx="440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7023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4376"/>
            <a:ext cx="8737600" cy="27161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Aspen </a:t>
            </a: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520CEB7D-BBFF-42BA-BDF9-5DC62B18015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325456"/>
            <a:ext cx="11584562" cy="53039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31C538-2331-4B45-92D2-4ED5E1733743}"/>
              </a:ext>
            </a:extLst>
          </p:cNvPr>
          <p:cNvSpPr txBox="1"/>
          <p:nvPr/>
        </p:nvSpPr>
        <p:spPr>
          <a:xfrm>
            <a:off x="11597482" y="51657"/>
            <a:ext cx="440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21066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7A932-1B34-452A-B4F1-0838EC33E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871" y="0"/>
            <a:ext cx="8848742" cy="873303"/>
          </a:xfrm>
        </p:spPr>
        <p:txBody>
          <a:bodyPr/>
          <a:lstStyle/>
          <a:p>
            <a:pPr algn="l"/>
            <a:r>
              <a:rPr lang="en-US"/>
              <a:t>Aspen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F07F25-93D4-4A85-A8B0-EB911AD5F1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017142"/>
            <a:ext cx="12191999" cy="5840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86D4EB-C7B6-44EF-96A3-3D708A3E6AF7}"/>
              </a:ext>
            </a:extLst>
          </p:cNvPr>
          <p:cNvSpPr txBox="1"/>
          <p:nvPr/>
        </p:nvSpPr>
        <p:spPr>
          <a:xfrm>
            <a:off x="675312" y="4552737"/>
            <a:ext cx="249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 Human waste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AE7C39-611E-4FF6-87B9-F3AB72636B3B}"/>
              </a:ext>
            </a:extLst>
          </p:cNvPr>
          <p:cNvSpPr txBox="1"/>
          <p:nvPr/>
        </p:nvSpPr>
        <p:spPr>
          <a:xfrm>
            <a:off x="7872573" y="1315568"/>
            <a:ext cx="33082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H2O, H2, Co2, CH4, C2H4, C3H6O-1, C9H18O2, C8H10-4, C4 H4O, C7H8O2-E1, C18H34O2, C6H8O, C2H4O3-D1, CH4O, C6H6O, 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77C2F-265E-234F-BB47-365CAB340A28}"/>
              </a:ext>
            </a:extLst>
          </p:cNvPr>
          <p:cNvSpPr txBox="1"/>
          <p:nvPr/>
        </p:nvSpPr>
        <p:spPr>
          <a:xfrm>
            <a:off x="11391900" y="51657"/>
            <a:ext cx="64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75085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A33C-C17E-4F78-A3F2-8A600809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9218612" cy="750013"/>
          </a:xfrm>
        </p:spPr>
        <p:txBody>
          <a:bodyPr/>
          <a:lstStyle/>
          <a:p>
            <a:pPr algn="l"/>
            <a:r>
              <a:rPr lang="en-US"/>
              <a:t>Aspen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77690D-FADF-4502-8EF4-081A3AD3EBE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50013"/>
            <a:ext cx="12192000" cy="6107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D61947-A8E2-4477-9B33-D5611540984E}"/>
              </a:ext>
            </a:extLst>
          </p:cNvPr>
          <p:cNvSpPr txBox="1"/>
          <p:nvPr/>
        </p:nvSpPr>
        <p:spPr>
          <a:xfrm>
            <a:off x="1756881" y="4880225"/>
            <a:ext cx="34829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H2O, H2, Co2, CH4, C2H4, C3H6O-1, C9H18O2, C8H10-4, C4 H4O, C7H8O2-E1, C18H34O2, C6H8O, C2H4O3-D1, CH4O, C6H6O, C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EE50C-6D61-47F1-9990-25B0D4DC169D}"/>
              </a:ext>
            </a:extLst>
          </p:cNvPr>
          <p:cNvSpPr txBox="1"/>
          <p:nvPr/>
        </p:nvSpPr>
        <p:spPr>
          <a:xfrm>
            <a:off x="6503542" y="6010382"/>
            <a:ext cx="2715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0DF1A5-8575-4CB7-85FF-8A27F004FA5E}"/>
              </a:ext>
            </a:extLst>
          </p:cNvPr>
          <p:cNvSpPr txBox="1"/>
          <p:nvPr/>
        </p:nvSpPr>
        <p:spPr>
          <a:xfrm>
            <a:off x="8846049" y="4181582"/>
            <a:ext cx="29692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H2O, H2, Co2, CH4, C2H4, C3H6O-1, C9H18O2, C8H10-4, C4 H4O, C7H8O2-E1, C18H34O2, C6H8O, C2H4O3-D1, CH4O, C6H6O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94F57E-B03A-D047-9094-808379B03ED1}"/>
              </a:ext>
            </a:extLst>
          </p:cNvPr>
          <p:cNvSpPr txBox="1"/>
          <p:nvPr/>
        </p:nvSpPr>
        <p:spPr>
          <a:xfrm>
            <a:off x="11391900" y="51657"/>
            <a:ext cx="64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2496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D8A76-9547-4896-B36A-9E0D70C2E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9218612" cy="770562"/>
          </a:xfrm>
        </p:spPr>
        <p:txBody>
          <a:bodyPr/>
          <a:lstStyle/>
          <a:p>
            <a:pPr algn="l"/>
            <a:r>
              <a:rPr lang="en-US"/>
              <a:t>Aspen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543E6E-69BF-41AF-81BD-A6AAEF9208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70562"/>
            <a:ext cx="12192000" cy="60874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2CF74F-B624-45D8-A07C-FF65612F3E6B}"/>
              </a:ext>
            </a:extLst>
          </p:cNvPr>
          <p:cNvSpPr txBox="1"/>
          <p:nvPr/>
        </p:nvSpPr>
        <p:spPr>
          <a:xfrm>
            <a:off x="349321" y="4161033"/>
            <a:ext cx="32671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H2O, H2, Co2, CH4, C2H4, C3H6O-1, C9H18O2, C8H10-4, C4 H4O, C7H8O2-E1, C18H34O2, C6H8O, C2H4O3-D1, CH4O, C6H6O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12750-B2F5-4C86-AF1E-A101EF08A2E1}"/>
              </a:ext>
            </a:extLst>
          </p:cNvPr>
          <p:cNvSpPr txBox="1"/>
          <p:nvPr/>
        </p:nvSpPr>
        <p:spPr>
          <a:xfrm>
            <a:off x="5044611" y="2465798"/>
            <a:ext cx="24452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Components</a:t>
            </a:r>
          </a:p>
          <a:p>
            <a:r>
              <a:rPr lang="en-US" sz="1400" b="1">
                <a:solidFill>
                  <a:schemeClr val="bg1"/>
                </a:solidFill>
              </a:rPr>
              <a:t>H2O, H2, Co2, CH4, C2H4, C3H6O-1, C9H18O2, C8H10-4, C4 H4O, C7H8O2-E1, C18H34O2, C6H8O, C2H4O3-D1, CH4O, C6H6O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3D4192-734B-446A-9590-AB844FAD2EF9}"/>
              </a:ext>
            </a:extLst>
          </p:cNvPr>
          <p:cNvSpPr txBox="1"/>
          <p:nvPr/>
        </p:nvSpPr>
        <p:spPr>
          <a:xfrm>
            <a:off x="4839128" y="4952144"/>
            <a:ext cx="38219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H2O, H2, Co2, CH4, C2H4, C3H6O-1, C9H18O2, C8H10-4, C4 H4O, C7H8O2-E1, C18H34O2, C6H8O, C2H4O3-D1, CH4O, C6H6O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2ED672-A562-A34B-A3C5-46D072B348C1}"/>
              </a:ext>
            </a:extLst>
          </p:cNvPr>
          <p:cNvSpPr txBox="1"/>
          <p:nvPr/>
        </p:nvSpPr>
        <p:spPr>
          <a:xfrm>
            <a:off x="11391900" y="51657"/>
            <a:ext cx="64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69109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1A8C8-207A-49A2-B0CB-4D40A5D6D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9218612" cy="863600"/>
          </a:xfrm>
        </p:spPr>
        <p:txBody>
          <a:bodyPr/>
          <a:lstStyle/>
          <a:p>
            <a:pPr algn="l"/>
            <a:r>
              <a:rPr lang="en-US"/>
              <a:t>Aspen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FC29EF-87D4-40CF-BB21-BB8C65D608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60858"/>
            <a:ext cx="12190412" cy="60971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2A46B2-7289-4387-9580-7E69B0897A77}"/>
              </a:ext>
            </a:extLst>
          </p:cNvPr>
          <p:cNvSpPr txBox="1"/>
          <p:nvPr/>
        </p:nvSpPr>
        <p:spPr>
          <a:xfrm>
            <a:off x="1756881" y="4119937"/>
            <a:ext cx="31747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H2O, H2, Co2, CH4, C2H4, C3H6O-1, C9H18O2, C8H10-4, C4 H4O, C7H8O2-E1, C18H34O2, C6H8O, C2H4O3-D1, CH4O, C6H6O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62A12-BE1A-47D3-B381-BE3C22E6FF4B}"/>
              </a:ext>
            </a:extLst>
          </p:cNvPr>
          <p:cNvSpPr txBox="1"/>
          <p:nvPr/>
        </p:nvSpPr>
        <p:spPr>
          <a:xfrm>
            <a:off x="7294652" y="2270589"/>
            <a:ext cx="3246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H2O, H2, Co2, CH4,  C3H6O-1, C6H8O, C2H4O3-D1, CH4O, C6H6O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3E9AC-E97B-4DAD-BC3C-5C5CCD591CF0}"/>
              </a:ext>
            </a:extLst>
          </p:cNvPr>
          <p:cNvSpPr txBox="1"/>
          <p:nvPr/>
        </p:nvSpPr>
        <p:spPr>
          <a:xfrm>
            <a:off x="6482993" y="5938463"/>
            <a:ext cx="2979506" cy="739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AA53D-CC19-445E-BA9C-208F169B5A1E}"/>
              </a:ext>
            </a:extLst>
          </p:cNvPr>
          <p:cNvSpPr txBox="1"/>
          <p:nvPr/>
        </p:nvSpPr>
        <p:spPr>
          <a:xfrm>
            <a:off x="6606283" y="5702157"/>
            <a:ext cx="39350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C2H4, C9H18O2, C8H10-4, C4 H4O, C7H8O2-E1, C18H34O2, C6H8O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67B7CD-429C-E74E-A13A-D1731D788BA6}"/>
              </a:ext>
            </a:extLst>
          </p:cNvPr>
          <p:cNvSpPr txBox="1"/>
          <p:nvPr/>
        </p:nvSpPr>
        <p:spPr>
          <a:xfrm>
            <a:off x="11391900" y="51657"/>
            <a:ext cx="64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81398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3906-61A8-4EDD-8AF9-0999FF3C3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9218612" cy="863600"/>
          </a:xfrm>
        </p:spPr>
        <p:txBody>
          <a:bodyPr/>
          <a:lstStyle/>
          <a:p>
            <a:pPr algn="l"/>
            <a:r>
              <a:rPr lang="en-US"/>
              <a:t>Aspen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0A1630-5D70-426E-94F6-5B2DCB3D4A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3600"/>
            <a:ext cx="12192000" cy="599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907865-1441-4C19-BD9B-887D8569A574}"/>
              </a:ext>
            </a:extLst>
          </p:cNvPr>
          <p:cNvSpPr txBox="1"/>
          <p:nvPr/>
        </p:nvSpPr>
        <p:spPr>
          <a:xfrm>
            <a:off x="9061807" y="4643919"/>
            <a:ext cx="2743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C2H4, C9H18O2, C8H10-4, C4 H4O, C7H8O2-E1, C18H34O2, C6H8O, H2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FA343-D21F-42B6-85A5-54866ECBAD9C}"/>
              </a:ext>
            </a:extLst>
          </p:cNvPr>
          <p:cNvSpPr txBox="1"/>
          <p:nvPr/>
        </p:nvSpPr>
        <p:spPr>
          <a:xfrm>
            <a:off x="1345915" y="4161034"/>
            <a:ext cx="35856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H2O, C2H4, C9H18O2, C8H10-4, C4 H4O, C7H8O2-E1, C18H34O2, C6H8O, C6H12-1, C9H20-1, C7H14-1</a:t>
            </a:r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9FE29-3855-B24A-9DC6-E6CC66ED3C42}"/>
              </a:ext>
            </a:extLst>
          </p:cNvPr>
          <p:cNvSpPr txBox="1"/>
          <p:nvPr/>
        </p:nvSpPr>
        <p:spPr>
          <a:xfrm>
            <a:off x="11391900" y="51657"/>
            <a:ext cx="64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99629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CF44-8261-4CA9-8441-5EC283FA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9218612" cy="863600"/>
          </a:xfrm>
        </p:spPr>
        <p:txBody>
          <a:bodyPr/>
          <a:lstStyle/>
          <a:p>
            <a:pPr algn="l"/>
            <a:r>
              <a:rPr lang="en-US"/>
              <a:t>Aspen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94B7CA-BD8A-4627-B2CE-4C37215420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94423"/>
            <a:ext cx="12192000" cy="599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19656A-E7EA-4001-86F8-779E5551A755}"/>
              </a:ext>
            </a:extLst>
          </p:cNvPr>
          <p:cNvSpPr txBox="1"/>
          <p:nvPr/>
        </p:nvSpPr>
        <p:spPr>
          <a:xfrm>
            <a:off x="8445357" y="4530903"/>
            <a:ext cx="31849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H2O, C2H4, C9H18O2, C8H10-4, C4 H4O, C7H8O2-E1, C18H34O2, C6H8O, C6H12-1, C9H20-1, C7H14-1</a:t>
            </a:r>
            <a:endParaRPr lang="en-US" b="1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FF1987-D268-401C-AD39-5217BE69C673}"/>
              </a:ext>
            </a:extLst>
          </p:cNvPr>
          <p:cNvSpPr txBox="1"/>
          <p:nvPr/>
        </p:nvSpPr>
        <p:spPr>
          <a:xfrm>
            <a:off x="2069261" y="5361899"/>
            <a:ext cx="2841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H2O, C6H12-1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CB7BC-5F57-4950-A556-C10D163B1506}"/>
              </a:ext>
            </a:extLst>
          </p:cNvPr>
          <p:cNvSpPr txBox="1"/>
          <p:nvPr/>
        </p:nvSpPr>
        <p:spPr>
          <a:xfrm>
            <a:off x="1298699" y="3051425"/>
            <a:ext cx="24924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C2H4, C9H18O2, C8H10-4, C4 H4O, C7H8O2-E1, C18H34O2, C6H8O, C9H20-1, C7H14-1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6907D0-5729-DC4B-97CB-994321BF655F}"/>
              </a:ext>
            </a:extLst>
          </p:cNvPr>
          <p:cNvSpPr txBox="1"/>
          <p:nvPr/>
        </p:nvSpPr>
        <p:spPr>
          <a:xfrm>
            <a:off x="11391900" y="51657"/>
            <a:ext cx="64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90766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3CA97-C21D-4550-B1E7-1D5C0609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9218612" cy="863600"/>
          </a:xfrm>
        </p:spPr>
        <p:txBody>
          <a:bodyPr/>
          <a:lstStyle/>
          <a:p>
            <a:pPr algn="l"/>
            <a:r>
              <a:rPr lang="en-US"/>
              <a:t>Aspen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AB0560-5FB0-4A14-A68F-7CB851CD9F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60858"/>
            <a:ext cx="12191999" cy="60971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7103AB-01AA-43FC-AE42-AF6AEB9D1E19}"/>
              </a:ext>
            </a:extLst>
          </p:cNvPr>
          <p:cNvSpPr txBox="1"/>
          <p:nvPr/>
        </p:nvSpPr>
        <p:spPr>
          <a:xfrm>
            <a:off x="8537825" y="3842535"/>
            <a:ext cx="30719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C2H4, C9H18O2, C8H10-4, C4 H4O, C7H8O2-E1, C18H34O2, C6H8O, C9H20-1, C7H14-1</a:t>
            </a:r>
            <a:endParaRPr lang="en-US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C6C1B-AB8C-4395-9176-D02FD533136A}"/>
              </a:ext>
            </a:extLst>
          </p:cNvPr>
          <p:cNvSpPr txBox="1"/>
          <p:nvPr/>
        </p:nvSpPr>
        <p:spPr>
          <a:xfrm>
            <a:off x="2599362" y="5722706"/>
            <a:ext cx="3965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C2H4, C9H18O2, C8H10-4, C4 H4O, C7H8O2-E1, C18H34O2, C6H8O, C9H20-1, C7H14-1</a:t>
            </a:r>
            <a:endParaRPr lang="en-US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4D26C1-705B-444F-AA02-C68A43AAD7BD}"/>
              </a:ext>
            </a:extLst>
          </p:cNvPr>
          <p:cNvSpPr txBox="1"/>
          <p:nvPr/>
        </p:nvSpPr>
        <p:spPr>
          <a:xfrm>
            <a:off x="11391900" y="51657"/>
            <a:ext cx="64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499941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1625-52BE-4D13-B12C-32D5E62C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218612" cy="863600"/>
          </a:xfrm>
        </p:spPr>
        <p:txBody>
          <a:bodyPr/>
          <a:lstStyle/>
          <a:p>
            <a:pPr algn="l"/>
            <a:r>
              <a:rPr lang="en-US"/>
              <a:t>Aspen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A4421A-F45C-4303-AC89-34569B211EA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945222"/>
            <a:ext cx="12192000" cy="59127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6BF114-3034-4379-9C96-D22C523698AE}"/>
              </a:ext>
            </a:extLst>
          </p:cNvPr>
          <p:cNvSpPr txBox="1"/>
          <p:nvPr/>
        </p:nvSpPr>
        <p:spPr>
          <a:xfrm>
            <a:off x="8198778" y="4982966"/>
            <a:ext cx="31541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C2H4, C9H18O2, C8H10-4, C4 H4O, C7H8O2-E1, C18H34O2, C6H8O, C9H20-1, C7H14-1</a:t>
            </a:r>
            <a:endParaRPr lang="en-US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4CD27-D0A0-41E0-9DF6-8FA0989B4A7E}"/>
              </a:ext>
            </a:extLst>
          </p:cNvPr>
          <p:cNvSpPr txBox="1"/>
          <p:nvPr/>
        </p:nvSpPr>
        <p:spPr>
          <a:xfrm>
            <a:off x="2856216" y="2763748"/>
            <a:ext cx="27123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C2H4, C9H18O2, C8H10-4, C4 H4O, C7H8O2-E1, C18H34O2, C6H8O, C9H20-1, C7H14-1</a:t>
            </a:r>
            <a:endParaRPr lang="en-US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9F140-2AA8-45BC-A413-06A083A387AC}"/>
              </a:ext>
            </a:extLst>
          </p:cNvPr>
          <p:cNvSpPr txBox="1"/>
          <p:nvPr/>
        </p:nvSpPr>
        <p:spPr>
          <a:xfrm>
            <a:off x="3030876" y="5445303"/>
            <a:ext cx="34521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Components</a:t>
            </a:r>
          </a:p>
          <a:p>
            <a:r>
              <a:rPr lang="en-US" b="1">
                <a:solidFill>
                  <a:schemeClr val="bg1"/>
                </a:solidFill>
              </a:rPr>
              <a:t>C2H4, C9H18O2, C8H10-4, C4 H4O, C7H8O2-E1, C18H34O2, C6H8O, C9H20-1, C7H14-1</a:t>
            </a:r>
            <a:endParaRPr lang="en-US"/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9F1430-2145-1242-877E-57F73E1967D0}"/>
              </a:ext>
            </a:extLst>
          </p:cNvPr>
          <p:cNvSpPr txBox="1"/>
          <p:nvPr/>
        </p:nvSpPr>
        <p:spPr>
          <a:xfrm>
            <a:off x="11391900" y="51657"/>
            <a:ext cx="64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39156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4376"/>
            <a:ext cx="8737600" cy="27161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Equipment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56856F-23EF-4BDF-B351-FCF0F1DD6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065755"/>
              </p:ext>
            </p:extLst>
          </p:nvPr>
        </p:nvGraphicFramePr>
        <p:xfrm>
          <a:off x="-2" y="1038334"/>
          <a:ext cx="12192001" cy="58111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74929">
                  <a:extLst>
                    <a:ext uri="{9D8B030D-6E8A-4147-A177-3AD203B41FA5}">
                      <a16:colId xmlns:a16="http://schemas.microsoft.com/office/drawing/2014/main" val="199420874"/>
                    </a:ext>
                  </a:extLst>
                </a:gridCol>
                <a:gridCol w="3263481">
                  <a:extLst>
                    <a:ext uri="{9D8B030D-6E8A-4147-A177-3AD203B41FA5}">
                      <a16:colId xmlns:a16="http://schemas.microsoft.com/office/drawing/2014/main" val="3667529756"/>
                    </a:ext>
                  </a:extLst>
                </a:gridCol>
                <a:gridCol w="3380033">
                  <a:extLst>
                    <a:ext uri="{9D8B030D-6E8A-4147-A177-3AD203B41FA5}">
                      <a16:colId xmlns:a16="http://schemas.microsoft.com/office/drawing/2014/main" val="2243750726"/>
                    </a:ext>
                  </a:extLst>
                </a:gridCol>
                <a:gridCol w="3373558">
                  <a:extLst>
                    <a:ext uri="{9D8B030D-6E8A-4147-A177-3AD203B41FA5}">
                      <a16:colId xmlns:a16="http://schemas.microsoft.com/office/drawing/2014/main" val="3183662557"/>
                    </a:ext>
                  </a:extLst>
                </a:gridCol>
              </a:tblGrid>
              <a:tr h="2272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Unit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Equipment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Size/Power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Material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85931861"/>
                  </a:ext>
                </a:extLst>
              </a:tr>
              <a:tr h="466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H-101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Shell &amp; tube heat exchanger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Duty: 3081.9 MW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Carbon Steel (A285)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2276850661"/>
                  </a:ext>
                </a:extLst>
              </a:tr>
              <a:tr h="2272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F-101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Fired heater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Duty: 210.7 MW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Carbon Steel (A285)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3898950679"/>
                  </a:ext>
                </a:extLst>
              </a:tr>
              <a:tr h="2272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R-101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Plug flow Reactor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Duty: 41604.8 MW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Carbon Steel (A285)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2107881328"/>
                  </a:ext>
                </a:extLst>
              </a:tr>
              <a:tr h="2272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V-101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Solid filter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Carbon Steel (A285)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2292589077"/>
                  </a:ext>
                </a:extLst>
              </a:tr>
              <a:tr h="466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H-201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Shell &amp; tube heat exchanger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1575 MW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Carbon Steel (A285)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2345682412"/>
                  </a:ext>
                </a:extLst>
              </a:tr>
              <a:tr h="70530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V-201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KO Drum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Tangent to Tangent Height: 6.2 m, Diameter: 23 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Carbon Steel (A285)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1621821087"/>
                  </a:ext>
                </a:extLst>
              </a:tr>
              <a:tr h="70530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V-202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Decanter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Tangent to Tangent Height: 27.7 m, Diameter: 9.2 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Carbon Steel (A285)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651956892"/>
                  </a:ext>
                </a:extLst>
              </a:tr>
              <a:tr h="2272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R-102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Plug flow Reactor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Duty: 14 MW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Stainless Steel (304)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3260656912"/>
                  </a:ext>
                </a:extLst>
              </a:tr>
              <a:tr h="2272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V-102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Decanter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Carbon Steel (A285)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953541436"/>
                  </a:ext>
                </a:extLst>
              </a:tr>
              <a:tr h="466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H-102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Shell &amp; tube heat exchanger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Duty: 34.4 MW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Carbon Steel (A285)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4120383612"/>
                  </a:ext>
                </a:extLst>
              </a:tr>
              <a:tr h="70530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V-103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KO Drum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Tangent to Tangent Height: 6.4 m, Diameter 2.1 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Carbon Steel (A285)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3789972091"/>
                  </a:ext>
                </a:extLst>
              </a:tr>
              <a:tr h="2272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P-101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Centrifugal Pump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Fluid Head: 43 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Carbon Steel (A285)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2736615434"/>
                  </a:ext>
                </a:extLst>
              </a:tr>
              <a:tr h="70530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V-104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Distillation Column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Tangent to tangent Height: 89 m, Diameter: 48.6 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Carbon Steel (A285)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097" marR="52097" marT="0" marB="0"/>
                </a:tc>
                <a:extLst>
                  <a:ext uri="{0D108BD9-81ED-4DB2-BD59-A6C34878D82A}">
                    <a16:rowId xmlns:a16="http://schemas.microsoft.com/office/drawing/2014/main" val="1343948875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14BDC20-A6E4-45D6-B264-FE21179AE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137" y="685468"/>
            <a:ext cx="67904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20: Equipment Sizing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AC093A-F4B3-AF43-89AC-E03BAD347075}"/>
              </a:ext>
            </a:extLst>
          </p:cNvPr>
          <p:cNvSpPr txBox="1"/>
          <p:nvPr/>
        </p:nvSpPr>
        <p:spPr>
          <a:xfrm>
            <a:off x="11391900" y="51657"/>
            <a:ext cx="64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583309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4376"/>
            <a:ext cx="10972800" cy="27161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Utilities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583941-7C18-483B-828F-C925FDDF7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389240"/>
              </p:ext>
            </p:extLst>
          </p:nvPr>
        </p:nvGraphicFramePr>
        <p:xfrm>
          <a:off x="1646136" y="1501754"/>
          <a:ext cx="9326664" cy="3932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6057">
                  <a:extLst>
                    <a:ext uri="{9D8B030D-6E8A-4147-A177-3AD203B41FA5}">
                      <a16:colId xmlns:a16="http://schemas.microsoft.com/office/drawing/2014/main" val="523492982"/>
                    </a:ext>
                  </a:extLst>
                </a:gridCol>
                <a:gridCol w="1114437">
                  <a:extLst>
                    <a:ext uri="{9D8B030D-6E8A-4147-A177-3AD203B41FA5}">
                      <a16:colId xmlns:a16="http://schemas.microsoft.com/office/drawing/2014/main" val="2890325380"/>
                    </a:ext>
                  </a:extLst>
                </a:gridCol>
                <a:gridCol w="861619">
                  <a:extLst>
                    <a:ext uri="{9D8B030D-6E8A-4147-A177-3AD203B41FA5}">
                      <a16:colId xmlns:a16="http://schemas.microsoft.com/office/drawing/2014/main" val="647647066"/>
                    </a:ext>
                  </a:extLst>
                </a:gridCol>
                <a:gridCol w="1648862">
                  <a:extLst>
                    <a:ext uri="{9D8B030D-6E8A-4147-A177-3AD203B41FA5}">
                      <a16:colId xmlns:a16="http://schemas.microsoft.com/office/drawing/2014/main" val="1698481925"/>
                    </a:ext>
                  </a:extLst>
                </a:gridCol>
                <a:gridCol w="1142155">
                  <a:extLst>
                    <a:ext uri="{9D8B030D-6E8A-4147-A177-3AD203B41FA5}">
                      <a16:colId xmlns:a16="http://schemas.microsoft.com/office/drawing/2014/main" val="714029589"/>
                    </a:ext>
                  </a:extLst>
                </a:gridCol>
                <a:gridCol w="1192016">
                  <a:extLst>
                    <a:ext uri="{9D8B030D-6E8A-4147-A177-3AD203B41FA5}">
                      <a16:colId xmlns:a16="http://schemas.microsoft.com/office/drawing/2014/main" val="377604201"/>
                    </a:ext>
                  </a:extLst>
                </a:gridCol>
                <a:gridCol w="1391518">
                  <a:extLst>
                    <a:ext uri="{9D8B030D-6E8A-4147-A177-3AD203B41FA5}">
                      <a16:colId xmlns:a16="http://schemas.microsoft.com/office/drawing/2014/main" val="1735094864"/>
                    </a:ext>
                  </a:extLst>
                </a:gridCol>
              </a:tblGrid>
              <a:tr h="9831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Type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Rate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Unit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Cost/unit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Units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Cost/hour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7412639"/>
                  </a:ext>
                </a:extLst>
              </a:tr>
              <a:tr h="9831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Electricity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173.6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KW/hr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0.08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USD/KW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13.4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1843909"/>
                  </a:ext>
                </a:extLst>
              </a:tr>
              <a:tr h="9831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Cooling water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Water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33.4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MGAL/hr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120.00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USD/</a:t>
                      </a:r>
                      <a:r>
                        <a:rPr lang="en-US" sz="1400" dirty="0" err="1">
                          <a:effectLst/>
                        </a:rPr>
                        <a:t>MGal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4007.6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5455692"/>
                  </a:ext>
                </a:extLst>
              </a:tr>
              <a:tr h="9831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*Fuel Gas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gas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1261.4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MW/hr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12.84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USD/ MW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16204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517155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1BC99AF7-FC19-4CA4-ADB7-62FDAB333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52242" y="104455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25: Utilities of Electricity, Cooling Water, and Fuel Gas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8E16E3-981E-BB47-BC94-0950A6903C33}"/>
              </a:ext>
            </a:extLst>
          </p:cNvPr>
          <p:cNvSpPr txBox="1"/>
          <p:nvPr/>
        </p:nvSpPr>
        <p:spPr>
          <a:xfrm>
            <a:off x="11391900" y="51657"/>
            <a:ext cx="64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E9F9D9-A7C9-4E1B-9DFA-8F501972C942}"/>
              </a:ext>
            </a:extLst>
          </p:cNvPr>
          <p:cNvSpPr txBox="1"/>
          <p:nvPr/>
        </p:nvSpPr>
        <p:spPr>
          <a:xfrm>
            <a:off x="2938072" y="5813446"/>
            <a:ext cx="7480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United States Gulf Coast</a:t>
            </a:r>
          </a:p>
        </p:txBody>
      </p:sp>
    </p:spTree>
    <p:extLst>
      <p:ext uri="{BB962C8B-B14F-4D97-AF65-F5344CB8AC3E}">
        <p14:creationId xmlns:p14="http://schemas.microsoft.com/office/powerpoint/2010/main" val="3314904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4376"/>
            <a:ext cx="10972800" cy="27161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Hand Calculations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6014B6-0AA0-4FD0-9E97-013C9DE6BB73}"/>
                  </a:ext>
                </a:extLst>
              </p:cNvPr>
              <p:cNvSpPr txBox="1"/>
              <p:nvPr/>
            </p:nvSpPr>
            <p:spPr>
              <a:xfrm>
                <a:off x="652918" y="1428424"/>
                <a:ext cx="4053525" cy="4601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Relative Volatility: </a:t>
                </a:r>
              </a:p>
              <a:p>
                <a:r>
                  <a:rPr lang="en-US" sz="24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𝐿𝐾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𝐻𝐾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/>
              </a:p>
              <a:p>
                <a:r>
                  <a:rPr lang="en-US" sz="24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 1.16</m:t>
                    </m:r>
                  </m:oMath>
                </a14:m>
                <a:endParaRPr lang="en-US" sz="2400"/>
              </a:p>
              <a:p>
                <a:endParaRPr lang="en-US" sz="2400"/>
              </a:p>
              <a:p>
                <a:r>
                  <a:rPr lang="en-US" sz="2400"/>
                  <a:t>Fenske Equation </a:t>
                </a:r>
              </a:p>
              <a:p>
                <a:r>
                  <a:rPr lang="en-US" sz="240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𝐿𝐾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𝐻𝐾</m:t>
                                    </m:r>
                                  </m:den>
                                </m:f>
                              </m:e>
                            </m:d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𝐻𝐾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𝐿𝐾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] </m:t>
                        </m:r>
                      </m:num>
                      <m:den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𝑎𝑣𝑔</m:t>
                                </m:r>
                              </m:sub>
                            </m:sSub>
                          </m:e>
                        </m:func>
                      </m:den>
                    </m:f>
                  </m:oMath>
                </a14:m>
                <a:endParaRPr lang="en-US" sz="2400"/>
              </a:p>
              <a:p>
                <a:r>
                  <a:rPr lang="en-US" sz="240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en-US" sz="2400"/>
              </a:p>
              <a:p>
                <a:endParaRPr lang="en-US" sz="2400"/>
              </a:p>
              <a:p>
                <a:r>
                  <a:rPr lang="en-US" sz="2400"/>
                  <a:t>50% Tray Efficiency </a:t>
                </a:r>
              </a:p>
              <a:p>
                <a:r>
                  <a:rPr lang="en-US" sz="240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sz="2400"/>
              </a:p>
              <a:p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6014B6-0AA0-4FD0-9E97-013C9DE6B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18" y="1428424"/>
                <a:ext cx="4053525" cy="4601965"/>
              </a:xfrm>
              <a:prstGeom prst="rect">
                <a:avLst/>
              </a:prstGeom>
              <a:blipFill>
                <a:blip r:embed="rId3"/>
                <a:stretch>
                  <a:fillRect l="-2256" t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E6216D-1B6F-43D0-8EF7-34DFD2468605}"/>
                  </a:ext>
                </a:extLst>
              </p:cNvPr>
              <p:cNvSpPr txBox="1"/>
              <p:nvPr/>
            </p:nvSpPr>
            <p:spPr>
              <a:xfrm>
                <a:off x="4226719" y="1428424"/>
                <a:ext cx="3810000" cy="5200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Height:</a:t>
                </a:r>
              </a:p>
              <a:p>
                <a:r>
                  <a:rPr lang="en-US" sz="240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𝑁𝐴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endParaRPr lang="en-US" sz="2400"/>
              </a:p>
              <a:p>
                <a:r>
                  <a:rPr lang="en-US" sz="240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=18.29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/>
              </a:p>
              <a:p>
                <a:endParaRPr lang="en-US" sz="2400"/>
              </a:p>
              <a:p>
                <a:r>
                  <a:rPr lang="en-US" sz="2400"/>
                  <a:t>Wall Thickness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𝑇𝑤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−1.0(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/>
              </a:p>
              <a:p>
                <a:r>
                  <a:rPr lang="en-US" sz="2400"/>
                  <a:t>	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.00086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400"/>
              </a:p>
              <a:p>
                <a:endParaRPr lang="en-US" sz="2400"/>
              </a:p>
              <a:p>
                <a:r>
                  <a:rPr lang="en-US" sz="2400"/>
                  <a:t>Mass of Shell</a:t>
                </a:r>
              </a:p>
              <a:p>
                <a:r>
                  <a:rPr lang="en-US" sz="240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𝑀𝑠h𝑒𝑙𝑙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𝑇𝑤</m:t>
                        </m:r>
                      </m:e>
                    </m:d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endParaRPr lang="en-US" sz="2400"/>
              </a:p>
              <a:p>
                <a:r>
                  <a:rPr lang="en-US" sz="240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𝑀𝑠h𝑒𝑙𝑙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589.21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endParaRPr lang="en-US" sz="2400"/>
              </a:p>
              <a:p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E6216D-1B6F-43D0-8EF7-34DFD2468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719" y="1428424"/>
                <a:ext cx="3810000" cy="5200976"/>
              </a:xfrm>
              <a:prstGeom prst="rect">
                <a:avLst/>
              </a:prstGeom>
              <a:blipFill>
                <a:blip r:embed="rId4"/>
                <a:stretch>
                  <a:fillRect l="-2400" t="-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A32878A-2D8F-466E-B7A0-3D6D0827C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874497"/>
              </p:ext>
            </p:extLst>
          </p:nvPr>
        </p:nvGraphicFramePr>
        <p:xfrm>
          <a:off x="8314891" y="4953000"/>
          <a:ext cx="3404467" cy="15666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1757">
                  <a:extLst>
                    <a:ext uri="{9D8B030D-6E8A-4147-A177-3AD203B41FA5}">
                      <a16:colId xmlns:a16="http://schemas.microsoft.com/office/drawing/2014/main" val="981096011"/>
                    </a:ext>
                  </a:extLst>
                </a:gridCol>
                <a:gridCol w="776025">
                  <a:extLst>
                    <a:ext uri="{9D8B030D-6E8A-4147-A177-3AD203B41FA5}">
                      <a16:colId xmlns:a16="http://schemas.microsoft.com/office/drawing/2014/main" val="472054537"/>
                    </a:ext>
                  </a:extLst>
                </a:gridCol>
                <a:gridCol w="1066685">
                  <a:extLst>
                    <a:ext uri="{9D8B030D-6E8A-4147-A177-3AD203B41FA5}">
                      <a16:colId xmlns:a16="http://schemas.microsoft.com/office/drawing/2014/main" val="274961058"/>
                    </a:ext>
                  </a:extLst>
                </a:gridCol>
              </a:tblGrid>
              <a:tr h="346291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Distillation Column Inputs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Units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957235682"/>
                  </a:ext>
                </a:extLst>
              </a:tr>
              <a:tr h="1812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Diameter (D)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1.52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803176402"/>
                  </a:ext>
                </a:extLst>
              </a:tr>
              <a:tr h="3464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Height (H)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18.29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44698941"/>
                  </a:ext>
                </a:extLst>
              </a:tr>
              <a:tr h="3464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Pressure (P)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N/m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89040740"/>
                  </a:ext>
                </a:extLst>
              </a:tr>
              <a:tr h="3462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Tray Spacing (TS)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0.61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066478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7E31AB6-68B4-4208-A892-3424BB9DA4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0424430"/>
                  </p:ext>
                </p:extLst>
              </p:nvPr>
            </p:nvGraphicFramePr>
            <p:xfrm>
              <a:off x="8280244" y="3238507"/>
              <a:ext cx="3404467" cy="129538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65751">
                      <a:extLst>
                        <a:ext uri="{9D8B030D-6E8A-4147-A177-3AD203B41FA5}">
                          <a16:colId xmlns:a16="http://schemas.microsoft.com/office/drawing/2014/main" val="1776235710"/>
                        </a:ext>
                      </a:extLst>
                    </a:gridCol>
                    <a:gridCol w="766939">
                      <a:extLst>
                        <a:ext uri="{9D8B030D-6E8A-4147-A177-3AD203B41FA5}">
                          <a16:colId xmlns:a16="http://schemas.microsoft.com/office/drawing/2014/main" val="4036626191"/>
                        </a:ext>
                      </a:extLst>
                    </a:gridCol>
                    <a:gridCol w="1071777">
                      <a:extLst>
                        <a:ext uri="{9D8B030D-6E8A-4147-A177-3AD203B41FA5}">
                          <a16:colId xmlns:a16="http://schemas.microsoft.com/office/drawing/2014/main" val="3696948402"/>
                        </a:ext>
                      </a:extLst>
                    </a:gridCol>
                  </a:tblGrid>
                  <a:tr h="253597"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Constants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Units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721443531"/>
                      </a:ext>
                    </a:extLst>
                  </a:tr>
                  <a:tr h="25378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Fm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1.3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NA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410240958"/>
                      </a:ext>
                    </a:extLst>
                  </a:tr>
                  <a:tr h="2559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Stress (S)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88.94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N/mm</a:t>
                          </a:r>
                          <a:r>
                            <a:rPr lang="en-US" sz="1100" baseline="30000">
                              <a:effectLst/>
                            </a:rPr>
                            <a:t>2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431704711"/>
                      </a:ext>
                    </a:extLst>
                  </a:tr>
                  <a:tr h="25378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E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NA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323112270"/>
                      </a:ext>
                    </a:extLst>
                  </a:tr>
                  <a:tr h="2782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Density </a:t>
                          </a:r>
                          <a14:m>
                            <m:oMath xmlns:m="http://schemas.openxmlformats.org/officeDocument/2006/math">
                              <m:r>
                                <a:rPr lang="en-US" sz="12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>
                                  <a:effectLst/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12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7850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kg/m</a:t>
                          </a:r>
                          <a:r>
                            <a:rPr lang="en-US" sz="1100" baseline="30000">
                              <a:effectLst/>
                            </a:rPr>
                            <a:t>3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6239870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7E31AB6-68B4-4208-A892-3424BB9DA4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0424430"/>
                  </p:ext>
                </p:extLst>
              </p:nvPr>
            </p:nvGraphicFramePr>
            <p:xfrm>
              <a:off x="8280244" y="3238507"/>
              <a:ext cx="3404467" cy="129538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65751">
                      <a:extLst>
                        <a:ext uri="{9D8B030D-6E8A-4147-A177-3AD203B41FA5}">
                          <a16:colId xmlns:a16="http://schemas.microsoft.com/office/drawing/2014/main" val="1776235710"/>
                        </a:ext>
                      </a:extLst>
                    </a:gridCol>
                    <a:gridCol w="766939">
                      <a:extLst>
                        <a:ext uri="{9D8B030D-6E8A-4147-A177-3AD203B41FA5}">
                          <a16:colId xmlns:a16="http://schemas.microsoft.com/office/drawing/2014/main" val="4036626191"/>
                        </a:ext>
                      </a:extLst>
                    </a:gridCol>
                    <a:gridCol w="1071777">
                      <a:extLst>
                        <a:ext uri="{9D8B030D-6E8A-4147-A177-3AD203B41FA5}">
                          <a16:colId xmlns:a16="http://schemas.microsoft.com/office/drawing/2014/main" val="3696948402"/>
                        </a:ext>
                      </a:extLst>
                    </a:gridCol>
                  </a:tblGrid>
                  <a:tr h="253597"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Constants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Units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721443531"/>
                      </a:ext>
                    </a:extLst>
                  </a:tr>
                  <a:tr h="25378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Fm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1.3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NA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410240958"/>
                      </a:ext>
                    </a:extLst>
                  </a:tr>
                  <a:tr h="2559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Stress (S)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88.94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N/mm</a:t>
                          </a:r>
                          <a:r>
                            <a:rPr lang="en-US" sz="1100" baseline="30000">
                              <a:effectLst/>
                            </a:rPr>
                            <a:t>2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431704711"/>
                      </a:ext>
                    </a:extLst>
                  </a:tr>
                  <a:tr h="25378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E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NA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323112270"/>
                      </a:ext>
                    </a:extLst>
                  </a:tr>
                  <a:tr h="2782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5"/>
                          <a:stretch>
                            <a:fillRect l="-389" t="-365217" r="-119066" b="-30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7850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kg/m</a:t>
                          </a:r>
                          <a:r>
                            <a:rPr lang="en-US" sz="1100" baseline="30000">
                              <a:effectLst/>
                            </a:rPr>
                            <a:t>3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62398709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7D77117-5AA0-4BD2-B1BB-83CCED35C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01443"/>
              </p:ext>
            </p:extLst>
          </p:nvPr>
        </p:nvGraphicFramePr>
        <p:xfrm>
          <a:off x="8026657" y="1818315"/>
          <a:ext cx="3980934" cy="1048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0015">
                  <a:extLst>
                    <a:ext uri="{9D8B030D-6E8A-4147-A177-3AD203B41FA5}">
                      <a16:colId xmlns:a16="http://schemas.microsoft.com/office/drawing/2014/main" val="1832405857"/>
                    </a:ext>
                  </a:extLst>
                </a:gridCol>
                <a:gridCol w="1055900">
                  <a:extLst>
                    <a:ext uri="{9D8B030D-6E8A-4147-A177-3AD203B41FA5}">
                      <a16:colId xmlns:a16="http://schemas.microsoft.com/office/drawing/2014/main" val="1384867351"/>
                    </a:ext>
                  </a:extLst>
                </a:gridCol>
                <a:gridCol w="672253">
                  <a:extLst>
                    <a:ext uri="{9D8B030D-6E8A-4147-A177-3AD203B41FA5}">
                      <a16:colId xmlns:a16="http://schemas.microsoft.com/office/drawing/2014/main" val="2568386889"/>
                    </a:ext>
                  </a:extLst>
                </a:gridCol>
                <a:gridCol w="969191">
                  <a:extLst>
                    <a:ext uri="{9D8B030D-6E8A-4147-A177-3AD203B41FA5}">
                      <a16:colId xmlns:a16="http://schemas.microsoft.com/office/drawing/2014/main" val="2312803538"/>
                    </a:ext>
                  </a:extLst>
                </a:gridCol>
                <a:gridCol w="703575">
                  <a:extLst>
                    <a:ext uri="{9D8B030D-6E8A-4147-A177-3AD203B41FA5}">
                      <a16:colId xmlns:a16="http://schemas.microsoft.com/office/drawing/2014/main" val="4169141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Henrys Law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Units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Mole Fraction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553464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Heavy Key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Oleic Acid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0.08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mol/kg*bar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0.75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229562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Light Key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1-Octadecene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mol/kg*bar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2136755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D81B0CA-EB51-0540-8DD5-E9140A7FE52F}"/>
              </a:ext>
            </a:extLst>
          </p:cNvPr>
          <p:cNvSpPr txBox="1"/>
          <p:nvPr/>
        </p:nvSpPr>
        <p:spPr>
          <a:xfrm>
            <a:off x="11391900" y="51657"/>
            <a:ext cx="64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09322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54376"/>
            <a:ext cx="10972800" cy="27161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Hand Calculations vs Aspen 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3EDFAD-D02C-4A78-A7ED-94DAC0AE2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998027"/>
              </p:ext>
            </p:extLst>
          </p:nvPr>
        </p:nvGraphicFramePr>
        <p:xfrm>
          <a:off x="791110" y="1950357"/>
          <a:ext cx="10181689" cy="27163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56712">
                  <a:extLst>
                    <a:ext uri="{9D8B030D-6E8A-4147-A177-3AD203B41FA5}">
                      <a16:colId xmlns:a16="http://schemas.microsoft.com/office/drawing/2014/main" val="4275638405"/>
                    </a:ext>
                  </a:extLst>
                </a:gridCol>
                <a:gridCol w="2040907">
                  <a:extLst>
                    <a:ext uri="{9D8B030D-6E8A-4147-A177-3AD203B41FA5}">
                      <a16:colId xmlns:a16="http://schemas.microsoft.com/office/drawing/2014/main" val="1278818348"/>
                    </a:ext>
                  </a:extLst>
                </a:gridCol>
                <a:gridCol w="2074403">
                  <a:extLst>
                    <a:ext uri="{9D8B030D-6E8A-4147-A177-3AD203B41FA5}">
                      <a16:colId xmlns:a16="http://schemas.microsoft.com/office/drawing/2014/main" val="1554413563"/>
                    </a:ext>
                  </a:extLst>
                </a:gridCol>
                <a:gridCol w="2309667">
                  <a:extLst>
                    <a:ext uri="{9D8B030D-6E8A-4147-A177-3AD203B41FA5}">
                      <a16:colId xmlns:a16="http://schemas.microsoft.com/office/drawing/2014/main" val="250438534"/>
                    </a:ext>
                  </a:extLst>
                </a:gridCol>
              </a:tblGrid>
              <a:tr h="9054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Aspen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Hand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% Error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390248"/>
                  </a:ext>
                </a:extLst>
              </a:tr>
              <a:tr h="9054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Tangent to Tangent Height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89.0 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18.9 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78.7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4480651"/>
                  </a:ext>
                </a:extLst>
              </a:tr>
              <a:tr h="9054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Diameter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4.86 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1.59 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67.3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501548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DF978B29-2CEE-4D23-98CA-41B8484A5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2624" y="14578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24: Comparison Between Aspen Sizing of Distillation column and Hand Calculation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2F6E2C-1FA0-5243-BC0A-32AFFECC4A0B}"/>
              </a:ext>
            </a:extLst>
          </p:cNvPr>
          <p:cNvSpPr txBox="1"/>
          <p:nvPr/>
        </p:nvSpPr>
        <p:spPr>
          <a:xfrm>
            <a:off x="11391900" y="51657"/>
            <a:ext cx="64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52091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7F-E6D5-4317-904F-9B99EA8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550" y="1255606"/>
            <a:ext cx="4343399" cy="27161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60538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AB61B38843C441968CB1242E7C86DC" ma:contentTypeVersion="4" ma:contentTypeDescription="Create a new document." ma:contentTypeScope="" ma:versionID="fa4f726baea407548f640fefee1c629d">
  <xsd:schema xmlns:xsd="http://www.w3.org/2001/XMLSchema" xmlns:xs="http://www.w3.org/2001/XMLSchema" xmlns:p="http://schemas.microsoft.com/office/2006/metadata/properties" xmlns:ns2="350496ac-2300-4414-b72f-de599dbc32b2" targetNamespace="http://schemas.microsoft.com/office/2006/metadata/properties" ma:root="true" ma:fieldsID="2122fc694728322758f7728e05645b29" ns2:_="">
    <xsd:import namespace="350496ac-2300-4414-b72f-de599dbc32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0496ac-2300-4414-b72f-de599dbc32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FDE91B-3120-4B89-9CA0-1CACEDD288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132451-EAAD-4388-89C5-A7A4896A02E0}">
  <ds:schemaRefs>
    <ds:schemaRef ds:uri="350496ac-2300-4414-b72f-de599dbc32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ADA7611-95D3-4535-8F62-629F88D5C229}">
  <ds:schemaRefs>
    <ds:schemaRef ds:uri="http://purl.org/dc/dcmitype/"/>
    <ds:schemaRef ds:uri="http://schemas.microsoft.com/office/infopath/2007/PartnerControls"/>
    <ds:schemaRef ds:uri="350496ac-2300-4414-b72f-de599dbc32b2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0</TotalTime>
  <Words>1142</Words>
  <Application>Microsoft Office PowerPoint</Application>
  <PresentationFormat>Widescreen</PresentationFormat>
  <Paragraphs>325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 Math</vt:lpstr>
      <vt:lpstr>Century Gothic</vt:lpstr>
      <vt:lpstr>Times New Roman</vt:lpstr>
      <vt:lpstr>Mesh</vt:lpstr>
      <vt:lpstr>Human Waste to Renewable Diesel         Project 2</vt:lpstr>
      <vt:lpstr>Changes Made</vt:lpstr>
      <vt:lpstr>Design Basis</vt:lpstr>
      <vt:lpstr>BFD</vt:lpstr>
      <vt:lpstr>PFD</vt:lpstr>
      <vt:lpstr>Material Balance</vt:lpstr>
      <vt:lpstr>Material Balance</vt:lpstr>
      <vt:lpstr>Material Balance</vt:lpstr>
      <vt:lpstr>Aspen </vt:lpstr>
      <vt:lpstr>Aspen </vt:lpstr>
      <vt:lpstr>Aspen</vt:lpstr>
      <vt:lpstr>Aspen</vt:lpstr>
      <vt:lpstr>Aspen</vt:lpstr>
      <vt:lpstr>Aspen</vt:lpstr>
      <vt:lpstr>Aspen</vt:lpstr>
      <vt:lpstr>Aspen</vt:lpstr>
      <vt:lpstr>Aspen</vt:lpstr>
      <vt:lpstr>Aspen</vt:lpstr>
      <vt:lpstr>Equipment </vt:lpstr>
      <vt:lpstr>Utilities</vt:lpstr>
      <vt:lpstr>Hand Calculations</vt:lpstr>
      <vt:lpstr>Hand Calculations vs Aspen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Waste to Renewable Diesel         Project 2</dc:title>
  <dc:creator>Michael Stacy</dc:creator>
  <cp:lastModifiedBy>Eddie Salgado</cp:lastModifiedBy>
  <cp:revision>2</cp:revision>
  <dcterms:created xsi:type="dcterms:W3CDTF">2020-03-01T01:06:57Z</dcterms:created>
  <dcterms:modified xsi:type="dcterms:W3CDTF">2020-03-03T18:44:54Z</dcterms:modified>
</cp:coreProperties>
</file>