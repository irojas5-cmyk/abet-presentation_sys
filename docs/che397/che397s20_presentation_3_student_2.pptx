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Merriweath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57C9B9C5-11D3-4A14-A540-B663B07A1EC5}">
  <a:tblStyle styleId="{57C9B9C5-11D3-4A14-A540-B663B07A1E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4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7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6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2ab4de574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2ab4de57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2ab4de574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2ab4de57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2ab4de57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2ab4de57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2ab4de57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2ab4de57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2ab4de57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2ab4de57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2ab4de574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2ab4de574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2ab4de574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2ab4de574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2ab4de574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2ab4de57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2ab4de574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2ab4de574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2ab4de574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2ab4de574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2ab4de574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2ab4de574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2ab4de574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2ab4de574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2ab4de574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2ab4de574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2ab4de574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2ab4de574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82ab4de574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82ab4de574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82ab4de574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82ab4de574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2ad3bf94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2ad3bf94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2ab4de574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2ab4de574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2ad3bf94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2ad3bf94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2ad3bf94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2ad3bf94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477600" y="90825"/>
            <a:ext cx="7923300" cy="10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Purification of Shale Gas With The Intent to Liquify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Erick Yspango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Tariq Hannoun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Diego Martinez</a:t>
            </a:r>
            <a:endParaRPr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Process Outline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70450"/>
            <a:ext cx="8520600" cy="256710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Product Streams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505700"/>
            <a:ext cx="84153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 product stream is 990 million cubic feet of treated shale gas with a composition of: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300"/>
              <a:t>85.76% Methane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11.32% Ethane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 2.86% c3+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500 ppm Helium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Trace (&lt;1 ppb): Hg, CO2, H2S, N2, H20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Additional product streams:	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Waste water (requires mercury removal)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NGL C3+ stream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</a:t>
            </a:r>
            <a:r>
              <a:rPr lang="en"/>
              <a:t> Analysis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Gas emissions: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Removing H2S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Claus Sulfur recovery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Furnace combustion emission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Carbon monoxide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NOx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Removing N2</a:t>
            </a:r>
            <a:endParaRPr sz="1800"/>
          </a:p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Liquid emissions: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Mercury in </a:t>
            </a:r>
            <a:r>
              <a:rPr lang="en" sz="1800"/>
              <a:t>wastewater lines from the slug catcher, acid gas treatment and dehydration sections.</a:t>
            </a:r>
            <a:r>
              <a:rPr lang="en" sz="1800"/>
              <a:t> </a:t>
            </a:r>
            <a:endParaRPr sz="1800"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Analysis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Methane-</a:t>
            </a:r>
            <a:r>
              <a:rPr lang="en"/>
              <a:t>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High levels of </a:t>
            </a:r>
            <a:r>
              <a:rPr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methane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can reduce the amount of oxygen breathed from the air. This can result in mood changes, slurred speech, vision problems, memory loss, nausea, vomiting, facial flushing and headache.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Ethane-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Same symptoms as methane with the addition of  a highly flammable gas and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dangerous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fire hazard.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Propane -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Exposure to propane gas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include headaches, dizziness, disorientation, nausea and fatigue.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b="1"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 main gases(Methane, Ethane, Propane)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have the potential at  high concentrations to  displace oxygen in the air. 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Hydrogen Sulfide- </a:t>
            </a:r>
            <a:r>
              <a:rPr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Inhalation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of high concentrations of </a:t>
            </a:r>
            <a:r>
              <a:rPr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hydrogen sulfide can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produce extremely rapid unconsciousness and death.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Mercury-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Metallic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mercury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mainly causes health effects when inhaled as a vapor where it can be absorbed through the lungs. Symptoms of prolonged and/or acute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exposures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include: tremors. emotional changes (such as mood swings, irritability, nervousness, excessive shyness)</a:t>
            </a:r>
            <a:r>
              <a:rPr b="1"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Liquid Nitrogen-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Direct contact can freeze the skin causing frostbite and cold burns. </a:t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Carbon Dioxide-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Symptoms of mild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CO2 exposure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may include headache and drowsiness. 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Safety Concerns</a:t>
            </a:r>
            <a:endParaRPr/>
          </a:p>
        </p:txBody>
      </p:sp>
      <p:graphicFrame>
        <p:nvGraphicFramePr>
          <p:cNvPr id="102" name="Google Shape;102;p18"/>
          <p:cNvGraphicFramePr/>
          <p:nvPr/>
        </p:nvGraphicFramePr>
        <p:xfrm>
          <a:off x="311725" y="150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{57C9B9C5-11D3-4A14-A540-B663B07A1EC5}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Safety Concerns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Slug Catcher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Leakage from main pipeline containing shale gas.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Contains high levels of methane.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Gas Treating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Exposure of high levels of Hydrogen Sulfide exit stream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Dehydration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</a:rPr>
                        <a:t>Exposure</a:t>
                      </a: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 to levels of ethylene </a:t>
                      </a:r>
                      <a:r>
                        <a:rPr lang="en">
                          <a:solidFill>
                            <a:srgbClr val="222222"/>
                          </a:solidFill>
                        </a:rPr>
                        <a:t>glycol </a:t>
                      </a: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concentrations higher than 80 ppm results in intolerable respiratory discomfort and cough.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Safety Concern </a:t>
            </a:r>
            <a:endParaRPr/>
          </a:p>
        </p:txBody>
      </p:sp>
      <p:graphicFrame>
        <p:nvGraphicFramePr>
          <p:cNvPr id="109" name="Google Shape;109;p19"/>
          <p:cNvGraphicFramePr/>
          <p:nvPr/>
        </p:nvGraphicFramePr>
        <p:xfrm>
          <a:off x="311725" y="150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{57C9B9C5-11D3-4A14-A540-B663B07A1EC5}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Concern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Mercury Removal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Exposure to Mercury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Hydrogen Recovery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Nitrogen Rejection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low temperatures leading to cryogenic distillation.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Controls (General)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355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controlled variables…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-Amine absorber : Temperature; Conversion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-Column: Temperature;Pressure; Level; Purity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-Flash Drum: Temperature;Level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-Heat Exchanger: Temperature</a:t>
            </a:r>
            <a:endParaRPr/>
          </a:p>
        </p:txBody>
      </p:sp>
      <p:sp>
        <p:nvSpPr>
          <p:cNvPr id="117" name="Google Shape;117;p20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manipulated variables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Heat Duties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-Reflux/boil-up ratios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-Distillate/bottoms flow rates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-Flow rate of material in tube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443600" y="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Detailed Process Control (</a:t>
            </a:r>
            <a:r>
              <a:rPr lang="en" sz="2400"/>
              <a:t>Cryogenic</a:t>
            </a:r>
            <a:r>
              <a:rPr lang="en" sz="2400"/>
              <a:t> Distillation)</a:t>
            </a:r>
            <a:endParaRPr sz="2400"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07600" y="1225734"/>
            <a:ext cx="8047874" cy="448071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HAZOP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505700"/>
            <a:ext cx="80865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87" y="1319775"/>
            <a:ext cx="7344326" cy="36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Control (Flash Drum)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505700"/>
            <a:ext cx="5860800" cy="3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Control Variables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Temperature, Level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Manipulated Variables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Flow Level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Max Temp- 144 </a:t>
            </a:r>
            <a:r>
              <a:rPr lang="en"/>
              <a:t>Celsius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Min Temp- 116 Celsius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5472213" y="3456000"/>
            <a:ext cx="3999900" cy="5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Flash Drum 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153" y="1432849"/>
            <a:ext cx="5456172" cy="340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Controls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Slug Catcher -Temperature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Min- 147 Fahrenheit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Optimum- 167 </a:t>
            </a:r>
            <a:r>
              <a:rPr lang="en"/>
              <a:t>Fahrenheit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Maximum- 195 </a:t>
            </a:r>
            <a:r>
              <a:rPr lang="en"/>
              <a:t>Fahrenheit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Gas Treating- Pressure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Min- 800 psi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Optimum- 1000 psi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Maximum- 1100 psi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Dehydration- Temperature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Min-  110 Fahrenheit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Optimum- 119.8 Fahrenheit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Maximum- 125 Fahrenheit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Mercury Removal - NA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Hydrocarbon Recovery - NA by vendor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Nitrogen Rejection - Temperature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Min- -243  Fahrenheit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Optimum- -184 Fahrenheit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Maximum- -175 Fahrenheit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Analysis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 Cost Estimates</a:t>
            </a:r>
            <a:endParaRPr/>
          </a:p>
        </p:txBody>
      </p:sp>
      <p:graphicFrame>
        <p:nvGraphicFramePr>
          <p:cNvPr id="162" name="Google Shape;162;p26"/>
          <p:cNvGraphicFramePr/>
          <p:nvPr/>
        </p:nvGraphicFramePr>
        <p:xfrm>
          <a:off x="2134875" y="133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{57C9B9C5-11D3-4A14-A540-B663B07A1EC5}</a:tableStyleId>
              </a:tblPr>
              <a:tblGrid>
                <a:gridCol w="2347225"/>
                <a:gridCol w="25270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Capital Cost 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Equipment Cost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18.5 million 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Installation Cost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28.4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ISBL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46.9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million 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OSBL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18.7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 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Engineering Cost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6.5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Contingency Cost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6.5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 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Fixed Capital Investment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78.8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 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Working Capital Cost (USD)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11.8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Capital Cost (USD)</a:t>
                      </a:r>
                      <a:endParaRPr b="1" i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90.7 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ISBL Cost Analysis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550" y="1462200"/>
            <a:ext cx="5379524" cy="32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Cost Estimates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505700"/>
            <a:ext cx="8415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7" name="Google Shape;177;p28"/>
          <p:cNvGraphicFramePr/>
          <p:nvPr/>
        </p:nvGraphicFramePr>
        <p:xfrm>
          <a:off x="2660975" y="233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{57C9B9C5-11D3-4A14-A540-B663B07A1EC5}</a:tableStyleId>
              </a:tblPr>
              <a:tblGrid>
                <a:gridCol w="1698425"/>
                <a:gridCol w="2567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Heating Utilities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50.84 million USD per year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Cooling Utilities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0.674 million USD per year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Total </a:t>
                      </a:r>
                      <a:r>
                        <a:rPr b="1" i="1" lang="en"/>
                        <a:t>Utilities</a:t>
                      </a:r>
                      <a:r>
                        <a:rPr b="1" i="1" lang="en"/>
                        <a:t> 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51.51 million USD per year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" name="Google Shape;17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Estimates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505700"/>
            <a:ext cx="84675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Revenue of LNG has of now, it is still not the final </a:t>
            </a:r>
            <a:r>
              <a:rPr lang="en" sz="1800"/>
              <a:t>figure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18.7 million USD per year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Base of Japon import price of 9.895 USD/MMBTU which was for February 2020. [1]</a:t>
            </a:r>
            <a:endParaRPr sz="1800"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Material Cost 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505700"/>
            <a:ext cx="83847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Cost of Marcellus Shale gas from the well head was priced at 1.80 USD/MMBTU [2]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Raw material cost is 3.5 million per year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This is based on data found from 08-Jan-2020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Summary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Total Capital Cost = 90.6 million USD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Total Operating Cost = 51.51 million USD per year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Total Revenues = 18.6 million USD per year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Raw Material Cost = 3.5 million USD per year</a:t>
            </a:r>
            <a:endParaRPr sz="1800"/>
          </a:p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Still working on NPV, simple back period, sensitivity analysis and DCROR.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Operation cost will change.  </a:t>
            </a:r>
            <a:endParaRPr sz="1800"/>
          </a:p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“US Natural Gas Production Edges Back from Highs as Low Prices Weigh on Drilling.”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 Natural Gas Production Edges Back from Highs as Low Prices Weigh on Drilling | S&amp;P Global Platts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8 Jan. 2020, www.spglobal.com/platts/en/market-insights/latest-news/natural-gas/010820-us-natural-gas-production-edges-back-from-highs-as-low-prices-weigh-on-drilling.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“Japan Liquefied Natural Gas Import Price:”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YCharts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ycharts.com/indicators/japan_liquefied_natural_gas_import_price.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