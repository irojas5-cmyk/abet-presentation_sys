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4"/>
  </p:sldMasterIdLst>
  <p:notesMasterIdLst>
    <p:notesMasterId r:id="rId24"/>
  </p:notesMasterIdLst>
  <p:handoutMasterIdLst>
    <p:handoutMasterId r:id="rId25"/>
  </p:handoutMasterIdLst>
  <p:sldIdLst>
    <p:sldId id="256" r:id="rId5"/>
    <p:sldId id="277" r:id="rId6"/>
    <p:sldId id="258" r:id="rId7"/>
    <p:sldId id="260" r:id="rId8"/>
    <p:sldId id="261" r:id="rId9"/>
    <p:sldId id="266" r:id="rId10"/>
    <p:sldId id="290" r:id="rId11"/>
    <p:sldId id="302" r:id="rId12"/>
    <p:sldId id="305" r:id="rId13"/>
    <p:sldId id="306" r:id="rId14"/>
    <p:sldId id="307" r:id="rId15"/>
    <p:sldId id="288" r:id="rId16"/>
    <p:sldId id="269" r:id="rId17"/>
    <p:sldId id="276" r:id="rId18"/>
    <p:sldId id="259" r:id="rId19"/>
    <p:sldId id="291" r:id="rId20"/>
    <p:sldId id="295" r:id="rId21"/>
    <p:sldId id="296" r:id="rId22"/>
    <p:sldId id="29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868D404-CB77-47A4-A551-F9B501DB1C23}">
          <p14:sldIdLst>
            <p14:sldId id="256"/>
            <p14:sldId id="277"/>
            <p14:sldId id="258"/>
            <p14:sldId id="260"/>
            <p14:sldId id="261"/>
            <p14:sldId id="266"/>
            <p14:sldId id="290"/>
            <p14:sldId id="302"/>
            <p14:sldId id="305"/>
            <p14:sldId id="306"/>
            <p14:sldId id="307"/>
            <p14:sldId id="288"/>
            <p14:sldId id="269"/>
            <p14:sldId id="276"/>
            <p14:sldId id="259"/>
            <p14:sldId id="291"/>
            <p14:sldId id="295"/>
            <p14:sldId id="296"/>
            <p14:sldId id="29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09E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" v="451" dt="2020-03-03T18:24:28.064"/>
    <p1510:client id="{48D8CE8D-D7B4-490B-8C0A-26BE2D22CA3C}" v="381" dt="2020-03-03T14:19:39.800"/>
    <p1510:client id="{78D64030-BFD0-1BE3-9522-5E7A34A51600}" v="88" dt="2020-03-02T22:45:58.611"/>
    <p1510:client id="{8A90318A-0337-414F-87D8-BDE493445D31}" v="563" dt="2020-03-03T02:46:06.854"/>
    <p1510:client id="{9A32CE2C-4163-1CD1-1FC9-777502E4C824}" v="109" dt="2020-03-03T15:09:40.115"/>
    <p1510:client id="{B00D5649-B7A2-46A0-8E05-5D8B6B16EA85}" v="114" dt="2020-03-03T16:23:36.893"/>
    <p1510:client id="{B58FF80C-E750-4D9F-A23D-44DF3877CAEA}" v="2798" dt="2020-03-03T16:09:09.898"/>
    <p1510:client id="{BBBD9CC6-BCEA-D53E-543A-30AA9B424A95}" v="194" dt="2020-03-03T00:18:15.008"/>
    <p1510:client id="{D69C2A7E-6427-2ACC-1474-D8908D6EDAFB}" v="1" dt="2020-03-03T02:01:17.898"/>
    <p1510:client id="{D9D011B7-BA79-B322-E7FD-424681D2D53C}" v="1183" dt="2020-03-03T03:33:09.8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60"/>
  </p:normalViewPr>
  <p:slideViewPr>
    <p:cSldViewPr snapToGrid="0">
      <p:cViewPr>
        <p:scale>
          <a:sx n="81" d="100"/>
          <a:sy n="81" d="100"/>
        </p:scale>
        <p:origin x="74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image" Target="../media/image9.gif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image" Target="../media/image9.gif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64FC0F1-001D-48B5-A8AC-C7AC66A59F7E}" type="doc">
      <dgm:prSet loTypeId="urn:microsoft.com/office/officeart/2005/8/layout/vList3" loCatId="list" qsTypeId="urn:microsoft.com/office/officeart/2005/8/quickstyle/simple2" qsCatId="simple" csTypeId="urn:microsoft.com/office/officeart/2005/8/colors/colorful5" csCatId="colorful" phldr="1"/>
      <dgm:spPr/>
    </dgm:pt>
    <dgm:pt modelId="{39749647-8CB6-4B25-A28D-FD122BE7D238}">
      <dgm:prSet phldrT="[Text]"/>
      <dgm:spPr/>
      <dgm:t>
        <a:bodyPr/>
        <a:lstStyle/>
        <a:p>
          <a:pPr marL="0"/>
          <a:r>
            <a: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Plant Size</a:t>
          </a:r>
        </a:p>
      </dgm:t>
    </dgm:pt>
    <dgm:pt modelId="{7612A4AC-11D1-40E5-8F44-392554471DB5}" type="parTrans" cxnId="{F984276E-4567-4C6E-B521-A77E35F8C87C}">
      <dgm:prSet/>
      <dgm:spPr/>
      <dgm:t>
        <a:bodyPr/>
        <a:lstStyle/>
        <a:p>
          <a:endParaRPr lang="en-US" b="1"/>
        </a:p>
      </dgm:t>
    </dgm:pt>
    <dgm:pt modelId="{64174DA9-027B-428B-97B8-95033CD68B2E}" type="sibTrans" cxnId="{F984276E-4567-4C6E-B521-A77E35F8C87C}">
      <dgm:prSet/>
      <dgm:spPr/>
      <dgm:t>
        <a:bodyPr/>
        <a:lstStyle/>
        <a:p>
          <a:endParaRPr lang="en-US" b="1"/>
        </a:p>
      </dgm:t>
    </dgm:pt>
    <dgm:pt modelId="{42A571F3-FCD3-45D4-B538-618725EEEB62}">
      <dgm:prSet phldrT="[Text]"/>
      <dgm:spPr/>
      <dgm:t>
        <a:bodyPr/>
        <a:lstStyle/>
        <a:p>
          <a:r>
            <a: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Location of Plant</a:t>
          </a:r>
        </a:p>
      </dgm:t>
    </dgm:pt>
    <dgm:pt modelId="{849BFC03-C1A5-4DC2-9C7F-B4A085470780}" type="parTrans" cxnId="{5B26FA63-F924-489D-A882-D7FC1CF30854}">
      <dgm:prSet/>
      <dgm:spPr/>
      <dgm:t>
        <a:bodyPr/>
        <a:lstStyle/>
        <a:p>
          <a:endParaRPr lang="en-US" b="1"/>
        </a:p>
      </dgm:t>
    </dgm:pt>
    <dgm:pt modelId="{FDF51D40-AA3E-44A9-87CE-C1C7B8851EF0}" type="sibTrans" cxnId="{5B26FA63-F924-489D-A882-D7FC1CF30854}">
      <dgm:prSet/>
      <dgm:spPr/>
      <dgm:t>
        <a:bodyPr/>
        <a:lstStyle/>
        <a:p>
          <a:endParaRPr lang="en-US" b="1"/>
        </a:p>
      </dgm:t>
    </dgm:pt>
    <dgm:pt modelId="{A2C61298-8FF4-4656-9D3E-734C84E6F45E}">
      <dgm:prSet phldrT="[Text]" custT="1"/>
      <dgm:spPr/>
      <dgm:t>
        <a:bodyPr/>
        <a:lstStyle/>
        <a:p>
          <a:r>
            <a:rPr lang="en-US" sz="2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Raw Materials</a:t>
          </a:r>
        </a:p>
      </dgm:t>
    </dgm:pt>
    <dgm:pt modelId="{B90196D5-7DD3-438B-B3CD-C4CB826BE7B3}" type="parTrans" cxnId="{D57B674A-ACD0-4EE0-AC9F-830240C8B2C8}">
      <dgm:prSet/>
      <dgm:spPr/>
      <dgm:t>
        <a:bodyPr/>
        <a:lstStyle/>
        <a:p>
          <a:endParaRPr lang="en-US" b="1"/>
        </a:p>
      </dgm:t>
    </dgm:pt>
    <dgm:pt modelId="{74E837D0-4545-4097-ACB9-9CDFF085190C}" type="sibTrans" cxnId="{D57B674A-ACD0-4EE0-AC9F-830240C8B2C8}">
      <dgm:prSet/>
      <dgm:spPr/>
      <dgm:t>
        <a:bodyPr/>
        <a:lstStyle/>
        <a:p>
          <a:endParaRPr lang="en-US" b="1"/>
        </a:p>
      </dgm:t>
    </dgm:pt>
    <dgm:pt modelId="{18B3926E-46EA-4CC1-8B5A-16F22D4CDF1F}">
      <dgm:prSet/>
      <dgm:spPr/>
      <dgm:t>
        <a:bodyPr/>
        <a:lstStyle/>
        <a:p>
          <a:r>
            <a: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Dalian, China</a:t>
          </a:r>
        </a:p>
      </dgm:t>
    </dgm:pt>
    <dgm:pt modelId="{A103C8BE-9DF2-4AD8-AC3D-35FFD0830D0E}" type="parTrans" cxnId="{5F00A9A5-E042-43A8-8D0D-9DFC817F031E}">
      <dgm:prSet/>
      <dgm:spPr/>
      <dgm:t>
        <a:bodyPr/>
        <a:lstStyle/>
        <a:p>
          <a:endParaRPr lang="en-US" b="1"/>
        </a:p>
      </dgm:t>
    </dgm:pt>
    <dgm:pt modelId="{72F8BEEC-3D8C-413E-AFED-8BD5A79EB608}" type="sibTrans" cxnId="{5F00A9A5-E042-43A8-8D0D-9DFC817F031E}">
      <dgm:prSet/>
      <dgm:spPr/>
      <dgm:t>
        <a:bodyPr/>
        <a:lstStyle/>
        <a:p>
          <a:endParaRPr lang="en-US" b="1"/>
        </a:p>
      </dgm:t>
    </dgm:pt>
    <dgm:pt modelId="{48A72853-088F-409D-B54A-E7C6A81020CF}">
      <dgm:prSet/>
      <dgm:spPr/>
      <dgm:t>
        <a:bodyPr/>
        <a:lstStyle/>
        <a:p>
          <a:pPr marL="0"/>
          <a:r>
            <a: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4.5 MMTPA</a:t>
          </a:r>
          <a:endParaRPr lang="en-US" b="1" baseline="300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15492468-4093-4CE4-BCB6-CE5ADB7789C1}" type="parTrans" cxnId="{0B9F90C8-7BFE-451C-BB64-D8980C292C23}">
      <dgm:prSet/>
      <dgm:spPr/>
      <dgm:t>
        <a:bodyPr/>
        <a:lstStyle/>
        <a:p>
          <a:endParaRPr lang="en-US" b="1"/>
        </a:p>
      </dgm:t>
    </dgm:pt>
    <dgm:pt modelId="{0701AAC3-764F-4AA3-8963-C36D8602E52D}" type="sibTrans" cxnId="{0B9F90C8-7BFE-451C-BB64-D8980C292C23}">
      <dgm:prSet/>
      <dgm:spPr/>
      <dgm:t>
        <a:bodyPr/>
        <a:lstStyle/>
        <a:p>
          <a:endParaRPr lang="en-US" b="1"/>
        </a:p>
      </dgm:t>
    </dgm:pt>
    <dgm:pt modelId="{F9896F7C-310D-41FC-A9BB-0FD8EE0961E1}">
      <dgm:prSet custT="1"/>
      <dgm:spPr/>
      <dgm:t>
        <a:bodyPr/>
        <a:lstStyle/>
        <a:p>
          <a:r>
            <a:rPr lang="en-US" sz="20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Methanol</a:t>
          </a:r>
        </a:p>
      </dgm:t>
    </dgm:pt>
    <dgm:pt modelId="{3BFD77C7-D352-4955-A201-24E4EF948647}" type="parTrans" cxnId="{0C4254E3-D6EE-4C5B-94DF-F62E63628F3F}">
      <dgm:prSet/>
      <dgm:spPr/>
      <dgm:t>
        <a:bodyPr/>
        <a:lstStyle/>
        <a:p>
          <a:endParaRPr lang="en-US" b="1"/>
        </a:p>
      </dgm:t>
    </dgm:pt>
    <dgm:pt modelId="{F76D447A-C923-4D00-86AF-235C2537587A}" type="sibTrans" cxnId="{0C4254E3-D6EE-4C5B-94DF-F62E63628F3F}">
      <dgm:prSet/>
      <dgm:spPr/>
      <dgm:t>
        <a:bodyPr/>
        <a:lstStyle/>
        <a:p>
          <a:endParaRPr lang="en-US" b="1"/>
        </a:p>
      </dgm:t>
    </dgm:pt>
    <dgm:pt modelId="{E45DC1A7-B92E-4119-AD9D-EE39AEEA6AF1}">
      <dgm:prSet custT="1"/>
      <dgm:spPr/>
      <dgm:t>
        <a:bodyPr/>
        <a:lstStyle/>
        <a:p>
          <a:r>
            <a:rPr lang="en-US" sz="20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Reformed Naphtha Feed</a:t>
          </a:r>
        </a:p>
      </dgm:t>
    </dgm:pt>
    <dgm:pt modelId="{2EDBEC87-A8FD-4B41-992C-4829E35A6CCA}" type="parTrans" cxnId="{474C1E40-3969-40B7-9EE6-C30A90C46A4D}">
      <dgm:prSet/>
      <dgm:spPr/>
      <dgm:t>
        <a:bodyPr/>
        <a:lstStyle/>
        <a:p>
          <a:endParaRPr lang="en-US" b="1"/>
        </a:p>
      </dgm:t>
    </dgm:pt>
    <dgm:pt modelId="{55A986D3-4E66-430E-A58F-C7E27D5477F9}" type="sibTrans" cxnId="{474C1E40-3969-40B7-9EE6-C30A90C46A4D}">
      <dgm:prSet/>
      <dgm:spPr/>
      <dgm:t>
        <a:bodyPr/>
        <a:lstStyle/>
        <a:p>
          <a:endParaRPr lang="en-US" b="1"/>
        </a:p>
      </dgm:t>
    </dgm:pt>
    <dgm:pt modelId="{2A46967D-638B-4A71-A2C4-B3B0FC519C2F}">
      <dgm:prSet custT="1"/>
      <dgm:spPr/>
      <dgm:t>
        <a:bodyPr/>
        <a:lstStyle/>
        <a:p>
          <a:r>
            <a:rPr lang="en-US" sz="20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DTBB and TBB</a:t>
          </a:r>
        </a:p>
      </dgm:t>
    </dgm:pt>
    <dgm:pt modelId="{6ED9C9A4-0A90-4D89-9151-3744E604F093}" type="parTrans" cxnId="{B2C52E08-0426-42B7-94ED-02F5D41CA8B1}">
      <dgm:prSet/>
      <dgm:spPr/>
      <dgm:t>
        <a:bodyPr/>
        <a:lstStyle/>
        <a:p>
          <a:endParaRPr lang="en-US" b="1"/>
        </a:p>
      </dgm:t>
    </dgm:pt>
    <dgm:pt modelId="{E92734D6-C966-49D6-AEE4-985546B783C0}" type="sibTrans" cxnId="{B2C52E08-0426-42B7-94ED-02F5D41CA8B1}">
      <dgm:prSet/>
      <dgm:spPr/>
      <dgm:t>
        <a:bodyPr/>
        <a:lstStyle/>
        <a:p>
          <a:endParaRPr lang="en-US" b="1"/>
        </a:p>
      </dgm:t>
    </dgm:pt>
    <dgm:pt modelId="{6D66ACF5-D46B-47FE-82E6-4AC6618FE143}" type="pres">
      <dgm:prSet presAssocID="{064FC0F1-001D-48B5-A8AC-C7AC66A59F7E}" presName="linearFlow" presStyleCnt="0">
        <dgm:presLayoutVars>
          <dgm:dir/>
          <dgm:resizeHandles val="exact"/>
        </dgm:presLayoutVars>
      </dgm:prSet>
      <dgm:spPr/>
    </dgm:pt>
    <dgm:pt modelId="{D5D8107B-A697-43B8-A754-A750990BE28C}" type="pres">
      <dgm:prSet presAssocID="{39749647-8CB6-4B25-A28D-FD122BE7D238}" presName="composite" presStyleCnt="0"/>
      <dgm:spPr/>
    </dgm:pt>
    <dgm:pt modelId="{56FEE9C9-8B31-429E-B34F-4BB4CC05E015}" type="pres">
      <dgm:prSet presAssocID="{39749647-8CB6-4B25-A28D-FD122BE7D238}" presName="imgShp" presStyleLbl="fgImgPlace1" presStyleIdx="0" presStyleCnt="3"/>
      <dgm:spPr>
        <a:blipFill>
          <a:blip xmlns:r="http://schemas.openxmlformats.org/officeDocument/2006/relationships" r:embed="rId1"/>
          <a:srcRect/>
          <a:stretch>
            <a:fillRect l="-39000" r="-39000"/>
          </a:stretch>
        </a:blipFill>
      </dgm:spPr>
    </dgm:pt>
    <dgm:pt modelId="{F7878378-E7ED-404B-85A2-CA2A97948F9D}" type="pres">
      <dgm:prSet presAssocID="{39749647-8CB6-4B25-A28D-FD122BE7D238}" presName="txShp" presStyleLbl="node1" presStyleIdx="0" presStyleCnt="3" custScaleY="100101">
        <dgm:presLayoutVars>
          <dgm:bulletEnabled val="1"/>
        </dgm:presLayoutVars>
      </dgm:prSet>
      <dgm:spPr/>
    </dgm:pt>
    <dgm:pt modelId="{2F50A503-2120-4ADC-BE71-38571C02A72D}" type="pres">
      <dgm:prSet presAssocID="{64174DA9-027B-428B-97B8-95033CD68B2E}" presName="spacing" presStyleCnt="0"/>
      <dgm:spPr/>
    </dgm:pt>
    <dgm:pt modelId="{406567A2-2030-4E49-9CAE-BF97F3F4EF50}" type="pres">
      <dgm:prSet presAssocID="{42A571F3-FCD3-45D4-B538-618725EEEB62}" presName="composite" presStyleCnt="0"/>
      <dgm:spPr/>
    </dgm:pt>
    <dgm:pt modelId="{F133F5BC-0A55-486C-B2F8-466F331ABA29}" type="pres">
      <dgm:prSet presAssocID="{42A571F3-FCD3-45D4-B538-618725EEEB62}" presName="imgShp" presStyleLbl="fgImgPlace1" presStyleIdx="1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000" r="-1000"/>
          </a:stretch>
        </a:blipFill>
      </dgm:spPr>
    </dgm:pt>
    <dgm:pt modelId="{EAFE3AF4-8917-4B96-92E1-52C70377E10A}" type="pres">
      <dgm:prSet presAssocID="{42A571F3-FCD3-45D4-B538-618725EEEB62}" presName="txShp" presStyleLbl="node1" presStyleIdx="1" presStyleCnt="3">
        <dgm:presLayoutVars>
          <dgm:bulletEnabled val="1"/>
        </dgm:presLayoutVars>
      </dgm:prSet>
      <dgm:spPr/>
    </dgm:pt>
    <dgm:pt modelId="{1A8C8B72-2A53-47BA-9B6C-4DDA94003527}" type="pres">
      <dgm:prSet presAssocID="{FDF51D40-AA3E-44A9-87CE-C1C7B8851EF0}" presName="spacing" presStyleCnt="0"/>
      <dgm:spPr/>
    </dgm:pt>
    <dgm:pt modelId="{F01D9064-BA0A-4C89-8E2C-E8EB4AE5E175}" type="pres">
      <dgm:prSet presAssocID="{A2C61298-8FF4-4656-9D3E-734C84E6F45E}" presName="composite" presStyleCnt="0"/>
      <dgm:spPr/>
    </dgm:pt>
    <dgm:pt modelId="{2AF54C20-D3BF-4FF6-8DD5-667090053481}" type="pres">
      <dgm:prSet presAssocID="{A2C61298-8FF4-4656-9D3E-734C84E6F45E}" presName="imgShp" presStyleLbl="fgImgPlace1" presStyleIdx="2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75000" r="-75000"/>
          </a:stretch>
        </a:blipFill>
      </dgm:spPr>
    </dgm:pt>
    <dgm:pt modelId="{DA455D62-E9E5-4BF6-8665-A1E90CD5F001}" type="pres">
      <dgm:prSet presAssocID="{A2C61298-8FF4-4656-9D3E-734C84E6F45E}" presName="txShp" presStyleLbl="node1" presStyleIdx="2" presStyleCnt="3" custScaleY="130128">
        <dgm:presLayoutVars>
          <dgm:bulletEnabled val="1"/>
        </dgm:presLayoutVars>
      </dgm:prSet>
      <dgm:spPr/>
    </dgm:pt>
  </dgm:ptLst>
  <dgm:cxnLst>
    <dgm:cxn modelId="{B2C52E08-0426-42B7-94ED-02F5D41CA8B1}" srcId="{A2C61298-8FF4-4656-9D3E-734C84E6F45E}" destId="{2A46967D-638B-4A71-A2C4-B3B0FC519C2F}" srcOrd="2" destOrd="0" parTransId="{6ED9C9A4-0A90-4D89-9151-3744E604F093}" sibTransId="{E92734D6-C966-49D6-AEE4-985546B783C0}"/>
    <dgm:cxn modelId="{D101F619-33DA-4BEB-87CF-77AE6B90D40F}" type="presOf" srcId="{48A72853-088F-409D-B54A-E7C6A81020CF}" destId="{F7878378-E7ED-404B-85A2-CA2A97948F9D}" srcOrd="0" destOrd="1" presId="urn:microsoft.com/office/officeart/2005/8/layout/vList3"/>
    <dgm:cxn modelId="{7B0DEC2C-C826-4151-ADDF-3C8CF57479E2}" type="presOf" srcId="{064FC0F1-001D-48B5-A8AC-C7AC66A59F7E}" destId="{6D66ACF5-D46B-47FE-82E6-4AC6618FE143}" srcOrd="0" destOrd="0" presId="urn:microsoft.com/office/officeart/2005/8/layout/vList3"/>
    <dgm:cxn modelId="{474C1E40-3969-40B7-9EE6-C30A90C46A4D}" srcId="{A2C61298-8FF4-4656-9D3E-734C84E6F45E}" destId="{E45DC1A7-B92E-4119-AD9D-EE39AEEA6AF1}" srcOrd="1" destOrd="0" parTransId="{2EDBEC87-A8FD-4B41-992C-4829E35A6CCA}" sibTransId="{55A986D3-4E66-430E-A58F-C7E27D5477F9}"/>
    <dgm:cxn modelId="{DA8AAD63-AF4A-4DDC-86E3-235817D24EFA}" type="presOf" srcId="{42A571F3-FCD3-45D4-B538-618725EEEB62}" destId="{EAFE3AF4-8917-4B96-92E1-52C70377E10A}" srcOrd="0" destOrd="0" presId="urn:microsoft.com/office/officeart/2005/8/layout/vList3"/>
    <dgm:cxn modelId="{5B26FA63-F924-489D-A882-D7FC1CF30854}" srcId="{064FC0F1-001D-48B5-A8AC-C7AC66A59F7E}" destId="{42A571F3-FCD3-45D4-B538-618725EEEB62}" srcOrd="1" destOrd="0" parTransId="{849BFC03-C1A5-4DC2-9C7F-B4A085470780}" sibTransId="{FDF51D40-AA3E-44A9-87CE-C1C7B8851EF0}"/>
    <dgm:cxn modelId="{D57B674A-ACD0-4EE0-AC9F-830240C8B2C8}" srcId="{064FC0F1-001D-48B5-A8AC-C7AC66A59F7E}" destId="{A2C61298-8FF4-4656-9D3E-734C84E6F45E}" srcOrd="2" destOrd="0" parTransId="{B90196D5-7DD3-438B-B3CD-C4CB826BE7B3}" sibTransId="{74E837D0-4545-4097-ACB9-9CDFF085190C}"/>
    <dgm:cxn modelId="{763F2B4C-290B-420B-8A08-4291DAAF6E7A}" type="presOf" srcId="{2A46967D-638B-4A71-A2C4-B3B0FC519C2F}" destId="{DA455D62-E9E5-4BF6-8665-A1E90CD5F001}" srcOrd="0" destOrd="3" presId="urn:microsoft.com/office/officeart/2005/8/layout/vList3"/>
    <dgm:cxn modelId="{F984276E-4567-4C6E-B521-A77E35F8C87C}" srcId="{064FC0F1-001D-48B5-A8AC-C7AC66A59F7E}" destId="{39749647-8CB6-4B25-A28D-FD122BE7D238}" srcOrd="0" destOrd="0" parTransId="{7612A4AC-11D1-40E5-8F44-392554471DB5}" sibTransId="{64174DA9-027B-428B-97B8-95033CD68B2E}"/>
    <dgm:cxn modelId="{806B7B54-6D85-4EB4-A02B-261BEB6FC075}" type="presOf" srcId="{18B3926E-46EA-4CC1-8B5A-16F22D4CDF1F}" destId="{EAFE3AF4-8917-4B96-92E1-52C70377E10A}" srcOrd="0" destOrd="1" presId="urn:microsoft.com/office/officeart/2005/8/layout/vList3"/>
    <dgm:cxn modelId="{A9FC9683-F6D7-4F42-B52A-A74A0704C8CB}" type="presOf" srcId="{F9896F7C-310D-41FC-A9BB-0FD8EE0961E1}" destId="{DA455D62-E9E5-4BF6-8665-A1E90CD5F001}" srcOrd="0" destOrd="1" presId="urn:microsoft.com/office/officeart/2005/8/layout/vList3"/>
    <dgm:cxn modelId="{BEDFF18F-0FA0-4034-BD66-3C69DD99CF9C}" type="presOf" srcId="{39749647-8CB6-4B25-A28D-FD122BE7D238}" destId="{F7878378-E7ED-404B-85A2-CA2A97948F9D}" srcOrd="0" destOrd="0" presId="urn:microsoft.com/office/officeart/2005/8/layout/vList3"/>
    <dgm:cxn modelId="{5F00A9A5-E042-43A8-8D0D-9DFC817F031E}" srcId="{42A571F3-FCD3-45D4-B538-618725EEEB62}" destId="{18B3926E-46EA-4CC1-8B5A-16F22D4CDF1F}" srcOrd="0" destOrd="0" parTransId="{A103C8BE-9DF2-4AD8-AC3D-35FFD0830D0E}" sibTransId="{72F8BEEC-3D8C-413E-AFED-8BD5A79EB608}"/>
    <dgm:cxn modelId="{2782ACC0-2539-44F9-9C9C-FEF079C2A45B}" type="presOf" srcId="{A2C61298-8FF4-4656-9D3E-734C84E6F45E}" destId="{DA455D62-E9E5-4BF6-8665-A1E90CD5F001}" srcOrd="0" destOrd="0" presId="urn:microsoft.com/office/officeart/2005/8/layout/vList3"/>
    <dgm:cxn modelId="{959B91C7-E4F0-48E7-B1A0-BB9B8D5DFCB2}" type="presOf" srcId="{E45DC1A7-B92E-4119-AD9D-EE39AEEA6AF1}" destId="{DA455D62-E9E5-4BF6-8665-A1E90CD5F001}" srcOrd="0" destOrd="2" presId="urn:microsoft.com/office/officeart/2005/8/layout/vList3"/>
    <dgm:cxn modelId="{0B9F90C8-7BFE-451C-BB64-D8980C292C23}" srcId="{39749647-8CB6-4B25-A28D-FD122BE7D238}" destId="{48A72853-088F-409D-B54A-E7C6A81020CF}" srcOrd="0" destOrd="0" parTransId="{15492468-4093-4CE4-BCB6-CE5ADB7789C1}" sibTransId="{0701AAC3-764F-4AA3-8963-C36D8602E52D}"/>
    <dgm:cxn modelId="{0C4254E3-D6EE-4C5B-94DF-F62E63628F3F}" srcId="{A2C61298-8FF4-4656-9D3E-734C84E6F45E}" destId="{F9896F7C-310D-41FC-A9BB-0FD8EE0961E1}" srcOrd="0" destOrd="0" parTransId="{3BFD77C7-D352-4955-A201-24E4EF948647}" sibTransId="{F76D447A-C923-4D00-86AF-235C2537587A}"/>
    <dgm:cxn modelId="{59E91D93-71AE-4BFA-A2EA-AC092EFD027D}" type="presParOf" srcId="{6D66ACF5-D46B-47FE-82E6-4AC6618FE143}" destId="{D5D8107B-A697-43B8-A754-A750990BE28C}" srcOrd="0" destOrd="0" presId="urn:microsoft.com/office/officeart/2005/8/layout/vList3"/>
    <dgm:cxn modelId="{A2E7AC3F-7670-4FA1-9C05-2CB544048A67}" type="presParOf" srcId="{D5D8107B-A697-43B8-A754-A750990BE28C}" destId="{56FEE9C9-8B31-429E-B34F-4BB4CC05E015}" srcOrd="0" destOrd="0" presId="urn:microsoft.com/office/officeart/2005/8/layout/vList3"/>
    <dgm:cxn modelId="{5866AEAC-EE41-429D-B075-5E283F82FA86}" type="presParOf" srcId="{D5D8107B-A697-43B8-A754-A750990BE28C}" destId="{F7878378-E7ED-404B-85A2-CA2A97948F9D}" srcOrd="1" destOrd="0" presId="urn:microsoft.com/office/officeart/2005/8/layout/vList3"/>
    <dgm:cxn modelId="{A3BA4B36-1269-4C76-A783-D8013177FBD7}" type="presParOf" srcId="{6D66ACF5-D46B-47FE-82E6-4AC6618FE143}" destId="{2F50A503-2120-4ADC-BE71-38571C02A72D}" srcOrd="1" destOrd="0" presId="urn:microsoft.com/office/officeart/2005/8/layout/vList3"/>
    <dgm:cxn modelId="{6B56E36B-0CFC-41B3-94E6-F3F6B69381EA}" type="presParOf" srcId="{6D66ACF5-D46B-47FE-82E6-4AC6618FE143}" destId="{406567A2-2030-4E49-9CAE-BF97F3F4EF50}" srcOrd="2" destOrd="0" presId="urn:microsoft.com/office/officeart/2005/8/layout/vList3"/>
    <dgm:cxn modelId="{C20BBF5E-52C7-4228-B100-AD80AD375463}" type="presParOf" srcId="{406567A2-2030-4E49-9CAE-BF97F3F4EF50}" destId="{F133F5BC-0A55-486C-B2F8-466F331ABA29}" srcOrd="0" destOrd="0" presId="urn:microsoft.com/office/officeart/2005/8/layout/vList3"/>
    <dgm:cxn modelId="{A333F509-2D4C-4B3C-A0C0-9059ABB265AA}" type="presParOf" srcId="{406567A2-2030-4E49-9CAE-BF97F3F4EF50}" destId="{EAFE3AF4-8917-4B96-92E1-52C70377E10A}" srcOrd="1" destOrd="0" presId="urn:microsoft.com/office/officeart/2005/8/layout/vList3"/>
    <dgm:cxn modelId="{2B717CBC-DA56-4995-9595-860C26E21E75}" type="presParOf" srcId="{6D66ACF5-D46B-47FE-82E6-4AC6618FE143}" destId="{1A8C8B72-2A53-47BA-9B6C-4DDA94003527}" srcOrd="3" destOrd="0" presId="urn:microsoft.com/office/officeart/2005/8/layout/vList3"/>
    <dgm:cxn modelId="{34D01F0B-0C95-47D3-BC9D-4667B71E2185}" type="presParOf" srcId="{6D66ACF5-D46B-47FE-82E6-4AC6618FE143}" destId="{F01D9064-BA0A-4C89-8E2C-E8EB4AE5E175}" srcOrd="4" destOrd="0" presId="urn:microsoft.com/office/officeart/2005/8/layout/vList3"/>
    <dgm:cxn modelId="{46EFBA19-6984-4B6B-B3D1-E2A7B525894F}" type="presParOf" srcId="{F01D9064-BA0A-4C89-8E2C-E8EB4AE5E175}" destId="{2AF54C20-D3BF-4FF6-8DD5-667090053481}" srcOrd="0" destOrd="0" presId="urn:microsoft.com/office/officeart/2005/8/layout/vList3"/>
    <dgm:cxn modelId="{802A1690-12F0-469E-82A1-B44EE3018358}" type="presParOf" srcId="{F01D9064-BA0A-4C89-8E2C-E8EB4AE5E175}" destId="{DA455D62-E9E5-4BF6-8665-A1E90CD5F001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64FC0F1-001D-48B5-A8AC-C7AC66A59F7E}" type="doc">
      <dgm:prSet loTypeId="urn:microsoft.com/office/officeart/2005/8/layout/vList3" loCatId="list" qsTypeId="urn:microsoft.com/office/officeart/2005/8/quickstyle/simple1" qsCatId="simple" csTypeId="urn:microsoft.com/office/officeart/2005/8/colors/colorful5" csCatId="colorful" phldr="1"/>
      <dgm:spPr/>
    </dgm:pt>
    <dgm:pt modelId="{39749647-8CB6-4B25-A28D-FD122BE7D238}">
      <dgm:prSet phldrT="[Text]" custT="1"/>
      <dgm:spPr/>
      <dgm:t>
        <a:bodyPr/>
        <a:lstStyle/>
        <a:p>
          <a:pPr marL="0"/>
          <a:r>
            <a:rPr lang="en-US" sz="2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Methanol, DTBB &amp; TBB</a:t>
          </a:r>
        </a:p>
      </dgm:t>
    </dgm:pt>
    <dgm:pt modelId="{7612A4AC-11D1-40E5-8F44-392554471DB5}" type="parTrans" cxnId="{F984276E-4567-4C6E-B521-A77E35F8C87C}">
      <dgm:prSet/>
      <dgm:spPr/>
      <dgm:t>
        <a:bodyPr/>
        <a:lstStyle/>
        <a:p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64174DA9-027B-428B-97B8-95033CD68B2E}" type="sibTrans" cxnId="{F984276E-4567-4C6E-B521-A77E35F8C87C}">
      <dgm:prSet/>
      <dgm:spPr/>
      <dgm:t>
        <a:bodyPr/>
        <a:lstStyle/>
        <a:p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2A571F3-FCD3-45D4-B538-618725EEEB62}">
      <dgm:prSet phldrT="[Text]" custT="1"/>
      <dgm:spPr/>
      <dgm:t>
        <a:bodyPr/>
        <a:lstStyle/>
        <a:p>
          <a:r>
            <a:rPr lang="en-US" sz="2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Reformed Naphtha Feed</a:t>
          </a:r>
        </a:p>
      </dgm:t>
    </dgm:pt>
    <dgm:pt modelId="{849BFC03-C1A5-4DC2-9C7F-B4A085470780}" type="parTrans" cxnId="{5B26FA63-F924-489D-A882-D7FC1CF30854}">
      <dgm:prSet/>
      <dgm:spPr/>
      <dgm:t>
        <a:bodyPr/>
        <a:lstStyle/>
        <a:p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DF51D40-AA3E-44A9-87CE-C1C7B8851EF0}" type="sibTrans" cxnId="{5B26FA63-F924-489D-A882-D7FC1CF30854}">
      <dgm:prSet/>
      <dgm:spPr/>
      <dgm:t>
        <a:bodyPr/>
        <a:lstStyle/>
        <a:p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2C61298-8FF4-4656-9D3E-734C84E6F45E}">
      <dgm:prSet phldrT="[Text]" custT="1"/>
      <dgm:spPr/>
      <dgm:t>
        <a:bodyPr/>
        <a:lstStyle/>
        <a:p>
          <a:pPr marL="117475" indent="0"/>
          <a:r>
            <a:rPr lang="en-US" sz="2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Paraxylene Product</a:t>
          </a:r>
        </a:p>
      </dgm:t>
    </dgm:pt>
    <dgm:pt modelId="{B90196D5-7DD3-438B-B3CD-C4CB826BE7B3}" type="parTrans" cxnId="{D57B674A-ACD0-4EE0-AC9F-830240C8B2C8}">
      <dgm:prSet/>
      <dgm:spPr/>
      <dgm:t>
        <a:bodyPr/>
        <a:lstStyle/>
        <a:p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74E837D0-4545-4097-ACB9-9CDFF085190C}" type="sibTrans" cxnId="{D57B674A-ACD0-4EE0-AC9F-830240C8B2C8}">
      <dgm:prSet/>
      <dgm:spPr/>
      <dgm:t>
        <a:bodyPr/>
        <a:lstStyle/>
        <a:p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8A72853-088F-409D-B54A-E7C6A81020CF}">
      <dgm:prSet custT="1"/>
      <dgm:spPr/>
      <dgm:t>
        <a:bodyPr/>
        <a:lstStyle/>
        <a:p>
          <a:pPr marL="0" rtl="0"/>
          <a:r>
            <a:rPr lang="en-US" sz="1800" b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/>
            </a:rPr>
            <a:t>141</a:t>
          </a:r>
          <a:r>
            <a:rPr lang="en-US" sz="18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/>
            </a:rPr>
            <a:t> US tons</a:t>
          </a:r>
          <a:r>
            <a:rPr lang="en-US" sz="18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/hr MeOH</a:t>
          </a:r>
        </a:p>
      </dgm:t>
    </dgm:pt>
    <dgm:pt modelId="{0701AAC3-764F-4AA3-8963-C36D8602E52D}" type="sibTrans" cxnId="{0B9F90C8-7BFE-451C-BB64-D8980C292C23}">
      <dgm:prSet/>
      <dgm:spPr/>
      <dgm:t>
        <a:bodyPr/>
        <a:lstStyle/>
        <a:p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15492468-4093-4CE4-BCB6-CE5ADB7789C1}" type="parTrans" cxnId="{0B9F90C8-7BFE-451C-BB64-D8980C292C23}">
      <dgm:prSet/>
      <dgm:spPr/>
      <dgm:t>
        <a:bodyPr/>
        <a:lstStyle/>
        <a:p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6C964F40-001E-4F83-BA1C-11EC748B3535}">
      <dgm:prSet custT="1"/>
      <dgm:spPr/>
      <dgm:t>
        <a:bodyPr/>
        <a:lstStyle/>
        <a:p>
          <a:pPr marL="0"/>
          <a:r>
            <a:rPr lang="en-US" sz="1800" b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/>
            </a:rPr>
            <a:t>335</a:t>
          </a:r>
          <a:r>
            <a:rPr lang="en-US" sz="18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‬ </a:t>
          </a:r>
          <a:r>
            <a:rPr lang="en-US" sz="18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/>
            </a:rPr>
            <a:t>lb</a:t>
          </a:r>
          <a:r>
            <a:rPr lang="en-US" sz="18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/hr of DTBB</a:t>
          </a:r>
        </a:p>
      </dgm:t>
    </dgm:pt>
    <dgm:pt modelId="{A153845F-2305-48F4-B0F2-759864996B46}" type="parTrans" cxnId="{1F6E9325-4A1D-4328-88B6-251894C0914F}">
      <dgm:prSet/>
      <dgm:spPr/>
      <dgm:t>
        <a:bodyPr/>
        <a:lstStyle/>
        <a:p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2A44D8BB-B2B9-4E59-AB6F-7EEFEDE455B5}" type="sibTrans" cxnId="{1F6E9325-4A1D-4328-88B6-251894C0914F}">
      <dgm:prSet/>
      <dgm:spPr/>
      <dgm:t>
        <a:bodyPr/>
        <a:lstStyle/>
        <a:p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3A91387-1F4B-4CFA-825A-B0607A24C9C3}">
      <dgm:prSet custT="1"/>
      <dgm:spPr/>
      <dgm:t>
        <a:bodyPr/>
        <a:lstStyle/>
        <a:p>
          <a:pPr marL="0"/>
          <a:endParaRPr lang="en-US" sz="18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E466BDAA-8860-4656-B666-0977EC330381}" type="parTrans" cxnId="{A0B59643-C47C-4C89-8727-BC47D76A4D46}">
      <dgm:prSet/>
      <dgm:spPr/>
      <dgm:t>
        <a:bodyPr/>
        <a:lstStyle/>
        <a:p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DE7C6887-C6C6-407C-AA95-E2FA108969D4}" type="sibTrans" cxnId="{A0B59643-C47C-4C89-8727-BC47D76A4D46}">
      <dgm:prSet/>
      <dgm:spPr/>
      <dgm:t>
        <a:bodyPr/>
        <a:lstStyle/>
        <a:p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1C4FCDD9-D43A-4E19-AF8F-DF8894A0AED4}">
      <dgm:prSet custT="1"/>
      <dgm:spPr/>
      <dgm:t>
        <a:bodyPr/>
        <a:lstStyle/>
        <a:p>
          <a:pPr marL="0" rtl="0"/>
          <a:r>
            <a:rPr lang="en-US" sz="18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/>
            </a:rPr>
            <a:t> </a:t>
          </a:r>
          <a:r>
            <a:rPr lang="en-US" sz="1800" b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/>
            </a:rPr>
            <a:t>118</a:t>
          </a:r>
          <a:r>
            <a:rPr lang="en-US" sz="18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‬ </a:t>
          </a:r>
          <a:r>
            <a:rPr lang="en-US" sz="18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/>
            </a:rPr>
            <a:t>lb</a:t>
          </a:r>
          <a:r>
            <a:rPr lang="en-US" sz="18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/hr of TBB</a:t>
          </a:r>
          <a:r>
            <a:rPr lang="en-US" sz="18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/>
            </a:rPr>
            <a:t> </a:t>
          </a:r>
          <a:endParaRPr lang="en-US" sz="18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BCEC3292-AB72-41EB-99D3-2FFF5841231E}" type="parTrans" cxnId="{598EBB2B-C321-4D92-803A-9F7E32789936}">
      <dgm:prSet/>
      <dgm:spPr/>
      <dgm:t>
        <a:bodyPr/>
        <a:lstStyle/>
        <a:p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126A804-6599-44DE-B5C2-21C9C46864C1}" type="sibTrans" cxnId="{598EBB2B-C321-4D92-803A-9F7E32789936}">
      <dgm:prSet/>
      <dgm:spPr/>
      <dgm:t>
        <a:bodyPr/>
        <a:lstStyle/>
        <a:p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18B3926E-46EA-4CC1-8B5A-16F22D4CDF1F}">
      <dgm:prSet custT="1"/>
      <dgm:spPr/>
      <dgm:t>
        <a:bodyPr/>
        <a:lstStyle/>
        <a:p>
          <a:pPr rtl="0"/>
          <a:r>
            <a:rPr lang="en-US" sz="1800" b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/>
            </a:rPr>
            <a:t>1683</a:t>
          </a:r>
          <a:r>
            <a:rPr lang="en-US" sz="18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/>
            </a:rPr>
            <a:t> US tons</a:t>
          </a:r>
          <a:r>
            <a:rPr lang="en-US" sz="18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/hr</a:t>
          </a:r>
          <a:r>
            <a:rPr lang="en-US" sz="18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/>
            </a:rPr>
            <a:t> </a:t>
          </a:r>
          <a:endParaRPr lang="en-US" sz="18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72F8BEEC-3D8C-413E-AFED-8BD5A79EB608}" type="sibTrans" cxnId="{5F00A9A5-E042-43A8-8D0D-9DFC817F031E}">
      <dgm:prSet/>
      <dgm:spPr/>
      <dgm:t>
        <a:bodyPr/>
        <a:lstStyle/>
        <a:p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103C8BE-9DF2-4AD8-AC3D-35FFD0830D0E}" type="parTrans" cxnId="{5F00A9A5-E042-43A8-8D0D-9DFC817F031E}">
      <dgm:prSet/>
      <dgm:spPr/>
      <dgm:t>
        <a:bodyPr/>
        <a:lstStyle/>
        <a:p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DEA463D2-D6C1-4CD5-8841-61F9FA8ABD32}">
      <dgm:prSet custT="1"/>
      <dgm:spPr/>
      <dgm:t>
        <a:bodyPr/>
        <a:lstStyle/>
        <a:p>
          <a:r>
            <a:rPr lang="en-US" sz="18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27.8% T, 23.6% C9+, 15.2% MX, 10.1% B, 8.9% OX, 6.8% PX, 6.6% EB, and 1% C</a:t>
          </a:r>
          <a:r>
            <a:rPr lang="en-US" sz="1800" b="1" baseline="-25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3</a:t>
          </a:r>
          <a:r>
            <a:rPr lang="en-US" sz="18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H</a:t>
          </a:r>
          <a:r>
            <a:rPr lang="en-US" sz="1800" b="1" baseline="-25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8</a:t>
          </a:r>
        </a:p>
      </dgm:t>
    </dgm:pt>
    <dgm:pt modelId="{5D73AA53-EE2D-443B-9110-016A4E8440EE}" type="sibTrans" cxnId="{795C35E3-D016-4863-B5AF-F743AF2DB5DC}">
      <dgm:prSet/>
      <dgm:spPr/>
      <dgm:t>
        <a:bodyPr/>
        <a:lstStyle/>
        <a:p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D8BCE1E-E4C1-403B-A5BD-31E435C812EE}" type="parTrans" cxnId="{795C35E3-D016-4863-B5AF-F743AF2DB5DC}">
      <dgm:prSet/>
      <dgm:spPr/>
      <dgm:t>
        <a:bodyPr/>
        <a:lstStyle/>
        <a:p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B8790D64-CAFA-4A45-AAA6-57804031D40C}">
      <dgm:prSet/>
      <dgm:spPr/>
      <dgm:t>
        <a:bodyPr/>
        <a:lstStyle/>
        <a:p>
          <a:endParaRPr lang="en-US" sz="15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088D61B-C825-4BB3-AF9B-4C938AC0DF4F}" type="parTrans" cxnId="{D7FB7DEE-2194-4B67-A515-E153DA97E1B0}">
      <dgm:prSet/>
      <dgm:spPr/>
      <dgm:t>
        <a:bodyPr/>
        <a:lstStyle/>
        <a:p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4C3BFCF-7D61-4DA9-9C5C-16164023B6DE}" type="sibTrans" cxnId="{D7FB7DEE-2194-4B67-A515-E153DA97E1B0}">
      <dgm:prSet/>
      <dgm:spPr/>
      <dgm:t>
        <a:bodyPr/>
        <a:lstStyle/>
        <a:p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A9E0B3E-CAC7-4972-98D0-C946E4CD7785}">
      <dgm:prSet custT="1"/>
      <dgm:spPr/>
      <dgm:t>
        <a:bodyPr/>
        <a:lstStyle/>
        <a:p>
          <a:pPr marL="117475" indent="0" rtl="0"/>
          <a:r>
            <a:rPr lang="en-US" sz="1800" b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/>
            </a:rPr>
            <a:t>6.9</a:t>
          </a:r>
          <a:r>
            <a:rPr lang="en-US" sz="18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/>
            </a:rPr>
            <a:t> US tons</a:t>
          </a:r>
          <a:r>
            <a:rPr lang="en-US" sz="18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/hr </a:t>
          </a:r>
          <a:r>
            <a:rPr lang="en-US" sz="1600" b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(Methylation Process)</a:t>
          </a:r>
          <a:endParaRPr lang="en-US" sz="1800" b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52F1BE4C-D6B7-4065-8286-1830F626E28E}" type="parTrans" cxnId="{6B3512C5-6B92-4C8E-BE5C-5B92D24E444E}">
      <dgm:prSet/>
      <dgm:spPr/>
      <dgm:t>
        <a:bodyPr/>
        <a:lstStyle/>
        <a:p>
          <a:endParaRPr lang="en-US"/>
        </a:p>
      </dgm:t>
    </dgm:pt>
    <dgm:pt modelId="{1ACBFCC6-969F-49ED-9122-8834B70ADE4D}" type="sibTrans" cxnId="{6B3512C5-6B92-4C8E-BE5C-5B92D24E444E}">
      <dgm:prSet/>
      <dgm:spPr/>
      <dgm:t>
        <a:bodyPr/>
        <a:lstStyle/>
        <a:p>
          <a:endParaRPr lang="en-US"/>
        </a:p>
      </dgm:t>
    </dgm:pt>
    <dgm:pt modelId="{B2BBDB29-622C-46EC-88B5-00A4605FED83}">
      <dgm:prSet custT="1"/>
      <dgm:spPr/>
      <dgm:t>
        <a:bodyPr/>
        <a:lstStyle/>
        <a:p>
          <a:pPr marL="117475" indent="0"/>
          <a:r>
            <a:rPr lang="en-US" sz="18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99.5% PX and 0.5% T</a:t>
          </a:r>
        </a:p>
      </dgm:t>
    </dgm:pt>
    <dgm:pt modelId="{DD856455-5E56-444C-A767-9E16BF849F42}" type="parTrans" cxnId="{250EF296-4288-4AAE-8510-03DACD30BB28}">
      <dgm:prSet/>
      <dgm:spPr/>
      <dgm:t>
        <a:bodyPr/>
        <a:lstStyle/>
        <a:p>
          <a:endParaRPr lang="en-US"/>
        </a:p>
      </dgm:t>
    </dgm:pt>
    <dgm:pt modelId="{31ADB923-50AC-4881-A730-B54E5F6AF48A}" type="sibTrans" cxnId="{250EF296-4288-4AAE-8510-03DACD30BB28}">
      <dgm:prSet/>
      <dgm:spPr/>
      <dgm:t>
        <a:bodyPr/>
        <a:lstStyle/>
        <a:p>
          <a:endParaRPr lang="en-US"/>
        </a:p>
      </dgm:t>
    </dgm:pt>
    <dgm:pt modelId="{582D8749-5A3A-4E12-BC7E-7184F17BDA61}">
      <dgm:prSet/>
      <dgm:spPr/>
      <dgm:t>
        <a:bodyPr/>
        <a:lstStyle/>
        <a:p>
          <a:pPr marL="228600" indent="0"/>
          <a:endParaRPr lang="en-US" sz="22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1C02C14E-2331-4E2F-B953-F27425EF277C}" type="parTrans" cxnId="{64AE9ABA-6483-46A5-A8F1-F16DB69F853B}">
      <dgm:prSet/>
      <dgm:spPr/>
      <dgm:t>
        <a:bodyPr/>
        <a:lstStyle/>
        <a:p>
          <a:endParaRPr lang="en-US"/>
        </a:p>
      </dgm:t>
    </dgm:pt>
    <dgm:pt modelId="{81EB96EF-9E13-4A7B-8FD3-2EBEA172DD4A}" type="sibTrans" cxnId="{64AE9ABA-6483-46A5-A8F1-F16DB69F853B}">
      <dgm:prSet/>
      <dgm:spPr/>
      <dgm:t>
        <a:bodyPr/>
        <a:lstStyle/>
        <a:p>
          <a:endParaRPr lang="en-US"/>
        </a:p>
      </dgm:t>
    </dgm:pt>
    <dgm:pt modelId="{6D66ACF5-D46B-47FE-82E6-4AC6618FE143}" type="pres">
      <dgm:prSet presAssocID="{064FC0F1-001D-48B5-A8AC-C7AC66A59F7E}" presName="linearFlow" presStyleCnt="0">
        <dgm:presLayoutVars>
          <dgm:dir/>
          <dgm:resizeHandles val="exact"/>
        </dgm:presLayoutVars>
      </dgm:prSet>
      <dgm:spPr/>
    </dgm:pt>
    <dgm:pt modelId="{D5D8107B-A697-43B8-A754-A750990BE28C}" type="pres">
      <dgm:prSet presAssocID="{39749647-8CB6-4B25-A28D-FD122BE7D238}" presName="composite" presStyleCnt="0"/>
      <dgm:spPr/>
    </dgm:pt>
    <dgm:pt modelId="{56FEE9C9-8B31-429E-B34F-4BB4CC05E015}" type="pres">
      <dgm:prSet presAssocID="{39749647-8CB6-4B25-A28D-FD122BE7D238}" presName="imgShp" presStyleLbl="fgImgPlac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5000" r="-5000"/>
          </a:stretch>
        </a:blipFill>
      </dgm:spPr>
    </dgm:pt>
    <dgm:pt modelId="{F7878378-E7ED-404B-85A2-CA2A97948F9D}" type="pres">
      <dgm:prSet presAssocID="{39749647-8CB6-4B25-A28D-FD122BE7D238}" presName="txShp" presStyleLbl="node1" presStyleIdx="0" presStyleCnt="3" custScaleY="101891">
        <dgm:presLayoutVars>
          <dgm:bulletEnabled val="1"/>
        </dgm:presLayoutVars>
      </dgm:prSet>
      <dgm:spPr/>
    </dgm:pt>
    <dgm:pt modelId="{2F50A503-2120-4ADC-BE71-38571C02A72D}" type="pres">
      <dgm:prSet presAssocID="{64174DA9-027B-428B-97B8-95033CD68B2E}" presName="spacing" presStyleCnt="0"/>
      <dgm:spPr/>
    </dgm:pt>
    <dgm:pt modelId="{406567A2-2030-4E49-9CAE-BF97F3F4EF50}" type="pres">
      <dgm:prSet presAssocID="{42A571F3-FCD3-45D4-B538-618725EEEB62}" presName="composite" presStyleCnt="0"/>
      <dgm:spPr/>
    </dgm:pt>
    <dgm:pt modelId="{F133F5BC-0A55-486C-B2F8-466F331ABA29}" type="pres">
      <dgm:prSet presAssocID="{42A571F3-FCD3-45D4-B538-618725EEEB62}" presName="imgShp" presStyleLbl="fgImgPlace1" presStyleIdx="1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EAFE3AF4-8917-4B96-92E1-52C70377E10A}" type="pres">
      <dgm:prSet presAssocID="{42A571F3-FCD3-45D4-B538-618725EEEB62}" presName="txShp" presStyleLbl="node1" presStyleIdx="1" presStyleCnt="3" custScaleY="115010">
        <dgm:presLayoutVars>
          <dgm:bulletEnabled val="1"/>
        </dgm:presLayoutVars>
      </dgm:prSet>
      <dgm:spPr/>
    </dgm:pt>
    <dgm:pt modelId="{1A8C8B72-2A53-47BA-9B6C-4DDA94003527}" type="pres">
      <dgm:prSet presAssocID="{FDF51D40-AA3E-44A9-87CE-C1C7B8851EF0}" presName="spacing" presStyleCnt="0"/>
      <dgm:spPr/>
    </dgm:pt>
    <dgm:pt modelId="{F01D9064-BA0A-4C89-8E2C-E8EB4AE5E175}" type="pres">
      <dgm:prSet presAssocID="{A2C61298-8FF4-4656-9D3E-734C84E6F45E}" presName="composite" presStyleCnt="0"/>
      <dgm:spPr/>
    </dgm:pt>
    <dgm:pt modelId="{2AF54C20-D3BF-4FF6-8DD5-667090053481}" type="pres">
      <dgm:prSet presAssocID="{A2C61298-8FF4-4656-9D3E-734C84E6F45E}" presName="imgShp" presStyleLbl="fgImgPlace1" presStyleIdx="2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9000" r="-9000"/>
          </a:stretch>
        </a:blipFill>
      </dgm:spPr>
    </dgm:pt>
    <dgm:pt modelId="{DA455D62-E9E5-4BF6-8665-A1E90CD5F001}" type="pres">
      <dgm:prSet presAssocID="{A2C61298-8FF4-4656-9D3E-734C84E6F45E}" presName="txShp" presStyleLbl="node1" presStyleIdx="2" presStyleCnt="3" custScaleY="82238">
        <dgm:presLayoutVars>
          <dgm:bulletEnabled val="1"/>
        </dgm:presLayoutVars>
      </dgm:prSet>
      <dgm:spPr/>
    </dgm:pt>
  </dgm:ptLst>
  <dgm:cxnLst>
    <dgm:cxn modelId="{D101F619-33DA-4BEB-87CF-77AE6B90D40F}" type="presOf" srcId="{48A72853-088F-409D-B54A-E7C6A81020CF}" destId="{F7878378-E7ED-404B-85A2-CA2A97948F9D}" srcOrd="0" destOrd="1" presId="urn:microsoft.com/office/officeart/2005/8/layout/vList3"/>
    <dgm:cxn modelId="{1F6E9325-4A1D-4328-88B6-251894C0914F}" srcId="{39749647-8CB6-4B25-A28D-FD122BE7D238}" destId="{6C964F40-001E-4F83-BA1C-11EC748B3535}" srcOrd="1" destOrd="0" parTransId="{A153845F-2305-48F4-B0F2-759864996B46}" sibTransId="{2A44D8BB-B2B9-4E59-AB6F-7EEFEDE455B5}"/>
    <dgm:cxn modelId="{598EBB2B-C321-4D92-803A-9F7E32789936}" srcId="{39749647-8CB6-4B25-A28D-FD122BE7D238}" destId="{1C4FCDD9-D43A-4E19-AF8F-DF8894A0AED4}" srcOrd="2" destOrd="0" parTransId="{BCEC3292-AB72-41EB-99D3-2FFF5841231E}" sibTransId="{8126A804-6599-44DE-B5C2-21C9C46864C1}"/>
    <dgm:cxn modelId="{47F4EA2B-EB77-45D4-B98E-6F9B762014FC}" type="presOf" srcId="{B2BBDB29-622C-46EC-88B5-00A4605FED83}" destId="{DA455D62-E9E5-4BF6-8665-A1E90CD5F001}" srcOrd="0" destOrd="2" presId="urn:microsoft.com/office/officeart/2005/8/layout/vList3"/>
    <dgm:cxn modelId="{7B0DEC2C-C826-4151-ADDF-3C8CF57479E2}" type="presOf" srcId="{064FC0F1-001D-48B5-A8AC-C7AC66A59F7E}" destId="{6D66ACF5-D46B-47FE-82E6-4AC6618FE143}" srcOrd="0" destOrd="0" presId="urn:microsoft.com/office/officeart/2005/8/layout/vList3"/>
    <dgm:cxn modelId="{A0B59643-C47C-4C89-8727-BC47D76A4D46}" srcId="{39749647-8CB6-4B25-A28D-FD122BE7D238}" destId="{43A91387-1F4B-4CFA-825A-B0607A24C9C3}" srcOrd="3" destOrd="0" parTransId="{E466BDAA-8860-4656-B666-0977EC330381}" sibTransId="{DE7C6887-C6C6-407C-AA95-E2FA108969D4}"/>
    <dgm:cxn modelId="{DA8AAD63-AF4A-4DDC-86E3-235817D24EFA}" type="presOf" srcId="{42A571F3-FCD3-45D4-B538-618725EEEB62}" destId="{EAFE3AF4-8917-4B96-92E1-52C70377E10A}" srcOrd="0" destOrd="0" presId="urn:microsoft.com/office/officeart/2005/8/layout/vList3"/>
    <dgm:cxn modelId="{5B26FA63-F924-489D-A882-D7FC1CF30854}" srcId="{064FC0F1-001D-48B5-A8AC-C7AC66A59F7E}" destId="{42A571F3-FCD3-45D4-B538-618725EEEB62}" srcOrd="1" destOrd="0" parTransId="{849BFC03-C1A5-4DC2-9C7F-B4A085470780}" sibTransId="{FDF51D40-AA3E-44A9-87CE-C1C7B8851EF0}"/>
    <dgm:cxn modelId="{D6A3E848-88E3-433E-9096-F4BED9B2AC04}" type="presOf" srcId="{1C4FCDD9-D43A-4E19-AF8F-DF8894A0AED4}" destId="{F7878378-E7ED-404B-85A2-CA2A97948F9D}" srcOrd="0" destOrd="3" presId="urn:microsoft.com/office/officeart/2005/8/layout/vList3"/>
    <dgm:cxn modelId="{D57B674A-ACD0-4EE0-AC9F-830240C8B2C8}" srcId="{064FC0F1-001D-48B5-A8AC-C7AC66A59F7E}" destId="{A2C61298-8FF4-4656-9D3E-734C84E6F45E}" srcOrd="2" destOrd="0" parTransId="{B90196D5-7DD3-438B-B3CD-C4CB826BE7B3}" sibTransId="{74E837D0-4545-4097-ACB9-9CDFF085190C}"/>
    <dgm:cxn modelId="{F984276E-4567-4C6E-B521-A77E35F8C87C}" srcId="{064FC0F1-001D-48B5-A8AC-C7AC66A59F7E}" destId="{39749647-8CB6-4B25-A28D-FD122BE7D238}" srcOrd="0" destOrd="0" parTransId="{7612A4AC-11D1-40E5-8F44-392554471DB5}" sibTransId="{64174DA9-027B-428B-97B8-95033CD68B2E}"/>
    <dgm:cxn modelId="{806B7B54-6D85-4EB4-A02B-261BEB6FC075}" type="presOf" srcId="{18B3926E-46EA-4CC1-8B5A-16F22D4CDF1F}" destId="{EAFE3AF4-8917-4B96-92E1-52C70377E10A}" srcOrd="0" destOrd="1" presId="urn:microsoft.com/office/officeart/2005/8/layout/vList3"/>
    <dgm:cxn modelId="{1E847B79-B11C-4D2E-A981-781B2E975B75}" type="presOf" srcId="{DEA463D2-D6C1-4CD5-8841-61F9FA8ABD32}" destId="{EAFE3AF4-8917-4B96-92E1-52C70377E10A}" srcOrd="0" destOrd="2" presId="urn:microsoft.com/office/officeart/2005/8/layout/vList3"/>
    <dgm:cxn modelId="{BEDFF18F-0FA0-4034-BD66-3C69DD99CF9C}" type="presOf" srcId="{39749647-8CB6-4B25-A28D-FD122BE7D238}" destId="{F7878378-E7ED-404B-85A2-CA2A97948F9D}" srcOrd="0" destOrd="0" presId="urn:microsoft.com/office/officeart/2005/8/layout/vList3"/>
    <dgm:cxn modelId="{250EF296-4288-4AAE-8510-03DACD30BB28}" srcId="{A2C61298-8FF4-4656-9D3E-734C84E6F45E}" destId="{B2BBDB29-622C-46EC-88B5-00A4605FED83}" srcOrd="1" destOrd="0" parTransId="{DD856455-5E56-444C-A767-9E16BF849F42}" sibTransId="{31ADB923-50AC-4881-A730-B54E5F6AF48A}"/>
    <dgm:cxn modelId="{5F00A9A5-E042-43A8-8D0D-9DFC817F031E}" srcId="{42A571F3-FCD3-45D4-B538-618725EEEB62}" destId="{18B3926E-46EA-4CC1-8B5A-16F22D4CDF1F}" srcOrd="0" destOrd="0" parTransId="{A103C8BE-9DF2-4AD8-AC3D-35FFD0830D0E}" sibTransId="{72F8BEEC-3D8C-413E-AFED-8BD5A79EB608}"/>
    <dgm:cxn modelId="{59E8B6AD-80A9-4DD2-A8BE-DAA43B4C8ABE}" type="presOf" srcId="{B8790D64-CAFA-4A45-AAA6-57804031D40C}" destId="{EAFE3AF4-8917-4B96-92E1-52C70377E10A}" srcOrd="0" destOrd="3" presId="urn:microsoft.com/office/officeart/2005/8/layout/vList3"/>
    <dgm:cxn modelId="{12D345B2-31A5-4917-994D-0F5542ADA976}" type="presOf" srcId="{582D8749-5A3A-4E12-BC7E-7184F17BDA61}" destId="{DA455D62-E9E5-4BF6-8665-A1E90CD5F001}" srcOrd="0" destOrd="3" presId="urn:microsoft.com/office/officeart/2005/8/layout/vList3"/>
    <dgm:cxn modelId="{64AE9ABA-6483-46A5-A8F1-F16DB69F853B}" srcId="{A2C61298-8FF4-4656-9D3E-734C84E6F45E}" destId="{582D8749-5A3A-4E12-BC7E-7184F17BDA61}" srcOrd="2" destOrd="0" parTransId="{1C02C14E-2331-4E2F-B953-F27425EF277C}" sibTransId="{81EB96EF-9E13-4A7B-8FD3-2EBEA172DD4A}"/>
    <dgm:cxn modelId="{2782ACC0-2539-44F9-9C9C-FEF079C2A45B}" type="presOf" srcId="{A2C61298-8FF4-4656-9D3E-734C84E6F45E}" destId="{DA455D62-E9E5-4BF6-8665-A1E90CD5F001}" srcOrd="0" destOrd="0" presId="urn:microsoft.com/office/officeart/2005/8/layout/vList3"/>
    <dgm:cxn modelId="{6B3512C5-6B92-4C8E-BE5C-5B92D24E444E}" srcId="{A2C61298-8FF4-4656-9D3E-734C84E6F45E}" destId="{9A9E0B3E-CAC7-4972-98D0-C946E4CD7785}" srcOrd="0" destOrd="0" parTransId="{52F1BE4C-D6B7-4065-8286-1830F626E28E}" sibTransId="{1ACBFCC6-969F-49ED-9122-8834B70ADE4D}"/>
    <dgm:cxn modelId="{B7541BC6-5E87-4EF9-8D62-8A0B8BB1BFE7}" type="presOf" srcId="{6C964F40-001E-4F83-BA1C-11EC748B3535}" destId="{F7878378-E7ED-404B-85A2-CA2A97948F9D}" srcOrd="0" destOrd="2" presId="urn:microsoft.com/office/officeart/2005/8/layout/vList3"/>
    <dgm:cxn modelId="{0B9F90C8-7BFE-451C-BB64-D8980C292C23}" srcId="{39749647-8CB6-4B25-A28D-FD122BE7D238}" destId="{48A72853-088F-409D-B54A-E7C6A81020CF}" srcOrd="0" destOrd="0" parTransId="{15492468-4093-4CE4-BCB6-CE5ADB7789C1}" sibTransId="{0701AAC3-764F-4AA3-8963-C36D8602E52D}"/>
    <dgm:cxn modelId="{615A1FCB-84C2-4D2A-8EB3-FD53E802BBC4}" type="presOf" srcId="{43A91387-1F4B-4CFA-825A-B0607A24C9C3}" destId="{F7878378-E7ED-404B-85A2-CA2A97948F9D}" srcOrd="0" destOrd="4" presId="urn:microsoft.com/office/officeart/2005/8/layout/vList3"/>
    <dgm:cxn modelId="{CECE3CD4-B282-408B-97CA-D0CE4677F08A}" type="presOf" srcId="{9A9E0B3E-CAC7-4972-98D0-C946E4CD7785}" destId="{DA455D62-E9E5-4BF6-8665-A1E90CD5F001}" srcOrd="0" destOrd="1" presId="urn:microsoft.com/office/officeart/2005/8/layout/vList3"/>
    <dgm:cxn modelId="{795C35E3-D016-4863-B5AF-F743AF2DB5DC}" srcId="{42A571F3-FCD3-45D4-B538-618725EEEB62}" destId="{DEA463D2-D6C1-4CD5-8841-61F9FA8ABD32}" srcOrd="1" destOrd="0" parTransId="{CD8BCE1E-E4C1-403B-A5BD-31E435C812EE}" sibTransId="{5D73AA53-EE2D-443B-9110-016A4E8440EE}"/>
    <dgm:cxn modelId="{D7FB7DEE-2194-4B67-A515-E153DA97E1B0}" srcId="{42A571F3-FCD3-45D4-B538-618725EEEB62}" destId="{B8790D64-CAFA-4A45-AAA6-57804031D40C}" srcOrd="2" destOrd="0" parTransId="{3088D61B-C825-4BB3-AF9B-4C938AC0DF4F}" sibTransId="{44C3BFCF-7D61-4DA9-9C5C-16164023B6DE}"/>
    <dgm:cxn modelId="{59E91D93-71AE-4BFA-A2EA-AC092EFD027D}" type="presParOf" srcId="{6D66ACF5-D46B-47FE-82E6-4AC6618FE143}" destId="{D5D8107B-A697-43B8-A754-A750990BE28C}" srcOrd="0" destOrd="0" presId="urn:microsoft.com/office/officeart/2005/8/layout/vList3"/>
    <dgm:cxn modelId="{A2E7AC3F-7670-4FA1-9C05-2CB544048A67}" type="presParOf" srcId="{D5D8107B-A697-43B8-A754-A750990BE28C}" destId="{56FEE9C9-8B31-429E-B34F-4BB4CC05E015}" srcOrd="0" destOrd="0" presId="urn:microsoft.com/office/officeart/2005/8/layout/vList3"/>
    <dgm:cxn modelId="{5866AEAC-EE41-429D-B075-5E283F82FA86}" type="presParOf" srcId="{D5D8107B-A697-43B8-A754-A750990BE28C}" destId="{F7878378-E7ED-404B-85A2-CA2A97948F9D}" srcOrd="1" destOrd="0" presId="urn:microsoft.com/office/officeart/2005/8/layout/vList3"/>
    <dgm:cxn modelId="{A3BA4B36-1269-4C76-A783-D8013177FBD7}" type="presParOf" srcId="{6D66ACF5-D46B-47FE-82E6-4AC6618FE143}" destId="{2F50A503-2120-4ADC-BE71-38571C02A72D}" srcOrd="1" destOrd="0" presId="urn:microsoft.com/office/officeart/2005/8/layout/vList3"/>
    <dgm:cxn modelId="{6B56E36B-0CFC-41B3-94E6-F3F6B69381EA}" type="presParOf" srcId="{6D66ACF5-D46B-47FE-82E6-4AC6618FE143}" destId="{406567A2-2030-4E49-9CAE-BF97F3F4EF50}" srcOrd="2" destOrd="0" presId="urn:microsoft.com/office/officeart/2005/8/layout/vList3"/>
    <dgm:cxn modelId="{C20BBF5E-52C7-4228-B100-AD80AD375463}" type="presParOf" srcId="{406567A2-2030-4E49-9CAE-BF97F3F4EF50}" destId="{F133F5BC-0A55-486C-B2F8-466F331ABA29}" srcOrd="0" destOrd="0" presId="urn:microsoft.com/office/officeart/2005/8/layout/vList3"/>
    <dgm:cxn modelId="{A333F509-2D4C-4B3C-A0C0-9059ABB265AA}" type="presParOf" srcId="{406567A2-2030-4E49-9CAE-BF97F3F4EF50}" destId="{EAFE3AF4-8917-4B96-92E1-52C70377E10A}" srcOrd="1" destOrd="0" presId="urn:microsoft.com/office/officeart/2005/8/layout/vList3"/>
    <dgm:cxn modelId="{2B717CBC-DA56-4995-9595-860C26E21E75}" type="presParOf" srcId="{6D66ACF5-D46B-47FE-82E6-4AC6618FE143}" destId="{1A8C8B72-2A53-47BA-9B6C-4DDA94003527}" srcOrd="3" destOrd="0" presId="urn:microsoft.com/office/officeart/2005/8/layout/vList3"/>
    <dgm:cxn modelId="{34D01F0B-0C95-47D3-BC9D-4667B71E2185}" type="presParOf" srcId="{6D66ACF5-D46B-47FE-82E6-4AC6618FE143}" destId="{F01D9064-BA0A-4C89-8E2C-E8EB4AE5E175}" srcOrd="4" destOrd="0" presId="urn:microsoft.com/office/officeart/2005/8/layout/vList3"/>
    <dgm:cxn modelId="{46EFBA19-6984-4B6B-B3D1-E2A7B525894F}" type="presParOf" srcId="{F01D9064-BA0A-4C89-8E2C-E8EB4AE5E175}" destId="{2AF54C20-D3BF-4FF6-8DD5-667090053481}" srcOrd="0" destOrd="0" presId="urn:microsoft.com/office/officeart/2005/8/layout/vList3"/>
    <dgm:cxn modelId="{802A1690-12F0-469E-82A1-B44EE3018358}" type="presParOf" srcId="{F01D9064-BA0A-4C89-8E2C-E8EB4AE5E175}" destId="{DA455D62-E9E5-4BF6-8665-A1E90CD5F001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878378-E7ED-404B-85A2-CA2A97948F9D}">
      <dsp:nvSpPr>
        <dsp:cNvPr id="0" name=""/>
        <dsp:cNvSpPr/>
      </dsp:nvSpPr>
      <dsp:spPr>
        <a:xfrm rot="10800000">
          <a:off x="1383842" y="2556"/>
          <a:ext cx="4378147" cy="1125440"/>
        </a:xfrm>
        <a:prstGeom prst="homePlat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95787" tIns="114300" rIns="21336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Plant Size</a:t>
          </a:r>
        </a:p>
        <a:p>
          <a:pPr marL="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4.5 MMTPA</a:t>
          </a:r>
          <a:endParaRPr lang="en-US" sz="2300" b="1" kern="1200" baseline="300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 rot="10800000">
        <a:off x="1665202" y="2556"/>
        <a:ext cx="4096787" cy="1125440"/>
      </dsp:txXfrm>
    </dsp:sp>
    <dsp:sp modelId="{56FEE9C9-8B31-429E-B34F-4BB4CC05E015}">
      <dsp:nvSpPr>
        <dsp:cNvPr id="0" name=""/>
        <dsp:cNvSpPr/>
      </dsp:nvSpPr>
      <dsp:spPr>
        <a:xfrm>
          <a:off x="821690" y="3124"/>
          <a:ext cx="1124304" cy="1124304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 l="-39000" r="-39000"/>
          </a:stretch>
        </a:blip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EAFE3AF4-8917-4B96-92E1-52C70377E10A}">
      <dsp:nvSpPr>
        <dsp:cNvPr id="0" name=""/>
        <dsp:cNvSpPr/>
      </dsp:nvSpPr>
      <dsp:spPr>
        <a:xfrm rot="10800000">
          <a:off x="1383842" y="1463610"/>
          <a:ext cx="4378147" cy="1124304"/>
        </a:xfrm>
        <a:prstGeom prst="homePlate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95787" tIns="114300" rIns="21336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Location of Plant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Dalian, China</a:t>
          </a:r>
        </a:p>
      </dsp:txBody>
      <dsp:txXfrm rot="10800000">
        <a:off x="1664918" y="1463610"/>
        <a:ext cx="4097071" cy="1124304"/>
      </dsp:txXfrm>
    </dsp:sp>
    <dsp:sp modelId="{F133F5BC-0A55-486C-B2F8-466F331ABA29}">
      <dsp:nvSpPr>
        <dsp:cNvPr id="0" name=""/>
        <dsp:cNvSpPr/>
      </dsp:nvSpPr>
      <dsp:spPr>
        <a:xfrm>
          <a:off x="821690" y="1463610"/>
          <a:ext cx="1124304" cy="1124304"/>
        </a:xfrm>
        <a:prstGeom prst="ellipse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000" r="-1000"/>
          </a:stretch>
        </a:blip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DA455D62-E9E5-4BF6-8665-A1E90CD5F001}">
      <dsp:nvSpPr>
        <dsp:cNvPr id="0" name=""/>
        <dsp:cNvSpPr/>
      </dsp:nvSpPr>
      <dsp:spPr>
        <a:xfrm rot="10800000">
          <a:off x="1383842" y="2923528"/>
          <a:ext cx="4378147" cy="1463035"/>
        </a:xfrm>
        <a:prstGeom prst="homePlate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95787" tIns="91440" rIns="170688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Raw Materials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Methanol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Reformed Naphtha Feed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DTBB and TBB</a:t>
          </a:r>
        </a:p>
      </dsp:txBody>
      <dsp:txXfrm rot="10800000">
        <a:off x="1749601" y="2923528"/>
        <a:ext cx="4012388" cy="1463035"/>
      </dsp:txXfrm>
    </dsp:sp>
    <dsp:sp modelId="{2AF54C20-D3BF-4FF6-8DD5-667090053481}">
      <dsp:nvSpPr>
        <dsp:cNvPr id="0" name=""/>
        <dsp:cNvSpPr/>
      </dsp:nvSpPr>
      <dsp:spPr>
        <a:xfrm>
          <a:off x="821690" y="3092893"/>
          <a:ext cx="1124304" cy="1124304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75000" r="-75000"/>
          </a:stretch>
        </a:blip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878378-E7ED-404B-85A2-CA2A97948F9D}">
      <dsp:nvSpPr>
        <dsp:cNvPr id="0" name=""/>
        <dsp:cNvSpPr/>
      </dsp:nvSpPr>
      <dsp:spPr>
        <a:xfrm rot="10800000">
          <a:off x="1583072" y="2793"/>
          <a:ext cx="4864608" cy="1458169"/>
        </a:xfrm>
        <a:prstGeom prst="homePlat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1079" tIns="91440" rIns="170688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Methanol, DTBB &amp; TBB</a:t>
          </a:r>
        </a:p>
        <a:p>
          <a:pPr marL="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/>
            </a:rPr>
            <a:t>141</a:t>
          </a:r>
          <a:r>
            <a:rPr lang="en-US" sz="18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/>
            </a:rPr>
            <a:t> US tons</a:t>
          </a:r>
          <a:r>
            <a:rPr lang="en-US" sz="18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/hr MeOH</a:t>
          </a:r>
        </a:p>
        <a:p>
          <a:pPr marL="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/>
            </a:rPr>
            <a:t>335</a:t>
          </a:r>
          <a:r>
            <a:rPr lang="en-US" sz="18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‬ </a:t>
          </a:r>
          <a:r>
            <a:rPr lang="en-US" sz="18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/>
            </a:rPr>
            <a:t>lb</a:t>
          </a:r>
          <a:r>
            <a:rPr lang="en-US" sz="18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/hr of DTBB</a:t>
          </a:r>
        </a:p>
        <a:p>
          <a:pPr marL="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/>
            </a:rPr>
            <a:t> </a:t>
          </a:r>
          <a:r>
            <a:rPr lang="en-US" sz="1800" b="0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/>
            </a:rPr>
            <a:t>118</a:t>
          </a:r>
          <a:r>
            <a:rPr lang="en-US" sz="18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‬ </a:t>
          </a:r>
          <a:r>
            <a:rPr lang="en-US" sz="18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/>
            </a:rPr>
            <a:t>lb</a:t>
          </a:r>
          <a:r>
            <a:rPr lang="en-US" sz="18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/hr of TBB</a:t>
          </a:r>
          <a:r>
            <a:rPr lang="en-US" sz="18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/>
            </a:rPr>
            <a:t> </a:t>
          </a:r>
          <a:endParaRPr lang="en-US" sz="1800" b="1" kern="12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800" b="1" kern="12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 rot="10800000">
        <a:off x="1947614" y="2793"/>
        <a:ext cx="4500066" cy="1458169"/>
      </dsp:txXfrm>
    </dsp:sp>
    <dsp:sp modelId="{56FEE9C9-8B31-429E-B34F-4BB4CC05E015}">
      <dsp:nvSpPr>
        <dsp:cNvPr id="0" name=""/>
        <dsp:cNvSpPr/>
      </dsp:nvSpPr>
      <dsp:spPr>
        <a:xfrm>
          <a:off x="867519" y="16324"/>
          <a:ext cx="1431107" cy="1431107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5000" r="-5000"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FE3AF4-8917-4B96-92E1-52C70377E10A}">
      <dsp:nvSpPr>
        <dsp:cNvPr id="0" name=""/>
        <dsp:cNvSpPr/>
      </dsp:nvSpPr>
      <dsp:spPr>
        <a:xfrm rot="10800000">
          <a:off x="1583072" y="1888159"/>
          <a:ext cx="4864608" cy="1645916"/>
        </a:xfrm>
        <a:prstGeom prst="homePlate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1079" tIns="91440" rIns="170688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Reformed Naphtha Feed</a:t>
          </a: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/>
            </a:rPr>
            <a:t>1683</a:t>
          </a:r>
          <a:r>
            <a:rPr lang="en-US" sz="18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/>
            </a:rPr>
            <a:t> US tons</a:t>
          </a:r>
          <a:r>
            <a:rPr lang="en-US" sz="18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/hr</a:t>
          </a:r>
          <a:r>
            <a:rPr lang="en-US" sz="18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/>
            </a:rPr>
            <a:t> </a:t>
          </a:r>
          <a:endParaRPr lang="en-US" sz="1800" b="1" kern="12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27.8% T, 23.6% C9+, 15.2% MX, 10.1% B, 8.9% OX, 6.8% PX, 6.6% EB, and 1% C</a:t>
          </a:r>
          <a:r>
            <a:rPr lang="en-US" sz="1800" b="1" kern="1200" baseline="-25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3</a:t>
          </a:r>
          <a:r>
            <a:rPr lang="en-US" sz="18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H</a:t>
          </a:r>
          <a:r>
            <a:rPr lang="en-US" sz="1800" b="1" kern="1200" baseline="-25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8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500" b="1" kern="12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 rot="10800000">
        <a:off x="1994551" y="1888159"/>
        <a:ext cx="4453129" cy="1645916"/>
      </dsp:txXfrm>
    </dsp:sp>
    <dsp:sp modelId="{F133F5BC-0A55-486C-B2F8-466F331ABA29}">
      <dsp:nvSpPr>
        <dsp:cNvPr id="0" name=""/>
        <dsp:cNvSpPr/>
      </dsp:nvSpPr>
      <dsp:spPr>
        <a:xfrm>
          <a:off x="867519" y="1995563"/>
          <a:ext cx="1431107" cy="1431107"/>
        </a:xfrm>
        <a:prstGeom prst="ellipse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455D62-E9E5-4BF6-8665-A1E90CD5F001}">
      <dsp:nvSpPr>
        <dsp:cNvPr id="0" name=""/>
        <dsp:cNvSpPr/>
      </dsp:nvSpPr>
      <dsp:spPr>
        <a:xfrm rot="10800000">
          <a:off x="1583072" y="4088368"/>
          <a:ext cx="4864608" cy="1176914"/>
        </a:xfrm>
        <a:prstGeom prst="homePlate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1079" tIns="91440" rIns="170688" bIns="91440" numCol="1" spcCol="1270" anchor="t" anchorCtr="0">
          <a:noAutofit/>
        </a:bodyPr>
        <a:lstStyle/>
        <a:p>
          <a:pPr marL="117475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Paraxylene Product</a:t>
          </a:r>
        </a:p>
        <a:p>
          <a:pPr marL="117475" lvl="1" indent="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/>
            </a:rPr>
            <a:t>6.9</a:t>
          </a:r>
          <a:r>
            <a:rPr lang="en-US" sz="18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/>
            </a:rPr>
            <a:t> US tons</a:t>
          </a:r>
          <a:r>
            <a:rPr lang="en-US" sz="18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/hr </a:t>
          </a:r>
          <a:r>
            <a:rPr lang="en-US" sz="1600" b="0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(Methylation Process)</a:t>
          </a:r>
          <a:endParaRPr lang="en-US" sz="1800" b="0" kern="12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17475" lvl="1" indent="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99.5% PX and 0.5% T</a:t>
          </a:r>
        </a:p>
        <a:p>
          <a:pPr marL="228600" lvl="1" indent="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200" b="1" kern="12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 rot="10800000">
        <a:off x="1877300" y="4088368"/>
        <a:ext cx="4570380" cy="1176914"/>
      </dsp:txXfrm>
    </dsp:sp>
    <dsp:sp modelId="{2AF54C20-D3BF-4FF6-8DD5-667090053481}">
      <dsp:nvSpPr>
        <dsp:cNvPr id="0" name=""/>
        <dsp:cNvSpPr/>
      </dsp:nvSpPr>
      <dsp:spPr>
        <a:xfrm>
          <a:off x="867519" y="3961272"/>
          <a:ext cx="1431107" cy="1431107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9000" r="-9000"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49A5019-B212-44BD-8C99-BF611EF23A1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E090CE-351B-4AF6-A94B-4D7A1095F8D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91BED-9BC5-42F4-983C-4FACD1D2C91D}" type="datetimeFigureOut">
              <a:rPr lang="en-US" smtClean="0"/>
              <a:t>3/3/2020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93A400-F8DA-4D26-9330-454FBCB2FF7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E7EB36-22FD-4335-BCE3-88A29B565C7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EC1E4B-4978-4964-9530-B6F879351E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69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DF942F-F4A1-470C-B3D6-656E08600B58}" type="datetimeFigureOut">
              <a:rPr lang="en-US" smtClean="0"/>
              <a:t>3/3/2020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21B0BE-9BC6-4C24-8943-1DAAFB4E1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064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79A45-5987-4B58-A1D8-715999642D76}" type="datetime1">
              <a:rPr lang="en-US" smtClean="0"/>
              <a:t>3/3/2020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792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CA890-C3ED-41D7-991D-A87643A586BE}" type="datetime1">
              <a:rPr lang="en-US" smtClean="0"/>
              <a:t>3/3/2020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172996" y="6041362"/>
            <a:ext cx="683339" cy="365125"/>
          </a:xfrm>
        </p:spPr>
        <p:txBody>
          <a:bodyPr/>
          <a:lstStyle>
            <a:lvl1pPr>
              <a:defRPr sz="2400" b="1">
                <a:solidFill>
                  <a:schemeClr val="tx1"/>
                </a:solidFill>
              </a:defRPr>
            </a:lvl1pPr>
          </a:lstStyle>
          <a:p>
            <a:fld id="{34B7E4EF-A1BD-40F4-AB7B-04F084DD991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5140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574BF-F6FB-4008-82D7-B144BDD6274C}" type="datetime1">
              <a:rPr lang="en-US" smtClean="0"/>
              <a:t>3/3/2020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021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B4765-B754-485B-9EB3-28556A9FB847}" type="datetime1">
              <a:rPr lang="en-US" smtClean="0"/>
              <a:t>3/3/2020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632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FBB80-B88B-4FD0-9762-29A5BD94DE4E}" type="datetime1">
              <a:rPr lang="en-US" smtClean="0"/>
              <a:t>3/3/2020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326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70FC7-1FF0-41F1-8DEA-139726DC89D4}" type="datetime1">
              <a:rPr lang="en-US" smtClean="0"/>
              <a:t>3/3/2020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172996" y="6037622"/>
            <a:ext cx="683339" cy="365125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fld id="{34B7E4EF-A1BD-40F4-AB7B-04F084DD991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5663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22D40-26CB-4CA1-8413-E7D11FB41D05}" type="datetime1">
              <a:rPr lang="en-US" smtClean="0"/>
              <a:t>3/3/2020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72996" y="6041362"/>
            <a:ext cx="683339" cy="365125"/>
          </a:xfrm>
        </p:spPr>
        <p:txBody>
          <a:bodyPr/>
          <a:lstStyle>
            <a:lvl1pPr>
              <a:defRPr sz="2400" b="1">
                <a:solidFill>
                  <a:schemeClr val="tx1"/>
                </a:solidFill>
              </a:defRPr>
            </a:lvl1pPr>
          </a:lstStyle>
          <a:p>
            <a:fld id="{34B7E4EF-A1BD-40F4-AB7B-04F084DD991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5025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9E58B-34B3-4FE9-87B9-1B0211CE2B44}" type="datetime1">
              <a:rPr lang="en-US" smtClean="0"/>
              <a:t>3/3/2020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356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24AC6-F3FF-4B71-B79B-3BC50780D360}" type="datetime1">
              <a:rPr lang="en-US" smtClean="0"/>
              <a:t>3/3/2020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570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CE5CB-EBC1-42CB-BA08-63D0F3863BAA}" type="datetime1">
              <a:rPr lang="en-US" smtClean="0"/>
              <a:t>3/3/2020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423349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CE5CB-EBC1-42CB-BA08-63D0F3863BAA}" type="datetime1">
              <a:rPr lang="en-US" smtClean="0"/>
              <a:t>3/3/2020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13800244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CE5CB-EBC1-42CB-BA08-63D0F3863BAA}" type="datetime1">
              <a:rPr lang="en-US" smtClean="0"/>
              <a:t>3/3/2020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013221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CE5CB-EBC1-42CB-BA08-63D0F3863BAA}" type="datetime1">
              <a:rPr lang="en-US" smtClean="0"/>
              <a:t>3/3/2020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60325317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CE5CB-EBC1-42CB-BA08-63D0F3863BAA}" type="datetime1">
              <a:rPr lang="en-US" smtClean="0"/>
              <a:t>3/3/2020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907146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103FE-9341-4D52-B713-2A873D188B73}" type="datetime1">
              <a:rPr lang="en-US" smtClean="0"/>
              <a:t>3/3/2020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8731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22240-6C7B-473A-82CE-A48014D0709F}" type="datetime1">
              <a:rPr lang="en-US" smtClean="0"/>
              <a:t>3/3/2020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533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8F0F23-6F03-4770-A1C5-55D0E326F350}" type="datetime1">
              <a:rPr lang="en-US" smtClean="0"/>
              <a:t>3/3/2020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162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9.xml"/><Relationship Id="rId5" Type="http://schemas.openxmlformats.org/officeDocument/2006/relationships/slide" Target="slide18.xml"/><Relationship Id="rId4" Type="http://schemas.openxmlformats.org/officeDocument/2006/relationships/slide" Target="slide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reativecommons.org/licenses/by-sa/3.0/" TargetMode="External"/><Relationship Id="rId5" Type="http://schemas.openxmlformats.org/officeDocument/2006/relationships/hyperlink" Target="https://en.wikipedia.org/wiki/Fractionating_column" TargetMode="Externa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man, room, white&#10;&#10;Description automatically generated">
            <a:extLst>
              <a:ext uri="{FF2B5EF4-FFF2-40B4-BE49-F238E27FC236}">
                <a16:creationId xmlns:a16="http://schemas.microsoft.com/office/drawing/2014/main" id="{4A2CF0C4-9AA2-4AEC-9E88-0569F803B2F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785" r="19207" b="9092"/>
          <a:stretch/>
        </p:blipFill>
        <p:spPr>
          <a:xfrm>
            <a:off x="4269854" y="9426"/>
            <a:ext cx="7922146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D78A4D-76BD-4399-ADB0-7580A5F327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8867" y="1678666"/>
            <a:ext cx="4088190" cy="236909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/>
              <a:t>Para-xylene Production Through Methylation of Toluene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BA4085-4B29-436A-A31C-520E60997A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7335" y="4050831"/>
            <a:ext cx="4079721" cy="1096901"/>
          </a:xfrm>
        </p:spPr>
        <p:txBody>
          <a:bodyPr>
            <a:normAutofit/>
          </a:bodyPr>
          <a:lstStyle/>
          <a:p>
            <a:r>
              <a:rPr lang="en-US" sz="1600" b="1"/>
              <a:t>Mentor: </a:t>
            </a:r>
            <a:r>
              <a:rPr lang="en-US" sz="1600"/>
              <a:t>Adam </a:t>
            </a:r>
            <a:r>
              <a:rPr lang="en-US" sz="1600" err="1"/>
              <a:t>Brostow</a:t>
            </a:r>
            <a:endParaRPr lang="en-US" sz="1600"/>
          </a:p>
          <a:p>
            <a:r>
              <a:rPr lang="en-US" sz="1600" b="1"/>
              <a:t>Authored by: </a:t>
            </a:r>
            <a:r>
              <a:rPr lang="en-US" sz="1600"/>
              <a:t>Mahamat Abdraman, James Fell, Rongwei Lin, William Rawson</a:t>
            </a:r>
          </a:p>
          <a:p>
            <a:endParaRPr lang="en-US" sz="16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57C1A16-B8AB-4D99-A195-A38F556A6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8A9B20B-D1DD-4573-B5EC-558029519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23">
            <a:extLst>
              <a:ext uri="{FF2B5EF4-FFF2-40B4-BE49-F238E27FC236}">
                <a16:creationId xmlns:a16="http://schemas.microsoft.com/office/drawing/2014/main" id="{66D61E08-70C3-48D8-BEA0-787111DC3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Rectangle 25">
            <a:extLst>
              <a:ext uri="{FF2B5EF4-FFF2-40B4-BE49-F238E27FC236}">
                <a16:creationId xmlns:a16="http://schemas.microsoft.com/office/drawing/2014/main" id="{FC55298F-0AE5-478E-AD2B-03C2614C58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Isosceles Triangle 24">
            <a:extLst>
              <a:ext uri="{FF2B5EF4-FFF2-40B4-BE49-F238E27FC236}">
                <a16:creationId xmlns:a16="http://schemas.microsoft.com/office/drawing/2014/main" id="{C180E4EA-0B63-4779-A895-7E90E71088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55DB88-09BB-47D5-ABC4-ECC1CD221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0663" y="6041362"/>
            <a:ext cx="683339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4B7E4EF-A1BD-40F4-AB7B-04F084DD991D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21" name="Rectangle 27">
            <a:extLst>
              <a:ext uri="{FF2B5EF4-FFF2-40B4-BE49-F238E27FC236}">
                <a16:creationId xmlns:a16="http://schemas.microsoft.com/office/drawing/2014/main" id="{CEE01D9D-3DE8-4EED-B0D3-8F3C79CC7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Rectangle 28">
            <a:extLst>
              <a:ext uri="{FF2B5EF4-FFF2-40B4-BE49-F238E27FC236}">
                <a16:creationId xmlns:a16="http://schemas.microsoft.com/office/drawing/2014/main" id="{89AF5CE9-607F-43F4-8983-DCD6DA4051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5" name="Rectangle 29">
            <a:extLst>
              <a:ext uri="{FF2B5EF4-FFF2-40B4-BE49-F238E27FC236}">
                <a16:creationId xmlns:a16="http://schemas.microsoft.com/office/drawing/2014/main" id="{6EEA2DBD-9E1E-4521-8C01-F32AD18A89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7" name="Isosceles Triangle 29">
            <a:extLst>
              <a:ext uri="{FF2B5EF4-FFF2-40B4-BE49-F238E27FC236}">
                <a16:creationId xmlns:a16="http://schemas.microsoft.com/office/drawing/2014/main" id="{15BBD2C1-BA9B-46A9-A27A-33498B16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AB5C68-5963-4CC5-ACCA-6CDBBBC9AB9D}"/>
              </a:ext>
            </a:extLst>
          </p:cNvPr>
          <p:cNvSpPr/>
          <p:nvPr/>
        </p:nvSpPr>
        <p:spPr>
          <a:xfrm>
            <a:off x="9748986" y="6074847"/>
            <a:ext cx="16447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lang="en-US"/>
              <a:t>March 3, 2020</a:t>
            </a:r>
          </a:p>
        </p:txBody>
      </p:sp>
    </p:spTree>
    <p:extLst>
      <p:ext uri="{BB962C8B-B14F-4D97-AF65-F5344CB8AC3E}">
        <p14:creationId xmlns:p14="http://schemas.microsoft.com/office/powerpoint/2010/main" val="2977224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B28436A-6072-4880-8296-2FB08DE9E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0834" y="2061"/>
            <a:ext cx="9966960" cy="89785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80000"/>
              </a:lnSpc>
            </a:pPr>
            <a:r>
              <a:rPr lang="en-US" sz="4800" kern="1200" cap="all" baseline="0">
                <a:blipFill dpi="0" rotWithShape="1">
                  <a:blip r:embed="rId2"/>
                  <a:srcRect/>
                  <a:tile tx="6350" ty="-127000" sx="65000" sy="64000" flip="none" algn="tl"/>
                </a:blipFill>
                <a:latin typeface="+mj-lt"/>
                <a:ea typeface="+mj-ea"/>
                <a:cs typeface="+mj-cs"/>
              </a:rPr>
              <a:t>Introduction</a:t>
            </a:r>
          </a:p>
        </p:txBody>
      </p:sp>
      <p:sp>
        <p:nvSpPr>
          <p:cNvPr id="55" name="Content Placeholder 4">
            <a:extLst>
              <a:ext uri="{FF2B5EF4-FFF2-40B4-BE49-F238E27FC236}">
                <a16:creationId xmlns:a16="http://schemas.microsoft.com/office/drawing/2014/main" id="{0E9279E8-0DE1-4C21-956C-85992C64BF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826" y="4377260"/>
            <a:ext cx="3869185" cy="60200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800" b="1">
                <a:solidFill>
                  <a:schemeClr val="accent1"/>
                </a:solidFill>
              </a:rPr>
              <a:t>What industry is para-xylene produced?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92020C-370F-4A0B-AC6E-1F7537440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3755" y="6272784"/>
            <a:ext cx="640080" cy="3657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4B7E4EF-A1BD-40F4-AB7B-04F084DD991D}" type="slidenum">
              <a:rPr lang="en-US" sz="1600"/>
              <a:pPr>
                <a:spcAft>
                  <a:spcPts val="600"/>
                </a:spcAft>
              </a:pPr>
              <a:t>2</a:t>
            </a:fld>
            <a:endParaRPr lang="en-US" sz="16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834BF8-92E6-4961-8F97-134BBE51D1A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61688" y="1111288"/>
            <a:ext cx="3300984" cy="2943623"/>
          </a:xfrm>
          <a:custGeom>
            <a:avLst/>
            <a:gdLst/>
            <a:ahLst/>
            <a:cxnLst/>
            <a:rect l="l" t="t" r="r" b="b"/>
            <a:pathLst>
              <a:path w="3300984" h="3300984">
                <a:moveTo>
                  <a:pt x="1650492" y="185680"/>
                </a:moveTo>
                <a:cubicBezTo>
                  <a:pt x="2459485" y="185680"/>
                  <a:pt x="3115304" y="841499"/>
                  <a:pt x="3115304" y="1650492"/>
                </a:cubicBezTo>
                <a:cubicBezTo>
                  <a:pt x="3115304" y="2459485"/>
                  <a:pt x="2459485" y="3115304"/>
                  <a:pt x="1650492" y="3115304"/>
                </a:cubicBezTo>
                <a:cubicBezTo>
                  <a:pt x="841499" y="3115304"/>
                  <a:pt x="185680" y="2459485"/>
                  <a:pt x="185680" y="1650492"/>
                </a:cubicBezTo>
                <a:cubicBezTo>
                  <a:pt x="185680" y="841499"/>
                  <a:pt x="841499" y="185680"/>
                  <a:pt x="1650492" y="185680"/>
                </a:cubicBezTo>
                <a:close/>
                <a:moveTo>
                  <a:pt x="1650492" y="144418"/>
                </a:moveTo>
                <a:cubicBezTo>
                  <a:pt x="818711" y="144418"/>
                  <a:pt x="144418" y="818711"/>
                  <a:pt x="144418" y="1650492"/>
                </a:cubicBezTo>
                <a:cubicBezTo>
                  <a:pt x="144418" y="2482274"/>
                  <a:pt x="818711" y="3156566"/>
                  <a:pt x="1650492" y="3156566"/>
                </a:cubicBezTo>
                <a:cubicBezTo>
                  <a:pt x="2482274" y="3156566"/>
                  <a:pt x="3156566" y="2482274"/>
                  <a:pt x="3156566" y="1650492"/>
                </a:cubicBezTo>
                <a:cubicBezTo>
                  <a:pt x="3156566" y="818711"/>
                  <a:pt x="2482274" y="144418"/>
                  <a:pt x="1650492" y="144418"/>
                </a:cubicBezTo>
                <a:close/>
                <a:moveTo>
                  <a:pt x="1650492" y="0"/>
                </a:moveTo>
                <a:cubicBezTo>
                  <a:pt x="2562034" y="0"/>
                  <a:pt x="3300984" y="738950"/>
                  <a:pt x="3300984" y="1650492"/>
                </a:cubicBezTo>
                <a:cubicBezTo>
                  <a:pt x="3300984" y="2562034"/>
                  <a:pt x="2562034" y="3300984"/>
                  <a:pt x="1650492" y="3300984"/>
                </a:cubicBezTo>
                <a:cubicBezTo>
                  <a:pt x="738950" y="3300984"/>
                  <a:pt x="0" y="2562034"/>
                  <a:pt x="0" y="1650492"/>
                </a:cubicBezTo>
                <a:cubicBezTo>
                  <a:pt x="0" y="738950"/>
                  <a:pt x="738950" y="0"/>
                  <a:pt x="1650492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  <a:effectLst>
            <a:glow rad="127000">
              <a:schemeClr val="accent2"/>
            </a:glow>
          </a:effectLst>
        </p:spPr>
      </p:pic>
      <p:pic>
        <p:nvPicPr>
          <p:cNvPr id="1026" name="Picture 2" descr="#">
            <a:extLst>
              <a:ext uri="{FF2B5EF4-FFF2-40B4-BE49-F238E27FC236}">
                <a16:creationId xmlns:a16="http://schemas.microsoft.com/office/drawing/2014/main" id="{1DA8D75A-A5DE-497B-9050-079B15AA7C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92" r="3306" b="-3"/>
          <a:stretch/>
        </p:blipFill>
        <p:spPr bwMode="auto">
          <a:xfrm>
            <a:off x="8174613" y="840171"/>
            <a:ext cx="3300984" cy="3300984"/>
          </a:xfrm>
          <a:custGeom>
            <a:avLst/>
            <a:gdLst/>
            <a:ahLst/>
            <a:cxnLst/>
            <a:rect l="l" t="t" r="r" b="b"/>
            <a:pathLst>
              <a:path w="3300984" h="3300984">
                <a:moveTo>
                  <a:pt x="1650492" y="185680"/>
                </a:moveTo>
                <a:cubicBezTo>
                  <a:pt x="2459485" y="185680"/>
                  <a:pt x="3115304" y="841499"/>
                  <a:pt x="3115304" y="1650492"/>
                </a:cubicBezTo>
                <a:cubicBezTo>
                  <a:pt x="3115304" y="2459485"/>
                  <a:pt x="2459485" y="3115304"/>
                  <a:pt x="1650492" y="3115304"/>
                </a:cubicBezTo>
                <a:cubicBezTo>
                  <a:pt x="841499" y="3115304"/>
                  <a:pt x="185681" y="2459485"/>
                  <a:pt x="185681" y="1650492"/>
                </a:cubicBezTo>
                <a:cubicBezTo>
                  <a:pt x="185681" y="841499"/>
                  <a:pt x="841499" y="185680"/>
                  <a:pt x="1650492" y="185680"/>
                </a:cubicBezTo>
                <a:close/>
                <a:moveTo>
                  <a:pt x="1650492" y="144418"/>
                </a:moveTo>
                <a:cubicBezTo>
                  <a:pt x="818711" y="144418"/>
                  <a:pt x="144418" y="818711"/>
                  <a:pt x="144418" y="1650492"/>
                </a:cubicBezTo>
                <a:cubicBezTo>
                  <a:pt x="144418" y="2482274"/>
                  <a:pt x="818711" y="3156566"/>
                  <a:pt x="1650492" y="3156566"/>
                </a:cubicBezTo>
                <a:cubicBezTo>
                  <a:pt x="2482274" y="3156566"/>
                  <a:pt x="3156566" y="2482274"/>
                  <a:pt x="3156566" y="1650492"/>
                </a:cubicBezTo>
                <a:cubicBezTo>
                  <a:pt x="3156566" y="818711"/>
                  <a:pt x="2482274" y="144418"/>
                  <a:pt x="1650492" y="144418"/>
                </a:cubicBezTo>
                <a:close/>
                <a:moveTo>
                  <a:pt x="1650492" y="0"/>
                </a:moveTo>
                <a:cubicBezTo>
                  <a:pt x="2562034" y="0"/>
                  <a:pt x="3300984" y="738950"/>
                  <a:pt x="3300984" y="1650492"/>
                </a:cubicBezTo>
                <a:cubicBezTo>
                  <a:pt x="3300984" y="2562034"/>
                  <a:pt x="2562034" y="3300984"/>
                  <a:pt x="1650492" y="3300984"/>
                </a:cubicBezTo>
                <a:cubicBezTo>
                  <a:pt x="738951" y="3300984"/>
                  <a:pt x="0" y="2562034"/>
                  <a:pt x="0" y="1650492"/>
                </a:cubicBezTo>
                <a:cubicBezTo>
                  <a:pt x="0" y="738950"/>
                  <a:pt x="738951" y="0"/>
                  <a:pt x="1650492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4051EEC-C975-49DD-9FCF-105E74970A8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9972" r="13778"/>
          <a:stretch/>
        </p:blipFill>
        <p:spPr>
          <a:xfrm>
            <a:off x="766641" y="842135"/>
            <a:ext cx="3300984" cy="3300984"/>
          </a:xfrm>
          <a:custGeom>
            <a:avLst/>
            <a:gdLst/>
            <a:ahLst/>
            <a:cxnLst/>
            <a:rect l="l" t="t" r="r" b="b"/>
            <a:pathLst>
              <a:path w="3300984" h="3300984">
                <a:moveTo>
                  <a:pt x="1650492" y="185680"/>
                </a:moveTo>
                <a:cubicBezTo>
                  <a:pt x="2459485" y="185680"/>
                  <a:pt x="3115304" y="841499"/>
                  <a:pt x="3115304" y="1650492"/>
                </a:cubicBezTo>
                <a:cubicBezTo>
                  <a:pt x="3115304" y="2459485"/>
                  <a:pt x="2459485" y="3115304"/>
                  <a:pt x="1650492" y="3115304"/>
                </a:cubicBezTo>
                <a:cubicBezTo>
                  <a:pt x="841499" y="3115304"/>
                  <a:pt x="185681" y="2459485"/>
                  <a:pt x="185681" y="1650492"/>
                </a:cubicBezTo>
                <a:cubicBezTo>
                  <a:pt x="185681" y="841499"/>
                  <a:pt x="841499" y="185680"/>
                  <a:pt x="1650492" y="185680"/>
                </a:cubicBezTo>
                <a:close/>
                <a:moveTo>
                  <a:pt x="1650492" y="144418"/>
                </a:moveTo>
                <a:cubicBezTo>
                  <a:pt x="818711" y="144418"/>
                  <a:pt x="144418" y="818711"/>
                  <a:pt x="144418" y="1650492"/>
                </a:cubicBezTo>
                <a:cubicBezTo>
                  <a:pt x="144418" y="2482274"/>
                  <a:pt x="818711" y="3156566"/>
                  <a:pt x="1650492" y="3156566"/>
                </a:cubicBezTo>
                <a:cubicBezTo>
                  <a:pt x="2482274" y="3156566"/>
                  <a:pt x="3156566" y="2482274"/>
                  <a:pt x="3156566" y="1650492"/>
                </a:cubicBezTo>
                <a:cubicBezTo>
                  <a:pt x="3156566" y="818711"/>
                  <a:pt x="2482274" y="144418"/>
                  <a:pt x="1650492" y="144418"/>
                </a:cubicBezTo>
                <a:close/>
                <a:moveTo>
                  <a:pt x="1650492" y="0"/>
                </a:moveTo>
                <a:cubicBezTo>
                  <a:pt x="2562034" y="0"/>
                  <a:pt x="3300984" y="738950"/>
                  <a:pt x="3300984" y="1650492"/>
                </a:cubicBezTo>
                <a:cubicBezTo>
                  <a:pt x="3300984" y="2562034"/>
                  <a:pt x="2562034" y="3300984"/>
                  <a:pt x="1650492" y="3300984"/>
                </a:cubicBezTo>
                <a:cubicBezTo>
                  <a:pt x="738950" y="3300984"/>
                  <a:pt x="0" y="2562034"/>
                  <a:pt x="0" y="1650492"/>
                </a:cubicBezTo>
                <a:cubicBezTo>
                  <a:pt x="0" y="738950"/>
                  <a:pt x="738950" y="0"/>
                  <a:pt x="1650492" y="0"/>
                </a:cubicBezTo>
                <a:close/>
              </a:path>
            </a:pathLst>
          </a:cu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341B420-7175-46F3-B01E-875354C4C56B}"/>
              </a:ext>
            </a:extLst>
          </p:cNvPr>
          <p:cNvSpPr txBox="1"/>
          <p:nvPr/>
        </p:nvSpPr>
        <p:spPr>
          <a:xfrm>
            <a:off x="290826" y="5145457"/>
            <a:ext cx="95594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accent1"/>
                </a:solidFill>
              </a:rPr>
              <a:t>Para-xylene is used as a building block in the manufacture of chemicals sought after in the plastic industry, such as terephthalic acid (TPA), purified terephthalic acid (PTA), and dimethyl-terephthalate (DMT).</a:t>
            </a:r>
            <a:endParaRPr lang="en-US">
              <a:solidFill>
                <a:schemeClr val="accent1"/>
              </a:solidFill>
            </a:endParaRP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E66FE35-608D-44F7-BD2B-6EE8DF36019F}"/>
              </a:ext>
            </a:extLst>
          </p:cNvPr>
          <p:cNvCxnSpPr/>
          <p:nvPr/>
        </p:nvCxnSpPr>
        <p:spPr>
          <a:xfrm>
            <a:off x="4148359" y="4554165"/>
            <a:ext cx="3195961" cy="0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Content Placeholder 4">
            <a:extLst>
              <a:ext uri="{FF2B5EF4-FFF2-40B4-BE49-F238E27FC236}">
                <a16:creationId xmlns:a16="http://schemas.microsoft.com/office/drawing/2014/main" id="{D0FD64B1-294F-47A6-8D24-580A5DEB995A}"/>
              </a:ext>
            </a:extLst>
          </p:cNvPr>
          <p:cNvSpPr txBox="1">
            <a:spLocks/>
          </p:cNvSpPr>
          <p:nvPr/>
        </p:nvSpPr>
        <p:spPr>
          <a:xfrm>
            <a:off x="7761294" y="4377260"/>
            <a:ext cx="2656643" cy="61003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182880" indent="-182880" algn="l" defTabSz="914400" rtl="0" eaLnBrk="1" latinLnBrk="0" hangingPunct="1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>
                <a:solidFill>
                  <a:schemeClr val="accent1"/>
                </a:solidFill>
              </a:rPr>
              <a:t>Petrochemical Industry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56CB3A-2E3E-48E6-9761-13E899DA8F56}"/>
              </a:ext>
            </a:extLst>
          </p:cNvPr>
          <p:cNvSpPr txBox="1"/>
          <p:nvPr/>
        </p:nvSpPr>
        <p:spPr>
          <a:xfrm>
            <a:off x="3256919" y="3879545"/>
            <a:ext cx="7729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/>
              <a:t>[1]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4225BC-6AE9-4211-BACC-BC7DB8A9C882}"/>
              </a:ext>
            </a:extLst>
          </p:cNvPr>
          <p:cNvSpPr txBox="1"/>
          <p:nvPr/>
        </p:nvSpPr>
        <p:spPr>
          <a:xfrm>
            <a:off x="7000670" y="3881509"/>
            <a:ext cx="7729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/>
              <a:t>[2]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09FFE0-D3C7-4E03-9B52-8A510F1442D2}"/>
              </a:ext>
            </a:extLst>
          </p:cNvPr>
          <p:cNvSpPr txBox="1"/>
          <p:nvPr/>
        </p:nvSpPr>
        <p:spPr>
          <a:xfrm>
            <a:off x="10697876" y="3879545"/>
            <a:ext cx="7729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/>
              <a:t>[3]</a:t>
            </a:r>
          </a:p>
        </p:txBody>
      </p:sp>
    </p:spTree>
    <p:extLst>
      <p:ext uri="{BB962C8B-B14F-4D97-AF65-F5344CB8AC3E}">
        <p14:creationId xmlns:p14="http://schemas.microsoft.com/office/powerpoint/2010/main" val="1717766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E66BCCD-27A9-4B31-9879-F5D6E401B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DESIGN BASIS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DE7F104-143C-41AF-B907-DC98AECD5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3</a:t>
            </a:fld>
            <a:endParaRPr lang="en-US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DEA729D-416D-4C35-BBD9-0122C299513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00490710"/>
              </p:ext>
            </p:extLst>
          </p:nvPr>
        </p:nvGraphicFramePr>
        <p:xfrm>
          <a:off x="-80336" y="1957523"/>
          <a:ext cx="6583680" cy="4389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F24593BF-ED46-4CBC-9E08-2E31F0EFB22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34271684"/>
              </p:ext>
            </p:extLst>
          </p:nvPr>
        </p:nvGraphicFramePr>
        <p:xfrm>
          <a:off x="5158196" y="731413"/>
          <a:ext cx="7315200" cy="53951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A5004AD-E424-4A63-86A0-E2D82E12E287}"/>
              </a:ext>
            </a:extLst>
          </p:cNvPr>
          <p:cNvSpPr txBox="1"/>
          <p:nvPr/>
        </p:nvSpPr>
        <p:spPr>
          <a:xfrm>
            <a:off x="5442992" y="6527630"/>
            <a:ext cx="39872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[4], [5], [6]</a:t>
            </a:r>
          </a:p>
        </p:txBody>
      </p:sp>
    </p:spTree>
    <p:extLst>
      <p:ext uri="{BB962C8B-B14F-4D97-AF65-F5344CB8AC3E}">
        <p14:creationId xmlns:p14="http://schemas.microsoft.com/office/powerpoint/2010/main" val="318410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28755C74-07B9-4187-B50D-338431FF7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0098" y="251705"/>
            <a:ext cx="8596668" cy="1320800"/>
          </a:xfrm>
        </p:spPr>
        <p:txBody>
          <a:bodyPr/>
          <a:lstStyle/>
          <a:p>
            <a:pPr algn="ctr"/>
            <a:r>
              <a:rPr lang="en-US"/>
              <a:t>BFD with MATERIAL BALANCE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885B49E-8B0F-4FCF-9BCF-D624510F7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4</a:t>
            </a:fld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C32F34A-9911-4EE8-9C0E-96339BC728E2}"/>
              </a:ext>
            </a:extLst>
          </p:cNvPr>
          <p:cNvSpPr txBox="1"/>
          <p:nvPr/>
        </p:nvSpPr>
        <p:spPr>
          <a:xfrm>
            <a:off x="1023657" y="1612650"/>
            <a:ext cx="15951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Methanol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A60588C-7E63-4933-964B-FD22D88C0C6C}"/>
              </a:ext>
            </a:extLst>
          </p:cNvPr>
          <p:cNvSpPr txBox="1"/>
          <p:nvPr/>
        </p:nvSpPr>
        <p:spPr>
          <a:xfrm>
            <a:off x="726031" y="966716"/>
            <a:ext cx="728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S1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B1BA63FA-5EA0-4A77-89EB-E009209FF4A1}"/>
              </a:ext>
            </a:extLst>
          </p:cNvPr>
          <p:cNvCxnSpPr>
            <a:cxnSpLocks/>
          </p:cNvCxnSpPr>
          <p:nvPr/>
        </p:nvCxnSpPr>
        <p:spPr>
          <a:xfrm>
            <a:off x="857394" y="1299243"/>
            <a:ext cx="171747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39A25EFC-C955-4564-94AC-568CBE7AD1E8}"/>
              </a:ext>
            </a:extLst>
          </p:cNvPr>
          <p:cNvCxnSpPr>
            <a:cxnSpLocks/>
          </p:cNvCxnSpPr>
          <p:nvPr/>
        </p:nvCxnSpPr>
        <p:spPr>
          <a:xfrm>
            <a:off x="849005" y="1943143"/>
            <a:ext cx="171747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53B80533-47DA-4CF5-8F11-2C4AE5C2136D}"/>
              </a:ext>
            </a:extLst>
          </p:cNvPr>
          <p:cNvCxnSpPr>
            <a:cxnSpLocks/>
            <a:endCxn id="87" idx="1"/>
          </p:cNvCxnSpPr>
          <p:nvPr/>
        </p:nvCxnSpPr>
        <p:spPr>
          <a:xfrm>
            <a:off x="4306484" y="1609029"/>
            <a:ext cx="2088453" cy="385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F689C9F7-D916-4D3D-A43F-4B63CDFFEC15}"/>
              </a:ext>
            </a:extLst>
          </p:cNvPr>
          <p:cNvCxnSpPr>
            <a:cxnSpLocks/>
            <a:stCxn id="87" idx="3"/>
            <a:endCxn id="117" idx="1"/>
          </p:cNvCxnSpPr>
          <p:nvPr/>
        </p:nvCxnSpPr>
        <p:spPr>
          <a:xfrm flipV="1">
            <a:off x="6613699" y="1597437"/>
            <a:ext cx="1622488" cy="154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7" name="Rectangle 116">
            <a:extLst>
              <a:ext uri="{FF2B5EF4-FFF2-40B4-BE49-F238E27FC236}">
                <a16:creationId xmlns:a16="http://schemas.microsoft.com/office/drawing/2014/main" id="{9BBCD3CD-7DC8-478D-8B01-0AEEDBDDBC3B}"/>
              </a:ext>
            </a:extLst>
          </p:cNvPr>
          <p:cNvSpPr/>
          <p:nvPr/>
        </p:nvSpPr>
        <p:spPr>
          <a:xfrm>
            <a:off x="8236187" y="1266795"/>
            <a:ext cx="1203280" cy="66128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b="1">
              <a:solidFill>
                <a:srgbClr val="FF0000"/>
              </a:solidFill>
            </a:endParaRPr>
          </a:p>
          <a:p>
            <a:pPr algn="ctr"/>
            <a:r>
              <a:rPr lang="en-US" sz="1400" b="1">
                <a:solidFill>
                  <a:schemeClr val="tx1"/>
                </a:solidFill>
              </a:rPr>
              <a:t>Alkylation Reactor</a:t>
            </a:r>
          </a:p>
          <a:p>
            <a:pPr algn="ctr"/>
            <a:endParaRPr lang="en-US"/>
          </a:p>
        </p:txBody>
      </p:sp>
      <p:cxnSp>
        <p:nvCxnSpPr>
          <p:cNvPr id="126" name="Connector: Elbow 125">
            <a:extLst>
              <a:ext uri="{FF2B5EF4-FFF2-40B4-BE49-F238E27FC236}">
                <a16:creationId xmlns:a16="http://schemas.microsoft.com/office/drawing/2014/main" id="{826E9D7E-6071-4A81-B642-FDDEA09488A1}"/>
              </a:ext>
            </a:extLst>
          </p:cNvPr>
          <p:cNvCxnSpPr>
            <a:cxnSpLocks/>
          </p:cNvCxnSpPr>
          <p:nvPr/>
        </p:nvCxnSpPr>
        <p:spPr>
          <a:xfrm flipH="1">
            <a:off x="1809545" y="1548737"/>
            <a:ext cx="7676033" cy="2842266"/>
          </a:xfrm>
          <a:prstGeom prst="bentConnector5">
            <a:avLst>
              <a:gd name="adj1" fmla="val -15318"/>
              <a:gd name="adj2" fmla="val 50224"/>
              <a:gd name="adj3" fmla="val 117886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3" name="Connector: Elbow 172">
            <a:extLst>
              <a:ext uri="{FF2B5EF4-FFF2-40B4-BE49-F238E27FC236}">
                <a16:creationId xmlns:a16="http://schemas.microsoft.com/office/drawing/2014/main" id="{B3834DF6-D216-4A14-B7EB-B98BFC7DF0B3}"/>
              </a:ext>
            </a:extLst>
          </p:cNvPr>
          <p:cNvCxnSpPr>
            <a:cxnSpLocks/>
          </p:cNvCxnSpPr>
          <p:nvPr/>
        </p:nvCxnSpPr>
        <p:spPr>
          <a:xfrm flipV="1">
            <a:off x="2099453" y="3533056"/>
            <a:ext cx="1374371" cy="570808"/>
          </a:xfrm>
          <a:prstGeom prst="bentConnector3">
            <a:avLst>
              <a:gd name="adj1" fmla="val -403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8" name="Rectangle 177">
            <a:extLst>
              <a:ext uri="{FF2B5EF4-FFF2-40B4-BE49-F238E27FC236}">
                <a16:creationId xmlns:a16="http://schemas.microsoft.com/office/drawing/2014/main" id="{DEE4774E-CEAF-41E4-B751-2C4B2E10CC93}"/>
              </a:ext>
            </a:extLst>
          </p:cNvPr>
          <p:cNvSpPr/>
          <p:nvPr/>
        </p:nvSpPr>
        <p:spPr>
          <a:xfrm>
            <a:off x="1763434" y="4121816"/>
            <a:ext cx="1054148" cy="63577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Decanting Vessel</a:t>
            </a: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ED580465-AA9B-42B6-899F-A2991CE15CF0}"/>
              </a:ext>
            </a:extLst>
          </p:cNvPr>
          <p:cNvSpPr/>
          <p:nvPr/>
        </p:nvSpPr>
        <p:spPr>
          <a:xfrm>
            <a:off x="3473824" y="3182686"/>
            <a:ext cx="1225868" cy="635774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Methanol Column</a:t>
            </a:r>
          </a:p>
        </p:txBody>
      </p:sp>
      <p:cxnSp>
        <p:nvCxnSpPr>
          <p:cNvPr id="180" name="Straight Arrow Connector 179">
            <a:extLst>
              <a:ext uri="{FF2B5EF4-FFF2-40B4-BE49-F238E27FC236}">
                <a16:creationId xmlns:a16="http://schemas.microsoft.com/office/drawing/2014/main" id="{19535E21-A516-4587-A38A-5719D634A8CA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4699692" y="3518745"/>
            <a:ext cx="1708148" cy="746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4" name="Connector: Elbow 183">
            <a:extLst>
              <a:ext uri="{FF2B5EF4-FFF2-40B4-BE49-F238E27FC236}">
                <a16:creationId xmlns:a16="http://schemas.microsoft.com/office/drawing/2014/main" id="{BB4CF966-2922-40FC-8430-98CBA8601BD1}"/>
              </a:ext>
            </a:extLst>
          </p:cNvPr>
          <p:cNvCxnSpPr>
            <a:cxnSpLocks/>
          </p:cNvCxnSpPr>
          <p:nvPr/>
        </p:nvCxnSpPr>
        <p:spPr>
          <a:xfrm>
            <a:off x="2093144" y="4756569"/>
            <a:ext cx="1519992" cy="887322"/>
          </a:xfrm>
          <a:prstGeom prst="bentConnector3">
            <a:avLst>
              <a:gd name="adj1" fmla="val 415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7" name="Rectangle 196">
            <a:extLst>
              <a:ext uri="{FF2B5EF4-FFF2-40B4-BE49-F238E27FC236}">
                <a16:creationId xmlns:a16="http://schemas.microsoft.com/office/drawing/2014/main" id="{4845A0B2-D1B3-438D-B970-F69E405A14AA}"/>
              </a:ext>
            </a:extLst>
          </p:cNvPr>
          <p:cNvSpPr/>
          <p:nvPr/>
        </p:nvSpPr>
        <p:spPr>
          <a:xfrm>
            <a:off x="5893504" y="5314163"/>
            <a:ext cx="1225868" cy="635774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Toluene Column</a:t>
            </a:r>
          </a:p>
        </p:txBody>
      </p:sp>
      <p:cxnSp>
        <p:nvCxnSpPr>
          <p:cNvPr id="199" name="Straight Arrow Connector 198">
            <a:extLst>
              <a:ext uri="{FF2B5EF4-FFF2-40B4-BE49-F238E27FC236}">
                <a16:creationId xmlns:a16="http://schemas.microsoft.com/office/drawing/2014/main" id="{DEEB4E60-62A5-47EF-87E2-1A6B38EF5990}"/>
              </a:ext>
            </a:extLst>
          </p:cNvPr>
          <p:cNvCxnSpPr>
            <a:cxnSpLocks/>
          </p:cNvCxnSpPr>
          <p:nvPr/>
        </p:nvCxnSpPr>
        <p:spPr>
          <a:xfrm>
            <a:off x="4832570" y="5643891"/>
            <a:ext cx="106093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0" name="Rectangle 199">
            <a:extLst>
              <a:ext uri="{FF2B5EF4-FFF2-40B4-BE49-F238E27FC236}">
                <a16:creationId xmlns:a16="http://schemas.microsoft.com/office/drawing/2014/main" id="{DC2E6486-F9CA-4E61-A7B9-5C8B999CC425}"/>
              </a:ext>
            </a:extLst>
          </p:cNvPr>
          <p:cNvSpPr/>
          <p:nvPr/>
        </p:nvSpPr>
        <p:spPr>
          <a:xfrm>
            <a:off x="3606702" y="5336579"/>
            <a:ext cx="1225868" cy="635774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Benzene Column</a:t>
            </a:r>
          </a:p>
        </p:txBody>
      </p:sp>
      <p:cxnSp>
        <p:nvCxnSpPr>
          <p:cNvPr id="201" name="Connector: Elbow 200">
            <a:extLst>
              <a:ext uri="{FF2B5EF4-FFF2-40B4-BE49-F238E27FC236}">
                <a16:creationId xmlns:a16="http://schemas.microsoft.com/office/drawing/2014/main" id="{B86039F3-C748-4C8F-83E4-A50091197D1B}"/>
              </a:ext>
            </a:extLst>
          </p:cNvPr>
          <p:cNvCxnSpPr>
            <a:cxnSpLocks/>
            <a:stCxn id="203" idx="0"/>
          </p:cNvCxnSpPr>
          <p:nvPr/>
        </p:nvCxnSpPr>
        <p:spPr>
          <a:xfrm rot="5400000" flipH="1" flipV="1">
            <a:off x="8673213" y="4315130"/>
            <a:ext cx="747735" cy="520548"/>
          </a:xfrm>
          <a:prstGeom prst="bentConnector3">
            <a:avLst>
              <a:gd name="adj1" fmla="val 101991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3" name="Rectangle 202">
            <a:extLst>
              <a:ext uri="{FF2B5EF4-FFF2-40B4-BE49-F238E27FC236}">
                <a16:creationId xmlns:a16="http://schemas.microsoft.com/office/drawing/2014/main" id="{0BEB0139-F487-4C83-B716-6DA14DDFBE08}"/>
              </a:ext>
            </a:extLst>
          </p:cNvPr>
          <p:cNvSpPr/>
          <p:nvPr/>
        </p:nvSpPr>
        <p:spPr>
          <a:xfrm>
            <a:off x="8173872" y="4949271"/>
            <a:ext cx="1225868" cy="935637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Reactive Distillation</a:t>
            </a:r>
          </a:p>
        </p:txBody>
      </p:sp>
      <p:cxnSp>
        <p:nvCxnSpPr>
          <p:cNvPr id="204" name="Straight Arrow Connector 203">
            <a:extLst>
              <a:ext uri="{FF2B5EF4-FFF2-40B4-BE49-F238E27FC236}">
                <a16:creationId xmlns:a16="http://schemas.microsoft.com/office/drawing/2014/main" id="{2B71D144-4C4F-4982-8FC8-927A6571C641}"/>
              </a:ext>
            </a:extLst>
          </p:cNvPr>
          <p:cNvCxnSpPr>
            <a:cxnSpLocks/>
          </p:cNvCxnSpPr>
          <p:nvPr/>
        </p:nvCxnSpPr>
        <p:spPr>
          <a:xfrm>
            <a:off x="7136636" y="5693010"/>
            <a:ext cx="106093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4" name="Rectangle 213">
            <a:extLst>
              <a:ext uri="{FF2B5EF4-FFF2-40B4-BE49-F238E27FC236}">
                <a16:creationId xmlns:a16="http://schemas.microsoft.com/office/drawing/2014/main" id="{02228FE4-67D1-4B79-BDA5-6E76476825DC}"/>
              </a:ext>
            </a:extLst>
          </p:cNvPr>
          <p:cNvSpPr/>
          <p:nvPr/>
        </p:nvSpPr>
        <p:spPr>
          <a:xfrm>
            <a:off x="9292037" y="3748427"/>
            <a:ext cx="1225868" cy="635774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 PX Column</a:t>
            </a:r>
          </a:p>
        </p:txBody>
      </p:sp>
      <p:cxnSp>
        <p:nvCxnSpPr>
          <p:cNvPr id="222" name="Straight Arrow Connector 221">
            <a:extLst>
              <a:ext uri="{FF2B5EF4-FFF2-40B4-BE49-F238E27FC236}">
                <a16:creationId xmlns:a16="http://schemas.microsoft.com/office/drawing/2014/main" id="{BDD4F7CD-FAF4-4CD9-9DF4-1B3ED90E528D}"/>
              </a:ext>
            </a:extLst>
          </p:cNvPr>
          <p:cNvCxnSpPr>
            <a:cxnSpLocks/>
          </p:cNvCxnSpPr>
          <p:nvPr/>
        </p:nvCxnSpPr>
        <p:spPr>
          <a:xfrm>
            <a:off x="6613699" y="5101725"/>
            <a:ext cx="1566607" cy="144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27" name="Connector: Elbow 226">
            <a:extLst>
              <a:ext uri="{FF2B5EF4-FFF2-40B4-BE49-F238E27FC236}">
                <a16:creationId xmlns:a16="http://schemas.microsoft.com/office/drawing/2014/main" id="{7F1DADF1-6E89-40FB-8F50-A776CC70C9FF}"/>
              </a:ext>
            </a:extLst>
          </p:cNvPr>
          <p:cNvCxnSpPr>
            <a:cxnSpLocks/>
          </p:cNvCxnSpPr>
          <p:nvPr/>
        </p:nvCxnSpPr>
        <p:spPr>
          <a:xfrm rot="10800000" flipV="1">
            <a:off x="3317430" y="3827258"/>
            <a:ext cx="847265" cy="407829"/>
          </a:xfrm>
          <a:prstGeom prst="bentConnector3">
            <a:avLst>
              <a:gd name="adj1" fmla="val -1018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2" name="Connector: Elbow 241">
            <a:extLst>
              <a:ext uri="{FF2B5EF4-FFF2-40B4-BE49-F238E27FC236}">
                <a16:creationId xmlns:a16="http://schemas.microsoft.com/office/drawing/2014/main" id="{5B5F939E-6B41-4A80-A470-7D185E7CC478}"/>
              </a:ext>
            </a:extLst>
          </p:cNvPr>
          <p:cNvCxnSpPr>
            <a:cxnSpLocks/>
          </p:cNvCxnSpPr>
          <p:nvPr/>
        </p:nvCxnSpPr>
        <p:spPr>
          <a:xfrm flipV="1">
            <a:off x="4184830" y="4885991"/>
            <a:ext cx="819217" cy="444618"/>
          </a:xfrm>
          <a:prstGeom prst="bentConnector3">
            <a:avLst>
              <a:gd name="adj1" fmla="val 1294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8" name="TextBox 247">
            <a:extLst>
              <a:ext uri="{FF2B5EF4-FFF2-40B4-BE49-F238E27FC236}">
                <a16:creationId xmlns:a16="http://schemas.microsoft.com/office/drawing/2014/main" id="{2B8618C5-A814-4991-B941-C8D06F480186}"/>
              </a:ext>
            </a:extLst>
          </p:cNvPr>
          <p:cNvSpPr txBox="1"/>
          <p:nvPr/>
        </p:nvSpPr>
        <p:spPr>
          <a:xfrm>
            <a:off x="4121217" y="4584909"/>
            <a:ext cx="15951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Output Benzene </a:t>
            </a:r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C630E1A8-852A-4688-A094-1694C9EEE39F}"/>
              </a:ext>
            </a:extLst>
          </p:cNvPr>
          <p:cNvSpPr txBox="1"/>
          <p:nvPr/>
        </p:nvSpPr>
        <p:spPr>
          <a:xfrm>
            <a:off x="2778181" y="3936108"/>
            <a:ext cx="15951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Output Water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417AEC1C-CF8E-480C-AEA8-EDF19C1B5697}"/>
              </a:ext>
            </a:extLst>
          </p:cNvPr>
          <p:cNvSpPr txBox="1"/>
          <p:nvPr/>
        </p:nvSpPr>
        <p:spPr>
          <a:xfrm>
            <a:off x="6324602" y="3760527"/>
            <a:ext cx="13279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Toluene</a:t>
            </a:r>
          </a:p>
          <a:p>
            <a:pPr algn="ctr"/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(to recycle) </a:t>
            </a:r>
          </a:p>
        </p:txBody>
      </p:sp>
      <p:cxnSp>
        <p:nvCxnSpPr>
          <p:cNvPr id="251" name="Straight Arrow Connector 250">
            <a:extLst>
              <a:ext uri="{FF2B5EF4-FFF2-40B4-BE49-F238E27FC236}">
                <a16:creationId xmlns:a16="http://schemas.microsoft.com/office/drawing/2014/main" id="{5095D2FB-A005-4EF4-910F-94F309FDF103}"/>
              </a:ext>
            </a:extLst>
          </p:cNvPr>
          <p:cNvCxnSpPr>
            <a:cxnSpLocks/>
            <a:endCxn id="7" idx="2"/>
          </p:cNvCxnSpPr>
          <p:nvPr/>
        </p:nvCxnSpPr>
        <p:spPr>
          <a:xfrm flipH="1" flipV="1">
            <a:off x="6517221" y="3638896"/>
            <a:ext cx="5792" cy="165880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5" name="TextBox 264">
            <a:extLst>
              <a:ext uri="{FF2B5EF4-FFF2-40B4-BE49-F238E27FC236}">
                <a16:creationId xmlns:a16="http://schemas.microsoft.com/office/drawing/2014/main" id="{62193213-C2E0-4136-AB84-EED47383148C}"/>
              </a:ext>
            </a:extLst>
          </p:cNvPr>
          <p:cNvSpPr txBox="1"/>
          <p:nvPr/>
        </p:nvSpPr>
        <p:spPr>
          <a:xfrm>
            <a:off x="6205592" y="2127633"/>
            <a:ext cx="13279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Methanol</a:t>
            </a:r>
          </a:p>
          <a:p>
            <a:pPr algn="ctr"/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Toluene </a:t>
            </a:r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DC9B85D3-9C53-4E22-BF0D-C283235156AA}"/>
              </a:ext>
            </a:extLst>
          </p:cNvPr>
          <p:cNvSpPr txBox="1"/>
          <p:nvPr/>
        </p:nvSpPr>
        <p:spPr>
          <a:xfrm>
            <a:off x="6788293" y="4593715"/>
            <a:ext cx="18341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Solvent(DTBB,TBB)</a:t>
            </a:r>
          </a:p>
          <a:p>
            <a:pPr algn="ctr"/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12357 kg/h</a:t>
            </a:r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2B5889B2-D1B0-49FB-9B25-EE26CC05BABD}"/>
              </a:ext>
            </a:extLst>
          </p:cNvPr>
          <p:cNvSpPr txBox="1"/>
          <p:nvPr/>
        </p:nvSpPr>
        <p:spPr>
          <a:xfrm>
            <a:off x="7160936" y="5208492"/>
            <a:ext cx="13279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Output xylenes </a:t>
            </a:r>
          </a:p>
        </p:txBody>
      </p:sp>
      <p:cxnSp>
        <p:nvCxnSpPr>
          <p:cNvPr id="280" name="Connector: Elbow 279">
            <a:extLst>
              <a:ext uri="{FF2B5EF4-FFF2-40B4-BE49-F238E27FC236}">
                <a16:creationId xmlns:a16="http://schemas.microsoft.com/office/drawing/2014/main" id="{07BBAEF7-7B16-4380-8B54-B5252F252FE6}"/>
              </a:ext>
            </a:extLst>
          </p:cNvPr>
          <p:cNvCxnSpPr>
            <a:cxnSpLocks/>
            <a:stCxn id="214" idx="0"/>
          </p:cNvCxnSpPr>
          <p:nvPr/>
        </p:nvCxnSpPr>
        <p:spPr>
          <a:xfrm rot="5400000" flipH="1" flipV="1">
            <a:off x="10132650" y="3144894"/>
            <a:ext cx="375854" cy="831213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0" name="Connector: Elbow 289">
            <a:extLst>
              <a:ext uri="{FF2B5EF4-FFF2-40B4-BE49-F238E27FC236}">
                <a16:creationId xmlns:a16="http://schemas.microsoft.com/office/drawing/2014/main" id="{698001AC-C58D-4854-B3DF-43DE85992584}"/>
              </a:ext>
            </a:extLst>
          </p:cNvPr>
          <p:cNvCxnSpPr>
            <a:cxnSpLocks/>
          </p:cNvCxnSpPr>
          <p:nvPr/>
        </p:nvCxnSpPr>
        <p:spPr>
          <a:xfrm>
            <a:off x="9904970" y="4404585"/>
            <a:ext cx="839566" cy="433736"/>
          </a:xfrm>
          <a:prstGeom prst="bentConnector3">
            <a:avLst>
              <a:gd name="adj1" fmla="val -166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99" name="TextBox 298">
            <a:extLst>
              <a:ext uri="{FF2B5EF4-FFF2-40B4-BE49-F238E27FC236}">
                <a16:creationId xmlns:a16="http://schemas.microsoft.com/office/drawing/2014/main" id="{78EF7F76-6EAC-4F8F-A214-BA13C1937728}"/>
              </a:ext>
            </a:extLst>
          </p:cNvPr>
          <p:cNvSpPr txBox="1"/>
          <p:nvPr/>
        </p:nvSpPr>
        <p:spPr>
          <a:xfrm>
            <a:off x="9597594" y="3120739"/>
            <a:ext cx="13279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OX, Benzene </a:t>
            </a:r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A8959406-5D79-4FE0-B9E0-B0D8368B20F0}"/>
              </a:ext>
            </a:extLst>
          </p:cNvPr>
          <p:cNvSpPr txBox="1"/>
          <p:nvPr/>
        </p:nvSpPr>
        <p:spPr>
          <a:xfrm>
            <a:off x="9863945" y="4516388"/>
            <a:ext cx="1129241" cy="306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PX product</a:t>
            </a:r>
          </a:p>
        </p:txBody>
      </p:sp>
      <p:cxnSp>
        <p:nvCxnSpPr>
          <p:cNvPr id="308" name="Connector: Elbow 307">
            <a:extLst>
              <a:ext uri="{FF2B5EF4-FFF2-40B4-BE49-F238E27FC236}">
                <a16:creationId xmlns:a16="http://schemas.microsoft.com/office/drawing/2014/main" id="{A8B7B2AF-05E1-409D-897A-3B53C1B59CBF}"/>
              </a:ext>
            </a:extLst>
          </p:cNvPr>
          <p:cNvCxnSpPr>
            <a:cxnSpLocks/>
            <a:stCxn id="203" idx="2"/>
          </p:cNvCxnSpPr>
          <p:nvPr/>
        </p:nvCxnSpPr>
        <p:spPr>
          <a:xfrm rot="16200000" flipH="1">
            <a:off x="8994857" y="5676857"/>
            <a:ext cx="430978" cy="847080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11" name="TextBox 310">
            <a:extLst>
              <a:ext uri="{FF2B5EF4-FFF2-40B4-BE49-F238E27FC236}">
                <a16:creationId xmlns:a16="http://schemas.microsoft.com/office/drawing/2014/main" id="{42342882-B93E-4A6B-BA34-84C4BD31EACD}"/>
              </a:ext>
            </a:extLst>
          </p:cNvPr>
          <p:cNvSpPr txBox="1"/>
          <p:nvPr/>
        </p:nvSpPr>
        <p:spPr>
          <a:xfrm>
            <a:off x="1019389" y="1979925"/>
            <a:ext cx="15951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128169 kg/h </a:t>
            </a:r>
          </a:p>
        </p:txBody>
      </p:sp>
      <p:sp>
        <p:nvSpPr>
          <p:cNvPr id="313" name="TextBox 312">
            <a:extLst>
              <a:ext uri="{FF2B5EF4-FFF2-40B4-BE49-F238E27FC236}">
                <a16:creationId xmlns:a16="http://schemas.microsoft.com/office/drawing/2014/main" id="{360C97B4-65D7-40CF-8A31-3D02D50B608D}"/>
              </a:ext>
            </a:extLst>
          </p:cNvPr>
          <p:cNvSpPr txBox="1"/>
          <p:nvPr/>
        </p:nvSpPr>
        <p:spPr>
          <a:xfrm>
            <a:off x="1046948" y="1281895"/>
            <a:ext cx="15951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419047 kg/h </a:t>
            </a:r>
          </a:p>
        </p:txBody>
      </p:sp>
      <p:sp>
        <p:nvSpPr>
          <p:cNvPr id="314" name="TextBox 313">
            <a:extLst>
              <a:ext uri="{FF2B5EF4-FFF2-40B4-BE49-F238E27FC236}">
                <a16:creationId xmlns:a16="http://schemas.microsoft.com/office/drawing/2014/main" id="{6BFD9BEA-19FD-4BB4-93A1-D02F8E4721B8}"/>
              </a:ext>
            </a:extLst>
          </p:cNvPr>
          <p:cNvSpPr txBox="1"/>
          <p:nvPr/>
        </p:nvSpPr>
        <p:spPr>
          <a:xfrm>
            <a:off x="6193751" y="2580071"/>
            <a:ext cx="15951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125447 kg/h </a:t>
            </a:r>
          </a:p>
        </p:txBody>
      </p:sp>
      <p:sp>
        <p:nvSpPr>
          <p:cNvPr id="348" name="TextBox 347">
            <a:extLst>
              <a:ext uri="{FF2B5EF4-FFF2-40B4-BE49-F238E27FC236}">
                <a16:creationId xmlns:a16="http://schemas.microsoft.com/office/drawing/2014/main" id="{F913AF86-DD47-4284-AD9A-1B702A882064}"/>
              </a:ext>
            </a:extLst>
          </p:cNvPr>
          <p:cNvSpPr txBox="1"/>
          <p:nvPr/>
        </p:nvSpPr>
        <p:spPr>
          <a:xfrm>
            <a:off x="6893737" y="1671484"/>
            <a:ext cx="15951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672664 kg/h </a:t>
            </a:r>
          </a:p>
        </p:txBody>
      </p:sp>
      <p:sp>
        <p:nvSpPr>
          <p:cNvPr id="349" name="TextBox 348">
            <a:extLst>
              <a:ext uri="{FF2B5EF4-FFF2-40B4-BE49-F238E27FC236}">
                <a16:creationId xmlns:a16="http://schemas.microsoft.com/office/drawing/2014/main" id="{FBD6DDA5-89AC-432D-A2C2-080571AB2D5B}"/>
              </a:ext>
            </a:extLst>
          </p:cNvPr>
          <p:cNvSpPr txBox="1"/>
          <p:nvPr/>
        </p:nvSpPr>
        <p:spPr>
          <a:xfrm>
            <a:off x="9299654" y="1551605"/>
            <a:ext cx="15951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672664 kg/h </a:t>
            </a:r>
          </a:p>
        </p:txBody>
      </p:sp>
      <p:sp>
        <p:nvSpPr>
          <p:cNvPr id="350" name="TextBox 349">
            <a:extLst>
              <a:ext uri="{FF2B5EF4-FFF2-40B4-BE49-F238E27FC236}">
                <a16:creationId xmlns:a16="http://schemas.microsoft.com/office/drawing/2014/main" id="{06A1214F-EC10-4C28-869B-68556783929C}"/>
              </a:ext>
            </a:extLst>
          </p:cNvPr>
          <p:cNvSpPr txBox="1"/>
          <p:nvPr/>
        </p:nvSpPr>
        <p:spPr>
          <a:xfrm>
            <a:off x="504450" y="4426935"/>
            <a:ext cx="1184243" cy="305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672664 kg/h </a:t>
            </a:r>
          </a:p>
        </p:txBody>
      </p:sp>
      <p:sp>
        <p:nvSpPr>
          <p:cNvPr id="351" name="TextBox 350">
            <a:extLst>
              <a:ext uri="{FF2B5EF4-FFF2-40B4-BE49-F238E27FC236}">
                <a16:creationId xmlns:a16="http://schemas.microsoft.com/office/drawing/2014/main" id="{40E5AD3D-5DA8-4900-B5BF-D057ADBA33C8}"/>
              </a:ext>
            </a:extLst>
          </p:cNvPr>
          <p:cNvSpPr txBox="1"/>
          <p:nvPr/>
        </p:nvSpPr>
        <p:spPr>
          <a:xfrm>
            <a:off x="2285979" y="5691702"/>
            <a:ext cx="15951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597982 kg/h </a:t>
            </a:r>
          </a:p>
        </p:txBody>
      </p:sp>
      <p:sp>
        <p:nvSpPr>
          <p:cNvPr id="352" name="TextBox 351">
            <a:extLst>
              <a:ext uri="{FF2B5EF4-FFF2-40B4-BE49-F238E27FC236}">
                <a16:creationId xmlns:a16="http://schemas.microsoft.com/office/drawing/2014/main" id="{704F0DAB-FC7F-426D-9536-5BCA152E9149}"/>
              </a:ext>
            </a:extLst>
          </p:cNvPr>
          <p:cNvSpPr txBox="1"/>
          <p:nvPr/>
        </p:nvSpPr>
        <p:spPr>
          <a:xfrm>
            <a:off x="1947799" y="3508125"/>
            <a:ext cx="15951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74682 kg/h </a:t>
            </a:r>
          </a:p>
        </p:txBody>
      </p:sp>
      <p:sp>
        <p:nvSpPr>
          <p:cNvPr id="353" name="TextBox 352">
            <a:extLst>
              <a:ext uri="{FF2B5EF4-FFF2-40B4-BE49-F238E27FC236}">
                <a16:creationId xmlns:a16="http://schemas.microsoft.com/office/drawing/2014/main" id="{BDF3A3EE-8CC8-4F46-B547-2F2F17947A5E}"/>
              </a:ext>
            </a:extLst>
          </p:cNvPr>
          <p:cNvSpPr txBox="1"/>
          <p:nvPr/>
        </p:nvSpPr>
        <p:spPr>
          <a:xfrm>
            <a:off x="2924346" y="4284084"/>
            <a:ext cx="15951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72091 kg/h </a:t>
            </a:r>
          </a:p>
        </p:txBody>
      </p:sp>
      <p:sp>
        <p:nvSpPr>
          <p:cNvPr id="354" name="TextBox 353">
            <a:extLst>
              <a:ext uri="{FF2B5EF4-FFF2-40B4-BE49-F238E27FC236}">
                <a16:creationId xmlns:a16="http://schemas.microsoft.com/office/drawing/2014/main" id="{A56ED1DC-1F1F-4D3A-ADDF-5664EB4F08BC}"/>
              </a:ext>
            </a:extLst>
          </p:cNvPr>
          <p:cNvSpPr txBox="1"/>
          <p:nvPr/>
        </p:nvSpPr>
        <p:spPr>
          <a:xfrm>
            <a:off x="4957066" y="3549133"/>
            <a:ext cx="15951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2590 kg/h </a:t>
            </a:r>
          </a:p>
        </p:txBody>
      </p:sp>
      <p:sp>
        <p:nvSpPr>
          <p:cNvPr id="355" name="TextBox 354">
            <a:extLst>
              <a:ext uri="{FF2B5EF4-FFF2-40B4-BE49-F238E27FC236}">
                <a16:creationId xmlns:a16="http://schemas.microsoft.com/office/drawing/2014/main" id="{2218BE18-B4B2-4800-B825-10A6DA7762A3}"/>
              </a:ext>
            </a:extLst>
          </p:cNvPr>
          <p:cNvSpPr txBox="1"/>
          <p:nvPr/>
        </p:nvSpPr>
        <p:spPr>
          <a:xfrm>
            <a:off x="6205592" y="4245755"/>
            <a:ext cx="15951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122857 kg/h </a:t>
            </a:r>
          </a:p>
        </p:txBody>
      </p:sp>
      <p:sp>
        <p:nvSpPr>
          <p:cNvPr id="356" name="TextBox 355">
            <a:extLst>
              <a:ext uri="{FF2B5EF4-FFF2-40B4-BE49-F238E27FC236}">
                <a16:creationId xmlns:a16="http://schemas.microsoft.com/office/drawing/2014/main" id="{437E2001-055A-4BDC-BB93-02BB61D121E0}"/>
              </a:ext>
            </a:extLst>
          </p:cNvPr>
          <p:cNvSpPr txBox="1"/>
          <p:nvPr/>
        </p:nvSpPr>
        <p:spPr>
          <a:xfrm>
            <a:off x="4059992" y="4899173"/>
            <a:ext cx="15951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6224 kg/h </a:t>
            </a:r>
          </a:p>
        </p:txBody>
      </p:sp>
      <p:sp>
        <p:nvSpPr>
          <p:cNvPr id="357" name="TextBox 356">
            <a:extLst>
              <a:ext uri="{FF2B5EF4-FFF2-40B4-BE49-F238E27FC236}">
                <a16:creationId xmlns:a16="http://schemas.microsoft.com/office/drawing/2014/main" id="{F0BA9263-33CF-48FE-B0C3-211C9CC10C03}"/>
              </a:ext>
            </a:extLst>
          </p:cNvPr>
          <p:cNvSpPr txBox="1"/>
          <p:nvPr/>
        </p:nvSpPr>
        <p:spPr>
          <a:xfrm>
            <a:off x="4610482" y="5631691"/>
            <a:ext cx="15951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591757 kg/h </a:t>
            </a:r>
          </a:p>
        </p:txBody>
      </p:sp>
      <p:sp>
        <p:nvSpPr>
          <p:cNvPr id="358" name="TextBox 357">
            <a:extLst>
              <a:ext uri="{FF2B5EF4-FFF2-40B4-BE49-F238E27FC236}">
                <a16:creationId xmlns:a16="http://schemas.microsoft.com/office/drawing/2014/main" id="{352635DF-1E70-42C7-84FA-E08418C2A1D1}"/>
              </a:ext>
            </a:extLst>
          </p:cNvPr>
          <p:cNvSpPr txBox="1"/>
          <p:nvPr/>
        </p:nvSpPr>
        <p:spPr>
          <a:xfrm>
            <a:off x="6826292" y="5738432"/>
            <a:ext cx="15951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468900 kg/h </a:t>
            </a:r>
          </a:p>
        </p:txBody>
      </p:sp>
      <p:sp>
        <p:nvSpPr>
          <p:cNvPr id="359" name="TextBox 358">
            <a:extLst>
              <a:ext uri="{FF2B5EF4-FFF2-40B4-BE49-F238E27FC236}">
                <a16:creationId xmlns:a16="http://schemas.microsoft.com/office/drawing/2014/main" id="{57828BAF-5598-4C5D-800D-5AC7FCA7844B}"/>
              </a:ext>
            </a:extLst>
          </p:cNvPr>
          <p:cNvSpPr txBox="1"/>
          <p:nvPr/>
        </p:nvSpPr>
        <p:spPr>
          <a:xfrm>
            <a:off x="8343317" y="6354916"/>
            <a:ext cx="15951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16090 kg/h </a:t>
            </a:r>
          </a:p>
        </p:txBody>
      </p:sp>
      <p:sp>
        <p:nvSpPr>
          <p:cNvPr id="360" name="TextBox 359">
            <a:extLst>
              <a:ext uri="{FF2B5EF4-FFF2-40B4-BE49-F238E27FC236}">
                <a16:creationId xmlns:a16="http://schemas.microsoft.com/office/drawing/2014/main" id="{0E848DDD-8EC1-4187-84FC-214416A6CC3E}"/>
              </a:ext>
            </a:extLst>
          </p:cNvPr>
          <p:cNvSpPr txBox="1"/>
          <p:nvPr/>
        </p:nvSpPr>
        <p:spPr>
          <a:xfrm>
            <a:off x="8002827" y="3892829"/>
            <a:ext cx="15951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465167kg/h </a:t>
            </a:r>
          </a:p>
        </p:txBody>
      </p:sp>
      <p:sp>
        <p:nvSpPr>
          <p:cNvPr id="361" name="TextBox 360">
            <a:extLst>
              <a:ext uri="{FF2B5EF4-FFF2-40B4-BE49-F238E27FC236}">
                <a16:creationId xmlns:a16="http://schemas.microsoft.com/office/drawing/2014/main" id="{8C8F20A2-99F5-4EA2-916C-CC6017C3A9B4}"/>
              </a:ext>
            </a:extLst>
          </p:cNvPr>
          <p:cNvSpPr txBox="1"/>
          <p:nvPr/>
        </p:nvSpPr>
        <p:spPr>
          <a:xfrm>
            <a:off x="9495904" y="4827474"/>
            <a:ext cx="15951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375973 kg/h </a:t>
            </a:r>
          </a:p>
        </p:txBody>
      </p:sp>
      <p:sp>
        <p:nvSpPr>
          <p:cNvPr id="362" name="TextBox 361">
            <a:extLst>
              <a:ext uri="{FF2B5EF4-FFF2-40B4-BE49-F238E27FC236}">
                <a16:creationId xmlns:a16="http://schemas.microsoft.com/office/drawing/2014/main" id="{0FBB3B67-A5EC-4B5C-BBDE-04EFC21DC3A6}"/>
              </a:ext>
            </a:extLst>
          </p:cNvPr>
          <p:cNvSpPr txBox="1"/>
          <p:nvPr/>
        </p:nvSpPr>
        <p:spPr>
          <a:xfrm>
            <a:off x="9597937" y="3403218"/>
            <a:ext cx="15951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89591 kg/h </a:t>
            </a:r>
          </a:p>
        </p:txBody>
      </p:sp>
      <p:sp>
        <p:nvSpPr>
          <p:cNvPr id="373" name="TextBox 372">
            <a:extLst>
              <a:ext uri="{FF2B5EF4-FFF2-40B4-BE49-F238E27FC236}">
                <a16:creationId xmlns:a16="http://schemas.microsoft.com/office/drawing/2014/main" id="{0F91BA05-02AC-4DEF-8F35-48E0FB543B50}"/>
              </a:ext>
            </a:extLst>
          </p:cNvPr>
          <p:cNvSpPr txBox="1"/>
          <p:nvPr/>
        </p:nvSpPr>
        <p:spPr>
          <a:xfrm>
            <a:off x="143616" y="5108300"/>
            <a:ext cx="2553350" cy="2031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M[=] methanol</a:t>
            </a:r>
          </a:p>
          <a:p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W[=] water</a:t>
            </a:r>
          </a:p>
          <a:p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BT[=]benzene, toluene</a:t>
            </a:r>
          </a:p>
          <a:p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X[=] xylenes</a:t>
            </a:r>
          </a:p>
          <a:p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DTBB[=]di-tert-butylbenzene</a:t>
            </a:r>
          </a:p>
          <a:p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TBB[=]tert-butylbenzene</a:t>
            </a:r>
          </a:p>
          <a:p>
            <a:r>
              <a:rPr lang="en-US" sz="1400" b="1">
                <a:latin typeface="Times New Roman"/>
                <a:cs typeface="Times New Roman"/>
              </a:rPr>
              <a:t>TBMX[=]tert-butyl m-xylene</a:t>
            </a:r>
            <a:endParaRPr lang="en-US" sz="1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6" name="TextBox 375">
            <a:extLst>
              <a:ext uri="{FF2B5EF4-FFF2-40B4-BE49-F238E27FC236}">
                <a16:creationId xmlns:a16="http://schemas.microsoft.com/office/drawing/2014/main" id="{FB9730F2-3D62-4033-8506-92ABC46E7953}"/>
              </a:ext>
            </a:extLst>
          </p:cNvPr>
          <p:cNvSpPr txBox="1"/>
          <p:nvPr/>
        </p:nvSpPr>
        <p:spPr>
          <a:xfrm>
            <a:off x="9857272" y="858310"/>
            <a:ext cx="728704" cy="762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M</a:t>
            </a:r>
          </a:p>
          <a:p>
            <a:pPr algn="ctr"/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</a:p>
          <a:p>
            <a:pPr algn="ctr"/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BTX</a:t>
            </a:r>
          </a:p>
        </p:txBody>
      </p:sp>
      <p:sp>
        <p:nvSpPr>
          <p:cNvPr id="377" name="TextBox 376">
            <a:extLst>
              <a:ext uri="{FF2B5EF4-FFF2-40B4-BE49-F238E27FC236}">
                <a16:creationId xmlns:a16="http://schemas.microsoft.com/office/drawing/2014/main" id="{10360467-EFC9-4486-8D3B-F9BE92B9882F}"/>
              </a:ext>
            </a:extLst>
          </p:cNvPr>
          <p:cNvSpPr txBox="1"/>
          <p:nvPr/>
        </p:nvSpPr>
        <p:spPr>
          <a:xfrm>
            <a:off x="800583" y="3675539"/>
            <a:ext cx="728704" cy="762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M</a:t>
            </a:r>
          </a:p>
          <a:p>
            <a:pPr algn="ctr"/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</a:p>
          <a:p>
            <a:pPr algn="ctr"/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BTX</a:t>
            </a:r>
          </a:p>
        </p:txBody>
      </p:sp>
      <p:sp>
        <p:nvSpPr>
          <p:cNvPr id="378" name="TextBox 377">
            <a:extLst>
              <a:ext uri="{FF2B5EF4-FFF2-40B4-BE49-F238E27FC236}">
                <a16:creationId xmlns:a16="http://schemas.microsoft.com/office/drawing/2014/main" id="{18D00C6F-0667-4015-A204-C1EE2745D1A7}"/>
              </a:ext>
            </a:extLst>
          </p:cNvPr>
          <p:cNvSpPr txBox="1"/>
          <p:nvPr/>
        </p:nvSpPr>
        <p:spPr>
          <a:xfrm>
            <a:off x="5051976" y="5097451"/>
            <a:ext cx="9427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Toluene</a:t>
            </a:r>
          </a:p>
          <a:p>
            <a:pPr algn="ctr"/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Xylenes</a:t>
            </a:r>
          </a:p>
        </p:txBody>
      </p:sp>
      <p:sp>
        <p:nvSpPr>
          <p:cNvPr id="379" name="TextBox 378">
            <a:extLst>
              <a:ext uri="{FF2B5EF4-FFF2-40B4-BE49-F238E27FC236}">
                <a16:creationId xmlns:a16="http://schemas.microsoft.com/office/drawing/2014/main" id="{2E2E7C45-5B0E-429B-A505-CBFAB03641E1}"/>
              </a:ext>
            </a:extLst>
          </p:cNvPr>
          <p:cNvSpPr txBox="1"/>
          <p:nvPr/>
        </p:nvSpPr>
        <p:spPr>
          <a:xfrm>
            <a:off x="2309300" y="3044003"/>
            <a:ext cx="7287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M</a:t>
            </a:r>
          </a:p>
          <a:p>
            <a:pPr algn="ctr"/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</a:p>
        </p:txBody>
      </p:sp>
      <p:sp>
        <p:nvSpPr>
          <p:cNvPr id="380" name="TextBox 379">
            <a:extLst>
              <a:ext uri="{FF2B5EF4-FFF2-40B4-BE49-F238E27FC236}">
                <a16:creationId xmlns:a16="http://schemas.microsoft.com/office/drawing/2014/main" id="{CB00B15E-82E0-4DA5-AABF-5542DF9171B1}"/>
              </a:ext>
            </a:extLst>
          </p:cNvPr>
          <p:cNvSpPr txBox="1"/>
          <p:nvPr/>
        </p:nvSpPr>
        <p:spPr>
          <a:xfrm>
            <a:off x="2686078" y="5141356"/>
            <a:ext cx="9427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BTX</a:t>
            </a:r>
          </a:p>
        </p:txBody>
      </p:sp>
      <p:sp>
        <p:nvSpPr>
          <p:cNvPr id="382" name="TextBox 381">
            <a:extLst>
              <a:ext uri="{FF2B5EF4-FFF2-40B4-BE49-F238E27FC236}">
                <a16:creationId xmlns:a16="http://schemas.microsoft.com/office/drawing/2014/main" id="{3922DDA1-1959-47D0-AF6C-119D874782B6}"/>
              </a:ext>
            </a:extLst>
          </p:cNvPr>
          <p:cNvSpPr txBox="1"/>
          <p:nvPr/>
        </p:nvSpPr>
        <p:spPr>
          <a:xfrm>
            <a:off x="8131846" y="3247919"/>
            <a:ext cx="132791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PX</a:t>
            </a:r>
          </a:p>
          <a:p>
            <a:pPr algn="ctr"/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OX</a:t>
            </a:r>
          </a:p>
          <a:p>
            <a:pPr algn="ctr"/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Benzene</a:t>
            </a:r>
          </a:p>
          <a:p>
            <a:pPr algn="ctr"/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83" name="TextBox 382">
            <a:extLst>
              <a:ext uri="{FF2B5EF4-FFF2-40B4-BE49-F238E27FC236}">
                <a16:creationId xmlns:a16="http://schemas.microsoft.com/office/drawing/2014/main" id="{A8FD3E36-B6F1-4334-A055-5108BC50C05D}"/>
              </a:ext>
            </a:extLst>
          </p:cNvPr>
          <p:cNvSpPr txBox="1"/>
          <p:nvPr/>
        </p:nvSpPr>
        <p:spPr>
          <a:xfrm>
            <a:off x="8658410" y="5999479"/>
            <a:ext cx="24931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OX,PX,TBB,DTBB,TBMX </a:t>
            </a:r>
          </a:p>
        </p:txBody>
      </p:sp>
      <p:sp>
        <p:nvSpPr>
          <p:cNvPr id="384" name="TextBox 383">
            <a:extLst>
              <a:ext uri="{FF2B5EF4-FFF2-40B4-BE49-F238E27FC236}">
                <a16:creationId xmlns:a16="http://schemas.microsoft.com/office/drawing/2014/main" id="{0AD424CB-C3FD-4CC5-AEAA-B2990DB3C201}"/>
              </a:ext>
            </a:extLst>
          </p:cNvPr>
          <p:cNvSpPr txBox="1"/>
          <p:nvPr/>
        </p:nvSpPr>
        <p:spPr>
          <a:xfrm>
            <a:off x="5059637" y="2983316"/>
            <a:ext cx="13279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Methanol</a:t>
            </a:r>
          </a:p>
          <a:p>
            <a:pPr algn="ctr"/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(to recycle) 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29A91DF1-7651-4FF2-8AB2-60762C557C9E}"/>
              </a:ext>
            </a:extLst>
          </p:cNvPr>
          <p:cNvSpPr/>
          <p:nvPr/>
        </p:nvSpPr>
        <p:spPr>
          <a:xfrm>
            <a:off x="2566484" y="1104685"/>
            <a:ext cx="1717479" cy="97547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Toluene/Methanol</a:t>
            </a:r>
          </a:p>
          <a:p>
            <a:pPr algn="ctr"/>
            <a:r>
              <a:rPr lang="en-US" sz="1400" b="1">
                <a:solidFill>
                  <a:schemeClr val="tx1"/>
                </a:solidFill>
              </a:rPr>
              <a:t>Pre-treatment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BC9ACB-06F2-45E2-B1C3-4342FC6B8258}"/>
              </a:ext>
            </a:extLst>
          </p:cNvPr>
          <p:cNvSpPr/>
          <p:nvPr/>
        </p:nvSpPr>
        <p:spPr>
          <a:xfrm>
            <a:off x="6407840" y="3398594"/>
            <a:ext cx="218762" cy="24030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5841C374-FB2C-457B-B95E-E046E06E2D8C}"/>
              </a:ext>
            </a:extLst>
          </p:cNvPr>
          <p:cNvSpPr/>
          <p:nvPr/>
        </p:nvSpPr>
        <p:spPr>
          <a:xfrm>
            <a:off x="6394937" y="1492728"/>
            <a:ext cx="218762" cy="24030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08F29344-47F4-41EB-9899-EE17459253C2}"/>
              </a:ext>
            </a:extLst>
          </p:cNvPr>
          <p:cNvCxnSpPr>
            <a:cxnSpLocks/>
          </p:cNvCxnSpPr>
          <p:nvPr/>
        </p:nvCxnSpPr>
        <p:spPr>
          <a:xfrm flipH="1" flipV="1">
            <a:off x="6499907" y="1726679"/>
            <a:ext cx="5792" cy="165880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45C6B542-11AE-491C-B74C-D8AD66343096}"/>
              </a:ext>
            </a:extLst>
          </p:cNvPr>
          <p:cNvSpPr txBox="1"/>
          <p:nvPr/>
        </p:nvSpPr>
        <p:spPr>
          <a:xfrm>
            <a:off x="4752338" y="1096359"/>
            <a:ext cx="13279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Methanol</a:t>
            </a:r>
          </a:p>
          <a:p>
            <a:pPr algn="ctr"/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Toluene 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03ABBB13-1FC3-4F25-8F60-911AC404034A}"/>
              </a:ext>
            </a:extLst>
          </p:cNvPr>
          <p:cNvSpPr txBox="1"/>
          <p:nvPr/>
        </p:nvSpPr>
        <p:spPr>
          <a:xfrm>
            <a:off x="4616691" y="1658542"/>
            <a:ext cx="15951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547216 kg/h 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3357B4B3-40A8-4024-B76B-C600449B6C6F}"/>
              </a:ext>
            </a:extLst>
          </p:cNvPr>
          <p:cNvSpPr txBox="1"/>
          <p:nvPr/>
        </p:nvSpPr>
        <p:spPr>
          <a:xfrm>
            <a:off x="6877117" y="1061553"/>
            <a:ext cx="13279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Methanol</a:t>
            </a:r>
          </a:p>
          <a:p>
            <a:pPr algn="ctr"/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Toluene 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9C82C371-7194-4409-A0BF-102802C8EF8A}"/>
              </a:ext>
            </a:extLst>
          </p:cNvPr>
          <p:cNvSpPr txBox="1"/>
          <p:nvPr/>
        </p:nvSpPr>
        <p:spPr>
          <a:xfrm>
            <a:off x="1090968" y="971793"/>
            <a:ext cx="15951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Toluene 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CEFD8A13-749D-4966-A07F-7E84BEC89D77}"/>
              </a:ext>
            </a:extLst>
          </p:cNvPr>
          <p:cNvSpPr txBox="1"/>
          <p:nvPr/>
        </p:nvSpPr>
        <p:spPr>
          <a:xfrm>
            <a:off x="685277" y="1597673"/>
            <a:ext cx="728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S2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AE055575-CF69-42D5-9CC1-4A010163FC7C}"/>
              </a:ext>
            </a:extLst>
          </p:cNvPr>
          <p:cNvSpPr txBox="1"/>
          <p:nvPr/>
        </p:nvSpPr>
        <p:spPr>
          <a:xfrm>
            <a:off x="4395168" y="1235083"/>
            <a:ext cx="728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S3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42B045E3-5539-4B92-BE7F-1C8D497FA8CC}"/>
              </a:ext>
            </a:extLst>
          </p:cNvPr>
          <p:cNvSpPr txBox="1"/>
          <p:nvPr/>
        </p:nvSpPr>
        <p:spPr>
          <a:xfrm>
            <a:off x="6595011" y="1247634"/>
            <a:ext cx="728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S4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3051A997-922B-4D5A-87EC-15FB97C43ABF}"/>
              </a:ext>
            </a:extLst>
          </p:cNvPr>
          <p:cNvSpPr txBox="1"/>
          <p:nvPr/>
        </p:nvSpPr>
        <p:spPr>
          <a:xfrm>
            <a:off x="9368505" y="1219135"/>
            <a:ext cx="728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S5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295E8A0F-4AC0-4464-A089-E4FBD1D6E5F8}"/>
              </a:ext>
            </a:extLst>
          </p:cNvPr>
          <p:cNvSpPr txBox="1"/>
          <p:nvPr/>
        </p:nvSpPr>
        <p:spPr>
          <a:xfrm>
            <a:off x="292133" y="4056015"/>
            <a:ext cx="728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S5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B0A77234-FF6B-4A72-9435-69AA66227C98}"/>
              </a:ext>
            </a:extLst>
          </p:cNvPr>
          <p:cNvSpPr txBox="1"/>
          <p:nvPr/>
        </p:nvSpPr>
        <p:spPr>
          <a:xfrm>
            <a:off x="1891046" y="3179391"/>
            <a:ext cx="728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S6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A33B28A3-6118-46BA-BA6A-F7182FDC0EA5}"/>
              </a:ext>
            </a:extLst>
          </p:cNvPr>
          <p:cNvSpPr txBox="1"/>
          <p:nvPr/>
        </p:nvSpPr>
        <p:spPr>
          <a:xfrm>
            <a:off x="4623446" y="3168296"/>
            <a:ext cx="728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S7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C764E172-AB2A-406C-B84F-414FB4A2AC38}"/>
              </a:ext>
            </a:extLst>
          </p:cNvPr>
          <p:cNvSpPr txBox="1"/>
          <p:nvPr/>
        </p:nvSpPr>
        <p:spPr>
          <a:xfrm>
            <a:off x="4049296" y="3862374"/>
            <a:ext cx="728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S8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F83943B3-C3B7-43E7-A856-ED5F56AE5D05}"/>
              </a:ext>
            </a:extLst>
          </p:cNvPr>
          <p:cNvSpPr txBox="1"/>
          <p:nvPr/>
        </p:nvSpPr>
        <p:spPr>
          <a:xfrm>
            <a:off x="2205583" y="5282692"/>
            <a:ext cx="728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S9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90C93E40-220A-490B-A41D-BC94B2B63BE7}"/>
              </a:ext>
            </a:extLst>
          </p:cNvPr>
          <p:cNvSpPr txBox="1"/>
          <p:nvPr/>
        </p:nvSpPr>
        <p:spPr>
          <a:xfrm>
            <a:off x="3543856" y="4881959"/>
            <a:ext cx="728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S10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AC6EB5F8-BDBC-44F5-AA38-ACEF5A169931}"/>
              </a:ext>
            </a:extLst>
          </p:cNvPr>
          <p:cNvSpPr txBox="1"/>
          <p:nvPr/>
        </p:nvSpPr>
        <p:spPr>
          <a:xfrm>
            <a:off x="4680946" y="5306198"/>
            <a:ext cx="728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S11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6D71F5B0-F5A9-47B5-B082-A6734824EF4C}"/>
              </a:ext>
            </a:extLst>
          </p:cNvPr>
          <p:cNvSpPr txBox="1"/>
          <p:nvPr/>
        </p:nvSpPr>
        <p:spPr>
          <a:xfrm>
            <a:off x="5862444" y="4545898"/>
            <a:ext cx="728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S12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7AF545A9-00DE-4DF7-BC09-A58B487745DF}"/>
              </a:ext>
            </a:extLst>
          </p:cNvPr>
          <p:cNvSpPr txBox="1"/>
          <p:nvPr/>
        </p:nvSpPr>
        <p:spPr>
          <a:xfrm>
            <a:off x="5839836" y="2414139"/>
            <a:ext cx="728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S13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889F54C1-C80E-463C-8F03-97B421EA7B60}"/>
              </a:ext>
            </a:extLst>
          </p:cNvPr>
          <p:cNvSpPr txBox="1"/>
          <p:nvPr/>
        </p:nvSpPr>
        <p:spPr>
          <a:xfrm>
            <a:off x="6938399" y="5354973"/>
            <a:ext cx="728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S14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2CCEC3C1-8E4D-4032-AC23-03D97341F588}"/>
              </a:ext>
            </a:extLst>
          </p:cNvPr>
          <p:cNvSpPr txBox="1"/>
          <p:nvPr/>
        </p:nvSpPr>
        <p:spPr>
          <a:xfrm>
            <a:off x="6468218" y="4738968"/>
            <a:ext cx="728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S15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328A1883-D0B0-44FF-A3E2-DD5DC4C802D6}"/>
              </a:ext>
            </a:extLst>
          </p:cNvPr>
          <p:cNvSpPr txBox="1"/>
          <p:nvPr/>
        </p:nvSpPr>
        <p:spPr>
          <a:xfrm>
            <a:off x="8124495" y="6040419"/>
            <a:ext cx="728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S16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730E82A4-F156-4F81-BCB6-BC221B917B0B}"/>
              </a:ext>
            </a:extLst>
          </p:cNvPr>
          <p:cNvSpPr txBox="1"/>
          <p:nvPr/>
        </p:nvSpPr>
        <p:spPr>
          <a:xfrm>
            <a:off x="8165572" y="4200957"/>
            <a:ext cx="728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S17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8B7A80BA-5851-4609-A731-6668CAFA77F0}"/>
              </a:ext>
            </a:extLst>
          </p:cNvPr>
          <p:cNvSpPr txBox="1"/>
          <p:nvPr/>
        </p:nvSpPr>
        <p:spPr>
          <a:xfrm>
            <a:off x="9244590" y="3363943"/>
            <a:ext cx="728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S18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FA35F3DD-1B0A-4548-9A84-959D055FBE31}"/>
              </a:ext>
            </a:extLst>
          </p:cNvPr>
          <p:cNvSpPr txBox="1"/>
          <p:nvPr/>
        </p:nvSpPr>
        <p:spPr>
          <a:xfrm>
            <a:off x="9244590" y="4513850"/>
            <a:ext cx="728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S19</a:t>
            </a:r>
          </a:p>
        </p:txBody>
      </p:sp>
      <p:sp>
        <p:nvSpPr>
          <p:cNvPr id="55" name="Block Arc 54">
            <a:extLst>
              <a:ext uri="{FF2B5EF4-FFF2-40B4-BE49-F238E27FC236}">
                <a16:creationId xmlns:a16="http://schemas.microsoft.com/office/drawing/2014/main" id="{95146C57-E9F1-4117-A8B6-DC1DD0F5C9E8}"/>
              </a:ext>
            </a:extLst>
          </p:cNvPr>
          <p:cNvSpPr/>
          <p:nvPr/>
        </p:nvSpPr>
        <p:spPr>
          <a:xfrm>
            <a:off x="6373576" y="2789919"/>
            <a:ext cx="240123" cy="674721"/>
          </a:xfrm>
          <a:prstGeom prst="blockArc">
            <a:avLst>
              <a:gd name="adj1" fmla="val 14134803"/>
              <a:gd name="adj2" fmla="val 18400238"/>
              <a:gd name="adj3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3232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25B2C7E-1BB5-40C5-81EF-99F6866FA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UPDATES FROM 1</a:t>
            </a:r>
            <a:r>
              <a:rPr lang="en-US" baseline="30000" dirty="0"/>
              <a:t>st</a:t>
            </a:r>
            <a:r>
              <a:rPr lang="en-US" dirty="0"/>
              <a:t> PRESENTATION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B9F5F46-CF4B-4053-8EC0-C36561CB59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2643" y="1414161"/>
            <a:ext cx="8596668" cy="388077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accent1"/>
                </a:solidFill>
              </a:rPr>
              <a:t>Methanol Conversion : from 100% to 90%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accent1"/>
                </a:solidFill>
              </a:rPr>
              <a:t>Para-xylene purity reduced from 99.9% to 99.5%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accent1"/>
                </a:solidFill>
              </a:rPr>
              <a:t>Specialized scope for a detailed mass balance and simulation around the toluene methylation box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accent1"/>
                </a:solidFill>
              </a:rPr>
              <a:t>Columns outside the methylation unit were not simulated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accent1"/>
                </a:solidFill>
              </a:rPr>
              <a:t>The flash drum was removed due to the assumption made about no side reactions producing gaseous hydrocarbons in the reactor</a:t>
            </a:r>
          </a:p>
          <a:p>
            <a:pPr>
              <a:buFont typeface="Wingdings" panose="05000000000000000000" pitchFamily="2" charset="2"/>
              <a:buChar char="q"/>
            </a:pPr>
            <a:endParaRPr lang="en-US" dirty="0">
              <a:solidFill>
                <a:schemeClr val="accent1"/>
              </a:solidFill>
            </a:endParaRPr>
          </a:p>
          <a:p>
            <a:pPr>
              <a:buFont typeface="Wingdings" panose="05000000000000000000" pitchFamily="2" charset="2"/>
              <a:buChar char="q"/>
            </a:pP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5831FCF-DB73-4513-AAFF-09E677956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C3E535-E6C5-4F03-8482-A79AD37BA4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2689" y="4101399"/>
            <a:ext cx="4635041" cy="2534788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E5C3E53-4393-40C1-A627-78F65E6C649B}"/>
              </a:ext>
            </a:extLst>
          </p:cNvPr>
          <p:cNvSpPr txBox="1"/>
          <p:nvPr/>
        </p:nvSpPr>
        <p:spPr>
          <a:xfrm>
            <a:off x="7357730" y="6328410"/>
            <a:ext cx="17117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[7]</a:t>
            </a:r>
          </a:p>
        </p:txBody>
      </p:sp>
    </p:spTree>
    <p:extLst>
      <p:ext uri="{BB962C8B-B14F-4D97-AF65-F5344CB8AC3E}">
        <p14:creationId xmlns:p14="http://schemas.microsoft.com/office/powerpoint/2010/main" val="394643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E8C61C5-E1EF-452B-BC14-5E8868E0E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6" y="0"/>
            <a:ext cx="12193211" cy="6860507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72A367D2-E48F-45EC-A2B3-417270C5E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519" y="0"/>
            <a:ext cx="3849481" cy="1609344"/>
          </a:xfrm>
        </p:spPr>
        <p:txBody>
          <a:bodyPr/>
          <a:lstStyle/>
          <a:p>
            <a:pPr algn="ctr"/>
            <a:r>
              <a:rPr lang="en-US"/>
              <a:t>PFD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B8BC3AE-2F79-4FB0-89DE-F0A746062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6</a:t>
            </a:fld>
            <a:endParaRPr lang="en-US"/>
          </a:p>
        </p:txBody>
      </p:sp>
      <p:sp>
        <p:nvSpPr>
          <p:cNvPr id="10" name="Star: 5 Points 9">
            <a:hlinkClick r:id="rId3" action="ppaction://hlinksldjump"/>
            <a:extLst>
              <a:ext uri="{FF2B5EF4-FFF2-40B4-BE49-F238E27FC236}">
                <a16:creationId xmlns:a16="http://schemas.microsoft.com/office/drawing/2014/main" id="{52CEE858-EAA1-4229-9007-97894ADB3B6C}"/>
              </a:ext>
            </a:extLst>
          </p:cNvPr>
          <p:cNvSpPr/>
          <p:nvPr/>
        </p:nvSpPr>
        <p:spPr>
          <a:xfrm>
            <a:off x="4396243" y="608926"/>
            <a:ext cx="462835" cy="391491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tar: 5 Points 10">
            <a:hlinkClick r:id="rId4" action="ppaction://hlinksldjump"/>
            <a:extLst>
              <a:ext uri="{FF2B5EF4-FFF2-40B4-BE49-F238E27FC236}">
                <a16:creationId xmlns:a16="http://schemas.microsoft.com/office/drawing/2014/main" id="{27CFDBED-F4FC-43F0-86C9-D84A88AB2017}"/>
              </a:ext>
            </a:extLst>
          </p:cNvPr>
          <p:cNvSpPr/>
          <p:nvPr/>
        </p:nvSpPr>
        <p:spPr>
          <a:xfrm>
            <a:off x="3581080" y="2441270"/>
            <a:ext cx="462835" cy="391491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tar: 5 Points 11">
            <a:hlinkClick r:id="rId5" action="ppaction://hlinksldjump"/>
            <a:extLst>
              <a:ext uri="{FF2B5EF4-FFF2-40B4-BE49-F238E27FC236}">
                <a16:creationId xmlns:a16="http://schemas.microsoft.com/office/drawing/2014/main" id="{47D632E1-102D-4D19-864E-CF7283CE9277}"/>
              </a:ext>
            </a:extLst>
          </p:cNvPr>
          <p:cNvSpPr/>
          <p:nvPr/>
        </p:nvSpPr>
        <p:spPr>
          <a:xfrm>
            <a:off x="3801863" y="4259397"/>
            <a:ext cx="462835" cy="391491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Star: 5 Points 12">
            <a:hlinkClick r:id="rId6" action="ppaction://hlinksldjump"/>
            <a:extLst>
              <a:ext uri="{FF2B5EF4-FFF2-40B4-BE49-F238E27FC236}">
                <a16:creationId xmlns:a16="http://schemas.microsoft.com/office/drawing/2014/main" id="{864F7D77-D6BB-406D-821B-C88E14F964B8}"/>
              </a:ext>
            </a:extLst>
          </p:cNvPr>
          <p:cNvSpPr/>
          <p:nvPr/>
        </p:nvSpPr>
        <p:spPr>
          <a:xfrm>
            <a:off x="9801502" y="4650888"/>
            <a:ext cx="462835" cy="391491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9746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9B597-86E2-4740-8708-D5107C8C9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026152" cy="616199"/>
          </a:xfrm>
        </p:spPr>
        <p:txBody>
          <a:bodyPr>
            <a:normAutofit fontScale="90000"/>
          </a:bodyPr>
          <a:lstStyle/>
          <a:p>
            <a:r>
              <a:rPr lang="en-US"/>
              <a:t>Aspen + Assumptions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646298-E6F2-48DE-8B8B-4D5865093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549EFC-5E89-4ECD-B29B-5413785B1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954895" y="-1325149"/>
            <a:ext cx="5054350" cy="870169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102317A-671A-4017-9AB0-D8B3E8B1539D}"/>
              </a:ext>
            </a:extLst>
          </p:cNvPr>
          <p:cNvSpPr txBox="1"/>
          <p:nvPr/>
        </p:nvSpPr>
        <p:spPr>
          <a:xfrm>
            <a:off x="1418632" y="5415983"/>
            <a:ext cx="706228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>
                <a:solidFill>
                  <a:schemeClr val="accent1"/>
                </a:solidFill>
              </a:rPr>
              <a:t>90% conversion of methanol in the reactor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>
                <a:solidFill>
                  <a:schemeClr val="accent1"/>
                </a:solidFill>
              </a:rPr>
              <a:t>100% separation of water and methanol from the rest of the effluent in the decanter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>
                <a:solidFill>
                  <a:schemeClr val="accent1"/>
                </a:solidFill>
              </a:rPr>
              <a:t>Total heat integration from the effluent not shown in the simulation </a:t>
            </a:r>
          </a:p>
        </p:txBody>
      </p:sp>
    </p:spTree>
    <p:extLst>
      <p:ext uri="{BB962C8B-B14F-4D97-AF65-F5344CB8AC3E}">
        <p14:creationId xmlns:p14="http://schemas.microsoft.com/office/powerpoint/2010/main" val="15034958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D920209C-E85B-4D6F-A56F-724F5ADA8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125522E-1DFD-4F78-912B-B922A2D39D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DA72C10-FE9D-49B3-80CB-A7EE8BCB38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tangle 23">
              <a:extLst>
                <a:ext uri="{FF2B5EF4-FFF2-40B4-BE49-F238E27FC236}">
                  <a16:creationId xmlns:a16="http://schemas.microsoft.com/office/drawing/2014/main" id="{6E7DF470-1055-45E4-AB9D-11E42EC53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AA35CFF-3837-4B7F-B875-718AC2E14E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>
              <a:extLst>
                <a:ext uri="{FF2B5EF4-FFF2-40B4-BE49-F238E27FC236}">
                  <a16:creationId xmlns:a16="http://schemas.microsoft.com/office/drawing/2014/main" id="{62F41804-A347-47E3-8BD8-BD00CF2F64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76894B81-EE9C-4546-BCFA-DD9ED2C0AD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AF181D1-71AC-43D8-A6E1-D4C488D5DC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4132D661-917C-4D2D-8E37-8590B55D91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>
              <a:extLst>
                <a:ext uri="{FF2B5EF4-FFF2-40B4-BE49-F238E27FC236}">
                  <a16:creationId xmlns:a16="http://schemas.microsoft.com/office/drawing/2014/main" id="{7969643D-8B71-434D-A235-68CB241F9D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DF15C24A-4BCF-47C0-B2FA-76A0EF3384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02C9373-CE84-4E5E-9705-93CCA5FB7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013" y="85725"/>
            <a:ext cx="8596668" cy="988931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dirty="0"/>
              <a:t>Equipment sizing and description and material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99A55-3129-4B7B-9DF1-843A1695A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16766" y="6295886"/>
            <a:ext cx="683339" cy="365125"/>
          </a:xfrm>
        </p:spPr>
        <p:txBody>
          <a:bodyPr vert="horz" lIns="91440" tIns="45720" rIns="91440" bIns="45720" rtlCol="0" anchor="ctr">
            <a:noAutofit/>
          </a:bodyPr>
          <a:lstStyle/>
          <a:p>
            <a:pPr defTabSz="457200">
              <a:spcAft>
                <a:spcPts val="600"/>
              </a:spcAft>
            </a:pPr>
            <a:fld id="{34B7E4EF-A1BD-40F4-AB7B-04F084DD991D}" type="slidenum">
              <a:rPr lang="en-US" sz="2400" b="1" smtClean="0"/>
              <a:pPr defTabSz="457200">
                <a:spcAft>
                  <a:spcPts val="600"/>
                </a:spcAft>
              </a:pPr>
              <a:t>8</a:t>
            </a:fld>
            <a:endParaRPr lang="en-US" sz="2400" b="1" dirty="0"/>
          </a:p>
        </p:txBody>
      </p:sp>
      <p:graphicFrame>
        <p:nvGraphicFramePr>
          <p:cNvPr id="17" name="Content Placeholder 16">
            <a:extLst>
              <a:ext uri="{FF2B5EF4-FFF2-40B4-BE49-F238E27FC236}">
                <a16:creationId xmlns:a16="http://schemas.microsoft.com/office/drawing/2014/main" id="{58A55819-04B8-4B49-A14B-E7F4D74F6055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02760501"/>
              </p:ext>
            </p:extLst>
          </p:nvPr>
        </p:nvGraphicFramePr>
        <p:xfrm>
          <a:off x="427365" y="1058258"/>
          <a:ext cx="9296657" cy="57140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4165">
                  <a:extLst>
                    <a:ext uri="{9D8B030D-6E8A-4147-A177-3AD203B41FA5}">
                      <a16:colId xmlns:a16="http://schemas.microsoft.com/office/drawing/2014/main" val="3100024076"/>
                    </a:ext>
                  </a:extLst>
                </a:gridCol>
                <a:gridCol w="1503128">
                  <a:extLst>
                    <a:ext uri="{9D8B030D-6E8A-4147-A177-3AD203B41FA5}">
                      <a16:colId xmlns:a16="http://schemas.microsoft.com/office/drawing/2014/main" val="557585167"/>
                    </a:ext>
                  </a:extLst>
                </a:gridCol>
                <a:gridCol w="1812211">
                  <a:extLst>
                    <a:ext uri="{9D8B030D-6E8A-4147-A177-3AD203B41FA5}">
                      <a16:colId xmlns:a16="http://schemas.microsoft.com/office/drawing/2014/main" val="1405161261"/>
                    </a:ext>
                  </a:extLst>
                </a:gridCol>
                <a:gridCol w="1104401">
                  <a:extLst>
                    <a:ext uri="{9D8B030D-6E8A-4147-A177-3AD203B41FA5}">
                      <a16:colId xmlns:a16="http://schemas.microsoft.com/office/drawing/2014/main" val="881498622"/>
                    </a:ext>
                  </a:extLst>
                </a:gridCol>
                <a:gridCol w="3422752">
                  <a:extLst>
                    <a:ext uri="{9D8B030D-6E8A-4147-A177-3AD203B41FA5}">
                      <a16:colId xmlns:a16="http://schemas.microsoft.com/office/drawing/2014/main" val="2291903909"/>
                    </a:ext>
                  </a:extLst>
                </a:gridCol>
              </a:tblGrid>
              <a:tr h="197637">
                <a:tc rowSpan="2"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</a:rPr>
                        <a:t>P-201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</a:rPr>
                        <a:t>Centrifugal Pump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</a:rPr>
                        <a:t>Fluid head:35m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Carbon Steel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P-201 increases the pressure of the feed to 4 bar and pumps the feed to S1.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778951"/>
                  </a:ext>
                </a:extLst>
              </a:tr>
              <a:tr h="19763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</a:rPr>
                        <a:t>P:48kW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8553283"/>
                  </a:ext>
                </a:extLst>
              </a:tr>
              <a:tr h="197637">
                <a:tc rowSpan="2">
                  <a:txBody>
                    <a:bodyPr/>
                    <a:lstStyle/>
                    <a:p>
                      <a:r>
                        <a:rPr lang="en-US" sz="1200" b="1">
                          <a:effectLst/>
                        </a:rPr>
                        <a:t>P-202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200" b="1" dirty="0">
                          <a:effectLst/>
                        </a:rPr>
                        <a:t>Centrifugal Pump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</a:rPr>
                        <a:t>Fluid head:39m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200" b="1">
                          <a:effectLst/>
                        </a:rPr>
                        <a:t>Carbon Steel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200" b="1" dirty="0">
                          <a:effectLst/>
                        </a:rPr>
                        <a:t>P-202 increases the pressure of the methanol feed to 4 bar and pumps the methanol to S2.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8305347"/>
                  </a:ext>
                </a:extLst>
              </a:tr>
              <a:tr h="19763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effectLst/>
                        </a:rPr>
                        <a:t>P:16 kW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5950146"/>
                  </a:ext>
                </a:extLst>
              </a:tr>
              <a:tr h="197637">
                <a:tc rowSpan="2">
                  <a:txBody>
                    <a:bodyPr/>
                    <a:lstStyle/>
                    <a:p>
                      <a:r>
                        <a:rPr lang="en-US" sz="1200" b="1">
                          <a:effectLst/>
                        </a:rPr>
                        <a:t>P-203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200" b="1" dirty="0">
                          <a:effectLst/>
                        </a:rPr>
                        <a:t>Centrifugal Pump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effectLst/>
                        </a:rPr>
                        <a:t>Fluid head:37m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200" b="1" dirty="0">
                          <a:effectLst/>
                        </a:rPr>
                        <a:t>Carbon Steel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200" b="1" dirty="0">
                          <a:effectLst/>
                        </a:rPr>
                        <a:t>P-203 increases the pressure of the recycle stream to 4 bar and pumps the recycle to be mixed with S1 and S2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5612025"/>
                  </a:ext>
                </a:extLst>
              </a:tr>
              <a:tr h="19763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effectLst/>
                        </a:rPr>
                        <a:t>P:15 kW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241082"/>
                  </a:ext>
                </a:extLst>
              </a:tr>
              <a:tr h="197637">
                <a:tc rowSpan="3">
                  <a:txBody>
                    <a:bodyPr/>
                    <a:lstStyle/>
                    <a:p>
                      <a:r>
                        <a:rPr lang="en-US" sz="1200" b="1">
                          <a:effectLst/>
                        </a:rPr>
                        <a:t>R-201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r>
                        <a:rPr lang="en-US" sz="1200" b="1" dirty="0">
                          <a:effectLst/>
                        </a:rPr>
                        <a:t>Packed Bed Reactor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effectLst/>
                        </a:rPr>
                        <a:t>V:141180L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r>
                        <a:rPr lang="en-US" sz="1200" b="1" dirty="0">
                          <a:effectLst/>
                        </a:rPr>
                        <a:t>Stainless Steel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r>
                        <a:rPr lang="en-US" sz="1200" b="1" dirty="0">
                          <a:effectLst/>
                        </a:rPr>
                        <a:t>This is a packed bed alkylation reactor that converts toluene into paraxylene at a pressure of 4 bar and a temperature of </a:t>
                      </a: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</a:rPr>
                        <a:t>525 </a:t>
                      </a:r>
                      <a:r>
                        <a:rPr lang="en-US" sz="1200" b="1" baseline="30000" dirty="0" err="1">
                          <a:solidFill>
                            <a:schemeClr val="tx1"/>
                          </a:solidFill>
                          <a:effectLst/>
                        </a:rPr>
                        <a:t>o</a:t>
                      </a:r>
                      <a:r>
                        <a:rPr lang="en-US" sz="1200" b="1" dirty="0" err="1">
                          <a:solidFill>
                            <a:schemeClr val="tx1"/>
                          </a:solidFill>
                          <a:effectLst/>
                        </a:rPr>
                        <a:t>C.</a:t>
                      </a:r>
                      <a:endParaRPr lang="en-US" sz="1200" b="1" dirty="0">
                        <a:effectLst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6456986"/>
                  </a:ext>
                </a:extLst>
              </a:tr>
              <a:tr h="19763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effectLst/>
                        </a:rPr>
                        <a:t>D:7m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0379296"/>
                  </a:ext>
                </a:extLst>
              </a:tr>
              <a:tr h="19763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effectLst/>
                        </a:rPr>
                        <a:t>L:4m(tangent/tangent)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3009924"/>
                  </a:ext>
                </a:extLst>
              </a:tr>
              <a:tr h="197637">
                <a:tc rowSpan="3">
                  <a:txBody>
                    <a:bodyPr/>
                    <a:lstStyle/>
                    <a:p>
                      <a:r>
                        <a:rPr lang="en-US" sz="1200" b="1">
                          <a:effectLst/>
                        </a:rPr>
                        <a:t>D-201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r>
                        <a:rPr lang="en-US" sz="1200" b="1">
                          <a:effectLst/>
                        </a:rPr>
                        <a:t>Decanter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effectLst/>
                        </a:rPr>
                        <a:t>V:88805L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r>
                        <a:rPr lang="en-US" sz="1200" b="1">
                          <a:effectLst/>
                        </a:rPr>
                        <a:t>Carbon Steel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r>
                        <a:rPr lang="en-US" sz="1200" b="1" dirty="0">
                          <a:effectLst/>
                        </a:rPr>
                        <a:t>D-201 separates the aqueous and organic phases of S7. S7 contains a mixture of water and immiscible non-polar organic compounds such as toluene and xylene.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6981040"/>
                  </a:ext>
                </a:extLst>
              </a:tr>
              <a:tr h="19763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effectLst/>
                        </a:rPr>
                        <a:t>D:3m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931479"/>
                  </a:ext>
                </a:extLst>
              </a:tr>
              <a:tr h="37202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effectLst/>
                        </a:rPr>
                        <a:t>L:10m(tangent/tangent)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5102367"/>
                  </a:ext>
                </a:extLst>
              </a:tr>
              <a:tr h="244139">
                <a:tc rowSpan="3">
                  <a:txBody>
                    <a:bodyPr/>
                    <a:lstStyle/>
                    <a:p>
                      <a:r>
                        <a:rPr lang="en-US" sz="1200" b="1" dirty="0">
                          <a:effectLst/>
                        </a:rPr>
                        <a:t>T-201-tower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r>
                        <a:rPr lang="en-US" sz="1200" b="1" dirty="0">
                          <a:effectLst/>
                        </a:rPr>
                        <a:t>Distillation Column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</a:rPr>
                        <a:t>D:11m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r>
                        <a:rPr lang="en-US" sz="1200" b="1" dirty="0">
                          <a:effectLst/>
                        </a:rPr>
                        <a:t>Carbon Steel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r>
                        <a:rPr lang="en-US" sz="1200" b="1" dirty="0">
                          <a:effectLst/>
                        </a:rPr>
                        <a:t>The rich water stream from Decanter D-201 contains a large amount of methanol. This methanol will be separated and recycled back to the reactor. The distillation column T-201 is used for this purpose.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3864130"/>
                  </a:ext>
                </a:extLst>
              </a:tr>
              <a:tr h="24413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effectLst/>
                        </a:rPr>
                        <a:t>L:22m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233148"/>
                  </a:ext>
                </a:extLst>
              </a:tr>
              <a:tr h="4185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effectLst/>
                        </a:rPr>
                        <a:t>Sieve trays:25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4446317"/>
                  </a:ext>
                </a:extLst>
              </a:tr>
              <a:tr h="197637">
                <a:tc rowSpan="3">
                  <a:txBody>
                    <a:bodyPr/>
                    <a:lstStyle/>
                    <a:p>
                      <a:r>
                        <a:rPr lang="en-US" sz="1200" b="1" dirty="0">
                          <a:effectLst/>
                        </a:rPr>
                        <a:t>T-202-tower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r>
                        <a:rPr lang="en-US" sz="1200" b="1">
                          <a:effectLst/>
                        </a:rPr>
                        <a:t>Distillation Column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</a:rPr>
                        <a:t>D:18.5m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r>
                        <a:rPr lang="en-US" sz="1200" b="1">
                          <a:effectLst/>
                        </a:rPr>
                        <a:t>Carbon Steel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r>
                        <a:rPr lang="en-US" sz="1200" b="1" dirty="0">
                          <a:effectLst/>
                        </a:rPr>
                        <a:t>T-202 separates benzene from a stream rich in toluene and xylenes.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6810607"/>
                  </a:ext>
                </a:extLst>
              </a:tr>
              <a:tr h="19763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effectLst/>
                        </a:rPr>
                        <a:t>L:37m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6672235"/>
                  </a:ext>
                </a:extLst>
              </a:tr>
              <a:tr h="19763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effectLst/>
                        </a:rPr>
                        <a:t>Sieve trays:50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0536921"/>
                  </a:ext>
                </a:extLst>
              </a:tr>
              <a:tr h="197637">
                <a:tc rowSpan="3">
                  <a:txBody>
                    <a:bodyPr/>
                    <a:lstStyle/>
                    <a:p>
                      <a:r>
                        <a:rPr lang="en-US" sz="1200" b="1">
                          <a:effectLst/>
                        </a:rPr>
                        <a:t>T-203-tower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r>
                        <a:rPr lang="en-US" sz="1200" b="1">
                          <a:effectLst/>
                        </a:rPr>
                        <a:t>Distillation Column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</a:rPr>
                        <a:t>D:15.5m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r>
                        <a:rPr lang="en-US" sz="1200" b="1">
                          <a:effectLst/>
                        </a:rPr>
                        <a:t>Carbon Steel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r>
                        <a:rPr lang="en-US" sz="1200" b="1" dirty="0">
                          <a:effectLst/>
                        </a:rPr>
                        <a:t>T-203 separates toluene from a stream rich in xylenes.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5403943"/>
                  </a:ext>
                </a:extLst>
              </a:tr>
              <a:tr h="19763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effectLst/>
                        </a:rPr>
                        <a:t>L:31m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0033684"/>
                  </a:ext>
                </a:extLst>
              </a:tr>
              <a:tr h="19763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effectLst/>
                        </a:rPr>
                        <a:t>Sieve trays:40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2629158"/>
                  </a:ext>
                </a:extLst>
              </a:tr>
              <a:tr h="232513">
                <a:tc rowSpan="3">
                  <a:txBody>
                    <a:bodyPr/>
                    <a:lstStyle/>
                    <a:p>
                      <a:r>
                        <a:rPr lang="en-US" sz="1200" b="1" dirty="0">
                          <a:effectLst/>
                        </a:rPr>
                        <a:t>T-204-tower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r>
                        <a:rPr lang="en-US" sz="1200" b="1">
                          <a:effectLst/>
                        </a:rPr>
                        <a:t>Reactive Distillation Column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</a:rPr>
                        <a:t>V:77237L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r>
                        <a:rPr lang="en-US" sz="1200" b="1">
                          <a:effectLst/>
                        </a:rPr>
                        <a:t>Carbon Steel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r>
                        <a:rPr lang="en-US" sz="1200" b="1" dirty="0">
                          <a:effectLst/>
                        </a:rPr>
                        <a:t>T-204 reacts DTBB and TBB solvents with m-xylene to produce a tert-butyl-m-xylene which has a different boiling point than p-xylene which allows it to be separated out in the column.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85022"/>
                  </a:ext>
                </a:extLst>
              </a:tr>
              <a:tr h="23251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effectLst/>
                        </a:rPr>
                        <a:t>D:3m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3413952"/>
                  </a:ext>
                </a:extLst>
              </a:tr>
              <a:tr h="29064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effectLst/>
                        </a:rPr>
                        <a:t>L:10m(tangent/tangent)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12882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91546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D920209C-E85B-4D6F-A56F-724F5ADA8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125522E-1DFD-4F78-912B-B922A2D39D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DA72C10-FE9D-49B3-80CB-A7EE8BCB38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tangle 23">
              <a:extLst>
                <a:ext uri="{FF2B5EF4-FFF2-40B4-BE49-F238E27FC236}">
                  <a16:creationId xmlns:a16="http://schemas.microsoft.com/office/drawing/2014/main" id="{6E7DF470-1055-45E4-AB9D-11E42EC53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AA35CFF-3837-4B7F-B875-718AC2E14E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>
              <a:extLst>
                <a:ext uri="{FF2B5EF4-FFF2-40B4-BE49-F238E27FC236}">
                  <a16:creationId xmlns:a16="http://schemas.microsoft.com/office/drawing/2014/main" id="{62F41804-A347-47E3-8BD8-BD00CF2F64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76894B81-EE9C-4546-BCFA-DD9ED2C0AD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AF181D1-71AC-43D8-A6E1-D4C488D5DC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4132D661-917C-4D2D-8E37-8590B55D91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>
              <a:extLst>
                <a:ext uri="{FF2B5EF4-FFF2-40B4-BE49-F238E27FC236}">
                  <a16:creationId xmlns:a16="http://schemas.microsoft.com/office/drawing/2014/main" id="{7969643D-8B71-434D-A235-68CB241F9D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DF15C24A-4BCF-47C0-B2FA-76A0EF3384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02C9373-CE84-4E5E-9705-93CCA5FB7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013" y="85725"/>
            <a:ext cx="8596668" cy="13208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Equipment sizing and description and material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99A55-3129-4B7B-9DF1-843A1695A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0663" y="6041362"/>
            <a:ext cx="683339" cy="365125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defTabSz="457200">
              <a:spcAft>
                <a:spcPts val="600"/>
              </a:spcAft>
            </a:pPr>
            <a:fld id="{34B7E4EF-A1BD-40F4-AB7B-04F084DD991D}" type="slidenum">
              <a:rPr lang="en-US" smtClean="0"/>
              <a:pPr defTabSz="457200">
                <a:spcAft>
                  <a:spcPts val="600"/>
                </a:spcAft>
              </a:pPr>
              <a:t>9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5B351E0-5029-4E31-9238-85BA0A29D9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1480239"/>
              </p:ext>
            </p:extLst>
          </p:nvPr>
        </p:nvGraphicFramePr>
        <p:xfrm>
          <a:off x="224366" y="1264245"/>
          <a:ext cx="9294998" cy="5497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9564">
                  <a:extLst>
                    <a:ext uri="{9D8B030D-6E8A-4147-A177-3AD203B41FA5}">
                      <a16:colId xmlns:a16="http://schemas.microsoft.com/office/drawing/2014/main" val="643657652"/>
                    </a:ext>
                  </a:extLst>
                </a:gridCol>
                <a:gridCol w="1812020">
                  <a:extLst>
                    <a:ext uri="{9D8B030D-6E8A-4147-A177-3AD203B41FA5}">
                      <a16:colId xmlns:a16="http://schemas.microsoft.com/office/drawing/2014/main" val="1110375042"/>
                    </a:ext>
                  </a:extLst>
                </a:gridCol>
                <a:gridCol w="1895912">
                  <a:extLst>
                    <a:ext uri="{9D8B030D-6E8A-4147-A177-3AD203B41FA5}">
                      <a16:colId xmlns:a16="http://schemas.microsoft.com/office/drawing/2014/main" val="4072195882"/>
                    </a:ext>
                  </a:extLst>
                </a:gridCol>
                <a:gridCol w="1073788">
                  <a:extLst>
                    <a:ext uri="{9D8B030D-6E8A-4147-A177-3AD203B41FA5}">
                      <a16:colId xmlns:a16="http://schemas.microsoft.com/office/drawing/2014/main" val="3156207538"/>
                    </a:ext>
                  </a:extLst>
                </a:gridCol>
                <a:gridCol w="3573714">
                  <a:extLst>
                    <a:ext uri="{9D8B030D-6E8A-4147-A177-3AD203B41FA5}">
                      <a16:colId xmlns:a16="http://schemas.microsoft.com/office/drawing/2014/main" val="2611449062"/>
                    </a:ext>
                  </a:extLst>
                </a:gridCol>
              </a:tblGrid>
              <a:tr h="208342">
                <a:tc rowSpan="3"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</a:rPr>
                        <a:t>T-205-tower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</a:rPr>
                        <a:t>Distillation Column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D:9m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Carbon Steel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T-205 separates p-xylene (our product) from a stream rich in toluene and some benzene.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2241337"/>
                  </a:ext>
                </a:extLst>
              </a:tr>
              <a:tr h="20834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L:18m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8878716"/>
                  </a:ext>
                </a:extLst>
              </a:tr>
              <a:tr h="30093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Sieve trays:19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4965152"/>
                  </a:ext>
                </a:extLst>
              </a:tr>
              <a:tr h="208342">
                <a:tc rowSpan="3"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D-202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</a:rPr>
                        <a:t>Horizontal Reflux Drum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</a:rPr>
                        <a:t>V:4270L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</a:rPr>
                        <a:t>Carbon Steel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A temporary drum that collects the condensate from the condensor E-205.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3983673"/>
                  </a:ext>
                </a:extLst>
              </a:tr>
              <a:tr h="20834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D:1.2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9851925"/>
                  </a:ext>
                </a:extLst>
              </a:tr>
              <a:tr h="30093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L:4m(tangent/tangent)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3998907"/>
                  </a:ext>
                </a:extLst>
              </a:tr>
              <a:tr h="208342">
                <a:tc rowSpan="3"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D-203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Horizontal Reflux Drum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V:36296L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Carbon Steel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A temporary drum that collects the condensate from the condensor E-207.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1027904"/>
                  </a:ext>
                </a:extLst>
              </a:tr>
              <a:tr h="20834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 D:2.4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6171981"/>
                  </a:ext>
                </a:extLst>
              </a:tr>
              <a:tr h="30093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</a:rPr>
                        <a:t>L:7.8m(tangent/tangent)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4612946"/>
                  </a:ext>
                </a:extLst>
              </a:tr>
              <a:tr h="208342">
                <a:tc rowSpan="3"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D-204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Horizontal Reflux Drum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V:82141L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</a:rPr>
                        <a:t>Carbon Steel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A temporary drum that collects the condensate from the condensor E-209.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2774593"/>
                  </a:ext>
                </a:extLst>
              </a:tr>
              <a:tr h="20834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</a:rPr>
                        <a:t>D:3m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5713667"/>
                  </a:ext>
                </a:extLst>
              </a:tr>
              <a:tr h="30093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</a:rPr>
                        <a:t>L:10m(tangent/tangent)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0627429"/>
                  </a:ext>
                </a:extLst>
              </a:tr>
              <a:tr h="451407"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D-205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</a:rPr>
                        <a:t>Horizontal Reflux Drum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</a:rPr>
                        <a:t>N/A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</a:rPr>
                        <a:t>Carbon Steel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</a:rPr>
                        <a:t>A temporary drum that collects the condensate from the condenser E-211.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213396"/>
                  </a:ext>
                </a:extLst>
              </a:tr>
              <a:tr h="208342">
                <a:tc rowSpan="3"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D-206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Horizontal Reflux Drum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</a:rPr>
                        <a:t>V:123299L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Carbon Steel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</a:rPr>
                        <a:t>A temporary drum that collects the condensate from the condenser E-213.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7803537"/>
                  </a:ext>
                </a:extLst>
              </a:tr>
              <a:tr h="20834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</a:rPr>
                        <a:t>D:3.7m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4627498"/>
                  </a:ext>
                </a:extLst>
              </a:tr>
              <a:tr h="43983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</a:rPr>
                        <a:t>L:11.7m(tangent/tangent)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8136579"/>
                  </a:ext>
                </a:extLst>
              </a:tr>
              <a:tr h="208342">
                <a:tc rowSpan="2"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P-204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Centrifugal Reflux Pump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</a:rPr>
                        <a:t>Fluid head:25m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Carbon Steel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</a:rPr>
                        <a:t>Draws the liquid condensate from the reflux drum D-202 and sends it back to the top tray of T-201 as a reflux.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87932"/>
                  </a:ext>
                </a:extLst>
              </a:tr>
              <a:tr h="45140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</a:rPr>
                        <a:t>P:11kW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35725"/>
                  </a:ext>
                </a:extLst>
              </a:tr>
              <a:tr h="208342">
                <a:tc rowSpan="2"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P-205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Centrifugal Reflux Pump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</a:rPr>
                        <a:t>Fluid head:28m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Carbon Steel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</a:rPr>
                        <a:t>Draws the liquid condensate from the reflux drum D-203 and sends it back to the top tray of T-202 as a reflux.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027553"/>
                  </a:ext>
                </a:extLst>
              </a:tr>
              <a:tr h="45140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</a:rPr>
                        <a:t>P:16 kW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790413"/>
                  </a:ext>
                </a:extLst>
              </a:tr>
            </a:tbl>
          </a:graphicData>
        </a:graphic>
      </p:graphicFrame>
      <p:sp>
        <p:nvSpPr>
          <p:cNvPr id="16" name="Slide Number Placeholder 3">
            <a:extLst>
              <a:ext uri="{FF2B5EF4-FFF2-40B4-BE49-F238E27FC236}">
                <a16:creationId xmlns:a16="http://schemas.microsoft.com/office/drawing/2014/main" id="{4A818877-4A06-449C-9BB1-EF88F2CED915}"/>
              </a:ext>
            </a:extLst>
          </p:cNvPr>
          <p:cNvSpPr txBox="1">
            <a:spLocks/>
          </p:cNvSpPr>
          <p:nvPr/>
        </p:nvSpPr>
        <p:spPr>
          <a:xfrm>
            <a:off x="11016766" y="6295886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>
              <a:spcAft>
                <a:spcPts val="600"/>
              </a:spcAft>
            </a:pPr>
            <a:fld id="{34B7E4EF-A1BD-40F4-AB7B-04F084DD991D}" type="slidenum">
              <a:rPr lang="en-US" sz="2400" smtClean="0"/>
              <a:pPr defTabSz="457200">
                <a:spcAft>
                  <a:spcPts val="600"/>
                </a:spcAft>
              </a:pPr>
              <a:t>9</a:t>
            </a:fld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644651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D920209C-E85B-4D6F-A56F-724F5ADA8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125522E-1DFD-4F78-912B-B922A2D39D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DA72C10-FE9D-49B3-80CB-A7EE8BCB38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tangle 23">
              <a:extLst>
                <a:ext uri="{FF2B5EF4-FFF2-40B4-BE49-F238E27FC236}">
                  <a16:creationId xmlns:a16="http://schemas.microsoft.com/office/drawing/2014/main" id="{6E7DF470-1055-45E4-AB9D-11E42EC53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AA35CFF-3837-4B7F-B875-718AC2E14E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>
              <a:extLst>
                <a:ext uri="{FF2B5EF4-FFF2-40B4-BE49-F238E27FC236}">
                  <a16:creationId xmlns:a16="http://schemas.microsoft.com/office/drawing/2014/main" id="{62F41804-A347-47E3-8BD8-BD00CF2F64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76894B81-EE9C-4546-BCFA-DD9ED2C0AD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AF181D1-71AC-43D8-A6E1-D4C488D5DC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4132D661-917C-4D2D-8E37-8590B55D91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>
              <a:extLst>
                <a:ext uri="{FF2B5EF4-FFF2-40B4-BE49-F238E27FC236}">
                  <a16:creationId xmlns:a16="http://schemas.microsoft.com/office/drawing/2014/main" id="{7969643D-8B71-434D-A235-68CB241F9D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DF15C24A-4BCF-47C0-B2FA-76A0EF3384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02C9373-CE84-4E5E-9705-93CCA5FB7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013" y="85725"/>
            <a:ext cx="8596668" cy="13208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Equipment sizing and description and material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99A55-3129-4B7B-9DF1-843A1695A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0663" y="6041362"/>
            <a:ext cx="683339" cy="365125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defTabSz="457200">
              <a:spcAft>
                <a:spcPts val="600"/>
              </a:spcAft>
            </a:pPr>
            <a:fld id="{34B7E4EF-A1BD-40F4-AB7B-04F084DD991D}" type="slidenum">
              <a:rPr lang="en-US" smtClean="0"/>
              <a:pPr defTabSz="457200">
                <a:spcAft>
                  <a:spcPts val="600"/>
                </a:spcAft>
              </a:pPr>
              <a:t>10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C407352-4EBE-4133-BDCB-D115FE1B8D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6397091"/>
              </p:ext>
            </p:extLst>
          </p:nvPr>
        </p:nvGraphicFramePr>
        <p:xfrm>
          <a:off x="384313" y="1192696"/>
          <a:ext cx="8989618" cy="55096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8698">
                  <a:extLst>
                    <a:ext uri="{9D8B030D-6E8A-4147-A177-3AD203B41FA5}">
                      <a16:colId xmlns:a16="http://schemas.microsoft.com/office/drawing/2014/main" val="4164576263"/>
                    </a:ext>
                  </a:extLst>
                </a:gridCol>
                <a:gridCol w="1752489">
                  <a:extLst>
                    <a:ext uri="{9D8B030D-6E8A-4147-A177-3AD203B41FA5}">
                      <a16:colId xmlns:a16="http://schemas.microsoft.com/office/drawing/2014/main" val="3025417979"/>
                    </a:ext>
                  </a:extLst>
                </a:gridCol>
                <a:gridCol w="1833622">
                  <a:extLst>
                    <a:ext uri="{9D8B030D-6E8A-4147-A177-3AD203B41FA5}">
                      <a16:colId xmlns:a16="http://schemas.microsoft.com/office/drawing/2014/main" val="2584243556"/>
                    </a:ext>
                  </a:extLst>
                </a:gridCol>
                <a:gridCol w="1038511">
                  <a:extLst>
                    <a:ext uri="{9D8B030D-6E8A-4147-A177-3AD203B41FA5}">
                      <a16:colId xmlns:a16="http://schemas.microsoft.com/office/drawing/2014/main" val="1863375120"/>
                    </a:ext>
                  </a:extLst>
                </a:gridCol>
                <a:gridCol w="3456298">
                  <a:extLst>
                    <a:ext uri="{9D8B030D-6E8A-4147-A177-3AD203B41FA5}">
                      <a16:colId xmlns:a16="http://schemas.microsoft.com/office/drawing/2014/main" val="1884460886"/>
                    </a:ext>
                  </a:extLst>
                </a:gridCol>
              </a:tblGrid>
              <a:tr h="580956">
                <a:tc rowSpan="2"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</a:rPr>
                        <a:t>P-206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Centrifugal Reflux Pump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Fluid head:29m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Carbon Steel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Draws the liquid condensate from the reflux drum D-204 and sends it back to the top tray of T-203 as a reflux.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0037329"/>
                  </a:ext>
                </a:extLst>
              </a:tr>
              <a:tr h="3388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</a:rPr>
                        <a:t>P:12 kW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2152235"/>
                  </a:ext>
                </a:extLst>
              </a:tr>
              <a:tr h="665678"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P-207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</a:rPr>
                        <a:t>Centrifugal Reflux Pump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</a:rPr>
                        <a:t>N/A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</a:rPr>
                        <a:t>Carbon Steel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Draws the liquid condensate from the reflux drum D-205 and sends it back to the top tray of T-204 as a reflux.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3544238"/>
                  </a:ext>
                </a:extLst>
              </a:tr>
              <a:tr h="338890">
                <a:tc rowSpan="2"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P-208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Centrifugal Reflux Pump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</a:rPr>
                        <a:t>Fluid head:31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Carbon Steel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Draws the liquid condensate from the reflux drum D-206 and sends it back to the top tray of T-205 as a reflux.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1667401"/>
                  </a:ext>
                </a:extLst>
              </a:tr>
              <a:tr h="3388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</a:rPr>
                        <a:t>P:23kW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6130057"/>
                  </a:ext>
                </a:extLst>
              </a:tr>
              <a:tr h="193652">
                <a:tc rowSpan="2"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E-205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TEMA Shell and Tube HE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</a:rPr>
                        <a:t>Area:527sqm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Stainless Steel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Condenses the vapor distillate in the column T-201 to a liquid.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1708753"/>
                  </a:ext>
                </a:extLst>
              </a:tr>
              <a:tr h="41151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Q: -8.362MW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3423513"/>
                  </a:ext>
                </a:extLst>
              </a:tr>
              <a:tr h="193652">
                <a:tc rowSpan="2"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E-207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TEMA Shell and Tube HE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</a:rPr>
                        <a:t>Area:634sqm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Stainless Steel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Condenses the vapor distillate in the column T-202 to a liquid.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4074481"/>
                  </a:ext>
                </a:extLst>
              </a:tr>
              <a:tr h="20575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Q: -28.722MW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0740558"/>
                  </a:ext>
                </a:extLst>
              </a:tr>
              <a:tr h="193652">
                <a:tc rowSpan="2"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E-209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TEMA Shell and Tube HE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</a:rPr>
                        <a:t>Area:1073sqm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Stainless Steel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Condenses the vapor distillate in the column T-203 to a liquid.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0834976"/>
                  </a:ext>
                </a:extLst>
              </a:tr>
              <a:tr h="20575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Q: -59.592MW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6542589"/>
                  </a:ext>
                </a:extLst>
              </a:tr>
              <a:tr h="363097"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E-211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</a:rPr>
                        <a:t>TEMA Shell and Tube HE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</a:rPr>
                        <a:t>N/A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</a:rPr>
                        <a:t>Stainless Steel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Condenses the vapor distillate in the column T-204 to a liquid.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2852057"/>
                  </a:ext>
                </a:extLst>
              </a:tr>
              <a:tr h="399407">
                <a:tc rowSpan="2"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E-213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TEMA Shell and Tube HE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</a:rPr>
                        <a:t>Area:1290sqm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Stainless Steel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Condenses the vapor distillate in the column T-205 to a liquid.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4638598"/>
                  </a:ext>
                </a:extLst>
              </a:tr>
              <a:tr h="20575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Q: -87.247MW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701987"/>
                  </a:ext>
                </a:extLst>
              </a:tr>
              <a:tr h="435716">
                <a:tc rowSpan="2"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E-206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Kettle Reboiler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</a:rPr>
                        <a:t>Area:431sqm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Carbon Steel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</a:rPr>
                        <a:t>The reboiler heats the liquid in the bottom of the distillation column T-201 to 106.5 </a:t>
                      </a:r>
                      <a:r>
                        <a:rPr lang="en-US" sz="1200" b="1" baseline="30000" dirty="0" err="1">
                          <a:solidFill>
                            <a:schemeClr val="tx1"/>
                          </a:solidFill>
                          <a:effectLst/>
                        </a:rPr>
                        <a:t>o</a:t>
                      </a:r>
                      <a:r>
                        <a:rPr lang="en-US" sz="1200" b="1" dirty="0" err="1">
                          <a:solidFill>
                            <a:schemeClr val="tx1"/>
                          </a:solidFill>
                          <a:effectLst/>
                        </a:rPr>
                        <a:t>C</a:t>
                      </a: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</a:rPr>
                        <a:t> and provides a heat source for the operating temperature of the column. 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1354662"/>
                  </a:ext>
                </a:extLst>
              </a:tr>
              <a:tr h="43571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</a:rPr>
                        <a:t>Q: 8.6MW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5224576"/>
                  </a:ext>
                </a:extLst>
              </a:tr>
            </a:tbl>
          </a:graphicData>
        </a:graphic>
      </p:graphicFrame>
      <p:sp>
        <p:nvSpPr>
          <p:cNvPr id="16" name="Slide Number Placeholder 3">
            <a:extLst>
              <a:ext uri="{FF2B5EF4-FFF2-40B4-BE49-F238E27FC236}">
                <a16:creationId xmlns:a16="http://schemas.microsoft.com/office/drawing/2014/main" id="{8B52C4EA-3E93-47E4-AAEA-F5AF891EB1D3}"/>
              </a:ext>
            </a:extLst>
          </p:cNvPr>
          <p:cNvSpPr txBox="1">
            <a:spLocks/>
          </p:cNvSpPr>
          <p:nvPr/>
        </p:nvSpPr>
        <p:spPr>
          <a:xfrm>
            <a:off x="11016766" y="6295886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>
              <a:spcAft>
                <a:spcPts val="600"/>
              </a:spcAft>
            </a:pPr>
            <a:fld id="{34B7E4EF-A1BD-40F4-AB7B-04F084DD991D}" type="slidenum">
              <a:rPr lang="en-US" sz="2400" b="1" smtClean="0"/>
              <a:pPr defTabSz="457200">
                <a:spcAft>
                  <a:spcPts val="600"/>
                </a:spcAft>
              </a:pPr>
              <a:t>10</a:t>
            </a:fld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328405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D920209C-E85B-4D6F-A56F-724F5ADA8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125522E-1DFD-4F78-912B-B922A2D39D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DA72C10-FE9D-49B3-80CB-A7EE8BCB38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tangle 23">
              <a:extLst>
                <a:ext uri="{FF2B5EF4-FFF2-40B4-BE49-F238E27FC236}">
                  <a16:creationId xmlns:a16="http://schemas.microsoft.com/office/drawing/2014/main" id="{6E7DF470-1055-45E4-AB9D-11E42EC53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AA35CFF-3837-4B7F-B875-718AC2E14E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>
              <a:extLst>
                <a:ext uri="{FF2B5EF4-FFF2-40B4-BE49-F238E27FC236}">
                  <a16:creationId xmlns:a16="http://schemas.microsoft.com/office/drawing/2014/main" id="{62F41804-A347-47E3-8BD8-BD00CF2F64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76894B81-EE9C-4546-BCFA-DD9ED2C0AD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AF181D1-71AC-43D8-A6E1-D4C488D5DC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4132D661-917C-4D2D-8E37-8590B55D91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>
              <a:extLst>
                <a:ext uri="{FF2B5EF4-FFF2-40B4-BE49-F238E27FC236}">
                  <a16:creationId xmlns:a16="http://schemas.microsoft.com/office/drawing/2014/main" id="{7969643D-8B71-434D-A235-68CB241F9D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DF15C24A-4BCF-47C0-B2FA-76A0EF3384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02C9373-CE84-4E5E-9705-93CCA5FB7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013" y="85725"/>
            <a:ext cx="8596668" cy="13208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Equipment sizing and description and material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99A55-3129-4B7B-9DF1-843A1695A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0663" y="6041362"/>
            <a:ext cx="683339" cy="365125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defTabSz="457200">
              <a:spcAft>
                <a:spcPts val="600"/>
              </a:spcAft>
            </a:pPr>
            <a:fld id="{34B7E4EF-A1BD-40F4-AB7B-04F084DD991D}" type="slidenum">
              <a:rPr lang="en-US" smtClean="0"/>
              <a:pPr defTabSz="457200">
                <a:spcAft>
                  <a:spcPts val="600"/>
                </a:spcAft>
              </a:pPr>
              <a:t>11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B6BD04C-8782-467D-AACE-19B8DC86AD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6552459"/>
              </p:ext>
            </p:extLst>
          </p:nvPr>
        </p:nvGraphicFramePr>
        <p:xfrm>
          <a:off x="251731" y="1177017"/>
          <a:ext cx="9525499" cy="5433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2865">
                  <a:extLst>
                    <a:ext uri="{9D8B030D-6E8A-4147-A177-3AD203B41FA5}">
                      <a16:colId xmlns:a16="http://schemas.microsoft.com/office/drawing/2014/main" val="164210157"/>
                    </a:ext>
                  </a:extLst>
                </a:gridCol>
                <a:gridCol w="1856956">
                  <a:extLst>
                    <a:ext uri="{9D8B030D-6E8A-4147-A177-3AD203B41FA5}">
                      <a16:colId xmlns:a16="http://schemas.microsoft.com/office/drawing/2014/main" val="1410339460"/>
                    </a:ext>
                  </a:extLst>
                </a:gridCol>
                <a:gridCol w="1942927">
                  <a:extLst>
                    <a:ext uri="{9D8B030D-6E8A-4147-A177-3AD203B41FA5}">
                      <a16:colId xmlns:a16="http://schemas.microsoft.com/office/drawing/2014/main" val="978031020"/>
                    </a:ext>
                  </a:extLst>
                </a:gridCol>
                <a:gridCol w="1100419">
                  <a:extLst>
                    <a:ext uri="{9D8B030D-6E8A-4147-A177-3AD203B41FA5}">
                      <a16:colId xmlns:a16="http://schemas.microsoft.com/office/drawing/2014/main" val="523773863"/>
                    </a:ext>
                  </a:extLst>
                </a:gridCol>
                <a:gridCol w="3662332">
                  <a:extLst>
                    <a:ext uri="{9D8B030D-6E8A-4147-A177-3AD203B41FA5}">
                      <a16:colId xmlns:a16="http://schemas.microsoft.com/office/drawing/2014/main" val="1831054569"/>
                    </a:ext>
                  </a:extLst>
                </a:gridCol>
              </a:tblGrid>
              <a:tr h="219685">
                <a:tc rowSpan="2"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E-208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Kettle Reboiler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</a:rPr>
                        <a:t>Area:1975sqm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Carbon Steel 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The reboiler heats the liquid in the bottom of the distillation column T-202 to 156.1 </a:t>
                      </a:r>
                      <a:r>
                        <a:rPr lang="en-US" sz="1200" b="1" baseline="30000">
                          <a:solidFill>
                            <a:schemeClr val="tx1"/>
                          </a:solidFill>
                          <a:effectLst/>
                        </a:rPr>
                        <a:t>o</a:t>
                      </a:r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C and provides a heat souce for the operating temperature of the column. 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0793929"/>
                  </a:ext>
                </a:extLst>
              </a:tr>
              <a:tr h="68834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Q: 29MW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3065198"/>
                  </a:ext>
                </a:extLst>
              </a:tr>
              <a:tr h="219685">
                <a:tc rowSpan="2"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E-210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Kettle Reboiler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</a:rPr>
                        <a:t>Area:7178sqm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Carbon Steel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</a:rPr>
                        <a:t>The reboiler heats the liquid in the bottom of the distillation column T-203 to 163.0 </a:t>
                      </a:r>
                      <a:r>
                        <a:rPr lang="en-US" sz="1200" b="1" baseline="30000" dirty="0" err="1">
                          <a:solidFill>
                            <a:schemeClr val="tx1"/>
                          </a:solidFill>
                          <a:effectLst/>
                        </a:rPr>
                        <a:t>o</a:t>
                      </a:r>
                      <a:r>
                        <a:rPr lang="en-US" sz="1200" b="1" dirty="0" err="1">
                          <a:solidFill>
                            <a:schemeClr val="tx1"/>
                          </a:solidFill>
                          <a:effectLst/>
                        </a:rPr>
                        <a:t>C</a:t>
                      </a: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</a:rPr>
                        <a:t> and provides a heat source for the operating temperature of the column. 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4442049"/>
                  </a:ext>
                </a:extLst>
              </a:tr>
              <a:tr h="68834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Q: 75MW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544594"/>
                  </a:ext>
                </a:extLst>
              </a:tr>
              <a:tr h="922679"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E-212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</a:rPr>
                        <a:t>Kettle Reboiler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</a:rPr>
                        <a:t>N/A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</a:rPr>
                        <a:t>Carbon Steel 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</a:rPr>
                        <a:t>The reboiler heats the liquid in the bottom of the distillation column T-204 to 162.9 </a:t>
                      </a:r>
                      <a:r>
                        <a:rPr lang="en-US" sz="1200" b="1" baseline="30000" dirty="0" err="1">
                          <a:solidFill>
                            <a:schemeClr val="tx1"/>
                          </a:solidFill>
                          <a:effectLst/>
                        </a:rPr>
                        <a:t>o</a:t>
                      </a:r>
                      <a:r>
                        <a:rPr lang="en-US" sz="1200" b="1" dirty="0" err="1">
                          <a:solidFill>
                            <a:schemeClr val="tx1"/>
                          </a:solidFill>
                          <a:effectLst/>
                        </a:rPr>
                        <a:t>C</a:t>
                      </a: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</a:rPr>
                        <a:t> and provides a heat source for the operating temperature of the column. 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9322818"/>
                  </a:ext>
                </a:extLst>
              </a:tr>
              <a:tr h="219685">
                <a:tc rowSpan="2"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E-214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Kettle Reboiler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</a:rPr>
                        <a:t>Area:3155sqm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Carbon Steel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</a:rPr>
                        <a:t>The reboiler heats the liquid in the bottom of the distillation column T-205 to 144.8 </a:t>
                      </a:r>
                      <a:r>
                        <a:rPr lang="en-US" sz="1200" b="1" baseline="30000" dirty="0" err="1">
                          <a:solidFill>
                            <a:schemeClr val="tx1"/>
                          </a:solidFill>
                          <a:effectLst/>
                        </a:rPr>
                        <a:t>o</a:t>
                      </a:r>
                      <a:r>
                        <a:rPr lang="en-US" sz="1200" b="1" dirty="0" err="1">
                          <a:solidFill>
                            <a:schemeClr val="tx1"/>
                          </a:solidFill>
                          <a:effectLst/>
                        </a:rPr>
                        <a:t>C</a:t>
                      </a: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</a:rPr>
                        <a:t> and provides a heat source for the operating temperature of the column. 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937152"/>
                  </a:ext>
                </a:extLst>
              </a:tr>
              <a:tr h="68834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</a:rPr>
                        <a:t>Q: 80MW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73787"/>
                  </a:ext>
                </a:extLst>
              </a:tr>
              <a:tr h="219685">
                <a:tc rowSpan="2"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E-201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TEMA Shell and Tube HE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</a:rPr>
                        <a:t>Area:1392 sqm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Stainless Steel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</a:rPr>
                        <a:t>Increases the temperature of the reactor feed to 445 </a:t>
                      </a:r>
                      <a:r>
                        <a:rPr lang="en-US" sz="1200" b="1" baseline="30000" dirty="0" err="1">
                          <a:solidFill>
                            <a:schemeClr val="tx1"/>
                          </a:solidFill>
                          <a:effectLst/>
                        </a:rPr>
                        <a:t>o</a:t>
                      </a:r>
                      <a:r>
                        <a:rPr lang="en-US" sz="1200" b="1" dirty="0" err="1">
                          <a:solidFill>
                            <a:schemeClr val="tx1"/>
                          </a:solidFill>
                          <a:effectLst/>
                        </a:rPr>
                        <a:t>C.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4165310"/>
                  </a:ext>
                </a:extLst>
              </a:tr>
              <a:tr h="21968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Q: 247MW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8693838"/>
                  </a:ext>
                </a:extLst>
              </a:tr>
              <a:tr h="219685">
                <a:tc rowSpan="2"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E-202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TEMA Shell and Tube HE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</a:rPr>
                        <a:t>Area:1392 sqm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Stainless Steel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</a:rPr>
                        <a:t>Cools down the reactor effluent stream S5 to 49 </a:t>
                      </a:r>
                      <a:r>
                        <a:rPr lang="en-US" sz="1200" b="1" baseline="30000" dirty="0" err="1">
                          <a:solidFill>
                            <a:schemeClr val="tx1"/>
                          </a:solidFill>
                          <a:effectLst/>
                        </a:rPr>
                        <a:t>o</a:t>
                      </a:r>
                      <a:r>
                        <a:rPr lang="en-US" sz="1200" b="1" dirty="0" err="1">
                          <a:solidFill>
                            <a:schemeClr val="tx1"/>
                          </a:solidFill>
                          <a:effectLst/>
                        </a:rPr>
                        <a:t>C.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5266778"/>
                  </a:ext>
                </a:extLst>
              </a:tr>
              <a:tr h="21968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Q: -247MW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8009726"/>
                  </a:ext>
                </a:extLst>
              </a:tr>
              <a:tr h="219685">
                <a:tc rowSpan="2"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E-203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TEMA Shell and Tube HE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</a:rPr>
                        <a:t>Area:18sqm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Carbon Steel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Increases the temperature of S8 to 102</a:t>
                      </a:r>
                      <a:r>
                        <a:rPr lang="en-US" sz="1200" b="1" baseline="3000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b="1" baseline="30000" err="1">
                          <a:solidFill>
                            <a:schemeClr val="tx1"/>
                          </a:solidFill>
                          <a:effectLst/>
                        </a:rPr>
                        <a:t>o</a:t>
                      </a:r>
                      <a:r>
                        <a:rPr lang="en-US" sz="1200" b="1" err="1">
                          <a:solidFill>
                            <a:schemeClr val="tx1"/>
                          </a:solidFill>
                          <a:effectLst/>
                        </a:rPr>
                        <a:t>C.</a:t>
                      </a:r>
                      <a:endParaRPr lang="en-US" sz="1200" b="1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1388244"/>
                  </a:ext>
                </a:extLst>
              </a:tr>
              <a:tr h="24897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Q: 1MW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2856333"/>
                  </a:ext>
                </a:extLst>
              </a:tr>
              <a:tr h="219685">
                <a:tc rowSpan="2"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E-204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TEMA Shell and Tube HE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</a:rPr>
                        <a:t>Area:825 sqm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Carbon Steel 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</a:rPr>
                        <a:t>Increases the temperature of S12 to 150 </a:t>
                      </a:r>
                      <a:r>
                        <a:rPr lang="en-US" sz="1200" b="1" baseline="30000" dirty="0" err="1">
                          <a:solidFill>
                            <a:schemeClr val="tx1"/>
                          </a:solidFill>
                          <a:effectLst/>
                        </a:rPr>
                        <a:t>o</a:t>
                      </a:r>
                      <a:r>
                        <a:rPr lang="en-US" sz="1200" b="1" dirty="0" err="1">
                          <a:solidFill>
                            <a:schemeClr val="tx1"/>
                          </a:solidFill>
                          <a:effectLst/>
                        </a:rPr>
                        <a:t>C.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3068925"/>
                  </a:ext>
                </a:extLst>
              </a:tr>
              <a:tr h="21968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</a:rPr>
                        <a:t>Q: 20MW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4332552"/>
                  </a:ext>
                </a:extLst>
              </a:tr>
            </a:tbl>
          </a:graphicData>
        </a:graphic>
      </p:graphicFrame>
      <p:sp>
        <p:nvSpPr>
          <p:cNvPr id="16" name="Slide Number Placeholder 3">
            <a:extLst>
              <a:ext uri="{FF2B5EF4-FFF2-40B4-BE49-F238E27FC236}">
                <a16:creationId xmlns:a16="http://schemas.microsoft.com/office/drawing/2014/main" id="{AD22FEE5-EC48-461C-BBFD-3846263FFD66}"/>
              </a:ext>
            </a:extLst>
          </p:cNvPr>
          <p:cNvSpPr txBox="1">
            <a:spLocks/>
          </p:cNvSpPr>
          <p:nvPr/>
        </p:nvSpPr>
        <p:spPr>
          <a:xfrm>
            <a:off x="11016766" y="6295886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>
              <a:spcAft>
                <a:spcPts val="600"/>
              </a:spcAft>
            </a:pPr>
            <a:fld id="{34B7E4EF-A1BD-40F4-AB7B-04F084DD991D}" type="slidenum">
              <a:rPr lang="en-US" sz="2400" b="1" smtClean="0"/>
              <a:pPr defTabSz="457200">
                <a:spcAft>
                  <a:spcPts val="600"/>
                </a:spcAft>
              </a:pPr>
              <a:t>11</a:t>
            </a:fld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9150577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665B3-2610-4587-B3EB-EE9C904EF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799" y="27860"/>
            <a:ext cx="10058400" cy="1609344"/>
          </a:xfrm>
        </p:spPr>
        <p:txBody>
          <a:bodyPr/>
          <a:lstStyle/>
          <a:p>
            <a:r>
              <a:rPr lang="en-US"/>
              <a:t>Hand Calculations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63DD9F-F963-4940-B998-B2A13921542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0608" y="1679306"/>
                <a:ext cx="5032248" cy="4694062"/>
              </a:xfrm>
            </p:spPr>
            <p:txBody>
              <a:bodyPr>
                <a:normAutofit fontScale="92500" lnSpcReduction="20000"/>
              </a:bodyPr>
              <a:lstStyle/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2400" b="1">
                    <a:solidFill>
                      <a:srgbClr val="0070C0"/>
                    </a:solidFill>
                  </a:rPr>
                  <a:t>Number of Theoretical Stages (Fenske Equation)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US" sz="1300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b="1" i="1"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en-US" sz="21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sz="2100" b="1" i="1">
                                  <a:latin typeface="Cambria Math" panose="02040503050406030204" pitchFamily="18" charset="0"/>
                                </a:rPr>
                                <m:t>𝐥𝐨𝐠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US" sz="2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21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en-US" sz="21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100" b="1" i="1">
                                                  <a:latin typeface="Cambria Math" panose="02040503050406030204" pitchFamily="18" charset="0"/>
                                                </a:rPr>
                                                <m:t>𝑿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100" b="1" i="1">
                                                  <a:latin typeface="Cambria Math" panose="02040503050406030204" pitchFamily="18" charset="0"/>
                                                </a:rPr>
                                                <m:t>𝒅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r>
                                            <a:rPr lang="en-US" sz="2100" b="1" i="1"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  <m:r>
                                            <a:rPr lang="en-US" sz="2100" b="1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1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100" b="1" i="1">
                                                  <a:latin typeface="Cambria Math" panose="02040503050406030204" pitchFamily="18" charset="0"/>
                                                </a:rPr>
                                                <m:t>𝑿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100" b="1" i="1">
                                                  <a:latin typeface="Cambria Math" panose="02040503050406030204" pitchFamily="18" charset="0"/>
                                                </a:rPr>
                                                <m:t>𝒅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d>
                                  <m:d>
                                    <m:dPr>
                                      <m:ctrlPr>
                                        <a:rPr lang="en-US" sz="2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21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100" b="1" i="1"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  <m:r>
                                            <a:rPr lang="en-US" sz="2100" b="1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1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100" b="1" i="1">
                                                  <a:latin typeface="Cambria Math" panose="02040503050406030204" pitchFamily="18" charset="0"/>
                                                </a:rPr>
                                                <m:t>𝑿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100" b="1" i="1">
                                                  <a:latin typeface="Cambria Math" panose="02040503050406030204" pitchFamily="18" charset="0"/>
                                                </a:rPr>
                                                <m:t>𝒃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en-US" sz="21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100" b="1" i="1">
                                                  <a:latin typeface="Cambria Math" panose="02040503050406030204" pitchFamily="18" charset="0"/>
                                                </a:rPr>
                                                <m:t>𝑿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100" b="1" i="1">
                                                  <a:latin typeface="Cambria Math" panose="02040503050406030204" pitchFamily="18" charset="0"/>
                                                </a:rPr>
                                                <m:t>𝒃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d>
                                </m:e>
                              </m:d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sz="2100" b="1" i="1">
                                  <a:latin typeface="Cambria Math" panose="02040503050406030204" pitchFamily="18" charset="0"/>
                                </a:rPr>
                                <m:t>𝐥𝐨𝐠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100" b="1" i="1">
                                      <a:latin typeface="Cambria Math" panose="02040503050406030204" pitchFamily="18" charset="0"/>
                                    </a:rPr>
                                    <m:t>𝜶</m:t>
                                  </m:r>
                                </m:e>
                                <m:sub>
                                  <m:r>
                                    <a:rPr lang="en-US" sz="2100" b="1" i="1">
                                      <a:latin typeface="Cambria Math" panose="02040503050406030204" pitchFamily="18" charset="0"/>
                                    </a:rPr>
                                    <m:t>𝒂𝒗𝒈</m:t>
                                  </m:r>
                                </m:sub>
                              </m:sSub>
                            </m:e>
                          </m:func>
                        </m:den>
                      </m:f>
                    </m:oMath>
                  </m:oMathPara>
                </a14:m>
                <a:endParaRPr lang="en-US" b="1"/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US" sz="1300" b="1"/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2400" b="1">
                    <a:solidFill>
                      <a:srgbClr val="0070C0"/>
                    </a:solidFill>
                  </a:rPr>
                  <a:t>Tray Efficiency (O’Connell Equation)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US" sz="1300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b="1" i="1">
                          <a:latin typeface="Cambria Math" panose="02040503050406030204" pitchFamily="18" charset="0"/>
                        </a:rPr>
                        <m:t>𝜼</m:t>
                      </m:r>
                      <m:r>
                        <a:rPr lang="en-US" sz="21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100" b="1" i="1">
                          <a:latin typeface="Cambria Math" panose="02040503050406030204" pitchFamily="18" charset="0"/>
                        </a:rPr>
                        <m:t>𝟓𝟎</m:t>
                      </m:r>
                      <m:r>
                        <a:rPr lang="en-US" sz="2100" b="1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100" b="1" i="1">
                          <a:latin typeface="Cambria Math" panose="02040503050406030204" pitchFamily="18" charset="0"/>
                        </a:rPr>
                        <m:t>𝟑</m:t>
                      </m:r>
                      <m:sSup>
                        <m:sSup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100" b="1" i="1">
                                      <a:latin typeface="Cambria Math" panose="02040503050406030204" pitchFamily="18" charset="0"/>
                                    </a:rPr>
                                    <m:t>𝜶</m:t>
                                  </m:r>
                                </m:e>
                                <m:sub>
                                  <m:r>
                                    <a:rPr lang="en-US" sz="2100" b="1" i="1">
                                      <a:latin typeface="Cambria Math" panose="02040503050406030204" pitchFamily="18" charset="0"/>
                                    </a:rPr>
                                    <m:t>𝒂𝒗𝒈</m:t>
                                  </m:r>
                                </m:sub>
                              </m:sSub>
                              <m:r>
                                <a:rPr lang="en-US" sz="2100" b="1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r>
                                <a:rPr lang="en-US" sz="2100" b="1" i="1"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</m:d>
                        </m:e>
                        <m:sup>
                          <m:r>
                            <a:rPr lang="en-US" sz="21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100" b="1" i="1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sz="2100" b="1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100" b="1" i="1">
                              <a:latin typeface="Cambria Math" panose="02040503050406030204" pitchFamily="18" charset="0"/>
                            </a:rPr>
                            <m:t>𝟐𝟐𝟔</m:t>
                          </m:r>
                        </m:sup>
                      </m:sSup>
                    </m:oMath>
                  </m:oMathPara>
                </a14:m>
                <a:endParaRPr lang="en-US" b="1"/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US" sz="1300" b="1"/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2400" b="1">
                    <a:solidFill>
                      <a:srgbClr val="0070C0"/>
                    </a:solidFill>
                  </a:rPr>
                  <a:t>Actual Number of Trays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US" sz="1400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1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00" b="1" i="1">
                              <a:latin typeface="Cambria Math" panose="02040503050406030204" pitchFamily="18" charset="0"/>
                            </a:rPr>
                            <m:t>𝑵</m:t>
                          </m:r>
                        </m:e>
                        <m:sub>
                          <m:r>
                            <a:rPr lang="en-US" sz="2100" b="1" i="1">
                              <a:latin typeface="Cambria Math" panose="02040503050406030204" pitchFamily="18" charset="0"/>
                            </a:rPr>
                            <m:t>𝒂𝒄𝒕𝒖𝒂𝒍</m:t>
                          </m:r>
                        </m:sub>
                      </m:sSub>
                      <m:r>
                        <a:rPr lang="en-US" sz="21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00" b="1" i="1">
                              <a:latin typeface="Cambria Math" panose="02040503050406030204" pitchFamily="18" charset="0"/>
                            </a:rPr>
                            <m:t>𝑵</m:t>
                          </m:r>
                        </m:num>
                        <m:den>
                          <m:r>
                            <a:rPr lang="en-US" sz="2100" b="1" i="1">
                              <a:latin typeface="Cambria Math" panose="02040503050406030204" pitchFamily="18" charset="0"/>
                            </a:rPr>
                            <m:t>𝜼</m:t>
                          </m:r>
                        </m:den>
                      </m:f>
                    </m:oMath>
                  </m:oMathPara>
                </a14:m>
                <a:endParaRPr lang="en-US" b="1"/>
              </a:p>
              <a:p>
                <a:endParaRPr lang="en-US" b="1"/>
              </a:p>
              <a:p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63DD9F-F963-4940-B998-B2A1392154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0608" y="1679306"/>
                <a:ext cx="5032248" cy="4694062"/>
              </a:xfrm>
              <a:blipFill>
                <a:blip r:embed="rId2"/>
                <a:stretch>
                  <a:fillRect l="-727" t="-2335" b="-13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1959A4-6456-48A5-871A-35182994F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12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6D77EA7C-65CB-417A-B08E-814361997CC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33484" y="3783119"/>
                <a:ext cx="5032248" cy="297041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182880" indent="-18288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288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31520" indent="-18288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Char char="§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05840" indent="-18288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Char char="§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280160" indent="-18288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Char char="§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00000" indent="-22860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Char char="§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900000" indent="-22860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Char char="§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200000" indent="-22860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Char char="§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500000" indent="-22860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Char char="§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200" b="1">
                    <a:solidFill>
                      <a:srgbClr val="0070C0"/>
                    </a:solidFill>
                  </a:rPr>
                  <a:t>Tower Height</a:t>
                </a:r>
              </a:p>
              <a:p>
                <a:endParaRPr lang="en-US" sz="1200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𝒂𝒄𝒕𝒖𝒂𝒍</m:t>
                              </m:r>
                            </m:sub>
                          </m:s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b="1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𝝓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𝟏𝟓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Font typeface="Wingdings" pitchFamily="2" charset="2"/>
                  <a:buNone/>
                </a:pPr>
                <a:endParaRPr lang="en-US" sz="2400" b="1"/>
              </a:p>
              <a:p>
                <a:r>
                  <a:rPr lang="en-US" sz="2200" b="1">
                    <a:solidFill>
                      <a:srgbClr val="0070C0"/>
                    </a:solidFill>
                  </a:rPr>
                  <a:t>Column Diameter (“Heat Factor” Rule of Thumb)</a:t>
                </a:r>
              </a:p>
              <a:p>
                <a:endParaRPr lang="en-US" sz="1200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𝟑𝟓𝟎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𝟎𝟎𝟎</m:t>
                          </m:r>
                        </m:den>
                      </m:f>
                    </m:oMath>
                  </m:oMathPara>
                </a14:m>
                <a:endParaRPr lang="en-US" b="1"/>
              </a:p>
              <a:p>
                <a:pPr marL="0" indent="0">
                  <a:buFont typeface="Wingdings" pitchFamily="2" charset="2"/>
                  <a:buNone/>
                </a:pPr>
                <a:endParaRPr lang="en-US" b="1"/>
              </a:p>
              <a:p>
                <a:endParaRPr lang="en-US" b="1"/>
              </a:p>
              <a:p>
                <a:endParaRPr lang="en-US" b="1"/>
              </a:p>
              <a:p>
                <a:endParaRPr lang="en-US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6D77EA7C-65CB-417A-B08E-814361997C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3484" y="3783119"/>
                <a:ext cx="5032248" cy="2970418"/>
              </a:xfrm>
              <a:prstGeom prst="rect">
                <a:avLst/>
              </a:prstGeom>
              <a:blipFill>
                <a:blip r:embed="rId3"/>
                <a:stretch>
                  <a:fillRect l="-848" t="-2669" b="-195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EBC050A2-553D-4B1C-9EC3-62107EF5E17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rcRect l="32464" r="51634" b="58426"/>
          <a:stretch/>
        </p:blipFill>
        <p:spPr>
          <a:xfrm>
            <a:off x="6003851" y="104463"/>
            <a:ext cx="2452578" cy="331735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87E9B66-FEBB-4B24-92B4-06BFF4B5C905}"/>
              </a:ext>
            </a:extLst>
          </p:cNvPr>
          <p:cNvSpPr txBox="1"/>
          <p:nvPr/>
        </p:nvSpPr>
        <p:spPr>
          <a:xfrm>
            <a:off x="2084007" y="6858000"/>
            <a:ext cx="80239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5" tooltip="https://en.wikipedia.org/wiki/Fractionating_column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6" tooltip="https://creativecommons.org/licenses/by-sa/3.0/"/>
              </a:rPr>
              <a:t>CC BY-SA</a:t>
            </a:r>
            <a:endParaRPr lang="en-US" sz="9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E6A59B-6BD4-4B0C-914F-31F05D02C3F3}"/>
              </a:ext>
            </a:extLst>
          </p:cNvPr>
          <p:cNvSpPr txBox="1"/>
          <p:nvPr/>
        </p:nvSpPr>
        <p:spPr>
          <a:xfrm>
            <a:off x="8204552" y="1844613"/>
            <a:ext cx="15862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[8]</a:t>
            </a:r>
          </a:p>
        </p:txBody>
      </p:sp>
    </p:spTree>
    <p:extLst>
      <p:ext uri="{BB962C8B-B14F-4D97-AF65-F5344CB8AC3E}">
        <p14:creationId xmlns:p14="http://schemas.microsoft.com/office/powerpoint/2010/main" val="41966439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AA78EEC-FE75-4259-BB6A-A1D3E7A85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33754"/>
            <a:ext cx="8596668" cy="832339"/>
          </a:xfrm>
        </p:spPr>
        <p:txBody>
          <a:bodyPr/>
          <a:lstStyle/>
          <a:p>
            <a:r>
              <a:rPr lang="en-US"/>
              <a:t>Sizing Comparison of Methanol Column</a:t>
            </a:r>
            <a:endParaRPr lang="ja-JP" altLang="en-US">
              <a:ea typeface="メイリオ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485DC09-808E-463C-B5CE-DAFAEC2E81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5652039"/>
              </p:ext>
            </p:extLst>
          </p:nvPr>
        </p:nvGraphicFramePr>
        <p:xfrm>
          <a:off x="6900984" y="1858050"/>
          <a:ext cx="4453713" cy="3972270"/>
        </p:xfrm>
        <a:graphic>
          <a:graphicData uri="http://schemas.openxmlformats.org/drawingml/2006/table">
            <a:tbl>
              <a:tblPr firstRow="1" bandRow="1">
                <a:tableStyleId>{74C1A8A3-306A-4EB7-A6B1-4F7E0EB9C5D6}</a:tableStyleId>
              </a:tblPr>
              <a:tblGrid>
                <a:gridCol w="1484571">
                  <a:extLst>
                    <a:ext uri="{9D8B030D-6E8A-4147-A177-3AD203B41FA5}">
                      <a16:colId xmlns:a16="http://schemas.microsoft.com/office/drawing/2014/main" val="1735046733"/>
                    </a:ext>
                  </a:extLst>
                </a:gridCol>
                <a:gridCol w="1484571">
                  <a:extLst>
                    <a:ext uri="{9D8B030D-6E8A-4147-A177-3AD203B41FA5}">
                      <a16:colId xmlns:a16="http://schemas.microsoft.com/office/drawing/2014/main" val="2835524411"/>
                    </a:ext>
                  </a:extLst>
                </a:gridCol>
                <a:gridCol w="1484571">
                  <a:extLst>
                    <a:ext uri="{9D8B030D-6E8A-4147-A177-3AD203B41FA5}">
                      <a16:colId xmlns:a16="http://schemas.microsoft.com/office/drawing/2014/main" val="1569745238"/>
                    </a:ext>
                  </a:extLst>
                </a:gridCol>
              </a:tblGrid>
              <a:tr h="980295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u="none" strike="noStrike" dirty="0">
                          <a:effectLst/>
                        </a:rPr>
                        <a:t>Parameters</a:t>
                      </a:r>
                      <a:endParaRPr lang="en-US" sz="3200" dirty="0">
                        <a:effectLst/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u="none" strike="noStrike">
                          <a:effectLst/>
                        </a:rPr>
                        <a:t>Hand Calculated</a:t>
                      </a:r>
                      <a:endParaRPr lang="en-US" sz="3200">
                        <a:effectLst/>
                      </a:endParaRPr>
                    </a:p>
                  </a:txBody>
                  <a:tcPr marL="68580" marR="6858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u="none" strike="noStrike">
                          <a:effectLst/>
                        </a:rPr>
                        <a:t>ASPEN v8.4</a:t>
                      </a:r>
                      <a:endParaRPr lang="en-US" sz="3200">
                        <a:effectLst/>
                      </a:endParaRPr>
                    </a:p>
                  </a:txBody>
                  <a:tcPr marL="68580" marR="6858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21475475"/>
                  </a:ext>
                </a:extLst>
              </a:tr>
              <a:tr h="980295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u="none" strike="noStrike">
                          <a:effectLst/>
                        </a:rPr>
                        <a:t>Number of Trays</a:t>
                      </a:r>
                      <a:endParaRPr lang="en-US" sz="3200">
                        <a:effectLst/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u="none" strike="noStrike">
                          <a:effectLst/>
                        </a:rPr>
                        <a:t>11</a:t>
                      </a:r>
                      <a:endParaRPr lang="en-US" sz="320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u="none" strike="noStrike">
                          <a:effectLst/>
                        </a:rPr>
                        <a:t>19</a:t>
                      </a:r>
                      <a:endParaRPr lang="en-US" sz="3200">
                        <a:effectLst/>
                      </a:endParaRPr>
                    </a:p>
                  </a:txBody>
                  <a:tcPr marL="68580" marR="6858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853190932"/>
                  </a:ext>
                </a:extLst>
              </a:tr>
              <a:tr h="980295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u="none" strike="noStrike">
                          <a:effectLst/>
                        </a:rPr>
                        <a:t>Height of the Column (ft)</a:t>
                      </a:r>
                      <a:endParaRPr lang="en-US" sz="3200">
                        <a:effectLst/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u="none" strike="noStrike">
                          <a:effectLst/>
                        </a:rPr>
                        <a:t>32.2</a:t>
                      </a:r>
                      <a:endParaRPr lang="en-US" sz="320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u="none" strike="noStrike">
                          <a:effectLst/>
                        </a:rPr>
                        <a:t>41.4</a:t>
                      </a:r>
                      <a:endParaRPr lang="en-US" sz="3200">
                        <a:effectLst/>
                      </a:endParaRPr>
                    </a:p>
                  </a:txBody>
                  <a:tcPr marL="68580" marR="6858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67481697"/>
                  </a:ext>
                </a:extLst>
              </a:tr>
              <a:tr h="980295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u="none" strike="noStrike">
                          <a:effectLst/>
                        </a:rPr>
                        <a:t>Diameter of the Column (ft)</a:t>
                      </a:r>
                      <a:endParaRPr lang="en-US" sz="3200">
                        <a:effectLst/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u="none" strike="noStrike">
                          <a:effectLst/>
                        </a:rPr>
                        <a:t>9.17</a:t>
                      </a:r>
                      <a:endParaRPr lang="en-US" sz="3200">
                        <a:effectLst/>
                      </a:endParaRPr>
                    </a:p>
                  </a:txBody>
                  <a:tcPr marL="68580" marR="6858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u="none" strike="noStrike" dirty="0">
                          <a:effectLst/>
                        </a:rPr>
                        <a:t>5.64</a:t>
                      </a:r>
                      <a:endParaRPr lang="en-US" sz="3200" dirty="0">
                        <a:effectLst/>
                      </a:endParaRPr>
                    </a:p>
                  </a:txBody>
                  <a:tcPr marL="68580" marR="6858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5690769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7C7CFCB-CFCB-4912-9035-4783138E6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13</a:t>
            </a:fld>
            <a:endParaRPr lang="en-US" dirty="0"/>
          </a:p>
        </p:txBody>
      </p:sp>
      <p:pic>
        <p:nvPicPr>
          <p:cNvPr id="5" name="Picture 6" descr="A close up of a map&#10;&#10;Description generated with very high confidence">
            <a:extLst>
              <a:ext uri="{FF2B5EF4-FFF2-40B4-BE49-F238E27FC236}">
                <a16:creationId xmlns:a16="http://schemas.microsoft.com/office/drawing/2014/main" id="{974E89EE-1CA8-4514-92E5-D0E63BBAED34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35665" y="1174638"/>
            <a:ext cx="6484813" cy="5339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1498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F33A2D3-28B9-4B2C-8A64-C9A349DEA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Preliminary Utilities Demand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2ECF8E7-9CE3-4316-A6D2-4380D9E7F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14</a:t>
            </a:fld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0D34D24-C008-46C5-AF94-0C9BDEA255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2611786"/>
              </p:ext>
            </p:extLst>
          </p:nvPr>
        </p:nvGraphicFramePr>
        <p:xfrm>
          <a:off x="788505" y="1535043"/>
          <a:ext cx="7211030" cy="50854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4637">
                  <a:extLst>
                    <a:ext uri="{9D8B030D-6E8A-4147-A177-3AD203B41FA5}">
                      <a16:colId xmlns:a16="http://schemas.microsoft.com/office/drawing/2014/main" val="2964610152"/>
                    </a:ext>
                  </a:extLst>
                </a:gridCol>
                <a:gridCol w="1600618">
                  <a:extLst>
                    <a:ext uri="{9D8B030D-6E8A-4147-A177-3AD203B41FA5}">
                      <a16:colId xmlns:a16="http://schemas.microsoft.com/office/drawing/2014/main" val="3305662242"/>
                    </a:ext>
                  </a:extLst>
                </a:gridCol>
                <a:gridCol w="1584117">
                  <a:extLst>
                    <a:ext uri="{9D8B030D-6E8A-4147-A177-3AD203B41FA5}">
                      <a16:colId xmlns:a16="http://schemas.microsoft.com/office/drawing/2014/main" val="3049595606"/>
                    </a:ext>
                  </a:extLst>
                </a:gridCol>
                <a:gridCol w="2161658">
                  <a:extLst>
                    <a:ext uri="{9D8B030D-6E8A-4147-A177-3AD203B41FA5}">
                      <a16:colId xmlns:a16="http://schemas.microsoft.com/office/drawing/2014/main" val="3889232678"/>
                    </a:ext>
                  </a:extLst>
                </a:gridCol>
              </a:tblGrid>
              <a:tr h="65777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  <a:latin typeface="+mn-lt"/>
                        </a:rPr>
                        <a:t>Name​</a:t>
                      </a:r>
                      <a:endParaRPr lang="en-US" sz="1800" b="1" i="0" u="none" strike="noStrike" dirty="0">
                        <a:solidFill>
                          <a:srgbClr val="FFFFFF"/>
                        </a:solidFill>
                        <a:effectLst/>
                        <a:latin typeface="+mn-lt"/>
                      </a:endParaRPr>
                    </a:p>
                  </a:txBody>
                  <a:tcPr marL="5339" marR="5339" marT="533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  <a:latin typeface="+mn-lt"/>
                        </a:rPr>
                        <a:t>Fluid​</a:t>
                      </a:r>
                      <a:endParaRPr lang="en-US" sz="1800" b="1" i="0" u="none" strike="noStrike">
                        <a:solidFill>
                          <a:srgbClr val="FFFFFF"/>
                        </a:solidFill>
                        <a:effectLst/>
                        <a:latin typeface="+mn-lt"/>
                      </a:endParaRPr>
                    </a:p>
                  </a:txBody>
                  <a:tcPr marL="5339" marR="5339" marT="533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  <a:latin typeface="+mn-lt"/>
                        </a:rPr>
                        <a:t>Rate​</a:t>
                      </a:r>
                      <a:endParaRPr lang="en-US" sz="1800" b="1" i="0" u="none" strike="noStrike">
                        <a:solidFill>
                          <a:srgbClr val="FFFFFF"/>
                        </a:solidFill>
                        <a:effectLst/>
                        <a:latin typeface="+mn-lt"/>
                      </a:endParaRPr>
                    </a:p>
                  </a:txBody>
                  <a:tcPr marL="5339" marR="5339" marT="533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  <a:latin typeface="+mn-lt"/>
                        </a:rPr>
                        <a:t>Rate Units​</a:t>
                      </a:r>
                      <a:endParaRPr lang="en-US" sz="1800" b="1" i="0" u="none" strike="noStrike">
                        <a:solidFill>
                          <a:srgbClr val="FFFFFF"/>
                        </a:solidFill>
                        <a:effectLst/>
                        <a:latin typeface="+mn-lt"/>
                      </a:endParaRPr>
                    </a:p>
                  </a:txBody>
                  <a:tcPr marL="5339" marR="5339" marT="5339" marB="0" anchor="ctr"/>
                </a:tc>
                <a:extLst>
                  <a:ext uri="{0D108BD9-81ED-4DB2-BD59-A6C34878D82A}">
                    <a16:rowId xmlns:a16="http://schemas.microsoft.com/office/drawing/2014/main" val="1297528467"/>
                  </a:ext>
                </a:extLst>
              </a:tr>
              <a:tr h="74878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  <a:latin typeface="+mn-lt"/>
                        </a:rPr>
                        <a:t>Electricity​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39" marR="5339" marT="533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  <a:latin typeface="+mn-lt"/>
                        </a:rPr>
                        <a:t>Power​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39" marR="5339" marT="533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  <a:latin typeface="+mn-lt"/>
                        </a:rPr>
                        <a:t>121​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39" marR="5339" marT="533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  <a:latin typeface="+mn-lt"/>
                        </a:rPr>
                        <a:t>kW​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39" marR="5339" marT="5339" marB="0" anchor="ctr"/>
                </a:tc>
                <a:extLst>
                  <a:ext uri="{0D108BD9-81ED-4DB2-BD59-A6C34878D82A}">
                    <a16:rowId xmlns:a16="http://schemas.microsoft.com/office/drawing/2014/main" val="3659918106"/>
                  </a:ext>
                </a:extLst>
              </a:tr>
              <a:tr h="66920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  <a:latin typeface="+mn-lt"/>
                        </a:rPr>
                        <a:t>Cooling Water​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39" marR="5339" marT="533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  <a:latin typeface="+mn-lt"/>
                        </a:rPr>
                        <a:t>Water​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39" marR="5339" marT="533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  <a:latin typeface="+mn-lt"/>
                        </a:rPr>
                        <a:t>38,485,930​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39" marR="5339" marT="533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  <a:latin typeface="+mn-lt"/>
                        </a:rPr>
                        <a:t>lb/hr​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39" marR="5339" marT="5339" marB="0" anchor="ctr"/>
                </a:tc>
                <a:extLst>
                  <a:ext uri="{0D108BD9-81ED-4DB2-BD59-A6C34878D82A}">
                    <a16:rowId xmlns:a16="http://schemas.microsoft.com/office/drawing/2014/main" val="1618395240"/>
                  </a:ext>
                </a:extLst>
              </a:tr>
              <a:tr h="51683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  <a:latin typeface="+mn-lt"/>
                        </a:rPr>
                        <a:t>LP Steam​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39" marR="5339" marT="533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  <a:latin typeface="+mn-lt"/>
                        </a:rPr>
                        <a:t>Steam​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39" marR="5339" marT="533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  <a:latin typeface="+mn-lt"/>
                        </a:rPr>
                        <a:t>33,335​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39" marR="5339" marT="533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  <a:latin typeface="+mn-lt"/>
                        </a:rPr>
                        <a:t>lb/hr​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39" marR="5339" marT="5339" marB="0" anchor="ctr"/>
                </a:tc>
                <a:extLst>
                  <a:ext uri="{0D108BD9-81ED-4DB2-BD59-A6C34878D82A}">
                    <a16:rowId xmlns:a16="http://schemas.microsoft.com/office/drawing/2014/main" val="4260657030"/>
                  </a:ext>
                </a:extLst>
              </a:tr>
              <a:tr h="55659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  <a:latin typeface="+mn-lt"/>
                        </a:rPr>
                        <a:t>MP Steam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39" marR="5339" marT="533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  <a:latin typeface="+mn-lt"/>
                        </a:rPr>
                        <a:t>Steam​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39" marR="5339" marT="533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  <a:latin typeface="+mn-lt"/>
                        </a:rPr>
                        <a:t>976,089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39" marR="5339" marT="533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 err="1">
                          <a:effectLst/>
                          <a:latin typeface="+mn-lt"/>
                        </a:rPr>
                        <a:t>lb</a:t>
                      </a:r>
                      <a:r>
                        <a:rPr lang="en-US" sz="1800" u="none" strike="noStrike" dirty="0">
                          <a:effectLst/>
                          <a:latin typeface="+mn-lt"/>
                        </a:rPr>
                        <a:t>/</a:t>
                      </a:r>
                      <a:r>
                        <a:rPr lang="en-US" sz="1800" u="none" strike="noStrike" dirty="0" err="1">
                          <a:effectLst/>
                          <a:latin typeface="+mn-lt"/>
                        </a:rPr>
                        <a:t>hr</a:t>
                      </a:r>
                      <a:r>
                        <a:rPr lang="en-US" sz="1800" u="none" strike="noStrike" dirty="0">
                          <a:effectLst/>
                          <a:latin typeface="+mn-lt"/>
                        </a:rPr>
                        <a:t>​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39" marR="5339" marT="5339" marB="0" anchor="ctr"/>
                </a:tc>
                <a:extLst>
                  <a:ext uri="{0D108BD9-81ED-4DB2-BD59-A6C34878D82A}">
                    <a16:rowId xmlns:a16="http://schemas.microsoft.com/office/drawing/2014/main" val="480962821"/>
                  </a:ext>
                </a:extLst>
              </a:tr>
              <a:tr h="550379"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Input and output mass flowrates of the process to compare against utilities </a:t>
                      </a:r>
                    </a:p>
                  </a:txBody>
                  <a:tcPr marL="5339" marR="5339" marT="5339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39" marR="5339" marT="5339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39" marR="5339" marT="5339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39" marR="5339" marT="5339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873084"/>
                  </a:ext>
                </a:extLst>
              </a:tr>
              <a:tr h="55037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  <a:latin typeface="+mn-lt"/>
                        </a:rPr>
                        <a:t>Input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39" marR="5339" marT="5339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BTX, Methanol,</a:t>
                      </a:r>
                    </a:p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Solvent</a:t>
                      </a:r>
                    </a:p>
                  </a:txBody>
                  <a:tcPr marL="5339" marR="5339" marT="5339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  <a:latin typeface="+mn-lt"/>
                        </a:rPr>
                        <a:t>1,233,647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39" marR="5339" marT="5339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  <a:latin typeface="+mn-lt"/>
                        </a:rPr>
                        <a:t>lb/hr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39" marR="5339" marT="5339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8975040"/>
                  </a:ext>
                </a:extLst>
              </a:tr>
              <a:tr h="47971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  <a:latin typeface="+mn-lt"/>
                        </a:rPr>
                        <a:t>Output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39" marR="5339" marT="5339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Water, BTX, TBB,DTBB,</a:t>
                      </a:r>
                    </a:p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TBMX</a:t>
                      </a:r>
                    </a:p>
                  </a:txBody>
                  <a:tcPr marL="5339" marR="5339" marT="5339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  <a:latin typeface="+mn-lt"/>
                        </a:rPr>
                        <a:t>1,233,647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39" marR="5339" marT="5339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 err="1">
                          <a:effectLst/>
                          <a:latin typeface="+mn-lt"/>
                        </a:rPr>
                        <a:t>lb</a:t>
                      </a:r>
                      <a:r>
                        <a:rPr lang="en-US" sz="1800" u="none" strike="noStrike" dirty="0">
                          <a:effectLst/>
                          <a:latin typeface="+mn-lt"/>
                        </a:rPr>
                        <a:t>/</a:t>
                      </a:r>
                      <a:r>
                        <a:rPr lang="en-US" sz="1800" u="none" strike="noStrike" dirty="0" err="1">
                          <a:effectLst/>
                          <a:latin typeface="+mn-lt"/>
                        </a:rPr>
                        <a:t>hr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39" marR="5339" marT="5339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59820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66412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B30BD-FB59-4F67-8D45-C7CCBE857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BD8E9B-E217-48EA-ACF3-372BE5A043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681" y="1386682"/>
            <a:ext cx="10058400" cy="4401375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>
              <a:buFont typeface="+mj-lt"/>
              <a:buAutoNum type="arabicPeriod"/>
            </a:pPr>
            <a:r>
              <a:rPr lang="pt-BR" sz="1800"/>
              <a:t> </a:t>
            </a:r>
            <a:r>
              <a:rPr lang="en-US"/>
              <a:t>Bloomberg. “Boosted Output at Vietnam's Biggest Oil Refinery After Defects Fixed.” </a:t>
            </a:r>
            <a:r>
              <a:rPr lang="en-US" i="1"/>
              <a:t>RIGZONE Empowering People in Oil and Gas</a:t>
            </a:r>
            <a:r>
              <a:rPr lang="en-US"/>
              <a:t>, Rigzone.com, 7 Aug. 2018, www.rigzone.com/news/wire/boosted_output_at_vietnams_biggest_oil_refinery_after_defects_fixed-07-aug-2018-156556-article/.</a:t>
            </a:r>
          </a:p>
          <a:p>
            <a:pPr>
              <a:buFont typeface="+mj-lt"/>
              <a:buAutoNum type="arabicPeriod"/>
            </a:pPr>
            <a:r>
              <a:rPr lang="en-US"/>
              <a:t>“Para-Xylene (p-Xylene) Aromatic Hydrocarbon Molecule. Skeletal Formula.” </a:t>
            </a:r>
            <a:r>
              <a:rPr lang="en-US" i="1"/>
              <a:t>Paraxylene </a:t>
            </a:r>
            <a:r>
              <a:rPr lang="en-US" i="1" err="1"/>
              <a:t>Pxylene</a:t>
            </a:r>
            <a:r>
              <a:rPr lang="en-US" i="1"/>
              <a:t> Aromatic Hydrocarbon Molecule Skeletal Stock Vector (Royalty Free) 1092240059</a:t>
            </a:r>
            <a:r>
              <a:rPr lang="en-US"/>
              <a:t>, www.shutterstock.com/image-vector/paraxylene-pxylene-aromatic-hydrocarbon-molecule-skeletal-1092240059.</a:t>
            </a:r>
          </a:p>
          <a:p>
            <a:pPr>
              <a:buFont typeface="+mj-lt"/>
              <a:buAutoNum type="arabicPeriod"/>
            </a:pPr>
            <a:r>
              <a:rPr lang="en-US"/>
              <a:t>Kiron, </a:t>
            </a:r>
            <a:r>
              <a:rPr lang="en-US" err="1"/>
              <a:t>Mazharul</a:t>
            </a:r>
            <a:r>
              <a:rPr lang="en-US"/>
              <a:t> Islam. “Polyester Fiber: Characteristics of Polyester Fiber: Properties of Polyester Fiber: Uses of Polyester Fiber.” </a:t>
            </a:r>
            <a:r>
              <a:rPr lang="en-US" i="1"/>
              <a:t>Textile Learner: One Stop Solution for Textiles</a:t>
            </a:r>
            <a:r>
              <a:rPr lang="en-US"/>
              <a:t>, textilelearner.blogspot.com/2011/07/polyester-fiber-characteristics-of_11.html.</a:t>
            </a:r>
          </a:p>
          <a:p>
            <a:pPr>
              <a:buFont typeface="+mj-lt"/>
              <a:buAutoNum type="arabicPeriod"/>
            </a:pPr>
            <a:r>
              <a:rPr lang="en-US">
                <a:latin typeface="Trebuchet MS (Body)"/>
              </a:rPr>
              <a:t>“Paraxylene (PX) Uses and Market Data.” </a:t>
            </a:r>
            <a:r>
              <a:rPr lang="en-US" i="1" err="1">
                <a:latin typeface="Trebuchet MS (Body)"/>
              </a:rPr>
              <a:t>Icis</a:t>
            </a:r>
            <a:r>
              <a:rPr lang="en-US">
                <a:latin typeface="Trebuchet MS (Body)"/>
              </a:rPr>
              <a:t>, www.icis.com/explore/resources/news/2007/11/05/9076062/paraxylene-px-uses-and-market-data/.</a:t>
            </a:r>
          </a:p>
          <a:p>
            <a:pPr>
              <a:buFont typeface="+mj-lt"/>
              <a:buAutoNum type="arabicPeriod"/>
            </a:pPr>
            <a:r>
              <a:rPr lang="en-US">
                <a:latin typeface="Trebuchet MS (Body)"/>
              </a:rPr>
              <a:t>“Purified Terephthalic Acid (PTA) Production and Market.” Plastics Insight, www.plasticsinsight.com/resin-intelligence/resin-prices/purified-terephthalic-acid-pta/.</a:t>
            </a:r>
          </a:p>
          <a:p>
            <a:pPr>
              <a:buFont typeface="+mj-lt"/>
              <a:buAutoNum type="arabicPeriod"/>
            </a:pPr>
            <a:r>
              <a:rPr lang="en-US">
                <a:latin typeface="Trebuchet MS (Body)"/>
              </a:rPr>
              <a:t>Liu, Jing, et al. “Intensified p-Xylene Production Process through Toluene and Methanol Alkylation.” </a:t>
            </a:r>
            <a:r>
              <a:rPr lang="en-US" i="1">
                <a:latin typeface="Trebuchet MS (Body)"/>
              </a:rPr>
              <a:t>Industrial &amp; Engineering Chemistry Research</a:t>
            </a:r>
            <a:r>
              <a:rPr lang="en-US">
                <a:latin typeface="Trebuchet MS (Body)"/>
              </a:rPr>
              <a:t>, vol. 57, no. 38, 2018, pp. 12829–12841., doi:10.1021/acs.iecr.8b00681.</a:t>
            </a:r>
          </a:p>
          <a:p>
            <a:pPr>
              <a:buFont typeface="+mj-lt"/>
              <a:buAutoNum type="arabicPeriod"/>
            </a:pPr>
            <a:r>
              <a:rPr lang="en-US"/>
              <a:t>https://www.topslotsntrains.com/topslotsntrains/final.asp?ref=Faller-130175-OO/HO-Scale-Model-Kit-CHEMICAL-PLANT-&amp;id=16244&amp;manufacturer=%27Faller%20Kits%27</a:t>
            </a:r>
          </a:p>
          <a:p>
            <a:pPr>
              <a:buFont typeface="+mj-lt"/>
              <a:buAutoNum type="arabicPeriod"/>
            </a:pPr>
            <a:r>
              <a:rPr lang="en-US"/>
              <a:t>“Fractionating Column.” </a:t>
            </a:r>
            <a:r>
              <a:rPr lang="en-US" i="1"/>
              <a:t>Wikipedia</a:t>
            </a:r>
            <a:r>
              <a:rPr lang="en-US"/>
              <a:t>, Wikimedia Foundation, 2 Mar. 2020, en.wikipedia.org/wiki/Fractionating column.</a:t>
            </a:r>
          </a:p>
          <a:p>
            <a:pPr>
              <a:buFont typeface="+mj-lt"/>
              <a:buAutoNum type="arabicPeriod"/>
            </a:pPr>
            <a:endParaRPr lang="en-US"/>
          </a:p>
          <a:p>
            <a:pPr>
              <a:buFont typeface="+mj-lt"/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ACC62D-0D62-4D7D-93C1-15B33C19E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7561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B07E4-07E3-450B-9961-7C9D206A7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55022"/>
            <a:ext cx="10058400" cy="610521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b="1"/>
              <a:t>PFD &amp; Material Balance - Section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BEB0B7-7AA2-405D-A31B-0145D0128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5" name="Picture 4">
            <a:hlinkClick r:id="rId2" action="ppaction://hlinksldjump"/>
            <a:extLst>
              <a:ext uri="{FF2B5EF4-FFF2-40B4-BE49-F238E27FC236}">
                <a16:creationId xmlns:a16="http://schemas.microsoft.com/office/drawing/2014/main" id="{B657440A-1491-456D-BA77-5191FD35C47D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16" t="-1" r="27652" b="70171"/>
          <a:stretch/>
        </p:blipFill>
        <p:spPr>
          <a:xfrm>
            <a:off x="2726940" y="5105461"/>
            <a:ext cx="6738118" cy="159488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7B36592-B5B0-42A8-B0AC-5E4E75BDEBD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24691"/>
          <a:stretch/>
        </p:blipFill>
        <p:spPr>
          <a:xfrm>
            <a:off x="1382110" y="765543"/>
            <a:ext cx="9401503" cy="4221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7901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B07E4-07E3-450B-9961-7C9D206A7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55022"/>
            <a:ext cx="10058400" cy="610521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b="1"/>
              <a:t>PFD &amp; Material Balance - Section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BEB0B7-7AA2-405D-A31B-0145D0128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5" name="Picture 4">
            <a:hlinkClick r:id="rId2" action="ppaction://hlinksldjump"/>
            <a:extLst>
              <a:ext uri="{FF2B5EF4-FFF2-40B4-BE49-F238E27FC236}">
                <a16:creationId xmlns:a16="http://schemas.microsoft.com/office/drawing/2014/main" id="{B657440A-1491-456D-BA77-5191FD35C47D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16" t="27541" r="45800" b="29647"/>
          <a:stretch/>
        </p:blipFill>
        <p:spPr>
          <a:xfrm>
            <a:off x="7538483" y="2093918"/>
            <a:ext cx="4540315" cy="311669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46DB74F4-1578-4DC4-AF15-42D59A5B97CF}"/>
              </a:ext>
            </a:extLst>
          </p:cNvPr>
          <p:cNvGrpSpPr/>
          <p:nvPr/>
        </p:nvGrpSpPr>
        <p:grpSpPr>
          <a:xfrm>
            <a:off x="536632" y="861203"/>
            <a:ext cx="6874261" cy="5582127"/>
            <a:chOff x="536632" y="861204"/>
            <a:chExt cx="7703601" cy="558212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A6AEAD02-8D1B-4494-953E-F2CD32137219}"/>
                </a:ext>
              </a:extLst>
            </p:cNvPr>
            <p:cNvGrpSpPr/>
            <p:nvPr/>
          </p:nvGrpSpPr>
          <p:grpSpPr>
            <a:xfrm>
              <a:off x="536632" y="861204"/>
              <a:ext cx="5991759" cy="5582126"/>
              <a:chOff x="6294473" y="914367"/>
              <a:chExt cx="4830727" cy="4577424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8FF866AA-02A0-49DD-9AEF-FDC4AAB3993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74978"/>
              <a:stretch/>
            </p:blipFill>
            <p:spPr>
              <a:xfrm>
                <a:off x="8420986" y="914367"/>
                <a:ext cx="2704214" cy="4577424"/>
              </a:xfrm>
              <a:prstGeom prst="rect">
                <a:avLst/>
              </a:prstGeom>
            </p:spPr>
          </p:pic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3B64ECFF-438C-41FC-8421-DFDCD60C8DD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-123" r="80446"/>
              <a:stretch/>
            </p:blipFill>
            <p:spPr>
              <a:xfrm>
                <a:off x="6294473" y="914367"/>
                <a:ext cx="2126513" cy="4577424"/>
              </a:xfrm>
              <a:prstGeom prst="rect">
                <a:avLst/>
              </a:prstGeom>
            </p:spPr>
          </p:pic>
        </p:grp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08AA941-AA18-4D59-99C1-DB3C0ECCB5F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17870" r="69908"/>
            <a:stretch/>
          </p:blipFill>
          <p:spPr>
            <a:xfrm>
              <a:off x="6528391" y="861204"/>
              <a:ext cx="1711842" cy="558212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494263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B07E4-07E3-450B-9961-7C9D206A7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55022"/>
            <a:ext cx="10058400" cy="610521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b="1"/>
              <a:t>PFD &amp; Material Balance - Section 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BEB0B7-7AA2-405D-A31B-0145D0128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5" name="Picture 4">
            <a:hlinkClick r:id="rId2" action="ppaction://hlinksldjump"/>
            <a:extLst>
              <a:ext uri="{FF2B5EF4-FFF2-40B4-BE49-F238E27FC236}">
                <a16:creationId xmlns:a16="http://schemas.microsoft.com/office/drawing/2014/main" id="{B657440A-1491-456D-BA77-5191FD35C47D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72" t="55447" r="44644" b="-876"/>
          <a:stretch/>
        </p:blipFill>
        <p:spPr>
          <a:xfrm>
            <a:off x="6539024" y="2052083"/>
            <a:ext cx="5525386" cy="3338622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3639CBE4-EC39-4FA7-BAFD-D5536B6C1A65}"/>
              </a:ext>
            </a:extLst>
          </p:cNvPr>
          <p:cNvGrpSpPr/>
          <p:nvPr/>
        </p:nvGrpSpPr>
        <p:grpSpPr>
          <a:xfrm>
            <a:off x="240792" y="765543"/>
            <a:ext cx="6191906" cy="5872366"/>
            <a:chOff x="393403" y="680057"/>
            <a:chExt cx="5890440" cy="5592727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52300CE-73B4-48ED-B3A1-62E7BDDB7A37}"/>
                </a:ext>
              </a:extLst>
            </p:cNvPr>
            <p:cNvPicPr/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1850"/>
            <a:stretch/>
          </p:blipFill>
          <p:spPr bwMode="auto">
            <a:xfrm>
              <a:off x="393403" y="680057"/>
              <a:ext cx="1998923" cy="55927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20CE534A-8514-4268-886F-F368B30CCA57}"/>
                </a:ext>
              </a:extLst>
            </p:cNvPr>
            <p:cNvPicPr/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639" r="35027"/>
            <a:stretch/>
          </p:blipFill>
          <p:spPr bwMode="auto">
            <a:xfrm>
              <a:off x="2392326" y="680057"/>
              <a:ext cx="3891517" cy="5592727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40414669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B07E4-07E3-450B-9961-7C9D206A7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55022"/>
            <a:ext cx="10058400" cy="610521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b="1"/>
              <a:t>PFD &amp; Material Balance - Section 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BEB0B7-7AA2-405D-A31B-0145D0128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5" name="Picture 4">
            <a:hlinkClick r:id="rId2" action="ppaction://hlinksldjump"/>
            <a:extLst>
              <a:ext uri="{FF2B5EF4-FFF2-40B4-BE49-F238E27FC236}">
                <a16:creationId xmlns:a16="http://schemas.microsoft.com/office/drawing/2014/main" id="{B657440A-1491-456D-BA77-5191FD35C47D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568" t="28190" r="377"/>
          <a:stretch/>
        </p:blipFill>
        <p:spPr>
          <a:xfrm>
            <a:off x="7271467" y="871092"/>
            <a:ext cx="4682303" cy="5115816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644E1AF2-BC98-4A63-BC4B-FEFC6A33968E}"/>
              </a:ext>
            </a:extLst>
          </p:cNvPr>
          <p:cNvGrpSpPr/>
          <p:nvPr/>
        </p:nvGrpSpPr>
        <p:grpSpPr>
          <a:xfrm>
            <a:off x="240792" y="765543"/>
            <a:ext cx="6883022" cy="5872366"/>
            <a:chOff x="240792" y="765543"/>
            <a:chExt cx="6184406" cy="5872366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52300CE-73B4-48ED-B3A1-62E7BDDB7A37}"/>
                </a:ext>
              </a:extLst>
            </p:cNvPr>
            <p:cNvPicPr/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1850"/>
            <a:stretch/>
          </p:blipFill>
          <p:spPr bwMode="auto">
            <a:xfrm>
              <a:off x="240792" y="765543"/>
              <a:ext cx="2101226" cy="587236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F3E114A-7A61-48E3-AC3F-A914EFE09490}"/>
                </a:ext>
              </a:extLst>
            </p:cNvPr>
            <p:cNvPicPr/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4707" r="23"/>
            <a:stretch/>
          </p:blipFill>
          <p:spPr bwMode="auto">
            <a:xfrm>
              <a:off x="2342018" y="765543"/>
              <a:ext cx="4083180" cy="5872366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79389803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BD3A3D3ED98CF49A4FC62DB5D9D32B4" ma:contentTypeVersion="7" ma:contentTypeDescription="Create a new document." ma:contentTypeScope="" ma:versionID="74b6251d3990e7cdf313904fa221fb39">
  <xsd:schema xmlns:xsd="http://www.w3.org/2001/XMLSchema" xmlns:xs="http://www.w3.org/2001/XMLSchema" xmlns:p="http://schemas.microsoft.com/office/2006/metadata/properties" xmlns:ns3="14aff13a-7e15-408e-b539-9d119d1a29ad" xmlns:ns4="7fecd039-07ff-49a7-9703-e6e2015927a6" targetNamespace="http://schemas.microsoft.com/office/2006/metadata/properties" ma:root="true" ma:fieldsID="a9a8224b4e9cc8a0a1bbbcf0c8742a14" ns3:_="" ns4:_="">
    <xsd:import namespace="14aff13a-7e15-408e-b539-9d119d1a29ad"/>
    <xsd:import namespace="7fecd039-07ff-49a7-9703-e6e2015927a6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KeyPoints" minOccurs="0"/>
                <xsd:element ref="ns4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aff13a-7e15-408e-b539-9d119d1a29a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ecd039-07ff-49a7-9703-e6e2015927a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CF72B2C-7EE5-4DB8-9322-D99F4DF5FEC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44A9EA4-C433-4A18-826F-AA2DA00A865C}">
  <ds:schemaRefs>
    <ds:schemaRef ds:uri="14aff13a-7e15-408e-b539-9d119d1a29ad"/>
    <ds:schemaRef ds:uri="7fecd039-07ff-49a7-9703-e6e2015927a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BA795DA7-EA1A-401D-A623-E57FE172DEE7}">
  <ds:schemaRefs>
    <ds:schemaRef ds:uri="14aff13a-7e15-408e-b539-9d119d1a29ad"/>
    <ds:schemaRef ds:uri="7fecd039-07ff-49a7-9703-e6e2015927a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2256</Words>
  <Application>Microsoft Office PowerPoint</Application>
  <PresentationFormat>Widescreen</PresentationFormat>
  <Paragraphs>454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Arial</vt:lpstr>
      <vt:lpstr>Calibri</vt:lpstr>
      <vt:lpstr>Cambria Math</vt:lpstr>
      <vt:lpstr>Garamond</vt:lpstr>
      <vt:lpstr>Times New Roman</vt:lpstr>
      <vt:lpstr>Trebuchet MS</vt:lpstr>
      <vt:lpstr>Trebuchet MS (Body)</vt:lpstr>
      <vt:lpstr>Wingdings</vt:lpstr>
      <vt:lpstr>Wingdings 3</vt:lpstr>
      <vt:lpstr>Facet</vt:lpstr>
      <vt:lpstr>Para-xylene Production Through Methylation of Toluene</vt:lpstr>
      <vt:lpstr>Introduction</vt:lpstr>
      <vt:lpstr>DESIGN BASIS</vt:lpstr>
      <vt:lpstr>BFD with MATERIAL BALANCE</vt:lpstr>
      <vt:lpstr>UPDATES FROM 1st PRESENTATION</vt:lpstr>
      <vt:lpstr>PFD</vt:lpstr>
      <vt:lpstr>Aspen + Assumptions</vt:lpstr>
      <vt:lpstr>Equipment sizing and description and material</vt:lpstr>
      <vt:lpstr>Equipment sizing and description and material</vt:lpstr>
      <vt:lpstr>Equipment sizing and description and material</vt:lpstr>
      <vt:lpstr>Equipment sizing and description and material</vt:lpstr>
      <vt:lpstr>Hand Calculations</vt:lpstr>
      <vt:lpstr>Sizing Comparison of Methanol Column</vt:lpstr>
      <vt:lpstr>Preliminary Utilities Demand</vt:lpstr>
      <vt:lpstr>References </vt:lpstr>
      <vt:lpstr>PFD &amp; Material Balance - Section 1</vt:lpstr>
      <vt:lpstr>PFD &amp; Material Balance - Section 2</vt:lpstr>
      <vt:lpstr>PFD &amp; Material Balance - Section 3</vt:lpstr>
      <vt:lpstr>PFD &amp; Material Balance - Section 4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Para-xylene Production Through Methylation of Toluene</dc:title>
  <dc:creator>Rawson, William L</dc:creator>
  <cp:lastModifiedBy>Rawson, William L</cp:lastModifiedBy>
  <cp:revision>2</cp:revision>
  <dcterms:created xsi:type="dcterms:W3CDTF">2020-03-02T17:45:18Z</dcterms:created>
  <dcterms:modified xsi:type="dcterms:W3CDTF">2020-03-03T18:24:28Z</dcterms:modified>
</cp:coreProperties>
</file>